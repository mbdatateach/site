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5" r:id="rId3"/>
    <p:sldId id="285" r:id="rId4"/>
    <p:sldId id="286" r:id="rId5"/>
    <p:sldId id="289" r:id="rId6"/>
    <p:sldId id="287" r:id="rId7"/>
    <p:sldId id="288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100" d="100"/>
          <a:sy n="100" d="100"/>
        </p:scale>
        <p:origin x="-1860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3.45.php?ysclid=m52kcz7jei165648356" TargetMode="External"/><Relationship Id="rId7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Relationship Id="rId2" Type="http://schemas.openxmlformats.org/officeDocument/2006/relationships/hyperlink" Target="https://metanit.com/sharp/tutorial/3.1.php?ysclid=m51c7uxcnt757303497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metanit.com/sharp/tutorial/20.2.php?ysclid=m1c4t75sz6218180615" TargetMode="External"/><Relationship Id="rId5" Type="http://schemas.openxmlformats.org/officeDocument/2006/relationships/hyperlink" Target="https://metanit.com/sharp/tutorial/2.6.php?ysclid=m1nf82z3i3333863072" TargetMode="External"/><Relationship Id="rId4" Type="http://schemas.openxmlformats.org/officeDocument/2006/relationships/hyperlink" Target="https://metanit.com/sharp/tutorial/2.5.ph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Введение в ООП: Программирование алгоритмов разветвляющихся структур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895629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Классы и объекты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https://metanit.com/sharp/tutorial/3.1.php?ysclid=m51c7uxcnt757303497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Конструкция </a:t>
            </a:r>
            <a:r>
              <a:rPr lang="en-US" sz="2400" i="1" dirty="0" smtClean="0">
                <a:latin typeface="Cambria" pitchFamily="18" charset="0"/>
              </a:rPr>
              <a:t>switch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https://metanit.com/sharp/tutorial/3.45.php?ysclid=m52kcz7jei165648356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2"/>
            </a:endParaRPr>
          </a:p>
          <a:p>
            <a:pPr fontAlgn="base"/>
            <a:r>
              <a:rPr lang="ru-RU" sz="2400" i="1" dirty="0" smtClean="0">
                <a:latin typeface="Cambria" pitchFamily="18" charset="0"/>
              </a:rPr>
              <a:t>Конструкция </a:t>
            </a:r>
            <a:r>
              <a:rPr lang="ru-RU" sz="2400" i="1" dirty="0" err="1" smtClean="0">
                <a:latin typeface="Cambria" pitchFamily="18" charset="0"/>
              </a:rPr>
              <a:t>if</a:t>
            </a:r>
            <a:r>
              <a:rPr lang="ru-RU" sz="2400" i="1" dirty="0" smtClean="0">
                <a:latin typeface="Cambria" pitchFamily="18" charset="0"/>
              </a:rPr>
              <a:t>..</a:t>
            </a:r>
            <a:r>
              <a:rPr lang="ru-RU" sz="2400" i="1" dirty="0" err="1" smtClean="0">
                <a:latin typeface="Cambria" pitchFamily="18" charset="0"/>
              </a:rPr>
              <a:t>else</a:t>
            </a:r>
            <a:r>
              <a:rPr lang="ru-RU" sz="2400" i="1" dirty="0" smtClean="0">
                <a:latin typeface="Cambria" pitchFamily="18" charset="0"/>
              </a:rPr>
              <a:t> и тернарная операция</a:t>
            </a:r>
          </a:p>
          <a:p>
            <a:pPr fontAlgn="base"/>
            <a:r>
              <a:rPr lang="en-US" sz="2400" b="1" dirty="0" smtClean="0">
                <a:latin typeface="Cambria" pitchFamily="18" charset="0"/>
                <a:hlinkClick r:id="rId4"/>
              </a:rPr>
              <a:t>https://metanit.com/sharp/tutorial/2.5.php</a:t>
            </a:r>
            <a:endParaRPr lang="en-US" sz="2400" b="1" dirty="0" smtClean="0">
              <a:latin typeface="Cambria" pitchFamily="18" charset="0"/>
              <a:hlinkClick r:id="rId5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6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7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0" y="1142984"/>
            <a:ext cx="4071934" cy="107157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390775"/>
            <a:ext cx="55911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Скругленный прямоугольник 10"/>
          <p:cNvSpPr/>
          <p:nvPr/>
        </p:nvSpPr>
        <p:spPr>
          <a:xfrm>
            <a:off x="642910" y="2747965"/>
            <a:ext cx="2143140" cy="57150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 стрелкой 13"/>
          <p:cNvCxnSpPr>
            <a:endCxn id="11" idx="3"/>
          </p:cNvCxnSpPr>
          <p:nvPr/>
        </p:nvCxnSpPr>
        <p:spPr>
          <a:xfrm rot="10800000" flipV="1">
            <a:off x="2786050" y="2462213"/>
            <a:ext cx="3357586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Скругленный прямоугольник 20"/>
          <p:cNvSpPr/>
          <p:nvPr/>
        </p:nvSpPr>
        <p:spPr>
          <a:xfrm>
            <a:off x="642910" y="3890973"/>
            <a:ext cx="5429288" cy="264320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4572000" y="174783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Поля класса</a:t>
            </a:r>
            <a:r>
              <a:rPr lang="ru-RU" dirty="0" smtClean="0">
                <a:latin typeface="Cambria" pitchFamily="18" charset="0"/>
              </a:rPr>
              <a:t> — это данные, содержащиеся внутри класса.</a:t>
            </a:r>
          </a:p>
        </p:txBody>
      </p:sp>
      <p:cxnSp>
        <p:nvCxnSpPr>
          <p:cNvPr id="23" name="Прямая со стрелкой 22"/>
          <p:cNvCxnSpPr/>
          <p:nvPr/>
        </p:nvCxnSpPr>
        <p:spPr>
          <a:xfrm rot="10800000" flipV="1">
            <a:off x="6072198" y="4929198"/>
            <a:ext cx="571504" cy="39053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6143668" y="4005868"/>
            <a:ext cx="30003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Методы класса </a:t>
            </a:r>
            <a:r>
              <a:rPr lang="ru-RU" dirty="0" smtClean="0">
                <a:latin typeface="Cambria" pitchFamily="18" charset="0"/>
              </a:rPr>
              <a:t>— это функции, входящие в состав класса.</a:t>
            </a:r>
            <a:endParaRPr lang="ru-RU" dirty="0">
              <a:latin typeface="Cambria" pitchFamily="18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0" y="1071546"/>
            <a:ext cx="40719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Класс </a:t>
            </a:r>
            <a:r>
              <a:rPr lang="ru-RU" dirty="0" smtClean="0">
                <a:latin typeface="Cambria" pitchFamily="18" charset="0"/>
              </a:rPr>
              <a:t>—</a:t>
            </a:r>
            <a:r>
              <a:rPr lang="ru-RU" b="1" dirty="0" smtClean="0">
                <a:latin typeface="Cambria" pitchFamily="18" charset="0"/>
              </a:rPr>
              <a:t> </a:t>
            </a:r>
            <a:r>
              <a:rPr lang="ru-RU" dirty="0" smtClean="0">
                <a:latin typeface="Cambria" pitchFamily="18" charset="0"/>
              </a:rPr>
              <a:t>это абстракция, описывающая свойства и методы ещё не существующих объектов (пользовательский тип данных).</a:t>
            </a:r>
          </a:p>
        </p:txBody>
      </p:sp>
      <p:cxnSp>
        <p:nvCxnSpPr>
          <p:cNvPr id="28" name="Прямая со стрелкой 27"/>
          <p:cNvCxnSpPr/>
          <p:nvPr/>
        </p:nvCxnSpPr>
        <p:spPr>
          <a:xfrm rot="10800000" flipV="1">
            <a:off x="3000364" y="3357562"/>
            <a:ext cx="571504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3571868" y="2862860"/>
            <a:ext cx="52149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Конструктор</a:t>
            </a:r>
            <a:r>
              <a:rPr lang="ru-RU" dirty="0" smtClean="0">
                <a:latin typeface="Cambria" pitchFamily="18" charset="0"/>
              </a:rPr>
              <a:t> вызывается при создании объекта класса и может использоваться для инициализации начальных значений полей.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6643702" y="5857868"/>
            <a:ext cx="2500298" cy="10001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Количество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textbox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 форме зависит от задания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714544" y="0"/>
            <a:ext cx="1248742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 </a:t>
            </a: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736"/>
            <a:ext cx="5000628" cy="289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Скругленный прямоугольник 32"/>
          <p:cNvSpPr/>
          <p:nvPr/>
        </p:nvSpPr>
        <p:spPr>
          <a:xfrm>
            <a:off x="0" y="1428736"/>
            <a:ext cx="3571868" cy="3571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4" name="Прямая со стрелкой 33"/>
          <p:cNvCxnSpPr>
            <a:stCxn id="43" idx="2"/>
            <a:endCxn id="40" idx="3"/>
          </p:cNvCxnSpPr>
          <p:nvPr/>
        </p:nvCxnSpPr>
        <p:spPr>
          <a:xfrm rot="5400000">
            <a:off x="5779380" y="1421686"/>
            <a:ext cx="907092" cy="217884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/>
        </p:nvSpPr>
        <p:spPr>
          <a:xfrm>
            <a:off x="1571604" y="42860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Cambria" pitchFamily="18" charset="0"/>
              </a:rPr>
              <a:t>Инициализация объекта класса</a:t>
            </a:r>
          </a:p>
        </p:txBody>
      </p:sp>
      <p:sp>
        <p:nvSpPr>
          <p:cNvPr id="40" name="Скругленный прямоугольник 39"/>
          <p:cNvSpPr/>
          <p:nvPr/>
        </p:nvSpPr>
        <p:spPr>
          <a:xfrm>
            <a:off x="642910" y="2428868"/>
            <a:ext cx="4500594" cy="10715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5500694" y="857232"/>
            <a:ext cx="36433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Cambria" pitchFamily="18" charset="0"/>
              </a:rPr>
              <a:t>Запись информации в поля класса, вызов методов класса, отображение с помощью интерфейса полей класса</a:t>
            </a:r>
          </a:p>
        </p:txBody>
      </p:sp>
      <p:cxnSp>
        <p:nvCxnSpPr>
          <p:cNvPr id="44" name="Прямая со стрелкой 43"/>
          <p:cNvCxnSpPr>
            <a:stCxn id="39" idx="2"/>
            <a:endCxn id="33" idx="0"/>
          </p:cNvCxnSpPr>
          <p:nvPr/>
        </p:nvCxnSpPr>
        <p:spPr>
          <a:xfrm rot="5400000">
            <a:off x="2506369" y="77501"/>
            <a:ext cx="630800" cy="20716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0" y="4214818"/>
            <a:ext cx="5072066" cy="20621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Но лучше все поля делать приватными, потому что внешний код не должен напрямую влиять на внутреннее состояние объекта. Для этого ставьте модификатор </a:t>
            </a:r>
            <a:r>
              <a:rPr lang="ru-RU" sz="1600" b="1" u="sng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и создайте свойства для его </a:t>
            </a:r>
            <a:r>
              <a:rPr lang="ru-RU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обработки</a:t>
            </a:r>
            <a:r>
              <a:rPr lang="en-US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Это один из основных способов обеспечения </a:t>
            </a:r>
            <a:r>
              <a:rPr lang="ru-RU" sz="16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инкапусляции</a:t>
            </a:r>
            <a:r>
              <a:rPr lang="ru-RU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(где снаружи видны </a:t>
            </a:r>
            <a:r>
              <a:rPr lang="ru-RU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только</a:t>
            </a:r>
            <a:r>
              <a:rPr lang="ru-RU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кнопки</a:t>
            </a:r>
            <a:r>
              <a:rPr lang="ru-RU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 управления, а внутренности скрыты и защищены).</a:t>
            </a:r>
            <a:endParaRPr lang="ru-RU" sz="1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6276975"/>
            <a:ext cx="31432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47068" y="4214818"/>
            <a:ext cx="4096932" cy="26431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Свойство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это специальный механизм языка C#, который имитирует поле, но на самом деле представляет собой пару методов (геттер и сеттер), скрытых за единым синтаксисом.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get‑блок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(геттер) — выполняется при чтении значения. Должен вернуть значение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set‑блок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(сеттер) — выполняется при присваивании. Получает новое значение через неявный параметр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57496"/>
            <a:ext cx="4219575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48" y="3000372"/>
            <a:ext cx="4857752" cy="3857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4090165" cy="2085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500034" y="3429000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155" y="4143380"/>
            <a:ext cx="8620125" cy="17430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142876" y="5857892"/>
            <a:ext cx="900112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Метод объекта класса получает индекс выбора (по умолчанию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ComboBox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индексируется с нуля) и в зависимости от числа возвращает нужную строку.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То есть метод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change_choice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просто набор условий по проверке индекса</a:t>
            </a:r>
            <a:endParaRPr lang="ru-RU" sz="2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3438" y="1428736"/>
            <a:ext cx="4311241" cy="1838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5214942" y="3286124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Программное заполнение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ComboBox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3</a:t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357298"/>
            <a:ext cx="3661486" cy="186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1357298"/>
            <a:ext cx="3641937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2050" idx="3"/>
            <a:endCxn id="2051" idx="1"/>
          </p:cNvCxnSpPr>
          <p:nvPr/>
        </p:nvCxnSpPr>
        <p:spPr>
          <a:xfrm flipV="1">
            <a:off x="4018644" y="2285992"/>
            <a:ext cx="1196298" cy="49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2143108" y="1000108"/>
            <a:ext cx="52864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14678" y="3500438"/>
            <a:ext cx="3348033" cy="238916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1026" idx="0"/>
          </p:cNvCxnSpPr>
          <p:nvPr/>
        </p:nvCxnSpPr>
        <p:spPr>
          <a:xfrm rot="5400000" flipH="1" flipV="1">
            <a:off x="4980381" y="1908554"/>
            <a:ext cx="1500199" cy="16835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1026" idx="0"/>
          </p:cNvCxnSpPr>
          <p:nvPr/>
        </p:nvCxnSpPr>
        <p:spPr>
          <a:xfrm rot="16200000" flipV="1">
            <a:off x="2587208" y="1198951"/>
            <a:ext cx="1500198" cy="31027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0" y="5857892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Один из способов менять интерфейс – написать функцию, показывающую и скрывающую его части и поместить ее в обработчик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ComboBox1SelectedIndexChanged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290</Words>
  <Application>Microsoft Office PowerPoint</Application>
  <PresentationFormat>Экран (4:3)</PresentationFormat>
  <Paragraphs>43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Введение в ООП: Программирование алгоритмов разветвляющихся структур</vt:lpstr>
      <vt:lpstr>Дополнительные материалы</vt:lpstr>
      <vt:lpstr>Задание 1 Решение с помощью ООП </vt:lpstr>
      <vt:lpstr>Задание 1 Решение с помощью ООП </vt:lpstr>
      <vt:lpstr>Слайд 5</vt:lpstr>
      <vt:lpstr>Задание 2 Решение с помощью ООП </vt:lpstr>
      <vt:lpstr>Задание 3 Решение с помощью ООП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ООП: Программирование алгоритмов разветвляющихся структур</dc:title>
  <dc:creator>user</dc:creator>
  <cp:lastModifiedBy>user</cp:lastModifiedBy>
  <cp:revision>86</cp:revision>
  <dcterms:created xsi:type="dcterms:W3CDTF">2024-02-01T09:49:19Z</dcterms:created>
  <dcterms:modified xsi:type="dcterms:W3CDTF">2026-03-12T14:41:29Z</dcterms:modified>
</cp:coreProperties>
</file>