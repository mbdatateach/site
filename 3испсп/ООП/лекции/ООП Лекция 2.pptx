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65" r:id="rId5"/>
    <p:sldId id="264" r:id="rId6"/>
    <p:sldId id="261" r:id="rId7"/>
    <p:sldId id="257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58" r:id="rId16"/>
    <p:sldId id="274" r:id="rId17"/>
    <p:sldId id="275" r:id="rId18"/>
    <p:sldId id="276" r:id="rId19"/>
    <p:sldId id="280" r:id="rId20"/>
    <p:sldId id="277" r:id="rId21"/>
    <p:sldId id="278" r:id="rId22"/>
    <p:sldId id="279" r:id="rId2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5EE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CC5B7-A91B-431A-81BA-289E7AE4BB3B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C422A-F566-485C-8DC6-0021ABE64B9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CC5B7-A91B-431A-81BA-289E7AE4BB3B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C422A-F566-485C-8DC6-0021ABE64B9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CC5B7-A91B-431A-81BA-289E7AE4BB3B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C422A-F566-485C-8DC6-0021ABE64B9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CC5B7-A91B-431A-81BA-289E7AE4BB3B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C422A-F566-485C-8DC6-0021ABE64B9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CC5B7-A91B-431A-81BA-289E7AE4BB3B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C422A-F566-485C-8DC6-0021ABE64B9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CC5B7-A91B-431A-81BA-289E7AE4BB3B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C422A-F566-485C-8DC6-0021ABE64B9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CC5B7-A91B-431A-81BA-289E7AE4BB3B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C422A-F566-485C-8DC6-0021ABE64B9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CC5B7-A91B-431A-81BA-289E7AE4BB3B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C422A-F566-485C-8DC6-0021ABE64B9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CC5B7-A91B-431A-81BA-289E7AE4BB3B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C422A-F566-485C-8DC6-0021ABE64B9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CC5B7-A91B-431A-81BA-289E7AE4BB3B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C422A-F566-485C-8DC6-0021ABE64B9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CC5B7-A91B-431A-81BA-289E7AE4BB3B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2C422A-F566-485C-8DC6-0021ABE64B9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9CC5B7-A91B-431A-81BA-289E7AE4BB3B}" type="datetimeFigureOut">
              <a:rPr lang="ru-RU" smtClean="0"/>
              <a:pPr/>
              <a:t>26.08.2026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2C422A-F566-485C-8DC6-0021ABE64B94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metanit.com/sharp/tutorial/3.4.php?ysclid=mluqvmd9ho914585276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ОБЪЕКТНО-ОРИЕНТИРОВАННОЕ ПРОГРАММИРОВАНИЕ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ucarecdn.stepik.net/97b172aa-9da4-4b37-b3b5-3db999351974/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0"/>
            <a:ext cx="6257925" cy="3028950"/>
          </a:xfrm>
          <a:prstGeom prst="rect">
            <a:avLst/>
          </a:prstGeom>
          <a:noFill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 l="4128"/>
          <a:stretch>
            <a:fillRect/>
          </a:stretch>
        </p:blipFill>
        <p:spPr bwMode="auto">
          <a:xfrm>
            <a:off x="0" y="3267075"/>
            <a:ext cx="4976843" cy="359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/>
          <a:srcRect l="5357"/>
          <a:stretch>
            <a:fillRect/>
          </a:stretch>
        </p:blipFill>
        <p:spPr bwMode="auto">
          <a:xfrm>
            <a:off x="5072066" y="3214686"/>
            <a:ext cx="4071934" cy="60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929322" y="3857628"/>
            <a:ext cx="2419350" cy="94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5429256" y="4826675"/>
            <a:ext cx="3714744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Здесь не пишется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цикл, не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создаётся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переменная‑аккумулятор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она не обновляется шаг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за шагом.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Описывается композиция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функций: «отфильтруй чётные, потом просуммируй». Система сама решает, как это выполнить. Это декларативность плюс функциональные принципы.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142852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объявления класса в C# используется ключевое слово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class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перед ним указываются модификаторы доступа и ряд других ключевых слов, которые определяют его свойства (статический, абстрактный и т. п.).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1000108"/>
            <a:ext cx="8810625" cy="218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3388" y="3214686"/>
            <a:ext cx="8810612" cy="3643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4071934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начала хотелось бы сказать, что класс относится к более общей концепции C# - к типу, помимо класса туда входят интерфейсы, структуры.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классе мы можем встретить следующие структурные элементы: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константы;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поля;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свойства;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методы;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конструктор экземпляра;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конструктор типа;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перегруженные операторы;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операторы преобразования;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 каждого из этих структурных элементов могут быть разные наборы модификаторов, которые изменяют область видимости, принадлежность к экземпляру или типу, изменяемость и т.п.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7" name="Группа 6"/>
          <p:cNvGrpSpPr/>
          <p:nvPr/>
        </p:nvGrpSpPr>
        <p:grpSpPr>
          <a:xfrm>
            <a:off x="4048125" y="0"/>
            <a:ext cx="5095875" cy="6772275"/>
            <a:chOff x="4048125" y="0"/>
            <a:chExt cx="5095875" cy="6772275"/>
          </a:xfrm>
        </p:grpSpPr>
        <p:pic>
          <p:nvPicPr>
            <p:cNvPr id="22530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048125" y="0"/>
              <a:ext cx="5095875" cy="6772275"/>
            </a:xfrm>
            <a:prstGeom prst="rect">
              <a:avLst/>
            </a:prstGeom>
            <a:solidFill>
              <a:schemeClr val="bg2"/>
            </a:solidFill>
            <a:ln w="9525">
              <a:solidFill>
                <a:schemeClr val="accent1">
                  <a:shade val="50000"/>
                </a:schemeClr>
              </a:solidFill>
              <a:miter lim="800000"/>
              <a:headEnd/>
              <a:tailEnd/>
            </a:ln>
            <a:effectLst/>
          </p:spPr>
        </p:pic>
        <p:sp>
          <p:nvSpPr>
            <p:cNvPr id="6" name="Прямоугольник 5"/>
            <p:cNvSpPr/>
            <p:nvPr/>
          </p:nvSpPr>
          <p:spPr>
            <a:xfrm>
              <a:off x="4500562" y="6000768"/>
              <a:ext cx="2643206" cy="428628"/>
            </a:xfrm>
            <a:prstGeom prst="rect">
              <a:avLst/>
            </a:prstGeom>
            <a:solidFill>
              <a:srgbClr val="F6F5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 выполнении оператора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new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Сначала определяется необходимый набор байт для хранения объекта типа (включая дополнительные специальные поля, если данные будут храниться в куче).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Выделяется соответствующая память, и все байты зарезервированного пространства обнуляются.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Инициализируются дополнительные специальные поля (если объект хранится в куче).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   Вызывается конструктор типа с указанными параметрами.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506" name="Picture 2" descr="https://ucarecdn.stepik.net/4bb2a83c-cd6c-45b5-84fd-730041a4e753/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143116"/>
            <a:ext cx="9144000" cy="435769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5" y="571480"/>
            <a:ext cx="9058275" cy="557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2714612" y="0"/>
            <a:ext cx="420801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КОНСТРУКТОРЫ</a:t>
            </a:r>
            <a:endParaRPr lang="ru-RU" sz="36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71480"/>
            <a:ext cx="3771900" cy="3514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3857620" y="571480"/>
            <a:ext cx="528638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данном примере у класса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Person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есть два скрытых поля и два открытых свойства, которые позволяют прочитать значения скрытых полей и изменить их.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57752" y="2500282"/>
            <a:ext cx="3514725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5214942" y="3643314"/>
            <a:ext cx="27357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ТАК НЕЖЕЛАТЕЛЬНО</a:t>
            </a:r>
            <a:endParaRPr lang="ru-RU" b="1" dirty="0">
              <a:solidFill>
                <a:srgbClr val="FF0000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85786" y="4124305"/>
            <a:ext cx="7496175" cy="2733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2571736" y="0"/>
            <a:ext cx="425321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ИНКАПСУЛЯЦИЯ</a:t>
            </a:r>
            <a:endParaRPr lang="ru-RU" sz="36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Модификаторы доступа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используются для того, чтобы ограничить видимость элементов типов и непосредственно самих типов. Видимость, в смысле того, можете ли вы обратиться к элементу типа или самому типу (например, создать объект класса) снаружи. Модификаторы доступа - это один из основных инструментов реализации принципа инкапсуляции - сокрытия деталей реализации. С помощью них вы можете управлять уровнем доступа к элементам класса.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43050"/>
            <a:ext cx="4257675" cy="2771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24525" y="1928802"/>
            <a:ext cx="3419475" cy="204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0" y="4429132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Константы - это неизменяемые сущности, которые объявляются на уровне типа. Значение константы должно быть известно на этапе компиляции. Для объявления константы используется ключевое слово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const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которое ставится после модификатора доступа (если он указывается) и перед именем типа.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3557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85984" y="5591175"/>
            <a:ext cx="4638675" cy="126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785926"/>
            <a:ext cx="9144000" cy="4774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0" y="0"/>
            <a:ext cx="9144000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Поля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- это переменные, которые располагаются в типе (классе или структуре). Если вы поставите модификатор доступа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public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или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internal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то к этим полям можно будет получить доступ снаружи. Если вы поставите модификатор доступа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private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то с таким полем можно будет работать только внутри класса. Если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protected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то внутри класса и в его наследниках.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0"/>
            <a:ext cx="9144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Если константы принадлежат только типу, то поля могут принадлежать как типу, так и экземпляру типа. Для управления принадлежностью используется ключевое слово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static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Если его указать, то поле будет принадлежать типу, доступ к нему можно будет получить только через имя типа. Такие поля называют статическими.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Важно помнить: если вы меняете значение статического поля в одном месте вашей программы, то во всех других местах, где оно используется, оно тоже изменится.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14612" y="1500174"/>
            <a:ext cx="3681407" cy="189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3318570"/>
            <a:ext cx="4572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 C# ключевое слово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readonly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применяется к полям класса и означает: поле можно инициализировать только при объявлении или в конструкторе, а после — оно становится неизменяемым.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Основные правила</a:t>
            </a:r>
          </a:p>
          <a:p>
            <a:pPr algn="just"/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readonly‑поле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можно задать: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прямо при объявлении;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 конструкторе класса (в том числе в блоке инициализации);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после выхода из конструктора изменить значение нельзя;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действует на уровне экземпляра (для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static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readonly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на уровне типа).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43438" y="3429000"/>
            <a:ext cx="4500562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071679"/>
            <a:ext cx="9144000" cy="3143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208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4282" y="5143512"/>
            <a:ext cx="4943475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2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572132" y="4971793"/>
            <a:ext cx="2557455" cy="1886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1571604" y="6286520"/>
            <a:ext cx="22522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Методы расширения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0"/>
            <a:ext cx="5823979" cy="3071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765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322522"/>
            <a:ext cx="5572164" cy="3535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71868" y="4357694"/>
            <a:ext cx="5572132" cy="2032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Свойства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представляют собой элементы конструкции типа, предоставляющие механизм для управляемого доступа к полям.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Если мы хотим ограничить доступ к свойству объекта, т.е. сделать невозможным задание значений свойствам после объявления экземпляра типа, то можно создать приватный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setter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Для этого перед методом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set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необходимо поставить ключевое слово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private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Значение, в этом случае, можно будет задать только внутри класса, в том числе и в конструкторе.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43050"/>
            <a:ext cx="6105525" cy="4714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00562" y="3071810"/>
            <a:ext cx="4643438" cy="23887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6286520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https://metanit.com/sharp/tutorial/3.4.php?ysclid=mluqvmd9ho914585276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357166"/>
            <a:ext cx="9144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Ключевое слово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this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используется для доступа к текущему экземпляру класса. Например, рассмотрим класс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Shape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который содержит закрытое поле, отвечающее за хранение цвета с именем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color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без приставки в виде символа подчеркивания.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8125" y="2000240"/>
            <a:ext cx="8905875" cy="240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492" y="1000108"/>
            <a:ext cx="5959268" cy="5857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2786050" y="0"/>
            <a:ext cx="414299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НАСЛЕДОВАНИЕ</a:t>
            </a:r>
            <a:endParaRPr lang="ru-RU" sz="3600" b="1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29322" y="1076325"/>
            <a:ext cx="3214678" cy="578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Переопределение методов в классе наследнике</a:t>
            </a:r>
            <a:r>
              <a:rPr lang="en-US" sz="3600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ПОЛИМОРФИЗМ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5000628" y="1285860"/>
            <a:ext cx="4143372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Virtual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в C# — ключевое слово, которым помечают методы и свойства в базовом классе, чтобы сделать их доступными для переопределения. Такие методы и свойства называют виртуальными.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714488"/>
            <a:ext cx="3738559" cy="3721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857224" y="5429264"/>
            <a:ext cx="29272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/>
              <a:t>Переопределение методов</a:t>
            </a:r>
            <a:endParaRPr lang="ru-RU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5000628" y="3500438"/>
            <a:ext cx="4143372" cy="181588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Override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— модификатор для переопределения виртуальных методов, свойств и событий базового класса. 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Переопределённый метод в классе-наследнике должен иметь тот же набор параметров, что и виртуальный метод в базовом классе.</a:t>
            </a:r>
          </a:p>
        </p:txBody>
      </p:sp>
      <p:cxnSp>
        <p:nvCxnSpPr>
          <p:cNvPr id="7" name="Прямая со стрелкой 6"/>
          <p:cNvCxnSpPr>
            <a:stCxn id="3" idx="1"/>
          </p:cNvCxnSpPr>
          <p:nvPr/>
        </p:nvCxnSpPr>
        <p:spPr>
          <a:xfrm rot="10800000" flipV="1">
            <a:off x="2071670" y="1947580"/>
            <a:ext cx="2928958" cy="5266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/>
          <p:cNvCxnSpPr>
            <a:stCxn id="6" idx="1"/>
          </p:cNvCxnSpPr>
          <p:nvPr/>
        </p:nvCxnSpPr>
        <p:spPr>
          <a:xfrm rot="10800000">
            <a:off x="2143108" y="3500439"/>
            <a:ext cx="2857520" cy="90794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Абстрактные классы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 это специальный вид классов с неполной реализацией, который используется в организации иерархий наследования. Разработчик не может создавать объекты таких классов. Их назначение - быть базовыми для каких-либо других классов проекта. Для объявления того, что класс является абстрактным, при объявлении класса перед ключевым словом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class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необходимо поставить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abstract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37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714488"/>
            <a:ext cx="3552825" cy="200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3857620" y="1785926"/>
            <a:ext cx="5286380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абстрактный класс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Shape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который имеет закрытое свойство, конструктор, и абстрактный метод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Square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для вычисления площади фигуры. Предполагается, что все наследники класса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Shape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будут эту площадь вычислять в соответствии с определенными правилами. Так как для абстрактной фигуры это сделать невозможно, то и реализации у этого метода нет.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743325"/>
            <a:ext cx="4429125" cy="311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4572000" y="3786190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Ключевое слово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base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используется для обращения к базовому классу. Оно применяется в случаях, когда необходимо вызвать конструктор базового класса и для обращения к методам базового класса, которые были переопределены в текущем.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" name="Прямая со стрелкой 9"/>
          <p:cNvCxnSpPr>
            <a:stCxn id="8" idx="1"/>
          </p:cNvCxnSpPr>
          <p:nvPr/>
        </p:nvCxnSpPr>
        <p:spPr>
          <a:xfrm rot="10800000" flipV="1">
            <a:off x="1928794" y="4663352"/>
            <a:ext cx="2643206" cy="551597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798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86314" y="5619750"/>
            <a:ext cx="4029075" cy="1238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786050" y="0"/>
            <a:ext cx="364247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ИНТЕРФЕЙСЫ</a:t>
            </a:r>
            <a:endParaRPr lang="ru-RU" sz="36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57148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объявления интерфейса используется ключевое слово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interface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после которого следует его имя.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142984"/>
            <a:ext cx="4238625" cy="2219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584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352925" y="1142984"/>
            <a:ext cx="4791075" cy="532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5846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28662" y="3714752"/>
            <a:ext cx="1952625" cy="282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1"/>
            <a:ext cx="4286247" cy="2928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40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43306" y="2734310"/>
            <a:ext cx="5500694" cy="4123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9941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7158" y="3786190"/>
            <a:ext cx="2993369" cy="2571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4429124" y="714356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Практический пример для иллюстрации (краткий)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58" y="928670"/>
            <a:ext cx="8191515" cy="5605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Прямоугольник 2"/>
          <p:cNvSpPr/>
          <p:nvPr/>
        </p:nvSpPr>
        <p:spPr>
          <a:xfrm>
            <a:off x="1071538" y="0"/>
            <a:ext cx="675415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600" b="1" dirty="0" smtClean="0">
                <a:latin typeface="Times New Roman" pitchFamily="18" charset="0"/>
                <a:cs typeface="Times New Roman" pitchFamily="18" charset="0"/>
              </a:rPr>
              <a:t>ОБРАБОТКА ИСКЛЮЧЕНИЙ</a:t>
            </a:r>
            <a:endParaRPr lang="ru-RU" sz="3600" b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"/>
            <a:ext cx="6143625" cy="3571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789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10075" y="0"/>
            <a:ext cx="4733925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789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3609975"/>
            <a:ext cx="7486650" cy="324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7893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715008" y="3500438"/>
            <a:ext cx="3428992" cy="24115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2887682"/>
            <a:ext cx="9144000" cy="397031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Задан интерфейс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IDrawable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следующего вида:</a:t>
            </a: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interface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IDrawable</a:t>
            </a:r>
            <a:endParaRPr lang="en-US" sz="1400" dirty="0" smtClean="0">
              <a:latin typeface="Courier New" pitchFamily="49" charset="0"/>
              <a:cs typeface="Courier New" pitchFamily="49" charset="0"/>
            </a:endParaRP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void Draw();</a:t>
            </a: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algn="just"/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Напишите реализацию </a:t>
            </a: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интерфейса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, </a:t>
            </a: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которая при вызове 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Draw </a:t>
            </a:r>
            <a:r>
              <a:rPr lang="ru-RU" sz="1400" b="1" dirty="0" smtClean="0">
                <a:latin typeface="Courier New" pitchFamily="49" charset="0"/>
                <a:cs typeface="Courier New" pitchFamily="49" charset="0"/>
              </a:rPr>
              <a:t>выводит на консоль сообщение "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Draw Figure".</a:t>
            </a: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using System;</a:t>
            </a:r>
          </a:p>
          <a:p>
            <a:pPr algn="just"/>
            <a:endParaRPr lang="en-US" sz="1400" dirty="0" smtClean="0">
              <a:latin typeface="Courier New" pitchFamily="49" charset="0"/>
              <a:cs typeface="Courier New" pitchFamily="49" charset="0"/>
            </a:endParaRPr>
          </a:p>
          <a:p>
            <a:pPr algn="just"/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fg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= new Figure();</a:t>
            </a:r>
          </a:p>
          <a:p>
            <a:pPr algn="just"/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fg.Draw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 algn="just"/>
            <a:endParaRPr lang="en-US" sz="1400" dirty="0" smtClean="0">
              <a:latin typeface="Courier New" pitchFamily="49" charset="0"/>
              <a:cs typeface="Courier New" pitchFamily="49" charset="0"/>
            </a:endParaRP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// TODO: </a:t>
            </a:r>
            <a:r>
              <a:rPr lang="ru-RU" sz="1400" dirty="0" smtClean="0">
                <a:latin typeface="Courier New" pitchFamily="49" charset="0"/>
                <a:cs typeface="Courier New" pitchFamily="49" charset="0"/>
              </a:rPr>
              <a:t>Реализовать класс </a:t>
            </a:r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Figure, </a:t>
            </a:r>
            <a:r>
              <a:rPr lang="ru-RU" sz="1400" dirty="0" smtClean="0">
                <a:latin typeface="Courier New" pitchFamily="49" charset="0"/>
                <a:cs typeface="Courier New" pitchFamily="49" charset="0"/>
              </a:rPr>
              <a:t>имплементирующий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IDrawable</a:t>
            </a:r>
            <a:endParaRPr lang="en-US" sz="1400" dirty="0" smtClean="0">
              <a:latin typeface="Courier New" pitchFamily="49" charset="0"/>
              <a:cs typeface="Courier New" pitchFamily="49" charset="0"/>
            </a:endParaRPr>
          </a:p>
          <a:p>
            <a:pPr algn="just"/>
            <a:endParaRPr lang="en-US" sz="1400" dirty="0" smtClean="0">
              <a:latin typeface="Courier New" pitchFamily="49" charset="0"/>
              <a:cs typeface="Courier New" pitchFamily="49" charset="0"/>
            </a:endParaRP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interface </a:t>
            </a:r>
            <a:r>
              <a:rPr lang="en-US" sz="1400" dirty="0" err="1" smtClean="0">
                <a:latin typeface="Courier New" pitchFamily="49" charset="0"/>
                <a:cs typeface="Courier New" pitchFamily="49" charset="0"/>
              </a:rPr>
              <a:t>IDrawable</a:t>
            </a:r>
            <a:endParaRPr lang="en-US" sz="1400" dirty="0" smtClean="0">
              <a:latin typeface="Courier New" pitchFamily="49" charset="0"/>
              <a:cs typeface="Courier New" pitchFamily="49" charset="0"/>
            </a:endParaRP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    void Draw();</a:t>
            </a:r>
          </a:p>
          <a:p>
            <a:pPr algn="just"/>
            <a:r>
              <a:rPr lang="en-US" sz="1400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1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9144000" cy="286232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Создайте базовый класс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Animal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 методом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Speak().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Наследуйте от него классы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Dog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Cat,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переопределив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Speak()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так, чтобы:</a:t>
            </a:r>
          </a:p>
          <a:p>
            <a:pPr algn="just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Dog.Speak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выводил «Гав!»;</a:t>
            </a:r>
          </a:p>
          <a:p>
            <a:pPr algn="just"/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Cat.Speak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выводил «Мяу!».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Добавьте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Animal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поле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Name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конструктор, принимающий имя. В классах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Dog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Cat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передайте имя в базовый конструктор. Метод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Speak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 должен выводить: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«Собака [имя] говорит: Гав!»;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«Кошка [имя] говорит: Мяу!».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Сделайте метод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Speak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 абстрактным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Animal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Тогда все наследники обязаны его реализовать.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1011</Words>
  <Application>Microsoft Office PowerPoint</Application>
  <PresentationFormat>Экран (4:3)</PresentationFormat>
  <Paragraphs>76</Paragraphs>
  <Slides>22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3" baseType="lpstr">
      <vt:lpstr>Тема Office</vt:lpstr>
      <vt:lpstr>ОБЪЕКТНО-ОРИЕНТИРОВАННОЕ ПРОГРАММИРОВАНИЕ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Слайд 17</vt:lpstr>
      <vt:lpstr>Слайд 18</vt:lpstr>
      <vt:lpstr>Слайд 19</vt:lpstr>
      <vt:lpstr>Слайд 20</vt:lpstr>
      <vt:lpstr>Слайд 21</vt:lpstr>
      <vt:lpstr>Слайд 22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33</cp:revision>
  <dcterms:created xsi:type="dcterms:W3CDTF">2026-02-19T20:40:14Z</dcterms:created>
  <dcterms:modified xsi:type="dcterms:W3CDTF">2026-08-26T21:02:43Z</dcterms:modified>
</cp:coreProperties>
</file>