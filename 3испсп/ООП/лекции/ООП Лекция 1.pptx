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61" r:id="rId3"/>
    <p:sldId id="262" r:id="rId4"/>
    <p:sldId id="265" r:id="rId5"/>
    <p:sldId id="257" r:id="rId6"/>
    <p:sldId id="258" r:id="rId7"/>
    <p:sldId id="259" r:id="rId8"/>
    <p:sldId id="260" r:id="rId9"/>
    <p:sldId id="266" r:id="rId10"/>
    <p:sldId id="263" r:id="rId11"/>
    <p:sldId id="264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100" d="100"/>
          <a:sy n="100" d="100"/>
        </p:scale>
        <p:origin x="-1860" y="-2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E3C993-6618-4372-87DA-8E035D2D57E5}" type="datetimeFigureOut">
              <a:rPr lang="ru-RU" smtClean="0"/>
              <a:pPr/>
              <a:t>30.09.2026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083988-DAED-431F-8188-DCC76D80539C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DC9B77-AA25-4C4C-9D5F-EEB1395BF952}" type="slidenum">
              <a:rPr lang="ru-RU" smtClean="0"/>
              <a:pPr/>
              <a:t>4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917C5-37CB-42E7-BB65-BAEA85CEF70E}" type="datetimeFigureOut">
              <a:rPr lang="ru-RU" smtClean="0"/>
              <a:pPr/>
              <a:t>30.09.2026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4BA9A-FE03-4B2B-AC76-F8CA3926FFC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917C5-37CB-42E7-BB65-BAEA85CEF70E}" type="datetimeFigureOut">
              <a:rPr lang="ru-RU" smtClean="0"/>
              <a:pPr/>
              <a:t>30.09.2026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4BA9A-FE03-4B2B-AC76-F8CA3926FFC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917C5-37CB-42E7-BB65-BAEA85CEF70E}" type="datetimeFigureOut">
              <a:rPr lang="ru-RU" smtClean="0"/>
              <a:pPr/>
              <a:t>30.09.2026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4BA9A-FE03-4B2B-AC76-F8CA3926FFC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917C5-37CB-42E7-BB65-BAEA85CEF70E}" type="datetimeFigureOut">
              <a:rPr lang="ru-RU" smtClean="0"/>
              <a:pPr/>
              <a:t>30.09.2026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4BA9A-FE03-4B2B-AC76-F8CA3926FFC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917C5-37CB-42E7-BB65-BAEA85CEF70E}" type="datetimeFigureOut">
              <a:rPr lang="ru-RU" smtClean="0"/>
              <a:pPr/>
              <a:t>30.09.2026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4BA9A-FE03-4B2B-AC76-F8CA3926FFC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917C5-37CB-42E7-BB65-BAEA85CEF70E}" type="datetimeFigureOut">
              <a:rPr lang="ru-RU" smtClean="0"/>
              <a:pPr/>
              <a:t>30.09.2026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4BA9A-FE03-4B2B-AC76-F8CA3926FFC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917C5-37CB-42E7-BB65-BAEA85CEF70E}" type="datetimeFigureOut">
              <a:rPr lang="ru-RU" smtClean="0"/>
              <a:pPr/>
              <a:t>30.09.2026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4BA9A-FE03-4B2B-AC76-F8CA3926FFC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917C5-37CB-42E7-BB65-BAEA85CEF70E}" type="datetimeFigureOut">
              <a:rPr lang="ru-RU" smtClean="0"/>
              <a:pPr/>
              <a:t>30.09.2026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4BA9A-FE03-4B2B-AC76-F8CA3926FFC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917C5-37CB-42E7-BB65-BAEA85CEF70E}" type="datetimeFigureOut">
              <a:rPr lang="ru-RU" smtClean="0"/>
              <a:pPr/>
              <a:t>30.09.2026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4BA9A-FE03-4B2B-AC76-F8CA3926FFC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917C5-37CB-42E7-BB65-BAEA85CEF70E}" type="datetimeFigureOut">
              <a:rPr lang="ru-RU" smtClean="0"/>
              <a:pPr/>
              <a:t>30.09.2026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4BA9A-FE03-4B2B-AC76-F8CA3926FFC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917C5-37CB-42E7-BB65-BAEA85CEF70E}" type="datetimeFigureOut">
              <a:rPr lang="ru-RU" smtClean="0"/>
              <a:pPr/>
              <a:t>30.09.2026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4BA9A-FE03-4B2B-AC76-F8CA3926FFC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917C5-37CB-42E7-BB65-BAEA85CEF70E}" type="datetimeFigureOut">
              <a:rPr lang="ru-RU" smtClean="0"/>
              <a:pPr/>
              <a:t>30.09.2026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E4BA9A-FE03-4B2B-AC76-F8CA3926FFCB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stepik.org/course/190857/promo" TargetMode="External"/><Relationship Id="rId2" Type="http://schemas.openxmlformats.org/officeDocument/2006/relationships/hyperlink" Target="https://disk.360.yandex.ru/i/g-O-LX-QsYG8Lw" TargetMode="Externa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metanit.com/sharp/tutorial/2.34.php?ysclid=mltajfq52f115470918" TargetMode="External"/><Relationship Id="rId4" Type="http://schemas.openxmlformats.org/officeDocument/2006/relationships/hyperlink" Target="https://csharp.webdelphi.ru/metody-v-c/?ysclid=mltadf7lj3811591999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Введение в C# и .NET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-357214"/>
            <a:ext cx="8229600" cy="1143000"/>
          </a:xfrm>
        </p:spPr>
        <p:txBody>
          <a:bodyPr/>
          <a:lstStyle/>
          <a:p>
            <a:r>
              <a:rPr lang="ru-RU" dirty="0" smtClean="0"/>
              <a:t>Различия между </a:t>
            </a:r>
            <a:r>
              <a:rPr lang="en-US" dirty="0" smtClean="0"/>
              <a:t>C# </a:t>
            </a:r>
            <a:r>
              <a:rPr lang="ru-RU" dirty="0" smtClean="0"/>
              <a:t>и </a:t>
            </a:r>
            <a:r>
              <a:rPr lang="en-US" dirty="0" smtClean="0"/>
              <a:t>Python</a:t>
            </a:r>
            <a:endParaRPr lang="ru-RU" dirty="0"/>
          </a:p>
        </p:txBody>
      </p:sp>
      <p:pic>
        <p:nvPicPr>
          <p:cNvPr id="8194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14546" y="533620"/>
            <a:ext cx="4695814" cy="632438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4857752" cy="283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9460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62628" y="0"/>
            <a:ext cx="3381372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9461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24000" y="4314825"/>
            <a:ext cx="7620000" cy="2543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9463" name="Picture 7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0" y="3214686"/>
            <a:ext cx="1857375" cy="212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9466" name="Picture 10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3428992" y="2285992"/>
            <a:ext cx="2071702" cy="24010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2910" y="-357214"/>
            <a:ext cx="8229600" cy="1143000"/>
          </a:xfrm>
        </p:spPr>
        <p:txBody>
          <a:bodyPr/>
          <a:lstStyle/>
          <a:p>
            <a:r>
              <a:rPr lang="ru-RU" b="1" dirty="0" smtClean="0"/>
              <a:t>Начало работы</a:t>
            </a:r>
            <a:r>
              <a:rPr lang="en-US" b="1" dirty="0" smtClean="0"/>
              <a:t>: </a:t>
            </a:r>
            <a:r>
              <a:rPr lang="en-US" b="1" dirty="0" err="1" smtClean="0"/>
              <a:t>sharpdevelop</a:t>
            </a:r>
            <a:endParaRPr lang="ru-RU" b="1" dirty="0"/>
          </a:p>
        </p:txBody>
      </p:sp>
      <p:pic>
        <p:nvPicPr>
          <p:cNvPr id="26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5752" y="1571612"/>
            <a:ext cx="6476992" cy="3992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28" name="Прямая со стрелкой 27"/>
          <p:cNvCxnSpPr/>
          <p:nvPr/>
        </p:nvCxnSpPr>
        <p:spPr>
          <a:xfrm rot="16200000" flipH="1">
            <a:off x="535785" y="1393017"/>
            <a:ext cx="2143140" cy="135732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/>
          <p:cNvCxnSpPr/>
          <p:nvPr/>
        </p:nvCxnSpPr>
        <p:spPr>
          <a:xfrm rot="10800000">
            <a:off x="0" y="1000108"/>
            <a:ext cx="928694" cy="158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Прямоугольник 30"/>
          <p:cNvSpPr/>
          <p:nvPr/>
        </p:nvSpPr>
        <p:spPr>
          <a:xfrm>
            <a:off x="142876" y="214290"/>
            <a:ext cx="5357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1</a:t>
            </a:r>
            <a:endParaRPr lang="ru-RU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pic>
        <p:nvPicPr>
          <p:cNvPr id="13313" name="Picture 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357686" y="2928934"/>
            <a:ext cx="4786314" cy="3675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32" name="Прямая со стрелкой 31"/>
          <p:cNvCxnSpPr>
            <a:endCxn id="33" idx="0"/>
          </p:cNvCxnSpPr>
          <p:nvPr/>
        </p:nvCxnSpPr>
        <p:spPr>
          <a:xfrm rot="5400000">
            <a:off x="6733002" y="2160976"/>
            <a:ext cx="1928824" cy="464349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Скругленный прямоугольник 32"/>
          <p:cNvSpPr/>
          <p:nvPr/>
        </p:nvSpPr>
        <p:spPr>
          <a:xfrm>
            <a:off x="6072198" y="3357562"/>
            <a:ext cx="2786082" cy="135732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8" name="Прямая соединительная линия 37"/>
          <p:cNvCxnSpPr/>
          <p:nvPr/>
        </p:nvCxnSpPr>
        <p:spPr>
          <a:xfrm rot="10800000">
            <a:off x="7929586" y="1428736"/>
            <a:ext cx="928694" cy="158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Прямоугольник 38"/>
          <p:cNvSpPr/>
          <p:nvPr/>
        </p:nvSpPr>
        <p:spPr>
          <a:xfrm>
            <a:off x="8072462" y="642918"/>
            <a:ext cx="5357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2</a:t>
            </a:r>
            <a:endParaRPr lang="ru-RU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40" name="Скругленный прямоугольник 39"/>
          <p:cNvSpPr/>
          <p:nvPr/>
        </p:nvSpPr>
        <p:spPr>
          <a:xfrm>
            <a:off x="4714876" y="5429264"/>
            <a:ext cx="4000528" cy="42862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42" name="Прямая со стрелкой 41"/>
          <p:cNvCxnSpPr>
            <a:endCxn id="40" idx="1"/>
          </p:cNvCxnSpPr>
          <p:nvPr/>
        </p:nvCxnSpPr>
        <p:spPr>
          <a:xfrm flipV="1">
            <a:off x="2500298" y="5643578"/>
            <a:ext cx="2214578" cy="57150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Прямая соединительная линия 44"/>
          <p:cNvCxnSpPr/>
          <p:nvPr/>
        </p:nvCxnSpPr>
        <p:spPr>
          <a:xfrm rot="10800000">
            <a:off x="2143108" y="6215082"/>
            <a:ext cx="357190" cy="158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Прямоугольник 45"/>
          <p:cNvSpPr/>
          <p:nvPr/>
        </p:nvSpPr>
        <p:spPr>
          <a:xfrm>
            <a:off x="2071670" y="5429264"/>
            <a:ext cx="5357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3</a:t>
            </a:r>
            <a:endParaRPr lang="ru-RU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47" name="Прямоугольник 46"/>
          <p:cNvSpPr/>
          <p:nvPr/>
        </p:nvSpPr>
        <p:spPr>
          <a:xfrm>
            <a:off x="571472" y="415333"/>
            <a:ext cx="321471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Создать новый проект можно непосредственно в Главном меню</a:t>
            </a:r>
            <a:endParaRPr lang="ru-RU" sz="1600" dirty="0"/>
          </a:p>
        </p:txBody>
      </p:sp>
      <p:sp>
        <p:nvSpPr>
          <p:cNvPr id="48" name="Прямоугольник 47"/>
          <p:cNvSpPr/>
          <p:nvPr/>
        </p:nvSpPr>
        <p:spPr>
          <a:xfrm>
            <a:off x="5500694" y="422956"/>
            <a:ext cx="271461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Для дисциплины нам понадобятся «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Консольное приложение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» и «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Windows-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приложение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»</a:t>
            </a:r>
            <a:endParaRPr lang="ru-RU" sz="1600" dirty="0"/>
          </a:p>
        </p:txBody>
      </p:sp>
      <p:sp>
        <p:nvSpPr>
          <p:cNvPr id="50" name="Прямоугольник 49"/>
          <p:cNvSpPr/>
          <p:nvPr/>
        </p:nvSpPr>
        <p:spPr>
          <a:xfrm>
            <a:off x="0" y="5637930"/>
            <a:ext cx="214310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Необходимо задать только имя и расположение (лучше создать новую папку)</a:t>
            </a:r>
            <a:endParaRPr lang="ru-RU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1571612"/>
            <a:ext cx="7368792" cy="39290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Прямоугольник 2"/>
          <p:cNvSpPr/>
          <p:nvPr/>
        </p:nvSpPr>
        <p:spPr>
          <a:xfrm>
            <a:off x="0" y="5380672"/>
            <a:ext cx="9144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Программа видит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using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System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; и «подгружает» нужные инструменты (в данном случае — возможность выводить текст).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Она «входит» в пространство имён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MyFirstApp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чтобы знать, где находится наш код.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Находит класс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Program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 внутри него — метод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Main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().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Выполняет код внутри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Main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(), то есть выводит на экран «Привет, мир!».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457200" y="-24"/>
            <a:ext cx="8229600" cy="1143000"/>
          </a:xfrm>
          <a:prstGeom prst="rect">
            <a:avLst/>
          </a:prstGeom>
        </p:spPr>
        <p:txBody>
          <a:bodyPr>
            <a:normAutofit fontScale="975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Базовый проект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dirty="0" err="1" smtClean="0"/>
              <a:t>Ввод‑вывод</a:t>
            </a:r>
            <a:r>
              <a:rPr lang="ru-RU" dirty="0" smtClean="0"/>
              <a:t> в консольном приложении</a:t>
            </a:r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14480" y="1214423"/>
            <a:ext cx="5795901" cy="56435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dirty="0" err="1" smtClean="0"/>
              <a:t>Ввод‑вывод</a:t>
            </a:r>
            <a:r>
              <a:rPr lang="ru-RU" dirty="0" smtClean="0"/>
              <a:t> в консольном приложении</a:t>
            </a:r>
            <a:endParaRPr lang="ru-R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4414" y="1135536"/>
            <a:ext cx="6215073" cy="5722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000108"/>
            <a:ext cx="4857751" cy="5429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/>
          </a:bodyPr>
          <a:lstStyle/>
          <a:p>
            <a:r>
              <a:rPr lang="ru-RU" dirty="0" err="1" smtClean="0"/>
              <a:t>Ввод‑вывод</a:t>
            </a:r>
            <a:r>
              <a:rPr lang="ru-RU" dirty="0" smtClean="0"/>
              <a:t> в </a:t>
            </a:r>
            <a:r>
              <a:rPr lang="en-US" dirty="0" err="1" smtClean="0"/>
              <a:t>WinForms</a:t>
            </a:r>
            <a:endParaRPr lang="ru-RU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0" y="2071678"/>
            <a:ext cx="4572000" cy="33187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85776"/>
            <a:ext cx="8229600" cy="1143000"/>
          </a:xfrm>
        </p:spPr>
        <p:txBody>
          <a:bodyPr/>
          <a:lstStyle/>
          <a:p>
            <a:r>
              <a:rPr lang="ru-RU" dirty="0" smtClean="0"/>
              <a:t>Задание к лекции</a:t>
            </a:r>
            <a:endParaRPr lang="ru-RU" dirty="0"/>
          </a:p>
        </p:txBody>
      </p:sp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0" y="428604"/>
            <a:ext cx="9144000" cy="6370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arenR"/>
              <a:tabLst/>
            </a:pPr>
            <a:r>
              <a:rPr kumimoji="0" lang="ru-RU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исправьте ошибки со слайда 10.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arenR"/>
              <a:tabLst/>
            </a:pPr>
            <a:endParaRPr lang="ru-RU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marL="457200" lvl="0" indent="-457200" fontAlgn="base">
              <a:spcBef>
                <a:spcPct val="0"/>
              </a:spcBef>
              <a:spcAft>
                <a:spcPct val="0"/>
              </a:spcAft>
              <a:buFontTx/>
              <a:buAutoNum type="arabicParenR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Создайте консольное приложение и попробуйте сделать следующие вещи: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lvl="0" indent="-45720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объявите переменную за пределами класса и вывести ее на экран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lvl="0" indent="-45720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объявите переменную внутри класса и вывести ее на экран</a:t>
            </a:r>
          </a:p>
          <a:p>
            <a:pPr marL="457200" lvl="0" indent="-45720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объявите переменную после вывода ее во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writeln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3)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Написать программу, выводящую на экран какую-либо картинку из символов (на Ваше усмотрение) - в консоли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4)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Написать программу, которая считывает из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TextBox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значение и выводит его в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messagebox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*5)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 проекте два класса с методом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Main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на слайде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11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 Настройте файл .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csproj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чтобы точкой входа стал класс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Launcher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вместо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Program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785794"/>
            <a:ext cx="91440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dirty="0" smtClean="0">
                <a:latin typeface="Courier New" pitchFamily="49" charset="0"/>
                <a:cs typeface="Courier New" pitchFamily="49" charset="0"/>
              </a:rPr>
              <a:t>using System </a:t>
            </a:r>
          </a:p>
          <a:p>
            <a:pPr algn="just"/>
            <a:r>
              <a:rPr lang="en-US" sz="2800" dirty="0" smtClean="0">
                <a:latin typeface="Courier New" pitchFamily="49" charset="0"/>
                <a:cs typeface="Courier New" pitchFamily="49" charset="0"/>
              </a:rPr>
              <a:t>namespace </a:t>
            </a:r>
            <a:r>
              <a:rPr lang="en-US" sz="2800" dirty="0" err="1" smtClean="0">
                <a:latin typeface="Courier New" pitchFamily="49" charset="0"/>
                <a:cs typeface="Courier New" pitchFamily="49" charset="0"/>
              </a:rPr>
              <a:t>MyApp</a:t>
            </a:r>
            <a:r>
              <a:rPr lang="en-US" sz="2800" dirty="0" smtClean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 algn="just"/>
            <a:r>
              <a:rPr lang="en-US" sz="2800" dirty="0" smtClean="0">
                <a:latin typeface="Courier New" pitchFamily="49" charset="0"/>
                <a:cs typeface="Courier New" pitchFamily="49" charset="0"/>
              </a:rPr>
              <a:t>{ </a:t>
            </a:r>
          </a:p>
          <a:p>
            <a:pPr algn="just"/>
            <a:r>
              <a:rPr lang="en-US" sz="2800" dirty="0" smtClean="0">
                <a:latin typeface="Courier New" pitchFamily="49" charset="0"/>
                <a:cs typeface="Courier New" pitchFamily="49" charset="0"/>
              </a:rPr>
              <a:t>class Program </a:t>
            </a:r>
          </a:p>
          <a:p>
            <a:pPr algn="just"/>
            <a:r>
              <a:rPr lang="en-US" sz="2800" dirty="0" smtClean="0">
                <a:latin typeface="Courier New" pitchFamily="49" charset="0"/>
                <a:cs typeface="Courier New" pitchFamily="49" charset="0"/>
              </a:rPr>
              <a:t>static void Main() </a:t>
            </a:r>
          </a:p>
          <a:p>
            <a:pPr algn="just"/>
            <a:r>
              <a:rPr lang="en-US" sz="2800" dirty="0" smtClean="0">
                <a:latin typeface="Courier New" pitchFamily="49" charset="0"/>
                <a:cs typeface="Courier New" pitchFamily="49" charset="0"/>
              </a:rPr>
              <a:t>{ </a:t>
            </a:r>
          </a:p>
          <a:p>
            <a:pPr algn="just"/>
            <a:r>
              <a:rPr lang="en-US" sz="2800" dirty="0" err="1" smtClean="0">
                <a:latin typeface="Courier New" pitchFamily="49" charset="0"/>
                <a:cs typeface="Courier New" pitchFamily="49" charset="0"/>
              </a:rPr>
              <a:t>Console.WriteLine</a:t>
            </a:r>
            <a:r>
              <a:rPr lang="en-US" sz="2800" dirty="0" smtClean="0">
                <a:latin typeface="Courier New" pitchFamily="49" charset="0"/>
                <a:cs typeface="Courier New" pitchFamily="49" charset="0"/>
              </a:rPr>
              <a:t>("Hello, World!") </a:t>
            </a:r>
          </a:p>
          <a:p>
            <a:pPr algn="just"/>
            <a:r>
              <a:rPr lang="en-US" sz="2800" dirty="0" smtClean="0">
                <a:latin typeface="Courier New" pitchFamily="49" charset="0"/>
                <a:cs typeface="Courier New" pitchFamily="49" charset="0"/>
              </a:rPr>
              <a:t>} </a:t>
            </a:r>
          </a:p>
          <a:p>
            <a:pPr algn="just"/>
            <a:r>
              <a:rPr lang="en-US" sz="2800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ru-RU" sz="2800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class Program</a:t>
            </a:r>
            <a:br>
              <a:rPr lang="en-US" sz="2000" dirty="0" smtClean="0">
                <a:latin typeface="Courier New" pitchFamily="49" charset="0"/>
                <a:cs typeface="Courier New" pitchFamily="49" charset="0"/>
              </a:rPr>
            </a:b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{</a:t>
            </a:r>
            <a:br>
              <a:rPr lang="en-US" sz="2000" dirty="0" smtClean="0">
                <a:latin typeface="Courier New" pitchFamily="49" charset="0"/>
                <a:cs typeface="Courier New" pitchFamily="49" charset="0"/>
              </a:rPr>
            </a:b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public static void Main(string[]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)</a:t>
            </a:r>
            <a:br>
              <a:rPr lang="en-US" sz="2000" dirty="0" smtClean="0">
                <a:latin typeface="Courier New" pitchFamily="49" charset="0"/>
                <a:cs typeface="Courier New" pitchFamily="49" charset="0"/>
              </a:rPr>
            </a:b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{</a:t>
            </a:r>
            <a:br>
              <a:rPr lang="en-US" sz="2000" dirty="0" smtClean="0">
                <a:latin typeface="Courier New" pitchFamily="49" charset="0"/>
                <a:cs typeface="Courier New" pitchFamily="49" charset="0"/>
              </a:rPr>
            </a:b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Console.WriteLine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("Hello World!");</a:t>
            </a:r>
            <a:br>
              <a:rPr lang="en-US" sz="2000" dirty="0" smtClean="0">
                <a:latin typeface="Courier New" pitchFamily="49" charset="0"/>
                <a:cs typeface="Courier New" pitchFamily="49" charset="0"/>
              </a:rPr>
            </a:b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Console.Write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("Press any key to continue . . . ");</a:t>
            </a:r>
            <a:br>
              <a:rPr lang="en-US" sz="2000" dirty="0" smtClean="0">
                <a:latin typeface="Courier New" pitchFamily="49" charset="0"/>
                <a:cs typeface="Courier New" pitchFamily="49" charset="0"/>
              </a:rPr>
            </a:b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Console.ReadKey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(true);</a:t>
            </a:r>
            <a:br>
              <a:rPr lang="en-US" sz="2000" dirty="0" smtClean="0">
                <a:latin typeface="Courier New" pitchFamily="49" charset="0"/>
                <a:cs typeface="Courier New" pitchFamily="49" charset="0"/>
              </a:rPr>
            </a:b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}</a:t>
            </a:r>
            <a:br>
              <a:rPr lang="en-US" sz="2000" dirty="0" smtClean="0">
                <a:latin typeface="Courier New" pitchFamily="49" charset="0"/>
                <a:cs typeface="Courier New" pitchFamily="49" charset="0"/>
              </a:rPr>
            </a:b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}</a:t>
            </a:r>
            <a:br>
              <a:rPr lang="en-US" sz="2000" dirty="0" smtClean="0">
                <a:latin typeface="Courier New" pitchFamily="49" charset="0"/>
                <a:cs typeface="Courier New" pitchFamily="49" charset="0"/>
              </a:rPr>
            </a:b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/>
            </a:r>
            <a:br>
              <a:rPr lang="en-US" sz="2000" dirty="0" smtClean="0">
                <a:latin typeface="Courier New" pitchFamily="49" charset="0"/>
                <a:cs typeface="Courier New" pitchFamily="49" charset="0"/>
              </a:rPr>
            </a:b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class Launcher</a:t>
            </a:r>
            <a:br>
              <a:rPr lang="en-US" sz="2000" dirty="0" smtClean="0">
                <a:latin typeface="Courier New" pitchFamily="49" charset="0"/>
                <a:cs typeface="Courier New" pitchFamily="49" charset="0"/>
              </a:rPr>
            </a:b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{</a:t>
            </a:r>
            <a:br>
              <a:rPr lang="en-US" sz="2000" dirty="0" smtClean="0">
                <a:latin typeface="Courier New" pitchFamily="49" charset="0"/>
                <a:cs typeface="Courier New" pitchFamily="49" charset="0"/>
              </a:rPr>
            </a:b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public static void Main(string[]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)</a:t>
            </a:r>
            <a:br>
              <a:rPr lang="en-US" sz="2000" dirty="0" smtClean="0">
                <a:latin typeface="Courier New" pitchFamily="49" charset="0"/>
                <a:cs typeface="Courier New" pitchFamily="49" charset="0"/>
              </a:rPr>
            </a:b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{</a:t>
            </a:r>
            <a:br>
              <a:rPr lang="en-US" sz="2000" dirty="0" smtClean="0">
                <a:latin typeface="Courier New" pitchFamily="49" charset="0"/>
                <a:cs typeface="Courier New" pitchFamily="49" charset="0"/>
              </a:rPr>
            </a:b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Console.WriteLine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("Hello Launcher!");</a:t>
            </a:r>
            <a:br>
              <a:rPr lang="en-US" sz="2000" dirty="0" smtClean="0">
                <a:latin typeface="Courier New" pitchFamily="49" charset="0"/>
                <a:cs typeface="Courier New" pitchFamily="49" charset="0"/>
              </a:rPr>
            </a:b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Console.Write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("Press any key to continue . . . ");</a:t>
            </a:r>
            <a:br>
              <a:rPr lang="en-US" sz="2000" dirty="0" smtClean="0">
                <a:latin typeface="Courier New" pitchFamily="49" charset="0"/>
                <a:cs typeface="Courier New" pitchFamily="49" charset="0"/>
              </a:rPr>
            </a:b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Console.ReadKey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(true);</a:t>
            </a:r>
            <a:br>
              <a:rPr lang="en-US" sz="2000" dirty="0" smtClean="0">
                <a:latin typeface="Courier New" pitchFamily="49" charset="0"/>
                <a:cs typeface="Courier New" pitchFamily="49" charset="0"/>
              </a:rPr>
            </a:b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}</a:t>
            </a:r>
            <a:br>
              <a:rPr lang="en-US" sz="2000" dirty="0" smtClean="0">
                <a:latin typeface="Courier New" pitchFamily="49" charset="0"/>
                <a:cs typeface="Courier New" pitchFamily="49" charset="0"/>
              </a:rPr>
            </a:b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ru-RU" sz="2000" dirty="0" smtClean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5786454"/>
            <a:ext cx="9144000" cy="101566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Решение: найдите в файле *.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csproj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строку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&lt;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OutputType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&gt;Exe&lt;/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OutputType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&gt;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и добавьте под ней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&lt;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StartupObject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&gt;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test_class.Launcher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&lt;/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StartupObject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&gt;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где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test_class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– название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namespace.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Базовые операторы и типы</a:t>
            </a:r>
            <a:endParaRPr lang="ru-RU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Теоретический материал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" y="1428736"/>
            <a:ext cx="914400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Шпаргалка: </a:t>
            </a:r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800" b="1" dirty="0" smtClean="0">
                <a:latin typeface="Times New Roman" pitchFamily="18" charset="0"/>
                <a:cs typeface="Times New Roman" pitchFamily="18" charset="0"/>
                <a:hlinkClick r:id="rId2"/>
              </a:rPr>
              <a:t>https://disk.360.yandex.ru/i/g-O-LX-QsYG8Lw</a:t>
            </a:r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C# для начинающих. С нуля до первых проектов</a:t>
            </a:r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800" b="1" dirty="0" smtClean="0">
                <a:latin typeface="Times New Roman" pitchFamily="18" charset="0"/>
                <a:cs typeface="Times New Roman" pitchFamily="18" charset="0"/>
                <a:hlinkClick r:id="rId3"/>
              </a:rPr>
              <a:t>https://stepik.org/course/190857/promo</a:t>
            </a:r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8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142852"/>
            <a:ext cx="9144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памяти компьютера все данные - будь то звук, изображение или текст - получаются, хранятся и обрабатываются в виде набора 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байт.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Но ведь нам нужны звуки, картинки и так далее. Как быть?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таком случае вводится понятие 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тип данных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- то, что представляет собой последовательность байт, как её следует воспринимать.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 descr="https://ucarecdn.stepik.net/76ee26d4-d486-40d9-94cb-feda4c21bc15/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1631028"/>
            <a:ext cx="7398404" cy="522697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117693"/>
            <a:ext cx="9144000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Переменная - это область памяти, которая хранит определённый тип данных. Обращение к хранимым данным происходит по имени переменной.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Чтобы использовать переменную, её сначала надо объявить (создать), а затем инициализировать (задать значение).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Создание переменной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Переменные создаются следующим образом: сначала указывается её тип, затем имя, после чего ей присваивается значение.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Рассмотрим на примере:</a:t>
            </a:r>
          </a:p>
          <a:p>
            <a:pPr algn="just"/>
            <a:r>
              <a:rPr lang="ru-RU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dirty="0" err="1" smtClean="0">
                <a:latin typeface="Courier New" pitchFamily="49" charset="0"/>
                <a:cs typeface="Courier New" pitchFamily="49" charset="0"/>
              </a:rPr>
              <a:t>a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 = 5;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Здесь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- тип данных,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- название (имя) переменной, а значение после знака равно - ей значение.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Важно: в имени переменной можно использовать только строчные и прописные буквы и знак подчёркивания. Также допустимы цифры, но имя не может с них начинаться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Задать значения для чисел не сложно. Но как быть с другими типами, например, с дробными числами?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Для дробей в качестве разделителя используется точка:</a:t>
            </a:r>
          </a:p>
          <a:p>
            <a:pPr algn="just"/>
            <a:r>
              <a:rPr lang="ru-RU" dirty="0" err="1">
                <a:latin typeface="Courier New" pitchFamily="49" charset="0"/>
                <a:cs typeface="Courier New" pitchFamily="49" charset="0"/>
              </a:rPr>
              <a:t>double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pi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= 3.14;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Значения строки и символа находятся между двойными и одинарными кавычками соответственно.</a:t>
            </a:r>
          </a:p>
          <a:p>
            <a:pPr algn="just"/>
            <a:r>
              <a:rPr lang="ru-RU" dirty="0" err="1">
                <a:latin typeface="Courier New" pitchFamily="49" charset="0"/>
                <a:cs typeface="Courier New" pitchFamily="49" charset="0"/>
              </a:rPr>
              <a:t>string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str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= "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name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";</a:t>
            </a:r>
          </a:p>
          <a:p>
            <a:pPr algn="just"/>
            <a:r>
              <a:rPr lang="ru-RU" dirty="0" err="1">
                <a:latin typeface="Courier New" pitchFamily="49" charset="0"/>
                <a:cs typeface="Courier New" pitchFamily="49" charset="0"/>
              </a:rPr>
              <a:t>char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ch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= 'D';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Логический тип может принимать только два значения:</a:t>
            </a:r>
          </a:p>
          <a:p>
            <a:pPr algn="just"/>
            <a:r>
              <a:rPr lang="ru-RU" dirty="0" err="1">
                <a:latin typeface="Courier New" pitchFamily="49" charset="0"/>
                <a:cs typeface="Courier New" pitchFamily="49" charset="0"/>
              </a:rPr>
              <a:t>bool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yes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true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; //Истина</a:t>
            </a:r>
          </a:p>
          <a:p>
            <a:pPr algn="just"/>
            <a:r>
              <a:rPr lang="ru-RU" dirty="0" err="1">
                <a:latin typeface="Courier New" pitchFamily="49" charset="0"/>
                <a:cs typeface="Courier New" pitchFamily="49" charset="0"/>
              </a:rPr>
              <a:t>bool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no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false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; //Ложь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57356" y="1785926"/>
            <a:ext cx="5261355" cy="1142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487900"/>
            <a:ext cx="8875959" cy="1000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3714744" y="2857496"/>
            <a:ext cx="8703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Python</a:t>
            </a:r>
            <a:endParaRPr lang="ru-RU" b="1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3929058" y="1416594"/>
            <a:ext cx="4219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C#</a:t>
            </a:r>
            <a:endParaRPr lang="ru-RU" b="1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1714480" y="0"/>
            <a:ext cx="56379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 smtClean="0"/>
              <a:t>Статическая </a:t>
            </a:r>
            <a:r>
              <a:rPr lang="en-US" sz="2400" b="1" dirty="0" err="1" smtClean="0"/>
              <a:t>vs</a:t>
            </a:r>
            <a:r>
              <a:rPr lang="en-US" sz="2400" b="1" dirty="0" smtClean="0"/>
              <a:t> </a:t>
            </a:r>
            <a:r>
              <a:rPr lang="ru-RU" sz="2400" b="1" dirty="0" smtClean="0"/>
              <a:t>динамическая типизация</a:t>
            </a:r>
            <a:endParaRPr lang="ru-RU" sz="2400" b="1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1214414" y="3500438"/>
            <a:ext cx="70009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 smtClean="0"/>
              <a:t>НО в C# можно писать так же «по смыслу», но через </a:t>
            </a:r>
            <a:r>
              <a:rPr lang="ru-RU" dirty="0" err="1" smtClean="0"/>
              <a:t>var</a:t>
            </a:r>
            <a:r>
              <a:rPr lang="ru-RU" dirty="0" smtClean="0"/>
              <a:t>:</a:t>
            </a:r>
            <a:endParaRPr lang="ru-RU" dirty="0"/>
          </a:p>
        </p:txBody>
      </p:sp>
      <p:cxnSp>
        <p:nvCxnSpPr>
          <p:cNvPr id="11" name="Прямая со стрелкой 10"/>
          <p:cNvCxnSpPr/>
          <p:nvPr/>
        </p:nvCxnSpPr>
        <p:spPr>
          <a:xfrm rot="5400000">
            <a:off x="2714612" y="3143248"/>
            <a:ext cx="714380" cy="1588"/>
          </a:xfrm>
          <a:prstGeom prst="straightConnector1">
            <a:avLst/>
          </a:prstGeom>
          <a:ln w="127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000232" y="3857628"/>
            <a:ext cx="5180578" cy="7858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Прямоугольник 13"/>
          <p:cNvSpPr/>
          <p:nvPr/>
        </p:nvSpPr>
        <p:spPr>
          <a:xfrm>
            <a:off x="0" y="4643446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var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это не «любой тип», а вывод типа на этапе компиляции. Тип всё равно строго фиксируется. Если позже попробовать присвоить несовместимое значение — будет ошибка.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571736" y="5286388"/>
            <a:ext cx="4248150" cy="1009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Прямоугольник 15"/>
          <p:cNvSpPr/>
          <p:nvPr/>
        </p:nvSpPr>
        <p:spPr>
          <a:xfrm>
            <a:off x="2928926" y="6286520"/>
            <a:ext cx="23567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/>
              <a:t>Анонимные типы в </a:t>
            </a:r>
            <a:r>
              <a:rPr lang="en-US" dirty="0" smtClean="0"/>
              <a:t>C</a:t>
            </a:r>
            <a:r>
              <a:rPr lang="ru-RU" dirty="0" smtClean="0"/>
              <a:t>#</a:t>
            </a:r>
            <a:endParaRPr lang="ru-RU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28794" y="2990000"/>
            <a:ext cx="4924364" cy="386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Прямоугольник 2"/>
          <p:cNvSpPr/>
          <p:nvPr/>
        </p:nvSpPr>
        <p:spPr>
          <a:xfrm>
            <a:off x="0" y="-79653"/>
            <a:ext cx="91440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Стек в контексте управления памятью — это специальная область оперативной памяти, выделяемая для каждого потока выполнения в программе. Он работает по принципу LIFO (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Last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In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First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Out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— «последним пришёл, первым ушёл»).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Ключевые характеристики стека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   Фиксированный размер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   Выделяется при создании потока. Превышение лимита приводит к переполнению стека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16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   Автоматическое управление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       При входе в функцию: в стек помещаются её параметры и локальные переменные.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       При выходе из функции: вся память автоматически освобождается.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Благодаря простой логике LIFO и близости к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кэшу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процессора операции со стеком выполняются очень быстро.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Все переменные в стеке — локальные (доступны только в рамках текущей функции/метода).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0100" y="571480"/>
            <a:ext cx="2928926" cy="17451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174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43504" y="714356"/>
            <a:ext cx="3357554" cy="2331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748" name="Rectangle 4"/>
          <p:cNvSpPr>
            <a:spLocks noChangeArrowheads="1"/>
          </p:cNvSpPr>
          <p:nvPr/>
        </p:nvSpPr>
        <p:spPr bwMode="auto">
          <a:xfrm>
            <a:off x="1000100" y="0"/>
            <a:ext cx="643849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45085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Пример с передачей значимого типа (число)</a:t>
            </a:r>
            <a:endParaRPr kumimoji="0" lang="ru-RU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0" y="4714884"/>
            <a:ext cx="914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Пример с изменяемым объектом (список/массив)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1749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85720" y="5143512"/>
            <a:ext cx="4295775" cy="1571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1750" name="Picture 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715008" y="5214926"/>
            <a:ext cx="2862932" cy="16430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357158" y="2357430"/>
            <a:ext cx="4143404" cy="23766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Конвертация данных — преобразование данных из одного формата в другой.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Но зачем конвертировать данные в C#? 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При вводе данных в консоль они представлены типом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string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Рассмотрим следующую программу:</a:t>
            </a:r>
          </a:p>
          <a:p>
            <a:pPr algn="just"/>
            <a:r>
              <a:rPr lang="ru-RU" dirty="0" err="1" smtClean="0">
                <a:latin typeface="Courier New" pitchFamily="49" charset="0"/>
                <a:cs typeface="Courier New" pitchFamily="49" charset="0"/>
              </a:rPr>
              <a:t>Console.WriteLine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("Введите число:");</a:t>
            </a:r>
          </a:p>
          <a:p>
            <a:pPr algn="just"/>
            <a:r>
              <a:rPr lang="ru-RU" dirty="0" err="1" smtClean="0">
                <a:latin typeface="Courier New" pitchFamily="49" charset="0"/>
                <a:cs typeface="Courier New" pitchFamily="49" charset="0"/>
              </a:rPr>
              <a:t>string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dirty="0" err="1" smtClean="0">
                <a:latin typeface="Courier New" pitchFamily="49" charset="0"/>
                <a:cs typeface="Courier New" pitchFamily="49" charset="0"/>
              </a:rPr>
              <a:t>number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ru-RU" dirty="0" err="1" smtClean="0">
                <a:latin typeface="Courier New" pitchFamily="49" charset="0"/>
                <a:cs typeface="Courier New" pitchFamily="49" charset="0"/>
              </a:rPr>
              <a:t>Console.ReadLine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Переменная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number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будет иметь тип данных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string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несмотря на то что в консоль мы введем число.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Это будет выглядеть похожим образом:</a:t>
            </a:r>
          </a:p>
          <a:p>
            <a:pPr algn="just"/>
            <a:r>
              <a:rPr lang="ru-RU" dirty="0" err="1">
                <a:latin typeface="Courier New" pitchFamily="49" charset="0"/>
                <a:cs typeface="Courier New" pitchFamily="49" charset="0"/>
              </a:rPr>
              <a:t>string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number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= "34";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Представим, что нам нужно использовать число 34, например, для сложения, для этого нам надо переменную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number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с типом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string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конвертировать в числовой тип данных. Чтобы совершить данную операцию, существуют специальные методы.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3714752"/>
            <a:ext cx="91440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Для конвертации данных из строки можно использовать метод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Parse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dirty="0" err="1" smtClean="0">
                <a:latin typeface="Courier New" pitchFamily="49" charset="0"/>
                <a:cs typeface="Courier New" pitchFamily="49" charset="0"/>
              </a:rPr>
              <a:t>int.Parse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("34");</a:t>
            </a: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Здесь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- тип, в который мы хотим преобразовать, а "34" - строковое значение числа.</a:t>
            </a: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Если мы захотим преобразовать в другой тип, надо использовать его метод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Parse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()</a:t>
            </a:r>
          </a:p>
          <a:p>
            <a:r>
              <a:rPr lang="ru-RU" dirty="0" err="1">
                <a:latin typeface="Courier New" pitchFamily="49" charset="0"/>
                <a:cs typeface="Courier New" pitchFamily="49" charset="0"/>
              </a:rPr>
              <a:t>double.Parse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("3.14");</a:t>
            </a:r>
          </a:p>
          <a:p>
            <a:r>
              <a:rPr lang="ru-RU" dirty="0" err="1">
                <a:latin typeface="Courier New" pitchFamily="49" charset="0"/>
                <a:cs typeface="Courier New" pitchFamily="49" charset="0"/>
              </a:rPr>
              <a:t>byte.Parse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("128");</a:t>
            </a: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Для использования результата конвертации его лучше сохранить в переменную:</a:t>
            </a:r>
          </a:p>
          <a:p>
            <a:r>
              <a:rPr lang="ru-RU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a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int.Parse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("34");</a:t>
            </a: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Таким образом при помощи метода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Parse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мы можем преобразовывать строку в соответствующий тип.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a 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int.Parse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Console.ReadLine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());</a:t>
            </a:r>
            <a:endParaRPr lang="ru-RU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91440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Для конвертации данных из любого типа в любой можно использовать класс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Convert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Courier New" pitchFamily="49" charset="0"/>
                <a:cs typeface="Courier New" pitchFamily="49" charset="0"/>
              </a:rPr>
              <a:t>Convert.ToInt32("34");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Здесь Int32 - название типа в библиотеке .NET (согласно таблице), в который мы хотим преобразовать, а "34" - строковое значение числа.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Если мы захотим преобразовать в другой тип, надо использовать его название в библиотеке .NET.</a:t>
            </a:r>
          </a:p>
          <a:p>
            <a:pPr algn="just"/>
            <a:r>
              <a:rPr lang="ru-RU" dirty="0" err="1">
                <a:latin typeface="Courier New" pitchFamily="49" charset="0"/>
                <a:cs typeface="Courier New" pitchFamily="49" charset="0"/>
              </a:rPr>
              <a:t>Convert.ToChar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("!");</a:t>
            </a:r>
          </a:p>
          <a:p>
            <a:pPr algn="just"/>
            <a:r>
              <a:rPr lang="ru-RU" dirty="0" err="1">
                <a:latin typeface="Courier New" pitchFamily="49" charset="0"/>
                <a:cs typeface="Courier New" pitchFamily="49" charset="0"/>
              </a:rPr>
              <a:t>Convert.ToBoolean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("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True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");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Для использования результата конвертации его лучше сохранить в переменную:</a:t>
            </a:r>
          </a:p>
          <a:p>
            <a:pPr algn="just"/>
            <a:r>
              <a:rPr lang="ru-RU" dirty="0" err="1">
                <a:latin typeface="Courier New" pitchFamily="49" charset="0"/>
                <a:cs typeface="Courier New" pitchFamily="49" charset="0"/>
              </a:rPr>
              <a:t>string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a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Convert.ToString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('!');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Таким образом при помощи класса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Convert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мы можем преобразовывать любые типы данных. 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85918" y="3714752"/>
            <a:ext cx="5201366" cy="157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2857488" y="5357826"/>
            <a:ext cx="28486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/>
              <a:t>Чему равны переменные?</a:t>
            </a:r>
            <a:endParaRPr lang="ru-RU" b="1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Нередко бывает удобно, чтобы переменная/параметр значимого типа могли принимать значение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null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Например, получаем числовое значение из базы данных, которое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бд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может отсутствовать. То есть, если значение в базе данных есть - получим число, если нет - то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null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185881"/>
            <a:ext cx="9144000" cy="41719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5429264"/>
            <a:ext cx="9144000" cy="14287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/>
          <a:srcRect t="5556"/>
          <a:stretch>
            <a:fillRect/>
          </a:stretch>
        </p:blipFill>
        <p:spPr bwMode="auto">
          <a:xfrm>
            <a:off x="0" y="764704"/>
            <a:ext cx="4305300" cy="1214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Прямоугольник 2"/>
          <p:cNvSpPr/>
          <p:nvPr/>
        </p:nvSpPr>
        <p:spPr>
          <a:xfrm>
            <a:off x="285720" y="1979548"/>
            <a:ext cx="24930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Локальная переменная</a:t>
            </a:r>
          </a:p>
        </p:txBody>
      </p:sp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357686" y="328439"/>
            <a:ext cx="4786314" cy="187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5286380" y="2123564"/>
            <a:ext cx="28543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Переменная уровня класса</a:t>
            </a:r>
          </a:p>
        </p:txBody>
      </p:sp>
      <p:pic>
        <p:nvPicPr>
          <p:cNvPr id="18436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062779" y="2688048"/>
            <a:ext cx="4686300" cy="107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Прямоугольник 6"/>
          <p:cNvSpPr/>
          <p:nvPr/>
        </p:nvSpPr>
        <p:spPr>
          <a:xfrm>
            <a:off x="3332686" y="3845346"/>
            <a:ext cx="21464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Блок внутри метода</a:t>
            </a:r>
          </a:p>
        </p:txBody>
      </p:sp>
      <p:pic>
        <p:nvPicPr>
          <p:cNvPr id="18437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047875" y="4869160"/>
            <a:ext cx="5276850" cy="1419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Прямоугольник 8"/>
          <p:cNvSpPr/>
          <p:nvPr/>
        </p:nvSpPr>
        <p:spPr>
          <a:xfrm>
            <a:off x="3401486" y="6288385"/>
            <a:ext cx="20088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Перекрытие имён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-3674" y="0"/>
            <a:ext cx="9144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Условные конструкции - один из базовых компонентов многих языков программирования, которые направляют работу программы по одному из путей в зависимости от определенных условий. Одной из таких конструкций в языке программирования C# является конструкция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Конструкция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проверяет истинность некоторого условия и в зависимости от результатов проверки выполняет определенный код.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85926"/>
            <a:ext cx="5158652" cy="3430283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5761" y="5194741"/>
            <a:ext cx="2905125" cy="1304925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3764321" y="6488668"/>
            <a:ext cx="16080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/>
              <a:t>Чему равно </a:t>
            </a:r>
            <a:r>
              <a:rPr lang="en-US" b="1" dirty="0" smtClean="0"/>
              <a:t>z</a:t>
            </a:r>
            <a:r>
              <a:rPr lang="ru-RU" b="1" dirty="0" smtClean="0"/>
              <a:t>?</a:t>
            </a:r>
            <a:endParaRPr lang="ru-RU" b="1" dirty="0"/>
          </a:p>
        </p:txBody>
      </p:sp>
      <p:pic>
        <p:nvPicPr>
          <p:cNvPr id="8193" name="Picture 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214942" y="2000240"/>
            <a:ext cx="3929057" cy="303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1158484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-2250"/>
            <a:ext cx="914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Pattern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matching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(сопоставление с образцом) — это способ проверять не просто значения, а структуру и свойства данных. В контексте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switch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это расширенная версия привычного оператора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switch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которая умеет: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проверять тип объекта;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извлекать из него данные;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проверять значения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свойств</a:t>
            </a:r>
          </a:p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Проще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говоря, это как «умный переключатель», который понимает не только «если равно 5», но и «если это строка длиной больше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10».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48" y="2357430"/>
            <a:ext cx="3119292" cy="2362073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4572000" y="2357430"/>
            <a:ext cx="4572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Pattern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matching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switch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делает код: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короче — заменяет длинные цепочки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if‑else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читаемее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логика видна сразу;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безопаснее — меньше проверок на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null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приведение типов;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гибче — можно проверять сложные условия в одной строке.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5720" y="4786323"/>
            <a:ext cx="8582025" cy="157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Прямоугольник 5"/>
          <p:cNvSpPr/>
          <p:nvPr/>
        </p:nvSpPr>
        <p:spPr>
          <a:xfrm>
            <a:off x="0" y="6211669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операторе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if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из возможностей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pattern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matching'а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чаще всего применяются is-выражения (выражения, с оператором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is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94823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260648"/>
            <a:ext cx="4572000" cy="1323975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4168" y="260648"/>
            <a:ext cx="2447925" cy="185737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224" y="2060847"/>
            <a:ext cx="3394664" cy="2405667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9992" y="2726432"/>
            <a:ext cx="3653595" cy="1584176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4211960" y="4365104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dirty="0">
                <a:latin typeface="Times New Roman" pitchFamily="18" charset="0"/>
                <a:cs typeface="Times New Roman" pitchFamily="18" charset="0"/>
              </a:rPr>
              <a:t>Стоит отметить, что переменная, которая определяется в объявлении цикла, должна по типу соответствовать типу элементов перебираемой коллекции.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9224" y="4781550"/>
            <a:ext cx="3476625" cy="2076450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3660576" y="6143644"/>
            <a:ext cx="5483424" cy="4616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Что делает оператор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break 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и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continue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?</a:t>
            </a: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9645023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1168679"/>
            <a:ext cx="9144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При вызове внутри метода оператор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return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перерывает его выполнение и возвращает управление вызвавшему коду. Если сигнатура метода, в котором был вызван оператор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return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предполагает возврат значения, то после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return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необходимо поставить значение или переменную соответствующего типа.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311819"/>
            <a:ext cx="4000496" cy="35461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76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86248" y="4026199"/>
            <a:ext cx="4857752" cy="1857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0" y="0"/>
            <a:ext cx="9144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Более подробно про методы:</a:t>
            </a: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  <a:hlinkClick r:id="rId4"/>
              </a:rPr>
              <a:t>https://csharp.webdelphi.ru/metody-v-c/?ysclid=mltadf7lj3811591999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  <a:hlinkClick r:id="rId5"/>
              </a:rPr>
              <a:t>https://metanit.com/sharp/tutorial/2.34.php?ysclid=mltajfq52f115470918</a:t>
            </a:r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1361</Words>
  <Application>Microsoft Office PowerPoint</Application>
  <PresentationFormat>Экран (4:3)</PresentationFormat>
  <Paragraphs>140</Paragraphs>
  <Slides>26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27" baseType="lpstr">
      <vt:lpstr>Тема Office</vt:lpstr>
      <vt:lpstr>Введение в C# и .NET</vt:lpstr>
      <vt:lpstr>Различия между C# и Python</vt:lpstr>
      <vt:lpstr>Слайд 3</vt:lpstr>
      <vt:lpstr>Начало работы: sharpdevelop</vt:lpstr>
      <vt:lpstr>Слайд 5</vt:lpstr>
      <vt:lpstr>Ввод‑вывод в консольном приложении</vt:lpstr>
      <vt:lpstr>Ввод‑вывод в консольном приложении</vt:lpstr>
      <vt:lpstr>Ввод‑вывод в WinForms</vt:lpstr>
      <vt:lpstr>Задание к лекции</vt:lpstr>
      <vt:lpstr>Слайд 10</vt:lpstr>
      <vt:lpstr>Слайд 11</vt:lpstr>
      <vt:lpstr>Базовые операторы и типы</vt:lpstr>
      <vt:lpstr>Теоретический материал</vt:lpstr>
      <vt:lpstr>Слайд 14</vt:lpstr>
      <vt:lpstr>Слайд 15</vt:lpstr>
      <vt:lpstr>Слайд 16</vt:lpstr>
      <vt:lpstr>Слайд 17</vt:lpstr>
      <vt:lpstr>Слайд 18</vt:lpstr>
      <vt:lpstr>Слайд 19</vt:lpstr>
      <vt:lpstr>Слайд 20</vt:lpstr>
      <vt:lpstr>Слайд 21</vt:lpstr>
      <vt:lpstr>Слайд 22</vt:lpstr>
      <vt:lpstr>Слайд 23</vt:lpstr>
      <vt:lpstr>Слайд 24</vt:lpstr>
      <vt:lpstr>Слайд 25</vt:lpstr>
      <vt:lpstr>Слайд 26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19</cp:revision>
  <dcterms:created xsi:type="dcterms:W3CDTF">2026-02-10T11:34:12Z</dcterms:created>
  <dcterms:modified xsi:type="dcterms:W3CDTF">2026-09-30T20:45:43Z</dcterms:modified>
</cp:coreProperties>
</file>