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74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9"/>
    <a:srgbClr val="D9E2F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17" autoAdjust="0"/>
    <p:restoredTop sz="94660"/>
  </p:normalViewPr>
  <p:slideViewPr>
    <p:cSldViewPr>
      <p:cViewPr>
        <p:scale>
          <a:sx n="100" d="100"/>
          <a:sy n="100" d="100"/>
        </p:scale>
        <p:origin x="-212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pp/include-graphics-h-codeblocks/?ysclid=mglxwctokr643336918" TargetMode="External"/><Relationship Id="rId2" Type="http://schemas.openxmlformats.org/officeDocument/2006/relationships/hyperlink" Target="https://sky.pro/wiki/gamedev/rabota-s-bibliotekoj-graphicsh-ustanovka-i-podklyuchenie/?ysclid=mglukzjwuf787447917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mycpp.ru/cpp/scpp/cppd_graphics.h.html?ysclid=mgm41uix98858259815" TargetMode="External"/><Relationship Id="rId4" Type="http://schemas.openxmlformats.org/officeDocument/2006/relationships/hyperlink" Target="https://cpp-ksa.blogspot.com/p/8-codeblock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Язык С++: Циклы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-46672"/>
            <a:ext cx="7886700" cy="1325563"/>
          </a:xfrm>
        </p:spPr>
        <p:txBody>
          <a:bodyPr/>
          <a:lstStyle/>
          <a:p>
            <a:pPr algn="ctr"/>
            <a:r>
              <a:rPr lang="ru-RU" b="1" dirty="0" smtClean="0"/>
              <a:t>Дополнительные материалы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1078915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библиотекой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Установка и подключение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https://sky.pro/wiki/gamedev/rabota-s-bibliotekoj-graphicsh-ustanovka-i-podklyuchenie/?ysclid=mglukzjwuf787447917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include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https://www.geeksforgeeks.org/cpp/include-graphics-h-codeblocks/?ysclid=mglxwctokr643336918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 smtClean="0"/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возможности среды программирования на С++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https://cpp-ksa.blogspot.com/p/8-codeblocks.html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mycpp.ru/cpp/scpp/cppd_graphics.h.html?ysclid=mgm41uix98858259815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520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Циклы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70788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Циклы позволяют выполняет некоторый набор инструкций множество раз, пока соблюдается определенное условие.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C++ существует несколько видов циклов.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572000" y="1285860"/>
            <a:ext cx="4572000" cy="120032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цикл с предусловием. Перед очередной итерацией проверяется условие, и если оно истинно, то цикл продолжается.</a:t>
            </a:r>
            <a:endParaRPr lang="ru-RU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3357562"/>
            <a:ext cx="4857752" cy="1754326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Цикл</a:t>
            </a:r>
            <a:r>
              <a:rPr lang="ru-RU" b="1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Do … While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Это цикл с постусловием. Отличие от цикла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 заключается в том, что первая итерация всегда выполняется безусловно. Только после её завершения проверяется условие цикла. Если оно истинно, то цикл продолжается.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5143504" y="5500702"/>
            <a:ext cx="4000496" cy="92333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Если мы знаем точное количество действий (итераций) цикла, то можем использовать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for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429264"/>
            <a:ext cx="4980614" cy="11430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00174"/>
            <a:ext cx="364330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0" y="2857496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Данный цикл будет выполняться, пока условие, указанное в круглых скобках является истиной.</a:t>
            </a:r>
            <a:endParaRPr lang="ru-RU" sz="1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1431" y="3429000"/>
            <a:ext cx="408257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4857752" y="4786322"/>
            <a:ext cx="44291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один проход цикла будет выполнен независимо от условия</a:t>
            </a:r>
            <a:endParaRPr lang="ru-RU" sz="1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Циклы</a:t>
            </a:r>
            <a:endParaRPr lang="ru-RU" b="1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71545"/>
            <a:ext cx="8929718" cy="3357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214414" y="745089"/>
            <a:ext cx="1449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While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15206" y="745089"/>
            <a:ext cx="117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For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143372" y="745089"/>
            <a:ext cx="2023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Cambria" pitchFamily="18" charset="0"/>
              </a:rPr>
              <a:t>Цикл </a:t>
            </a:r>
            <a:r>
              <a:rPr lang="en-US" b="1" dirty="0" smtClean="0">
                <a:latin typeface="Cambria" pitchFamily="18" charset="0"/>
              </a:rPr>
              <a:t>Do … While</a:t>
            </a:r>
            <a:endParaRPr lang="en-US" b="1" dirty="0">
              <a:latin typeface="Cambria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00569"/>
            <a:ext cx="2643173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98018" y="4472007"/>
            <a:ext cx="2588362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86380" y="4548207"/>
            <a:ext cx="3857620" cy="1571627"/>
          </a:xfrm>
          <a:prstGeom prst="rect">
            <a:avLst/>
          </a:prstGeom>
          <a:noFill/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Операторы </a:t>
            </a:r>
            <a:r>
              <a:rPr lang="en-US" b="1" dirty="0" smtClean="0"/>
              <a:t>break, continue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484511"/>
            <a:ext cx="9144000" cy="1015663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Иногда возникает необходимость выйти из цикла до его завершения. В этом случае можно воспользоваться оператором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Например, нам надо подсчитать сумму чисел от 1 до 9, пока она не станет больше 20: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58102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4572000" y="1500174"/>
            <a:ext cx="4572000" cy="120032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Здесь когда значение переменной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result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станет больше 20 (то есть когда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будет равно 6), осуществляется выход из цикла с помощью оператора 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3857628"/>
            <a:ext cx="9144000" cy="1015663"/>
          </a:xfrm>
          <a:prstGeom prst="rect">
            <a:avLst/>
          </a:prstGeom>
          <a:solidFill>
            <a:srgbClr val="EBF1D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just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отличие от оператора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оператор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производит переход к следующей итерации. Например, нам надо посчитать сумму только нечетных чисел из некоторого диапазона: 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857760"/>
            <a:ext cx="7314435" cy="200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/>
          <p:nvPr/>
        </p:nvCxnSpPr>
        <p:spPr>
          <a:xfrm rot="10800000">
            <a:off x="1928794" y="5072074"/>
            <a:ext cx="1500198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3428992" y="4857760"/>
            <a:ext cx="57150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Полезный совет: обнуляйте переменные, чтобы при записи в них не записалось непонятно что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Бесконечный цикл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428604"/>
            <a:ext cx="9144000" cy="175432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необходимо, чтобы цикл выполнялся бесконечно. Например, когда нам надо бесконечно отслеживать изменения каких-то значений или когда мы точно не знаем, сколько итераций циклу предстоит сделать. Бесконечные циклы находят широкое применение в различных областях, например, в графических программах, играх, сетевых программах и т.д. Для создания бесконечного цикла можно использовать любой вид циклов, но во всех случаях условие всегда истинно.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354042"/>
            <a:ext cx="3096732" cy="221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2211165"/>
            <a:ext cx="3500462" cy="242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2232" y="2354041"/>
            <a:ext cx="2571768" cy="214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57158" y="4497181"/>
            <a:ext cx="2370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</a:t>
            </a:r>
            <a:br>
              <a:rPr lang="ru-RU" b="1" dirty="0" smtClean="0">
                <a:latin typeface="Cambria" pitchFamily="18" charset="0"/>
              </a:rPr>
            </a:br>
            <a:r>
              <a:rPr lang="ru-RU" b="1" dirty="0" smtClean="0">
                <a:latin typeface="Cambria" pitchFamily="18" charset="0"/>
              </a:rPr>
              <a:t>с предусловием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702137" y="4497181"/>
            <a:ext cx="2370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</a:t>
            </a:r>
            <a:br>
              <a:rPr lang="ru-RU" b="1" dirty="0" smtClean="0">
                <a:latin typeface="Cambria" pitchFamily="18" charset="0"/>
              </a:rPr>
            </a:br>
            <a:r>
              <a:rPr lang="ru-RU" b="1" dirty="0" smtClean="0">
                <a:latin typeface="Cambria" pitchFamily="18" charset="0"/>
              </a:rPr>
              <a:t>с постусловием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786050" y="4568619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Бесконечный цикл со счетчиком</a:t>
            </a:r>
            <a:endParaRPr lang="en-US" b="1" dirty="0">
              <a:latin typeface="Cambria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0" y="5286388"/>
            <a:ext cx="4429124" cy="132343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Однако в этих случаях в зависимости от ситуации все равно может быть какое-то условие, при котором цикл может завершить работу. В этом случае для выхода из цикла может применяться оператор </a:t>
            </a:r>
            <a:r>
              <a:rPr lang="ru-RU" sz="1600" b="1" i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67652" y="5429264"/>
            <a:ext cx="4676348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Функции без параметров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31666"/>
            <a:ext cx="7286644" cy="175432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в языке C++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группа операторов, которые объединены вместе и выполняют определённую задачу. По сути, это именованный блок кода, который можно многократно вызывать по присвоенному имени в различных частях программы. Например, определение функции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должна быть в любой программе на языке C++ и с которой начинается ее выполнение: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58083" y="782430"/>
            <a:ext cx="1785918" cy="125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3864122"/>
            <a:ext cx="9144000" cy="707886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 если функция имеет тип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ей не надо ничего возвращать. Для выполнения функции ее необходимо вызвать.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Возвращаемым типом функции является тип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поэтому функция должна использовать оператор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возвращать какое-либо значение, которое соответствует типу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Возвращаемое значение ставится после оператора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Когда запускается программа на языке C++, то запускается функция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Никакие другие функции, определенные в программе, автоматически не выполняются.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4549614"/>
            <a:ext cx="3057523" cy="2308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5214950"/>
            <a:ext cx="9620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>
            <a:endCxn id="24581" idx="1"/>
          </p:cNvCxnSpPr>
          <p:nvPr/>
        </p:nvCxnSpPr>
        <p:spPr>
          <a:xfrm flipV="1">
            <a:off x="3214678" y="5686438"/>
            <a:ext cx="2714644" cy="7429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Вложенные циклы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642918"/>
            <a:ext cx="9144000" cy="1938992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Вложенные циклы в C++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когда в теле одного цикла (внешнего) размещается другой цикл (внутренний). Таких вложенных циклов во внешнем цикле может быть несколько.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добраться к вложенному циклу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программе необходимо сначала приступить к выполнению внешнего цикла, выполнить то, что прописано в коде до вложенного цикла, и потом уже приступить к выполнению этого цикла.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823" y="2714620"/>
            <a:ext cx="383984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4071934" y="3000372"/>
            <a:ext cx="1285884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357818" y="2610145"/>
            <a:ext cx="3786182" cy="31393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данном случае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отвечает за количество строк, 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 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количество столбцов. Как только в первой строке выведется десять чисел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=1 закончит работу), алгоритм перейдет на следующую строку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а значение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станет равным двум.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После каждого увеличения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 один внутренний цикл с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будет выполняться 10 раз</a:t>
            </a:r>
            <a:endParaRPr lang="ru-RU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73355"/>
            <a:ext cx="571504" cy="3984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 flipV="1">
            <a:off x="500034" y="6286520"/>
            <a:ext cx="1357322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785918" y="5997379"/>
            <a:ext cx="73580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Примерный ответ на третье задание. В данном случае внешний цикл равен трем, а внутренний двум (по две фигуры в блоке), дальше отступ.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6672"/>
            <a:ext cx="9144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Введение в библиотеку </a:t>
            </a:r>
            <a:r>
              <a:rPr lang="en-US" b="1" dirty="0" err="1" smtClean="0"/>
              <a:t>graphics.h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03320" y="571480"/>
            <a:ext cx="5440680" cy="44012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одной из самых популярных библиотек для создания графических приложений на языке программирования C++. Она предоставляет простой и удобный интерфейс для рисования примитивов, работы с цветами и создания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анимаций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Эта библиотека часто используется в образовательных целях для обучения основам компьютерной графики. С её помощью можно легко создавать разнообразные графические элементы, такие как линии, круги, прямоугольники и другие фигуры, что делает её идеальным инструментом для начинающих программистов.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8689"/>
          <a:stretch/>
        </p:blipFill>
        <p:spPr>
          <a:xfrm>
            <a:off x="-11430" y="1460568"/>
            <a:ext cx="3714750" cy="304323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1430" y="4919032"/>
            <a:ext cx="9144000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Кроме того,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работать с различными цветовыми палитрами и создавать анимации, что делает процесс обучения более интересным и наглядным. Важно отметить, что библиотека была разработана для работы с компилятором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Turbo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C++, который был популярен в 90-х годах. Однако, несмотря на её возраст, она до сих пор используется людьми (в том числе, в образовании) благодаря своей простоте и наглядности. </a:t>
            </a:r>
          </a:p>
        </p:txBody>
      </p:sp>
    </p:spTree>
    <p:extLst>
      <p:ext uri="{BB962C8B-B14F-4D97-AF65-F5344CB8AC3E}">
        <p14:creationId xmlns="" xmlns:p14="http://schemas.microsoft.com/office/powerpoint/2010/main" val="189873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-46672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Требования и подготовка среды</a:t>
            </a:r>
            <a:r>
              <a:rPr lang="en-US" b="1" dirty="0" smtClean="0"/>
              <a:t> </a:t>
            </a:r>
            <a:r>
              <a:rPr lang="en-US" b="1" dirty="0" err="1" smtClean="0"/>
              <a:t>CodeBlocks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214422"/>
            <a:ext cx="5566410" cy="53245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необходимо скачать библиотеку и все необходимые для ее работы файлы.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Скачайте с сайта архив </a:t>
            </a:r>
            <a:r>
              <a:rPr lang="en-US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Use-</a:t>
            </a:r>
            <a:r>
              <a:rPr lang="en-US" alt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endParaRPr lang="ru-RU" alt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Переместите из архива файлы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winbgim.h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папку </a:t>
            </a:r>
            <a:r>
              <a:rPr lang="en-US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другой среды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А файл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libbgi.a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поместите в папку </a:t>
            </a:r>
            <a:r>
              <a:rPr lang="en-US" alt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 эти папки находятся в директории </a:t>
            </a:r>
            <a:r>
              <a:rPr lang="en-US" alt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MinGW</a:t>
            </a:r>
            <a:endParaRPr lang="ru-RU" alt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Скачайте с сайта архив проекта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нем уже настроены все необходимые параметры компиляции. Если же Вы хотите создать своей проект с </a:t>
            </a:r>
            <a:r>
              <a:rPr lang="en-US" alt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то необходимо самостоятельно задать параметры компиляции через 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options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options.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Подробнее об этом можете почитать по первой ссылке в дополнительных материалах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632" y="980108"/>
            <a:ext cx="1807369" cy="280987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470" y="3500904"/>
            <a:ext cx="1647349" cy="3357097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V="1">
            <a:off x="5532120" y="2773680"/>
            <a:ext cx="2161698" cy="15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5269231" y="5013960"/>
            <a:ext cx="902255" cy="929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4373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-46672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smtClean="0"/>
              <a:t>Требования и подготовка среды</a:t>
            </a:r>
            <a:r>
              <a:rPr lang="en-US" b="1" smtClean="0"/>
              <a:t> CodeBlocks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921307"/>
            <a:ext cx="556641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последнее, если Вы работаете с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хотите запустить скачанный ранее проект </a:t>
            </a:r>
            <a:r>
              <a:rPr lang="en-US" alt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grafika.cbp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используйте для этого исключительно </a:t>
            </a:r>
            <a:r>
              <a:rPr lang="en-US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CbLauncher.exe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открытие обычным 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codeblocls.exe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привести к успешной компиляции, но неудачному запуску проекта.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78892"/>
            <a:ext cx="2431733" cy="35931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110" y="5145800"/>
            <a:ext cx="5435045" cy="16464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1545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-381952"/>
            <a:ext cx="7886700" cy="1325563"/>
          </a:xfrm>
        </p:spPr>
        <p:txBody>
          <a:bodyPr/>
          <a:lstStyle/>
          <a:p>
            <a:pPr algn="ctr"/>
            <a:r>
              <a:rPr lang="ru-RU" b="1" dirty="0" smtClean="0"/>
              <a:t>Базовый проект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97713"/>
            <a:ext cx="5486400" cy="57554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же создаете проект самостоятельно, то после всех настроек компиляции можно создавать консольный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проект, подключить библиотеку в вашем коде и вводить базовый код. Для этого измените базовый проект следующим образом.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код: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Инициализирует окно для отображения графики размером 800 пикселей в ширину и 600 пикселей в высоту. Создает новое графическое окно, готовое для вывода изображений.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Рисует прямоугольник (закрашенный сплошным цветом) на экране с координатами верхнего левого угла (50,50) и нижнего правого угла (400,400). То есть прямоугольник занимает область размером примерно 350×350 пикселей, начиная с точки (50,50).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Приостанавливает выполнение программы до тех пор, пока пользователь не нажмет любую клавишу на клавиатуре (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getch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Таким образом, программа ждет нажатия клавиши перед закрытием окна, позволяя увидеть нарисованный прямоугольник.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Закрывает ранее открытое графическое окно и освобождает занимаемые ресурсы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closegraph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После вызова функции окно исчезает с экрана.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64389"/>
            <a:ext cx="3657600" cy="48138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612130" y="5548926"/>
            <a:ext cx="35318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код также по умолчанию вставлен в проект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grafika.cbp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сайте</a:t>
            </a:r>
          </a:p>
        </p:txBody>
      </p:sp>
    </p:spTree>
    <p:extLst>
      <p:ext uri="{BB962C8B-B14F-4D97-AF65-F5344CB8AC3E}">
        <p14:creationId xmlns="" xmlns:p14="http://schemas.microsoft.com/office/powerpoint/2010/main" val="127365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-381952"/>
            <a:ext cx="7886700" cy="1325563"/>
          </a:xfrm>
        </p:spPr>
        <p:txBody>
          <a:bodyPr/>
          <a:lstStyle/>
          <a:p>
            <a:pPr algn="ctr"/>
            <a:r>
              <a:rPr lang="ru-RU" b="1" dirty="0" smtClean="0"/>
              <a:t>Функции </a:t>
            </a:r>
            <a:r>
              <a:rPr lang="en-US" b="1" dirty="0" err="1" smtClean="0"/>
              <a:t>graphics.h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373618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 заголовочном файле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 языке программирования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объявлено 16 цветов: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BLACK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чёрный) — 0.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синий) — 1.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GREEN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зелёный) — 2.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CYAN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голубой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— 3.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красный) — 4.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MAGENTA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пурпурный) — 5.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BROWN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коричневый) — 6.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LIGHTGRAY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светло-серый) — 7.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DARKGRAY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тёмно-серый) — 8.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LIGHTBLUE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светло-синий) — 9.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LIGHTGREEN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светло-зелёный) — 10.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LIGHTCYAN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бирюзовый) — 11.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LIGHTRED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розовый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— 12.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LIGHTMAGENTA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светло-пурпурный) — 13.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YELLOW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жёлтый) — 14.</a:t>
            </a: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WHITE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белый) — 15.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6462" y="2171700"/>
            <a:ext cx="3157538" cy="4067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621167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Более подробную информацию по работе с функциями и возможностях их вызовов изучите самостоятельно по ссылке в теоретических материалах «</a:t>
            </a:r>
            <a:r>
              <a:rPr lang="ru-RU" sz="1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возможности среды программирования на С++</a:t>
            </a:r>
            <a:r>
              <a:rPr lang="ru-RU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b="25877"/>
          <a:stretch>
            <a:fillRect/>
          </a:stretch>
        </p:blipFill>
        <p:spPr bwMode="auto">
          <a:xfrm>
            <a:off x="6086475" y="633754"/>
            <a:ext cx="3057525" cy="1214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71813" y="1616508"/>
            <a:ext cx="2886075" cy="28007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залить фигуру определенным цветом, необходимо установить цвет и шаблон заполнения которым будут заполняться фигуры (</a:t>
            </a:r>
            <a:r>
              <a:rPr lang="en-US" sz="1600" dirty="0" err="1" smtClean="0"/>
              <a:t>setfillstyle</a:t>
            </a: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цвет рисования фигуры (</a:t>
            </a:r>
            <a:r>
              <a:rPr lang="en-US" sz="1600" dirty="0" err="1" smtClean="0"/>
              <a:t>setcolor</a:t>
            </a: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заполнить ограниченную определенным цветом область (</a:t>
            </a:r>
            <a:r>
              <a:rPr lang="en-US" sz="1600" dirty="0" err="1" smtClean="0"/>
              <a:t>floodfill</a:t>
            </a: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Почитайте про эти команды подробнее самостоятельно.</a:t>
            </a:r>
            <a:endParaRPr lang="ru-RU" alt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0"/>
            <a:endCxn id="1026" idx="1"/>
          </p:cNvCxnSpPr>
          <p:nvPr/>
        </p:nvCxnSpPr>
        <p:spPr>
          <a:xfrm rot="5400000" flipH="1" flipV="1">
            <a:off x="5112811" y="642844"/>
            <a:ext cx="375705" cy="15716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5379244" y="4552954"/>
            <a:ext cx="664371" cy="2666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508740" y="4720710"/>
            <a:ext cx="2384854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возможные команды библиотеки. Ознакомьтесь с ними по последней ссылке дополнительных материалов</a:t>
            </a:r>
            <a:endParaRPr lang="ru-RU" sz="1600" dirty="0"/>
          </a:p>
        </p:txBody>
      </p:sp>
    </p:spTree>
    <p:extLst>
      <p:ext uri="{BB962C8B-B14F-4D97-AF65-F5344CB8AC3E}">
        <p14:creationId xmlns="" xmlns:p14="http://schemas.microsoft.com/office/powerpoint/2010/main" val="12736510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1040</Words>
  <Application>Microsoft Office PowerPoint</Application>
  <PresentationFormat>Экран (4:3)</PresentationFormat>
  <Paragraphs>82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Язык С++: Циклы </vt:lpstr>
      <vt:lpstr>Дополнительные материалы</vt:lpstr>
      <vt:lpstr>Циклы</vt:lpstr>
      <vt:lpstr>Циклы</vt:lpstr>
      <vt:lpstr>Операторы break, continue</vt:lpstr>
      <vt:lpstr>Бесконечный цикл</vt:lpstr>
      <vt:lpstr>Функции без параметров</vt:lpstr>
      <vt:lpstr>Вложенные циклы</vt:lpstr>
      <vt:lpstr>Введение в библиотеку graphics.h </vt:lpstr>
      <vt:lpstr>Требования и подготовка среды CodeBlocks</vt:lpstr>
      <vt:lpstr>Требования и подготовка среды CodeBlocks</vt:lpstr>
      <vt:lpstr>Базовый проект</vt:lpstr>
      <vt:lpstr>Функции graphics.h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44</cp:revision>
  <dcterms:created xsi:type="dcterms:W3CDTF">2024-02-01T09:49:19Z</dcterms:created>
  <dcterms:modified xsi:type="dcterms:W3CDTF">2025-11-14T19:28:16Z</dcterms:modified>
</cp:coreProperties>
</file>