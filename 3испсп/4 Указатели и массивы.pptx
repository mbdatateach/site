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72" r:id="rId4"/>
    <p:sldId id="267" r:id="rId5"/>
    <p:sldId id="269" r:id="rId6"/>
    <p:sldId id="270" r:id="rId7"/>
    <p:sldId id="271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cpp/tutorial/4.6.php?ysclid=lsz1608awg681344146" TargetMode="External"/><Relationship Id="rId2" Type="http://schemas.openxmlformats.org/officeDocument/2006/relationships/hyperlink" Target="https://pvoid.pro/index.php/articles/11-cplusplus/49-cpp-tutorial-pointers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Указатели и Функции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428736"/>
            <a:ext cx="91440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Статья по указателям</a:t>
            </a:r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en-US" sz="2600" b="1" dirty="0" smtClean="0">
                <a:latin typeface="Cambria" pitchFamily="18" charset="0"/>
                <a:hlinkClick r:id="rId2"/>
              </a:rPr>
              <a:t>https://pvoid.pro/index.php/articles/11-cplusplus/49-cpp-tutorial-pointers#article-header-9</a:t>
            </a:r>
            <a:endParaRPr lang="en-US" sz="2600" b="1" dirty="0" smtClean="0">
              <a:latin typeface="Cambria" pitchFamily="18" charset="0"/>
            </a:endParaRPr>
          </a:p>
          <a:p>
            <a:pPr algn="just"/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Указатели в параметрах функции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3"/>
              </a:rPr>
              <a:t>https://metanit.com/cpp/tutorial/4.6.php?ysclid=lsz1608awg681344146</a:t>
            </a:r>
            <a:endParaRPr lang="ru-RU" sz="26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371474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Язык С++ предоставляет два набора операторов для выделения памяти: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1) </a:t>
            </a:r>
            <a:r>
              <a:rPr lang="en-US" sz="2400" b="1" dirty="0" smtClean="0">
                <a:latin typeface="Cambria" pitchFamily="18" charset="0"/>
              </a:rPr>
              <a:t>new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и </a:t>
            </a:r>
            <a:r>
              <a:rPr lang="en-US" sz="2400" b="1" dirty="0" smtClean="0">
                <a:latin typeface="Cambria" pitchFamily="18" charset="0"/>
              </a:rPr>
              <a:t>delete</a:t>
            </a:r>
            <a:r>
              <a:rPr lang="ru-RU" sz="2400" dirty="0" smtClean="0">
                <a:latin typeface="Cambria" pitchFamily="18" charset="0"/>
              </a:rPr>
              <a:t> – для одиночных значений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2) </a:t>
            </a:r>
            <a:r>
              <a:rPr lang="en-US" sz="2400" b="1" dirty="0" smtClean="0">
                <a:latin typeface="Cambria" pitchFamily="18" charset="0"/>
              </a:rPr>
              <a:t>new[]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и </a:t>
            </a:r>
            <a:r>
              <a:rPr lang="en-US" sz="2400" b="1" dirty="0" smtClean="0">
                <a:latin typeface="Cambria" pitchFamily="18" charset="0"/>
              </a:rPr>
              <a:t>delete[]</a:t>
            </a:r>
            <a:r>
              <a:rPr lang="ru-RU" sz="2400" dirty="0" smtClean="0">
                <a:latin typeface="Cambria" pitchFamily="18" charset="0"/>
              </a:rPr>
              <a:t> – для массивов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0" y="3500438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2400" dirty="0" smtClean="0">
                <a:latin typeface="Cambria" pitchFamily="18" charset="0"/>
              </a:rPr>
              <a:t>Операция </a:t>
            </a:r>
            <a:r>
              <a:rPr lang="ru-RU" altLang="ru-RU" sz="2400" i="1" dirty="0" err="1" smtClean="0">
                <a:latin typeface="Cambria" pitchFamily="18" charset="0"/>
              </a:rPr>
              <a:t>delete</a:t>
            </a:r>
            <a:r>
              <a:rPr lang="ru-RU" altLang="ru-RU" sz="2400" i="1" dirty="0" smtClean="0">
                <a:latin typeface="Cambria" pitchFamily="18" charset="0"/>
              </a:rPr>
              <a:t> </a:t>
            </a:r>
            <a:r>
              <a:rPr lang="ru-RU" altLang="ru-RU" sz="2400" dirty="0" smtClean="0">
                <a:latin typeface="Cambria" pitchFamily="18" charset="0"/>
              </a:rPr>
              <a:t>освобождает для дальнейшего использования в программе участок памяти, ранее выделенной операцией </a:t>
            </a:r>
            <a:r>
              <a:rPr lang="ru-RU" altLang="ru-RU" sz="2400" i="1" dirty="0" err="1" smtClean="0">
                <a:latin typeface="Cambria" pitchFamily="18" charset="0"/>
              </a:rPr>
              <a:t>new</a:t>
            </a:r>
            <a:r>
              <a:rPr lang="ru-RU" altLang="ru-RU" sz="2400" dirty="0" smtClean="0">
                <a:latin typeface="Cambria" pitchFamily="18" charset="0"/>
              </a:rPr>
              <a:t>.</a:t>
            </a:r>
            <a:endParaRPr lang="ru-RU" sz="2400" dirty="0" smtClean="0">
              <a:latin typeface="Cambria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0" y="1071546"/>
            <a:ext cx="5286380" cy="224790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4273080"/>
            <a:ext cx="5162538" cy="258492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1928802"/>
            <a:ext cx="9144000" cy="5715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Cambria" pitchFamily="18" charset="0"/>
              </a:rPr>
              <a:t>Адрес переменной можно получить, поставив перед именем переменной знак амперсанда (</a:t>
            </a:r>
            <a:r>
              <a:rPr lang="ru-RU" sz="2000" b="1" dirty="0" smtClean="0">
                <a:latin typeface="Cambria" pitchFamily="18" charset="0"/>
              </a:rPr>
              <a:t>&amp;</a:t>
            </a:r>
            <a:r>
              <a:rPr lang="ru-RU" sz="2000" dirty="0" smtClean="0">
                <a:latin typeface="Cambria" pitchFamily="18" charset="0"/>
              </a:rPr>
              <a:t>), известный как </a:t>
            </a:r>
            <a:r>
              <a:rPr lang="ru-RU" sz="2000" b="1" dirty="0" smtClean="0">
                <a:latin typeface="Cambria" pitchFamily="18" charset="0"/>
              </a:rPr>
              <a:t>оператор взятия адреса</a:t>
            </a:r>
            <a:r>
              <a:rPr lang="ru-RU" sz="2000" dirty="0" smtClean="0">
                <a:latin typeface="Cambria" pitchFamily="18" charset="0"/>
              </a:rPr>
              <a:t>. Например: </a:t>
            </a:r>
            <a:r>
              <a:rPr lang="en-US" sz="2000" b="1" dirty="0" err="1" smtClean="0">
                <a:latin typeface="Cambria" pitchFamily="18" charset="0"/>
              </a:rPr>
              <a:t>foo</a:t>
            </a:r>
            <a:r>
              <a:rPr lang="en-US" sz="2000" b="1" dirty="0" smtClean="0">
                <a:latin typeface="Cambria" pitchFamily="18" charset="0"/>
              </a:rPr>
              <a:t> = &amp;</a:t>
            </a:r>
            <a:r>
              <a:rPr lang="en-US" sz="2000" b="1" dirty="0" err="1" smtClean="0">
                <a:latin typeface="Cambria" pitchFamily="18" charset="0"/>
              </a:rPr>
              <a:t>myvar</a:t>
            </a:r>
            <a:r>
              <a:rPr lang="en-US" sz="2000" dirty="0" smtClean="0">
                <a:latin typeface="Cambria" pitchFamily="18" charset="0"/>
              </a:rPr>
              <a:t>;</a:t>
            </a:r>
            <a:endParaRPr lang="ru-RU" sz="2000" dirty="0" smtClean="0">
              <a:latin typeface="Cambria" pitchFamily="18" charset="0"/>
            </a:endParaRPr>
          </a:p>
          <a:p>
            <a:pPr algn="just"/>
            <a:r>
              <a:rPr lang="ru-RU" sz="2000" dirty="0" smtClean="0">
                <a:latin typeface="Cambria" pitchFamily="18" charset="0"/>
              </a:rPr>
              <a:t>Переменная, хранящая адрес другой переменной (как </a:t>
            </a:r>
            <a:r>
              <a:rPr lang="ru-RU" sz="2000" b="1" dirty="0" err="1" smtClean="0">
                <a:latin typeface="Cambria" pitchFamily="18" charset="0"/>
              </a:rPr>
              <a:t>foo</a:t>
            </a:r>
            <a:r>
              <a:rPr lang="ru-RU" sz="2000" dirty="0" smtClean="0">
                <a:latin typeface="Cambria" pitchFamily="18" charset="0"/>
              </a:rPr>
              <a:t>), это то, что в C++ называется </a:t>
            </a:r>
            <a:r>
              <a:rPr lang="ru-RU" sz="2000" i="1" dirty="0" smtClean="0">
                <a:latin typeface="Cambria" pitchFamily="18" charset="0"/>
              </a:rPr>
              <a:t>указателем</a:t>
            </a:r>
            <a:r>
              <a:rPr lang="ru-RU" sz="2000" dirty="0" smtClean="0">
                <a:latin typeface="Cambria" pitchFamily="18" charset="0"/>
              </a:rPr>
              <a:t>.</a:t>
            </a:r>
          </a:p>
          <a:p>
            <a:pPr algn="just"/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2500306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Cambria" pitchFamily="18" charset="0"/>
              </a:rPr>
              <a:t>Интересным свойством указателей является то, что они могут быть использованы для доступа к переменной, на которую они указывают, напрямую. Это делается путём добавления перед именем указателя </a:t>
            </a:r>
            <a:r>
              <a:rPr lang="ru-RU" sz="2000" b="1" i="1" dirty="0" smtClean="0">
                <a:latin typeface="Cambria" pitchFamily="18" charset="0"/>
              </a:rPr>
              <a:t>оператора разыменования</a:t>
            </a:r>
            <a:r>
              <a:rPr lang="ru-RU" sz="2000" b="1" dirty="0" smtClean="0">
                <a:latin typeface="Cambria" pitchFamily="18" charset="0"/>
              </a:rPr>
              <a:t> (*)</a:t>
            </a:r>
            <a:r>
              <a:rPr lang="ru-RU" sz="2000" dirty="0" smtClean="0">
                <a:latin typeface="Cambria" pitchFamily="18" charset="0"/>
              </a:rPr>
              <a:t>. Сам оператор может быть прочтен как «значение, на которое указывает».</a:t>
            </a:r>
            <a:r>
              <a:rPr lang="en-US" sz="2000" dirty="0" smtClean="0">
                <a:latin typeface="Cambria" pitchFamily="18" charset="0"/>
              </a:rPr>
              <a:t> </a:t>
            </a:r>
            <a:endParaRPr lang="ru-RU" sz="2000" dirty="0">
              <a:latin typeface="Cambri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067175"/>
            <a:ext cx="6486525" cy="279082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6643702" y="5286388"/>
            <a:ext cx="2311851" cy="707886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firstvalue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</a:t>
            </a: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is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10 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secondvalue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</a:t>
            </a: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is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20 </a:t>
            </a:r>
          </a:p>
        </p:txBody>
      </p:sp>
      <p:cxnSp>
        <p:nvCxnSpPr>
          <p:cNvPr id="8" name="Shape 7"/>
          <p:cNvCxnSpPr>
            <a:endCxn id="1027" idx="0"/>
          </p:cNvCxnSpPr>
          <p:nvPr/>
        </p:nvCxnSpPr>
        <p:spPr>
          <a:xfrm>
            <a:off x="6500826" y="4357694"/>
            <a:ext cx="1298802" cy="928694"/>
          </a:xfrm>
          <a:prstGeom prst="curvedConnector2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Указатели в массивах</a:t>
            </a:r>
            <a:endParaRPr lang="ru-RU" b="1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2928934"/>
            <a:ext cx="7786710" cy="1743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428604"/>
            <a:ext cx="91440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Cambria" pitchFamily="18" charset="0"/>
              </a:rPr>
              <a:t>Массив</a:t>
            </a:r>
            <a:r>
              <a:rPr lang="ru-RU" sz="2200" dirty="0" smtClean="0">
                <a:latin typeface="Cambria" pitchFamily="18" charset="0"/>
              </a:rPr>
              <a:t> – это набор однотипных элементов, расположенных в памяти друг за другом, доступ к которым осуществляется по индексу.</a:t>
            </a:r>
            <a:endParaRPr lang="en-US" sz="2200" dirty="0" smtClean="0">
              <a:latin typeface="Cambria" pitchFamily="18" charset="0"/>
            </a:endParaRPr>
          </a:p>
          <a:p>
            <a:pPr algn="just"/>
            <a:endParaRPr lang="en-US" sz="2200" dirty="0" smtClean="0">
              <a:latin typeface="Cambria" pitchFamily="18" charset="0"/>
            </a:endParaRPr>
          </a:p>
          <a:p>
            <a:pPr algn="just"/>
            <a:endParaRPr lang="en-US" sz="2200" dirty="0" smtClean="0">
              <a:latin typeface="Cambria" pitchFamily="18" charset="0"/>
            </a:endParaRPr>
          </a:p>
          <a:p>
            <a:pPr algn="just"/>
            <a:endParaRPr lang="ru-RU" sz="2200" dirty="0" smtClean="0">
              <a:latin typeface="Cambria" pitchFamily="18" charset="0"/>
            </a:endParaRPr>
          </a:p>
          <a:p>
            <a:pPr algn="just"/>
            <a:r>
              <a:rPr lang="ru-RU" sz="2200" dirty="0" smtClean="0">
                <a:latin typeface="Cambria" pitchFamily="18" charset="0"/>
              </a:rPr>
              <a:t>Индексация массива начинается с 0, последний элемент массива длины </a:t>
            </a:r>
            <a:r>
              <a:rPr lang="en-US" sz="2200" dirty="0" smtClean="0">
                <a:latin typeface="Cambria" pitchFamily="18" charset="0"/>
              </a:rPr>
              <a:t>n </a:t>
            </a:r>
            <a:r>
              <a:rPr lang="ru-RU" sz="2200" dirty="0" smtClean="0">
                <a:latin typeface="Cambria" pitchFamily="18" charset="0"/>
              </a:rPr>
              <a:t>имеет индекс </a:t>
            </a:r>
            <a:r>
              <a:rPr lang="en-US" sz="2200" dirty="0" smtClean="0">
                <a:latin typeface="Cambria" pitchFamily="18" charset="0"/>
              </a:rPr>
              <a:t>n-1.</a:t>
            </a:r>
            <a:endParaRPr lang="ru-RU" sz="2200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142984"/>
            <a:ext cx="7143800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8662" y="4929198"/>
            <a:ext cx="6946980" cy="1038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1857356" y="4572008"/>
            <a:ext cx="5072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Заполнение массива с помощью указателей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5918" y="5917188"/>
            <a:ext cx="5072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Cambria" pitchFamily="18" charset="0"/>
              </a:rPr>
              <a:t>Вывод массива на экран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6400800"/>
            <a:ext cx="91440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int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size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 =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sizeof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(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numbers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) /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sizeof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(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numbers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[0]); //размер</a:t>
            </a:r>
            <a:r>
              <a:rPr kumimoji="0" lang="ru-RU" sz="2400" b="0" i="0" u="none" strike="noStrike" cap="none" normalizeH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 массива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ru-RU" sz="4400" b="1" dirty="0" smtClean="0"/>
              <a:t>Указатели в массивах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Cambria" pitchFamily="18" charset="0"/>
              </a:rPr>
              <a:t>Указатели</a:t>
            </a:r>
            <a:r>
              <a:rPr lang="ru-RU" sz="2200" dirty="0" smtClean="0">
                <a:latin typeface="Cambria" pitchFamily="18" charset="0"/>
              </a:rPr>
              <a:t> позволяют передвигаться по массивам с помощью арифметики указателей.</a:t>
            </a:r>
            <a:endParaRPr lang="en-US" sz="2200" dirty="0" smtClean="0">
              <a:latin typeface="Cambria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714488"/>
            <a:ext cx="7280225" cy="1223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28596" y="3000372"/>
            <a:ext cx="87154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Cambria" pitchFamily="18" charset="0"/>
              </a:rPr>
              <a:t>(</a:t>
            </a:r>
            <a:r>
              <a:rPr lang="en-US" sz="2400" dirty="0" err="1" smtClean="0">
                <a:latin typeface="Cambria" pitchFamily="18" charset="0"/>
              </a:rPr>
              <a:t>p+k</a:t>
            </a:r>
            <a:r>
              <a:rPr lang="ru-RU" sz="2400" dirty="0" smtClean="0">
                <a:latin typeface="Cambria" pitchFamily="18" charset="0"/>
              </a:rPr>
              <a:t>) – сдвиг на </a:t>
            </a:r>
            <a:r>
              <a:rPr lang="en-US" sz="2400" dirty="0" smtClean="0">
                <a:latin typeface="Cambria" pitchFamily="18" charset="0"/>
              </a:rPr>
              <a:t>k </a:t>
            </a:r>
            <a:r>
              <a:rPr lang="ru-RU" sz="2400" dirty="0" smtClean="0">
                <a:latin typeface="Cambria" pitchFamily="18" charset="0"/>
              </a:rPr>
              <a:t>ячеек типа </a:t>
            </a:r>
            <a:r>
              <a:rPr lang="en-US" sz="2400" dirty="0" err="1" smtClean="0">
                <a:latin typeface="Cambria" pitchFamily="18" charset="0"/>
              </a:rPr>
              <a:t>int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вправо.</a:t>
            </a:r>
            <a:endParaRPr lang="en-US" sz="2400" dirty="0" smtClean="0">
              <a:latin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</a:rPr>
              <a:t>(p-k)</a:t>
            </a:r>
            <a:r>
              <a:rPr lang="ru-RU" sz="2400" dirty="0" smtClean="0">
                <a:latin typeface="Cambria" pitchFamily="18" charset="0"/>
              </a:rPr>
              <a:t> – сдвиг на </a:t>
            </a:r>
            <a:r>
              <a:rPr lang="en-US" sz="2400" dirty="0" smtClean="0">
                <a:latin typeface="Cambria" pitchFamily="18" charset="0"/>
              </a:rPr>
              <a:t>k </a:t>
            </a:r>
            <a:r>
              <a:rPr lang="ru-RU" sz="2400" dirty="0" smtClean="0">
                <a:latin typeface="Cambria" pitchFamily="18" charset="0"/>
              </a:rPr>
              <a:t>ячеек типа </a:t>
            </a:r>
            <a:r>
              <a:rPr lang="en-US" sz="2400" dirty="0" err="1" smtClean="0">
                <a:latin typeface="Cambria" pitchFamily="18" charset="0"/>
              </a:rPr>
              <a:t>int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влево.</a:t>
            </a:r>
            <a:endParaRPr lang="en-US" sz="2400" dirty="0" smtClean="0">
              <a:latin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</a:rPr>
              <a:t>(q-p)</a:t>
            </a:r>
            <a:r>
              <a:rPr lang="ru-RU" sz="2400" dirty="0" smtClean="0">
                <a:latin typeface="Cambria" pitchFamily="18" charset="0"/>
              </a:rPr>
              <a:t> – количество ячеек между указателями.</a:t>
            </a:r>
            <a:endParaRPr lang="en-US" sz="2400" dirty="0" smtClean="0">
              <a:latin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</a:rPr>
              <a:t>p[k]</a:t>
            </a:r>
            <a:r>
              <a:rPr lang="ru-RU" sz="2400" dirty="0" smtClean="0">
                <a:latin typeface="Cambria" pitchFamily="18" charset="0"/>
              </a:rPr>
              <a:t> эквивалентно *(</a:t>
            </a:r>
            <a:r>
              <a:rPr lang="en-US" sz="2400" dirty="0" err="1" smtClean="0">
                <a:latin typeface="Cambria" pitchFamily="18" charset="0"/>
              </a:rPr>
              <a:t>p+k</a:t>
            </a:r>
            <a:r>
              <a:rPr lang="ru-RU" sz="2400" dirty="0" smtClean="0">
                <a:latin typeface="Cambria" pitchFamily="18" charset="0"/>
              </a:rPr>
              <a:t>) </a:t>
            </a:r>
            <a:endParaRPr lang="en-US" sz="2400" dirty="0" smtClean="0">
              <a:latin typeface="Cambria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" y="4714884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Cambria" pitchFamily="18" charset="0"/>
              </a:rPr>
              <a:t>Примечания</a:t>
            </a:r>
            <a:r>
              <a:rPr lang="ru-RU" sz="2400" dirty="0" smtClean="0">
                <a:latin typeface="Cambria" pitchFamily="18" charset="0"/>
              </a:rPr>
              <a:t>: 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1) для генерирования значения массива используйте </a:t>
            </a:r>
            <a:r>
              <a:rPr lang="en-US" sz="2400" dirty="0" smtClean="0">
                <a:latin typeface="Cambria" pitchFamily="18" charset="0"/>
              </a:rPr>
              <a:t>rand(): </a:t>
            </a:r>
            <a:br>
              <a:rPr lang="en-US" sz="2400" dirty="0" smtClean="0">
                <a:latin typeface="Cambria" pitchFamily="18" charset="0"/>
              </a:rPr>
            </a:br>
            <a:r>
              <a:rPr lang="en-US" sz="2400" dirty="0" err="1" smtClean="0">
                <a:latin typeface="Cambria" pitchFamily="18" charset="0"/>
              </a:rPr>
              <a:t>arr</a:t>
            </a:r>
            <a:r>
              <a:rPr lang="en-US" sz="2400" dirty="0" smtClean="0">
                <a:latin typeface="Cambria" pitchFamily="18" charset="0"/>
              </a:rPr>
              <a:t>[</a:t>
            </a:r>
            <a:r>
              <a:rPr lang="en-US" sz="2400" dirty="0" err="1" smtClean="0">
                <a:latin typeface="Cambria" pitchFamily="18" charset="0"/>
              </a:rPr>
              <a:t>i</a:t>
            </a:r>
            <a:r>
              <a:rPr lang="en-US" sz="2400" dirty="0" smtClean="0">
                <a:latin typeface="Cambria" pitchFamily="18" charset="0"/>
              </a:rPr>
              <a:t>] = </a:t>
            </a:r>
            <a:r>
              <a:rPr lang="ru-RU" sz="2400" i="1" dirty="0" smtClean="0">
                <a:latin typeface="Cambria" pitchFamily="18" charset="0"/>
              </a:rPr>
              <a:t>граница1</a:t>
            </a:r>
            <a:r>
              <a:rPr lang="en-US" sz="2400" dirty="0" smtClean="0">
                <a:latin typeface="Cambria" pitchFamily="18" charset="0"/>
              </a:rPr>
              <a:t>+ rand() % </a:t>
            </a:r>
            <a:r>
              <a:rPr lang="ru-RU" sz="2400" i="1" dirty="0" smtClean="0">
                <a:latin typeface="Cambria" pitchFamily="18" charset="0"/>
              </a:rPr>
              <a:t>граница2</a:t>
            </a:r>
            <a:r>
              <a:rPr lang="en-US" sz="2400" dirty="0" smtClean="0">
                <a:latin typeface="Cambria" pitchFamily="18" charset="0"/>
              </a:rPr>
              <a:t>;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2) для поиска максимального и минимального элемента можете использовать библиотеку: </a:t>
            </a:r>
            <a:r>
              <a:rPr lang="en-US" sz="2400" b="1" dirty="0" smtClean="0">
                <a:latin typeface="Cambria" pitchFamily="18" charset="0"/>
              </a:rPr>
              <a:t>#include &lt;algorithm&gt;</a:t>
            </a:r>
            <a:endParaRPr lang="ru-RU" sz="24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2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428860" y="6000768"/>
            <a:ext cx="463146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600" dirty="0" smtClean="0">
                <a:latin typeface="Cambria" pitchFamily="18" charset="0"/>
              </a:rPr>
              <a:t>Передача массива в функцию</a:t>
            </a:r>
            <a:endParaRPr lang="ru-RU" sz="2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Передача массива в функцию может осуществляться по указателю на нулевой элемент, с дополнительной информацией о количестве элементов в массиве.</a:t>
            </a:r>
            <a:endParaRPr lang="en-US" sz="2400" dirty="0" smtClean="0">
              <a:latin typeface="Cambria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281212"/>
            <a:ext cx="8507632" cy="3648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264</Words>
  <Application>Microsoft Office PowerPoint</Application>
  <PresentationFormat>Экран (4:3)</PresentationFormat>
  <Paragraphs>40</Paragraphs>
  <Slides>7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Указатели и Функции</vt:lpstr>
      <vt:lpstr>Дополнительные материалы</vt:lpstr>
      <vt:lpstr>Задание 1</vt:lpstr>
      <vt:lpstr>Задание 1</vt:lpstr>
      <vt:lpstr>Указатели в массивах</vt:lpstr>
      <vt:lpstr>Слайд 6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56</cp:revision>
  <dcterms:created xsi:type="dcterms:W3CDTF">2024-02-01T11:07:17Z</dcterms:created>
  <dcterms:modified xsi:type="dcterms:W3CDTF">2026-04-05T10:58:31Z</dcterms:modified>
</cp:coreProperties>
</file>