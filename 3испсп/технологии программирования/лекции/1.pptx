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56" r:id="rId11"/>
    <p:sldId id="272" r:id="rId12"/>
    <p:sldId id="257" r:id="rId13"/>
    <p:sldId id="258" r:id="rId14"/>
    <p:sldId id="267" r:id="rId15"/>
    <p:sldId id="259" r:id="rId16"/>
    <p:sldId id="260" r:id="rId17"/>
    <p:sldId id="268" r:id="rId18"/>
    <p:sldId id="261" r:id="rId19"/>
    <p:sldId id="263" r:id="rId20"/>
    <p:sldId id="262" r:id="rId21"/>
    <p:sldId id="264" r:id="rId22"/>
    <p:sldId id="269" r:id="rId23"/>
    <p:sldId id="271" r:id="rId24"/>
    <p:sldId id="265" r:id="rId25"/>
    <p:sldId id="270" r:id="rId26"/>
    <p:sldId id="266" r:id="rId2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5624D-BBC2-4E86-AC22-75474281F825}" type="datetimeFigureOut">
              <a:rPr lang="ru-RU" smtClean="0"/>
              <a:pPr/>
              <a:t>06.04.2026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c-sharp/c-vs-c-sharp/?ysclid=mllbnme7tm725382624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360.yandex.ru/i/g-O-LX-QsYG8Lw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sharp/tutorial/2.34.php?ysclid=mltajfq52f115470918" TargetMode="External"/><Relationship Id="rId4" Type="http://schemas.openxmlformats.org/officeDocument/2006/relationships/hyperlink" Target="https://csharp.webdelphi.ru/metody-v-c/?ysclid=mltadf7lj3811591999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sharp/tutorial/20.5.php?ysclid=mltaxjsvxf405846068" TargetMode="Externa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nline-compiler.com/en/compiler/csharp" TargetMode="External"/><Relationship Id="rId3" Type="http://schemas.openxmlformats.org/officeDocument/2006/relationships/image" Target="../media/image38.png"/><Relationship Id="rId7" Type="http://schemas.openxmlformats.org/officeDocument/2006/relationships/hyperlink" Target="https://stepik.org/lesson/588411/step/6?unit=583364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Введение в C# и .NET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dirty="0" smtClean="0"/>
              <a:t>Различия между С++ и </a:t>
            </a:r>
            <a:r>
              <a:rPr lang="en-US" dirty="0" smtClean="0"/>
              <a:t>C#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585789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hlinkClick r:id="rId2"/>
              </a:rPr>
              <a:t>https://www.geeksforgeeks.org/c-sharp/c-vs-c-sharp/?ysclid=mllbnme7tm725382624</a:t>
            </a:r>
            <a:endParaRPr lang="en-US" b="1" dirty="0" smtClean="0"/>
          </a:p>
          <a:p>
            <a:pPr algn="ctr"/>
            <a:endParaRPr lang="ru-RU" b="1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0" y="857232"/>
          <a:ext cx="9144000" cy="475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66"/>
                <a:gridCol w="3143272"/>
                <a:gridCol w="4500562"/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Признаки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C++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C#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Память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В C++ управление памятью выполняется программистом вручную. Если программист создает объект, то он несет ответственность за уничтожение этого объекта после завершения задачи, связанной с этим объектом.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В C# управление памятью выполняется автоматически сборщиком мусора. Если программист создает объект и после завершения задачи, связанной с этим объектом, сборщик мусора автоматически удалит этот объект.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Указатели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В C++ указатели можно использовать в любом месте программы.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В C# указатели можно использовать только в небезопасном режиме.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Компиляция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Код на C++ преобразуется в машинный код непосредственно после компиляции. 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smtClean="0">
                          <a:latin typeface="Times New Roman" pitchFamily="18" charset="0"/>
                          <a:cs typeface="Times New Roman" pitchFamily="18" charset="0"/>
                        </a:rPr>
                        <a:t>Код на C# преобразуется в код на промежуточном языке после компиляции.</a:t>
                      </a:r>
                      <a:endParaRPr lang="ru-RU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4857752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62628" y="0"/>
            <a:ext cx="3381372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4314825"/>
            <a:ext cx="762000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3214686"/>
            <a:ext cx="185737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428992" y="2285992"/>
            <a:ext cx="2071702" cy="2401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571612"/>
            <a:ext cx="7368792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538067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Программа видит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 и «подгружает» нужные инструменты (в данном случае — возможность выводить текст).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Она «входит» в пространство имён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MyFirstApp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чтобы знать, где находится наш код.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Находит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Program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внутри него —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Выполняет код внутри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(), то есть выводит на экран «Привет, мир!».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24"/>
            <a:ext cx="8229600" cy="11430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Базовый проект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консольном приложении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214423"/>
            <a:ext cx="5795901" cy="5643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консольном приложении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135536"/>
            <a:ext cx="6215073" cy="5722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4857751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err="1" smtClean="0"/>
              <a:t>Ввод‑вывод</a:t>
            </a:r>
            <a:r>
              <a:rPr lang="ru-RU" dirty="0" smtClean="0"/>
              <a:t> в </a:t>
            </a:r>
            <a:r>
              <a:rPr lang="en-US" dirty="0" err="1" smtClean="0"/>
              <a:t>WinForms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071678"/>
            <a:ext cx="4572000" cy="3318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785794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using System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namespace 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MyApp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class Program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static void Main()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algn="just"/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("Hello, World!")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algn="just"/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Program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("Hello World!");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("Press any key to continue . . . 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Console.ReadKey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(true);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class Launcher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public static void Main(string[]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{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("Hello Launcher!");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Console.Write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("Press any key to continue . . . ");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Console.ReadKey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(true);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br>
              <a:rPr lang="en-US" sz="20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5934670"/>
            <a:ext cx="91440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Решение: найдите в файле *.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csproj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строку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OutputType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&gt;Exe&lt;/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OutputType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добавьте под ней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StartupObject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test_class.Launcher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StartupObject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где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test_class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– название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namespace.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Базовые операторы и типы</a:t>
            </a:r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Теоретический материал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" y="1428736"/>
            <a:ext cx="9144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Шпаргалка: 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https://disk.360.yandex.ru/i/g-O-LX-QsYG8Lw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285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памяти компьютера все данные - будь то звук, изображение или текст - получаются, хранятся и обрабатываются в виде набора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байт.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Но ведь нам нужны звуки, картинки и так далее. Как быть?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таком случае вводится понятие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тип данных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то, что представляет собой последовательность байт, как её следует воспринимать.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76ee26d4-d486-40d9-94cb-feda4c21bc15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31028"/>
            <a:ext cx="7398404" cy="52269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17693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- это область памяти, которая хранит определённый тип данных. Обращение к хранимым данным происходит по имени переменной.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использовать переменную, её сначала надо объявить (создать), а затем инициализировать (задать значение).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переменной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Переменные создаются следующим образом: сначала указывается её тип, затем имя, после чего ей присваивается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на примере: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5;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 данных,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название (имя) переменной, а значение после знака равно - ей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Важно: в имени переменной можно использовать только строчные и прописные буквы и знак подчёркивания. Также допустимы цифры, но имя не может с них начинаться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Задать значения для чисел не сложно. Но как быть с другими типами, например, с дробными числами?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дробей в качестве разделителя используется точка: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pi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3.14;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Значения строки и символа находятся между двойными и одинарными кавычками соответственно.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'D';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Логический тип может принимать только два значения: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yes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//Истина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no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false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//Ложь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990000"/>
            <a:ext cx="4924364" cy="38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-79653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Стек в контексте управления памятью — это специальная область оперативной памяти, выделяемая для каждого потока выполнения в программе. Он работает по принципу LIFO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«последним пришёл, первым ушёл»).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Ключевые характеристики стека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Фиксированный размер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Выделяется при создании потока. Превышение лимита приводит к переполнению стека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Автоматическое управление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входе в функцию: в стек помещаются её параметры и локальные переменные.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выходе из функции: вся память автоматически освобождается.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Благодаря простой логике LIFO и близости 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кэшу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процессора операции со стеком выполняются очень быстро.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переменные в стеке — локальные (доступны только в рамках текущей функции/метода).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Конвертация данных — преобразование данных из одного формата в другой.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Но зачем конвертировать данные в C#?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вводе данных в консоль они представлены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следующую программу: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("Введите число:");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будет иметь тип данных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несмотря на то что в консоль мы введем число.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будет выглядеть похожим образом: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"34";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Представим, что нам нужно использовать число 34, например, для сложения, для этого нам надо переменную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конвертировать в числовой тип данных. Чтобы совершить данную операцию, существуют специальные методы.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714752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строки можно использовать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тип, в который мы хотим преобразовать, а "34" - строковое значение числа.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double.Parse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("3.14");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byte.Parse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("128");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метода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строку в соответствующий тип.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любого типа в любой можно использовать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Courier New" pitchFamily="49" charset="0"/>
                <a:cs typeface="Courier New" pitchFamily="49" charset="0"/>
              </a:rPr>
              <a:t>Convert.ToInt32("34");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Int32 - название типа в библиотеке .NET (согласно таблице), в который мы хотим преобразовать, а "34" - строковое значение числа.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название в библиотеке .NET.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("!");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Convert.ToBoolean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('!');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класса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любые типы данных.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714752"/>
            <a:ext cx="5201366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488" y="5357826"/>
            <a:ext cx="284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равны переменные?</a:t>
            </a:r>
            <a:endParaRPr lang="ru-RU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Нередко бывает удобно, чтобы переменная/параметр значимого типа могли принимать значение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Например, получаем числовое значение из базы данных, которое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отсутствовать. То есть, если значение в базе данных есть - получим число, если нет - 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85881"/>
            <a:ext cx="9144000" cy="4171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429264"/>
            <a:ext cx="9144000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 t="5556"/>
          <a:stretch>
            <a:fillRect/>
          </a:stretch>
        </p:blipFill>
        <p:spPr bwMode="auto">
          <a:xfrm>
            <a:off x="0" y="764704"/>
            <a:ext cx="43053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85720" y="1979548"/>
            <a:ext cx="249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Локальная переменная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328439"/>
            <a:ext cx="4786314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286380" y="2123564"/>
            <a:ext cx="285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Переменная уровня класса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2779" y="2688048"/>
            <a:ext cx="46863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332686" y="3845346"/>
            <a:ext cx="2146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Блок внутри метода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47875" y="4869160"/>
            <a:ext cx="52768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401486" y="6288385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Перекрытие имён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3674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конструкции - один из базовых компонентов многих языков программирования, которые направляют работу программы по одному из путей в зависимости от определенных условий. Одной из таких конструкций в языке программирования C# является 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проверяет истинность некоторого условия и в зависимости от результатов проверки выполняет определенный код.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26"/>
            <a:ext cx="5158652" cy="34302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761" y="5194741"/>
            <a:ext cx="2905125" cy="13049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764321" y="6488668"/>
            <a:ext cx="1608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равно </a:t>
            </a:r>
            <a:r>
              <a:rPr lang="en-US" b="1" dirty="0" smtClean="0"/>
              <a:t>z</a:t>
            </a:r>
            <a:r>
              <a:rPr lang="ru-RU" b="1" dirty="0" smtClean="0"/>
              <a:t>?</a:t>
            </a:r>
            <a:endParaRPr lang="ru-RU" b="1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2000240"/>
            <a:ext cx="3929057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15848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225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(сопоставление с образцом) — это способ проверять не просто значения, а структуру и свойства данных. В контексте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расширенная версия привычного оператора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умеет: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тип объекта;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извлекать из него данные;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значения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Проще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говоря, это как «умный переключатель», который понимает не только «если равно 5», но и «если это строка длиной больше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10».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357430"/>
            <a:ext cx="3119292" cy="236207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572000" y="235743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код: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короче — заменяет длинные цепочки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if‑else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читаемее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логика видна сразу;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безопаснее — меньше проверок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приведение типов;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гибче — можно проверять сложные условия в одной строке.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786323"/>
            <a:ext cx="858202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операторе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 возможностей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pattern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matching'а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чаще всего применяются is-выражения (выражения, с оператором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82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0648"/>
            <a:ext cx="4572000" cy="13239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260648"/>
            <a:ext cx="2447925" cy="18573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24" y="2060847"/>
            <a:ext cx="3394664" cy="24056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726432"/>
            <a:ext cx="3653595" cy="158417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211960" y="436510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Стоит отметить, что переменная, которая определяется в объявлении цикла, должна по типу соответствовать типу элементов перебираемой коллекции.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4" y="4781550"/>
            <a:ext cx="3476625" cy="20764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660576" y="6143644"/>
            <a:ext cx="548342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делает оператор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break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64502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68679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вызове внутри метода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перерывает его выполнение и возвращает управление вызвавшему коду. Если сигнатура метода, в котором был вызван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предполагает возврат значения, то после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необходимо поставить значение или переменную соответствующего типа.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11819"/>
            <a:ext cx="4000496" cy="3546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4026199"/>
            <a:ext cx="4857752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Более подробно про методы: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https://csharp.webdelphi.ru/metody-v-c/?ysclid=mltadf7lj3811591999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https://metanit.com/sharp/tutorial/2.34.php?ysclid=mltajfq52f115470918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8981594" cy="5643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191642"/>
            <a:ext cx="4143372" cy="1666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5074592"/>
            <a:ext cx="3214678" cy="1783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00042"/>
            <a:ext cx="8296393" cy="4541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https://metanit.com/sharp/tutorial/20.5.php?ysclid=mltaxjsvxf405846068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5749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3500438"/>
            <a:ext cx="9144000" cy="3357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71546"/>
            <a:ext cx="804866" cy="2390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500042"/>
            <a:ext cx="2428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Выберите допустимые названия переменных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714357"/>
            <a:ext cx="285751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4214810" y="357166"/>
            <a:ext cx="29289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вернут коды?</a:t>
            </a:r>
            <a:endParaRPr lang="ru-RU" sz="2400" b="1" dirty="0"/>
          </a:p>
        </p:txBody>
      </p:sp>
      <p:pic>
        <p:nvPicPr>
          <p:cNvPr id="7" name="Рисунок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714357"/>
            <a:ext cx="3214678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0" y="3571876"/>
            <a:ext cx="31432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вход построчно подается неизвестное количество строк в формате: число, знак операции, число, знак операции и т.д.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Выведите полученный результат, если он стал отрицательным, и прекратите выполнение программы.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86116" y="3500438"/>
            <a:ext cx="2571768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00760" y="3533775"/>
            <a:ext cx="292417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6072206"/>
            <a:ext cx="32146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7"/>
              </a:rPr>
              <a:t>https://stepik.org/lesson/588411/step/6?unit=583364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Онлайн С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#: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8"/>
              </a:rPr>
              <a:t> https://www.online-compiler.com/en/compiler/csharp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1292</Words>
  <Application>Microsoft Office PowerPoint</Application>
  <PresentationFormat>Экран (4:3)</PresentationFormat>
  <Paragraphs>128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7" baseType="lpstr">
      <vt:lpstr>Тема Office</vt:lpstr>
      <vt:lpstr>Введение в C# и .NET</vt:lpstr>
      <vt:lpstr>Различия между С++ и C#</vt:lpstr>
      <vt:lpstr>Слайд 3</vt:lpstr>
      <vt:lpstr>Слайд 4</vt:lpstr>
      <vt:lpstr>Ввод‑вывод в консольном приложении</vt:lpstr>
      <vt:lpstr>Ввод‑вывод в консольном приложении</vt:lpstr>
      <vt:lpstr>Ввод‑вывод в WinForms</vt:lpstr>
      <vt:lpstr>Слайд 8</vt:lpstr>
      <vt:lpstr>Слайд 9</vt:lpstr>
      <vt:lpstr>Базовые операторы и типы</vt:lpstr>
      <vt:lpstr>Теоретический материал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28</cp:revision>
  <dcterms:created xsi:type="dcterms:W3CDTF">2026-02-16T13:01:35Z</dcterms:created>
  <dcterms:modified xsi:type="dcterms:W3CDTF">2026-04-06T17:48:18Z</dcterms:modified>
</cp:coreProperties>
</file>