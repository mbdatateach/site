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2" r:id="rId3"/>
    <p:sldId id="263" r:id="rId4"/>
    <p:sldId id="274" r:id="rId5"/>
    <p:sldId id="264" r:id="rId6"/>
    <p:sldId id="265" r:id="rId7"/>
    <p:sldId id="266" r:id="rId8"/>
    <p:sldId id="267" r:id="rId9"/>
    <p:sldId id="269" r:id="rId10"/>
    <p:sldId id="272" r:id="rId11"/>
    <p:sldId id="273" r:id="rId12"/>
    <p:sldId id="268" r:id="rId13"/>
    <p:sldId id="270" r:id="rId14"/>
    <p:sldId id="271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E5A87-3B20-4600-9DCE-BE5A8D5CFD98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F89D07-70F9-49D4-923E-9EB4A53C3380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11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F89D07-70F9-49D4-923E-9EB4A53C3380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2F159-6E30-49ED-809A-AF4C5E7BA22D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utube.ru/video/f97c89139e35faba6f23a69eab79107a/?ysclid=mi0601ctu4217696010" TargetMode="External"/><Relationship Id="rId2" Type="http://schemas.openxmlformats.org/officeDocument/2006/relationships/hyperlink" Target="https://proglib.io/p/7-sposobov-sortirovki-massivov-na-primere-s-s-illyustraciyami-2022-04-20?ysclid=mi06gtm7tq188590613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cs.python.org/3/library/ctypes.html" TargetMode="External"/><Relationship Id="rId4" Type="http://schemas.openxmlformats.org/officeDocument/2006/relationships/hyperlink" Target="https://disk.yandex.ru/i/m--e7LQFAFgBlQ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jpeg"/><Relationship Id="rId4" Type="http://schemas.openxmlformats.org/officeDocument/2006/relationships/hyperlink" Target="https://disk.yandex.ru/d/MAnhEvAipQqGv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DLL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928670"/>
            <a:ext cx="9144000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Cambria" pitchFamily="18" charset="0"/>
              </a:rPr>
              <a:t>7 способов сортировки массивов на примере С++ с иллюстрациями</a:t>
            </a:r>
          </a:p>
          <a:p>
            <a:pPr algn="just"/>
            <a:r>
              <a:rPr lang="en-US" sz="2400" b="1" dirty="0" smtClean="0">
                <a:latin typeface="Cambria" pitchFamily="18" charset="0"/>
                <a:hlinkClick r:id="rId2"/>
              </a:rPr>
              <a:t>https://proglib.io/p/7-sposobov-sortirovki-massivov-na-primere-s-s-illyustraciyami-2022-04-20?ysclid=mi06gtm7tq188590613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</a:rPr>
              <a:t>how to create </a:t>
            </a:r>
            <a:r>
              <a:rPr lang="en-US" sz="2400" b="1" dirty="0" err="1" smtClean="0">
                <a:latin typeface="Cambria" pitchFamily="18" charset="0"/>
              </a:rPr>
              <a:t>dll</a:t>
            </a:r>
            <a:r>
              <a:rPr lang="en-US" sz="2400" b="1" dirty="0" smtClean="0">
                <a:latin typeface="Cambria" pitchFamily="18" charset="0"/>
              </a:rPr>
              <a:t> and use it in </a:t>
            </a:r>
            <a:r>
              <a:rPr lang="en-US" sz="2400" b="1" dirty="0" err="1" smtClean="0">
                <a:latin typeface="Cambria" pitchFamily="18" charset="0"/>
              </a:rPr>
              <a:t>codeblocks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3"/>
              </a:rPr>
              <a:t>https://rutube.ru/video/f97c89139e35faba6f23a69eab79107a/?ysclid=mi0601ctu4217696010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r>
              <a:rPr lang="ru-RU" sz="2400" dirty="0" smtClean="0">
                <a:latin typeface="Cambria" pitchFamily="18" charset="0"/>
              </a:rPr>
              <a:t>Как импортировать DLL в </a:t>
            </a:r>
            <a:r>
              <a:rPr lang="ru-RU" sz="2400" dirty="0" err="1" smtClean="0">
                <a:latin typeface="Cambria" pitchFamily="18" charset="0"/>
              </a:rPr>
              <a:t>Python</a:t>
            </a:r>
            <a:r>
              <a:rPr lang="ru-RU" sz="2400" dirty="0" smtClean="0">
                <a:latin typeface="Cambria" pitchFamily="18" charset="0"/>
              </a:rPr>
              <a:t> использование С++ в </a:t>
            </a:r>
            <a:r>
              <a:rPr lang="ru-RU" sz="2400" dirty="0" err="1" smtClean="0">
                <a:latin typeface="Cambria" pitchFamily="18" charset="0"/>
              </a:rPr>
              <a:t>python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4"/>
              </a:rPr>
              <a:t>https://disk.yandex.ru/i/m--e7LQFAFgBlQ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r>
              <a:rPr lang="en-US" sz="2400" dirty="0" err="1" smtClean="0">
                <a:latin typeface="Cambria" pitchFamily="18" charset="0"/>
              </a:rPr>
              <a:t>ctypes</a:t>
            </a:r>
            <a:endParaRPr lang="en-US" sz="2400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5"/>
              </a:rPr>
              <a:t>https://docs.python.org/3/library/ctypes.html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en-US" sz="2400" b="1" dirty="0" smtClean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404883"/>
            <a:ext cx="9144000" cy="43577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en-US" dirty="0" smtClean="0"/>
              <a:t>DLL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333445"/>
            <a:ext cx="9144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Вообще говоря, DLL — это просто наборы функций, собранные в библиотеки. Однако, в отличие от своих статических родственников (файлов .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lib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), библиотеки DLL не присоединены непосредственно к выполняемым файлам с помощью редактора связей. В выполняемый файл занесена только информация об их местонахождении. В момент выполнения программы загружается вся библиотека целиком. Благодаря этому разные процессы могут пользоваться совместно одними и теми же библиотеками, находящимися в памяти. Такой подход позволяет сократить объем памяти, необходимый для нескольких приложений, использующих много общих библиотек, а также контролировать размеры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ЕХЕ-файлов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DLL использует динамическое связывание — программу не нужно компилировать и связывать с библиотекой, связывание происходит во время выполнения. Это достигается с помощью таблиц импорта и экспорта, которые управляют доступом к функциям и переменным между приложением и DLL.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Некоторые компоненты DLL: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Файлы заголовков и определения функций — в них объявляются функции, которые будут доступны приложениям, использующим DLL.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Экспорт функций — функции в DLL должны быть назначены для экспорта с помощью ключевого слова 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__declspec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dllexport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sun9-66.userapi.com/s/v1/ig2/tJNH781-gNrHhVJJOMktGVPoDIMMCOx1AtqikQpdXooLn8I17j88VgC0W1GcIZ7Pft1x5B9HkrYC0vTYmclnvK-o.jpg?quality=95&amp;as=32x25,48x38,72x57,108x85,160x126,240x190,360x284,438x346&amp;from=bu&amp;cs=438x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5516416" cy="4357718"/>
          </a:xfrm>
          <a:prstGeom prst="rect">
            <a:avLst/>
          </a:prstGeom>
          <a:noFill/>
        </p:spPr>
      </p:pic>
      <p:pic>
        <p:nvPicPr>
          <p:cNvPr id="1028" name="Picture 4" descr="https://sun9-66.userapi.com/s/v1/ig2/gl1iZKlmyjGsM87l_Fw73tkC7Gz6P6eoUqapAd8vS7aLkKpCHDYKKTYNeG_nxu-r4i7-KCK3k3DgyKDRqcGQ3_Gb.jpg?quality=95&amp;as=32x14,48x22,72x33,108x49,160x72,240x108,360x163,480x217,540x244,640x289,715x323&amp;from=bu&amp;cs=715x0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333625" y="3781425"/>
            <a:ext cx="6810375" cy="3076575"/>
          </a:xfrm>
          <a:prstGeom prst="rect">
            <a:avLst/>
          </a:prstGeom>
          <a:noFill/>
        </p:spPr>
      </p:pic>
      <p:sp>
        <p:nvSpPr>
          <p:cNvPr id="4" name="Прямоугольник 3"/>
          <p:cNvSpPr/>
          <p:nvPr/>
        </p:nvSpPr>
        <p:spPr>
          <a:xfrm>
            <a:off x="0" y="4786322"/>
            <a:ext cx="23574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pip install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pythonnet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6" name="Прямая со стрелкой 5"/>
          <p:cNvCxnSpPr>
            <a:stCxn id="4" idx="0"/>
          </p:cNvCxnSpPr>
          <p:nvPr/>
        </p:nvCxnSpPr>
        <p:spPr>
          <a:xfrm rot="5400000" flipH="1" flipV="1">
            <a:off x="1375161" y="3804062"/>
            <a:ext cx="785818" cy="117870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https://sun9-36.userapi.com/s/v1/ig2/uiX0L1GMSUDMpuqNjkIBCn2-jhGXk1i1F18t767YxjAB5n4N5v2wZa81Dp-9neUOfltcPipGORmRWONI3BVUy687.jpg?quality=95&amp;as=32x20,48x30,72x44,108x66,160x98,240x148,360x221,480x295,540x332,640x394,720x443,751x462&amp;from=bu&amp;cs=751x0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63526" y="1"/>
            <a:ext cx="4180473" cy="2571743"/>
          </a:xfrm>
          <a:prstGeom prst="rect">
            <a:avLst/>
          </a:prstGeom>
          <a:noFill/>
        </p:spPr>
      </p:pic>
      <p:sp>
        <p:nvSpPr>
          <p:cNvPr id="8" name="Прямоугольник 7"/>
          <p:cNvSpPr/>
          <p:nvPr/>
        </p:nvSpPr>
        <p:spPr>
          <a:xfrm>
            <a:off x="2643174" y="0"/>
            <a:ext cx="23574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latin typeface="Times New Roman" pitchFamily="18" charset="0"/>
                <a:cs typeface="Times New Roman" pitchFamily="18" charset="0"/>
              </a:rPr>
              <a:t>DLL C#</a:t>
            </a:r>
            <a:endParaRPr lang="ru-RU" sz="32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072198" y="2571744"/>
            <a:ext cx="23574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DLL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создается через библиотеку классов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US" dirty="0" smtClean="0"/>
              <a:t>DLL: </a:t>
            </a:r>
            <a:r>
              <a:rPr lang="ru-RU" dirty="0" smtClean="0"/>
              <a:t>подключение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9144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Библиотека DLL может быть подключена к приложению </a:t>
            </a: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Статически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при сборке последнего путём указания соответствующей библиотеки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lib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как части проекта. В этом случае DLL загружается в память при запуске приложения.</a:t>
            </a: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Динамически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DLL может загружаться и выгружаться при необходимости. В этом случае приложение предъявляет меньше требований к ресурсам, но обращение к функциям DLL несколько усложнено.</a:t>
            </a: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Важно: при статическом связывании программа не может начать работу без DLL, в то время как при динамическом связывании наличие DLL для запуска приложения не обязательно.</a:t>
            </a:r>
          </a:p>
          <a:p>
            <a:pPr algn="just"/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85984" y="4214818"/>
            <a:ext cx="4714908" cy="476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00430" y="2000240"/>
            <a:ext cx="2209798" cy="1290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2105025"/>
            <a:ext cx="9144000" cy="33575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428652"/>
            <a:ext cx="8229600" cy="1143000"/>
          </a:xfrm>
        </p:spPr>
        <p:txBody>
          <a:bodyPr/>
          <a:lstStyle/>
          <a:p>
            <a:r>
              <a:rPr lang="en-US" dirty="0" smtClean="0"/>
              <a:t>DLL: </a:t>
            </a:r>
            <a:r>
              <a:rPr lang="ru-RU" dirty="0" smtClean="0"/>
              <a:t>создание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2105025"/>
            <a:ext cx="9144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Прежде всего необходимо создать функцию, которую смогут «видеть» другие программы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Для этого используют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__declspec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dllexport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) — экспорт функции из DLL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Помечает функцию как «видимую извне» — то есть доступную для других программ/DLL, которые подключат эту библиотеку.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Как работает: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Без этого ключевого слова компилятор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не экспортирует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функцию из DLL (даже если она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public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Компилятор добавляет специальные метки в объектный файл, чтобы линкер включил функцию в таблицу экспорта DLL.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extern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"C"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предотвращение искажения имён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name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mangling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- Функция становится совместимой с C и другими языками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через 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ctypes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C#,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etc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.).</a:t>
            </a: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728" y="5534049"/>
            <a:ext cx="6000750" cy="132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215042" y="-142900"/>
            <a:ext cx="2928958" cy="2235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857232"/>
            <a:ext cx="9144000" cy="59293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US" dirty="0" smtClean="0"/>
              <a:t>DLL</a:t>
            </a:r>
            <a:r>
              <a:rPr lang="ru-RU" dirty="0" smtClean="0"/>
              <a:t>: создание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9144000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Далее необходимо настроить заголовочный файл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Заголовочные файлы (.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или 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hpp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в C++ — ключевой механизм организации кода, позволяющий разделять объявления (интерфейс) и реализацию (тело функций).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Главные задачи заголовочных файлов</a:t>
            </a:r>
          </a:p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Разделение интерфейса и реализации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заголовочном файле — только объявления: что есть (функции, классы, переменные), но не как работает.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файле 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cpp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 реализация (код функций).</a:t>
            </a:r>
            <a:br>
              <a:rPr lang="ru-RU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→ Проект становится понятнее: можно смотреть «что доступно», не вникая в детали.</a:t>
            </a:r>
          </a:p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Повторное использование кода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Один заголовочный файл можно подключить в нескольких .cpp-файлах.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Не нужно копировать объявления везде вручную.</a:t>
            </a:r>
          </a:p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Модульность и удобство поддержки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Меняете объявление в 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 все 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cpp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которые его включают, «увидят» изменения.</a:t>
            </a:r>
          </a:p>
          <a:p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Почему нельзя всё писать в .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cpp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Дублирование: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пришлось бы копировать объявления во все файлы, где они нужны.</a:t>
            </a:r>
          </a:p>
          <a:p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Ошибки при обновлении: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изменив функцию, нужно править её объявление везде вручную.</a:t>
            </a:r>
          </a:p>
          <a:p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Неудобство командной работы: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сложно понять, какие функции доступны в проекте, без единого «справочника».</a:t>
            </a:r>
          </a:p>
          <a:p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Медленная компиляция: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при изменении объявления пришлось бы перекомпилировать все файлы, где оно используется.</a:t>
            </a:r>
          </a:p>
          <a:p>
            <a:endParaRPr lang="ru-RU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US" dirty="0" smtClean="0"/>
              <a:t>DLL</a:t>
            </a:r>
            <a:r>
              <a:rPr lang="ru-RU" dirty="0" smtClean="0"/>
              <a:t>: создание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9144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Важные правила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Защитные директивы (#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ifndef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/ 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define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/ 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endif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или 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pragma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once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 — чтобы файл не включался многократно.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Подключение через 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include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"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my_header.h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 (для своих файлов) или #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include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library.h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 (для системных).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Минимум зависимостей: включайте в 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только то, что действительно нужно для интерфейса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4714884"/>
            <a:ext cx="871534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стандартный способ защитить заголовочный файл от многократного включения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чтобы: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избежать дублирования объявлений;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предотвратить ошибки компиляции;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обеспечить корректную сборку проекта при сложной иерархии включений.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000372"/>
            <a:ext cx="9144000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7145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Подключение </a:t>
            </a:r>
            <a:r>
              <a:rPr lang="en-US" dirty="0" smtClean="0"/>
              <a:t>DLL: C++</a:t>
            </a:r>
            <a:br>
              <a:rPr lang="en-US" dirty="0" smtClean="0"/>
            </a:br>
            <a:r>
              <a:rPr lang="ru-RU" dirty="0" smtClean="0"/>
              <a:t>статическое</a:t>
            </a:r>
            <a:endParaRPr lang="ru-RU" dirty="0"/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1472" y="1142984"/>
            <a:ext cx="1790700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Прямоугольник 15"/>
          <p:cNvSpPr/>
          <p:nvPr/>
        </p:nvSpPr>
        <p:spPr>
          <a:xfrm>
            <a:off x="0" y="3143248"/>
            <a:ext cx="364330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статического связывания необходимо подключить заголовочный файл и сам файл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dll</a:t>
            </a:r>
            <a:endParaRPr lang="ru-RU" dirty="0"/>
          </a:p>
        </p:txBody>
      </p:sp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43504" y="989617"/>
            <a:ext cx="2800341" cy="2389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9" name="Прямоугольник 18"/>
          <p:cNvSpPr/>
          <p:nvPr/>
        </p:nvSpPr>
        <p:spPr>
          <a:xfrm>
            <a:off x="4357686" y="3429000"/>
            <a:ext cx="48577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Настроить компиляцию (подключить файл .а и поместить файлы .а и 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dll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папку к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exe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285984" y="4065861"/>
            <a:ext cx="5062544" cy="27921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7145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Подключение </a:t>
            </a:r>
            <a:r>
              <a:rPr lang="en-US" dirty="0" smtClean="0"/>
              <a:t>DLL: C++</a:t>
            </a:r>
            <a:br>
              <a:rPr lang="en-US" dirty="0" smtClean="0"/>
            </a:br>
            <a:r>
              <a:rPr lang="ru-RU" dirty="0" smtClean="0"/>
              <a:t>динамическое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" y="1214423"/>
            <a:ext cx="5986062" cy="34290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4572008"/>
            <a:ext cx="5210175" cy="124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8" name="Rectangle 4"/>
          <p:cNvSpPr>
            <a:spLocks noChangeArrowheads="1"/>
          </p:cNvSpPr>
          <p:nvPr/>
        </p:nvSpPr>
        <p:spPr bwMode="auto">
          <a:xfrm>
            <a:off x="5929322" y="1285860"/>
            <a:ext cx="3214678" cy="4770537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Тип функции</a:t>
            </a:r>
            <a:r>
              <a:rPr kumimoji="0" lang="en-US" sz="16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через 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typedef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 (например, 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typedef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int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(*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AddFunc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)(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int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int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);) при динамической загрузке DLL </a:t>
            </a: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необходим для безопасного и корректного вызова функций из библиотеки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 Без явного типа компилятор не сможет проверить корректность вызова.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GetProcAddress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Получает указатель на функцию 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Add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по её имени. Важно: имя должно совпадать с тем, что экспортируется из DLL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FreeLibrary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Освобождает DLL из памяти после использования.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0" y="5857892"/>
            <a:ext cx="9144000" cy="52322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typedef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 — это спецификатор, который создаёт </a:t>
            </a:r>
            <a:r>
              <a:rPr kumimoji="0" lang="ru-RU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алиас</a:t>
            </a: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(синоним)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 для существующего типа. Он </a:t>
            </a:r>
            <a:r>
              <a:rPr kumimoji="0" lang="ru-RU" sz="14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не объявляет новую функцию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а лишь даёт альтернативное имя типу. 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1214422"/>
            <a:ext cx="5986062" cy="34290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Прямоугольник 13"/>
          <p:cNvSpPr/>
          <p:nvPr/>
        </p:nvSpPr>
        <p:spPr>
          <a:xfrm>
            <a:off x="0" y="6429396"/>
            <a:ext cx="91439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typedef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(*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FuncPtr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)(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); //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FuncPtr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— синоним для "указатель на функцию, принимающую два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и возвращающую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"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smtClean="0"/>
              <a:t>Подключение </a:t>
            </a:r>
            <a:r>
              <a:rPr lang="en-US" dirty="0" smtClean="0"/>
              <a:t>DLL</a:t>
            </a:r>
            <a:r>
              <a:rPr lang="ru-RU" dirty="0" smtClean="0"/>
              <a:t> </a:t>
            </a:r>
            <a:r>
              <a:rPr lang="en-US" dirty="0" smtClean="0"/>
              <a:t>C++: </a:t>
            </a:r>
            <a:r>
              <a:rPr lang="ru-RU" dirty="0" smtClean="0"/>
              <a:t>Структуры</a:t>
            </a:r>
            <a:endParaRPr lang="ru-RU" dirty="0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143240" y="3143248"/>
            <a:ext cx="2714625" cy="447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28662" y="1857364"/>
            <a:ext cx="6905625" cy="1343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857232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Если структура объявлена в заголовочном файле (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main.h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DLL,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чтобы использовать ее в других программах необходимо подключать к ним заголовочный файл, предварительно разместив его в директории вызывающей программы</a:t>
            </a:r>
            <a:endParaRPr lang="ru-RU" dirty="0"/>
          </a:p>
        </p:txBody>
      </p:sp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00034" y="4643446"/>
            <a:ext cx="7800975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0" y="3786190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При динамическом связывании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c DLL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при указании синонимов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проверяйте, какие параметры Вы передаете в функцию и какой тип она возвращает</a:t>
            </a:r>
            <a:endParaRPr lang="ru-RU" dirty="0"/>
          </a:p>
        </p:txBody>
      </p:sp>
      <p:cxnSp>
        <p:nvCxnSpPr>
          <p:cNvPr id="14" name="Прямая со стрелкой 13"/>
          <p:cNvCxnSpPr>
            <a:stCxn id="11" idx="2"/>
          </p:cNvCxnSpPr>
          <p:nvPr/>
        </p:nvCxnSpPr>
        <p:spPr>
          <a:xfrm rot="5400000">
            <a:off x="3180654" y="3466413"/>
            <a:ext cx="425239" cy="2357454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>
            <a:off x="1142976" y="4357694"/>
            <a:ext cx="3643338" cy="50006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Подключение </a:t>
            </a:r>
            <a:r>
              <a:rPr lang="en-US" dirty="0" smtClean="0"/>
              <a:t>DLL: PYTHON</a:t>
            </a:r>
            <a:endParaRPr lang="ru-RU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7158" y="1916660"/>
            <a:ext cx="1685925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0" y="3559734"/>
            <a:ext cx="23727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После сборки проекта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214678" y="1988098"/>
            <a:ext cx="1228725" cy="100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2571737" y="2916792"/>
            <a:ext cx="221457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Поместите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dll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папку с кодом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Python</a:t>
            </a:r>
            <a:endParaRPr lang="ru-RU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715008" y="3559734"/>
            <a:ext cx="22145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Код связывания</a:t>
            </a:r>
            <a:endParaRPr lang="ru-RU" dirty="0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857752" y="1988098"/>
            <a:ext cx="4286248" cy="1617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" name="Прямоугольник 19"/>
          <p:cNvSpPr/>
          <p:nvPr/>
        </p:nvSpPr>
        <p:spPr>
          <a:xfrm>
            <a:off x="0" y="4071942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Для работы с функциями С++ необходима встроенная библиотека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ctypes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Она позволяет создавать структуры данных, совместимые с C, и передавать их в функции С++. 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Подключение </a:t>
            </a:r>
            <a:r>
              <a:rPr lang="en-US" dirty="0" smtClean="0"/>
              <a:t>DLL</a:t>
            </a:r>
            <a:r>
              <a:rPr lang="ru-RU" dirty="0" smtClean="0"/>
              <a:t> </a:t>
            </a:r>
            <a:r>
              <a:rPr lang="en-US" dirty="0" smtClean="0"/>
              <a:t>Python: </a:t>
            </a:r>
            <a:r>
              <a:rPr lang="ru-RU" dirty="0" smtClean="0"/>
              <a:t>Структуры</a:t>
            </a:r>
            <a:endParaRPr lang="ru-RU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71604" y="857232"/>
            <a:ext cx="5386471" cy="1443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57158" y="2328863"/>
            <a:ext cx="8172685" cy="160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571736" y="3578691"/>
            <a:ext cx="5700705" cy="3279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Ошибка версий</a:t>
            </a:r>
            <a:r>
              <a:rPr lang="en-US" dirty="0" smtClean="0"/>
              <a:t>: Python/C++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85852" y="1714488"/>
            <a:ext cx="6029325" cy="1285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857224" y="2857496"/>
            <a:ext cx="71437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При возникновении такой ошибки есть два варианта решения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0" y="3429000"/>
            <a:ext cx="464343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Установить версию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Python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другой разрядности</a:t>
            </a:r>
          </a:p>
          <a:p>
            <a:pPr marL="342900" indent="-342900" algn="just">
              <a:buAutoNum type="arabicParenR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Добавить компилятор другой разрядности в С++</a:t>
            </a:r>
          </a:p>
          <a:p>
            <a:pPr marL="342900" indent="-342900" algn="just">
              <a:buAutoNum type="arabicParenR"/>
            </a:pP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marL="342900" indent="-342900" algn="just"/>
            <a:r>
              <a:rPr lang="en-US" dirty="0" smtClean="0">
                <a:hlinkClick r:id="rId4"/>
              </a:rPr>
              <a:t>https://disk.yandex.ru/d/MAnhEvAipQqGvA</a:t>
            </a:r>
            <a:endParaRPr lang="ru-RU" dirty="0" smtClean="0"/>
          </a:p>
          <a:p>
            <a:pPr marL="342900" indent="-342900" algn="just"/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0" y="928670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/>
              <a:t>Основное отличие между 32-битной (x32) и 64-битной (x64) операционными системами заключается в способности работать с оперативной памятью (ОЗУ)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1028" name="Picture 4" descr="https://sun9-54.userapi.com/s/v1/ig2/VI7RhAZSzUPrphGi6IigRGDJu0qwmY33bQ_0M9obLW4gVr2rz_DJeLd0SPyCnRTXMtoWlh0GwPJIDH653Bpu1Yj_.jpg?quality=95&amp;as=32x28,48x42,72x63,108x94,160x139,240x209,360x314,480x418,540x471,640x558,720x628,749x653&amp;from=bu&amp;cs=749x0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929190" y="3183405"/>
            <a:ext cx="4214811" cy="3674596"/>
          </a:xfrm>
          <a:prstGeom prst="rect">
            <a:avLst/>
          </a:prstGeom>
          <a:noFill/>
        </p:spPr>
      </p:pic>
      <p:cxnSp>
        <p:nvCxnSpPr>
          <p:cNvPr id="12" name="Прямая со стрелкой 11"/>
          <p:cNvCxnSpPr>
            <a:endCxn id="1028" idx="1"/>
          </p:cNvCxnSpPr>
          <p:nvPr/>
        </p:nvCxnSpPr>
        <p:spPr>
          <a:xfrm>
            <a:off x="3286116" y="4214818"/>
            <a:ext cx="1643074" cy="80588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356</Words>
  <Application>Microsoft Office PowerPoint</Application>
  <PresentationFormat>Экран (4:3)</PresentationFormat>
  <Paragraphs>103</Paragraphs>
  <Slides>14</Slides>
  <Notes>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Тема Office</vt:lpstr>
      <vt:lpstr>DLL</vt:lpstr>
      <vt:lpstr>Дополнительные материалы</vt:lpstr>
      <vt:lpstr>DLL</vt:lpstr>
      <vt:lpstr>Слайд 4</vt:lpstr>
      <vt:lpstr>DLL: подключение</vt:lpstr>
      <vt:lpstr>DLL: создание</vt:lpstr>
      <vt:lpstr>DLL: создание</vt:lpstr>
      <vt:lpstr>DLL: создание</vt:lpstr>
      <vt:lpstr>Подключение DLL: C++ статическое</vt:lpstr>
      <vt:lpstr>Подключение DLL: C++ динамическое</vt:lpstr>
      <vt:lpstr>Подключение DLL C++: Структуры</vt:lpstr>
      <vt:lpstr>Подключение DLL: PYTHON</vt:lpstr>
      <vt:lpstr>Подключение DLL Python: Структуры</vt:lpstr>
      <vt:lpstr>Ошибка версий: Python/C++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67</cp:revision>
  <dcterms:created xsi:type="dcterms:W3CDTF">2024-02-01T11:07:17Z</dcterms:created>
  <dcterms:modified xsi:type="dcterms:W3CDTF">2026-04-06T17:57:47Z</dcterms:modified>
</cp:coreProperties>
</file>