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63" r:id="rId4"/>
    <p:sldId id="274" r:id="rId5"/>
    <p:sldId id="264" r:id="rId6"/>
    <p:sldId id="265" r:id="rId7"/>
    <p:sldId id="266" r:id="rId8"/>
    <p:sldId id="267" r:id="rId9"/>
    <p:sldId id="269" r:id="rId10"/>
    <p:sldId id="272" r:id="rId11"/>
    <p:sldId id="273" r:id="rId12"/>
    <p:sldId id="268" r:id="rId13"/>
    <p:sldId id="270" r:id="rId14"/>
    <p:sldId id="271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tube.ru/video/f97c89139e35faba6f23a69eab79107a/?ysclid=mi0601ctu4217696010" TargetMode="External"/><Relationship Id="rId2" Type="http://schemas.openxmlformats.org/officeDocument/2006/relationships/hyperlink" Target="https://proglib.io/p/7-sposobov-sortirovki-massivov-na-primere-s-s-illyustraciyami-2022-04-20?ysclid=mi06gtm7tq188590613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ocs.python.org/3/library/ctypes.html" TargetMode="External"/><Relationship Id="rId4" Type="http://schemas.openxmlformats.org/officeDocument/2006/relationships/hyperlink" Target="https://disk.yandex.ru/i/m--e7LQFAFgBl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jpeg"/><Relationship Id="rId4" Type="http://schemas.openxmlformats.org/officeDocument/2006/relationships/hyperlink" Target="https://disk.yandex.ru/d/MAnhEvAipQqGv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DLL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7 способов сортировки массивов на примере С++ с иллюстрациями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https://proglib.io/p/7-sposobov-sortirovki-massivov-na-primere-s-s-illyustraciyami-2022-04-20?ysclid=mi06gtm7tq188590613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</a:rPr>
              <a:t>how to create </a:t>
            </a:r>
            <a:r>
              <a:rPr lang="en-US" sz="2400" b="1" dirty="0" err="1" smtClean="0">
                <a:latin typeface="Cambria" pitchFamily="18" charset="0"/>
              </a:rPr>
              <a:t>dll</a:t>
            </a:r>
            <a:r>
              <a:rPr lang="en-US" sz="2400" b="1" dirty="0" smtClean="0">
                <a:latin typeface="Cambria" pitchFamily="18" charset="0"/>
              </a:rPr>
              <a:t> and use it in </a:t>
            </a:r>
            <a:r>
              <a:rPr lang="en-US" sz="2400" b="1" dirty="0" err="1" smtClean="0">
                <a:latin typeface="Cambria" pitchFamily="18" charset="0"/>
              </a:rPr>
              <a:t>codeblocks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https://rutube.ru/video/f97c89139e35faba6f23a69eab79107a/?ysclid=mi0601ctu4217696010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Как импортировать DLL в </a:t>
            </a:r>
            <a:r>
              <a:rPr lang="ru-RU" sz="2400" dirty="0" err="1" smtClean="0">
                <a:latin typeface="Cambria" pitchFamily="18" charset="0"/>
              </a:rPr>
              <a:t>Python</a:t>
            </a:r>
            <a:r>
              <a:rPr lang="ru-RU" sz="2400" dirty="0" smtClean="0">
                <a:latin typeface="Cambria" pitchFamily="18" charset="0"/>
              </a:rPr>
              <a:t> использование С++ в </a:t>
            </a:r>
            <a:r>
              <a:rPr lang="ru-RU" sz="2400" dirty="0" err="1" smtClean="0">
                <a:latin typeface="Cambria" pitchFamily="18" charset="0"/>
              </a:rPr>
              <a:t>python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https://disk.yandex.ru/i/m--e7LQFAFgBlQ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dirty="0" err="1" smtClean="0">
                <a:latin typeface="Cambria" pitchFamily="18" charset="0"/>
              </a:rPr>
              <a:t>ctypes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5"/>
              </a:rPr>
              <a:t>https://docs.python.org/3/library/ctypes.html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404883"/>
            <a:ext cx="9144000" cy="43577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333445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Вообще говоря, DLL — это просто наборы функций, собранные в библиотеки. Однако, в отличие от своих статических родственников (файлов 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 библиотеки DLL не присоединены непосредственно к выполняемым файлам с помощью редактора связей. В выполняемый файл занесена только информация об их местонахождении. В момент выполнения программы загружается вся библиотека целиком. Благодаря этому разные процессы могут пользоваться совместно одними и теми же библиотеками, находящимися в памяти. Такой подход позволяет сократить объем памяти, необходимый для нескольких приложений, использующих много общих библиотек, а также контролировать размеры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ЕХЕ-файлов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DLL использует динамическое связывание — программу не нужно компилировать и связывать с библиотекой, связывание происходит во время выполнения. Это достигается с помощью таблиц импорта и экспорта, которые управляют доступом к функциям и переменным между приложением и DLL.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Некоторые компоненты DLL: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Файлы заголовков и определения функций — в них объявляются функции, которые будут доступны приложениям, использующим DLL.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Экспорт функций — функции в DLL должны быть назначены для экспорта с помощью ключевого слова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__declspec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dllexport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4622742"/>
            <a:ext cx="2928958" cy="223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66.userapi.com/s/v1/ig2/tJNH781-gNrHhVJJOMktGVPoDIMMCOx1AtqikQpdXooLn8I17j88VgC0W1GcIZ7Pft1x5B9HkrYC0vTYmclnvK-o.jpg?quality=95&amp;as=32x25,48x38,72x57,108x85,160x126,240x190,360x284,438x346&amp;from=bu&amp;cs=438x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16416" cy="4357718"/>
          </a:xfrm>
          <a:prstGeom prst="rect">
            <a:avLst/>
          </a:prstGeom>
          <a:noFill/>
        </p:spPr>
      </p:pic>
      <p:pic>
        <p:nvPicPr>
          <p:cNvPr id="1028" name="Picture 4" descr="https://sun9-66.userapi.com/s/v1/ig2/gl1iZKlmyjGsM87l_Fw73tkC7Gz6P6eoUqapAd8vS7aLkKpCHDYKKTYNeG_nxu-r4i7-KCK3k3DgyKDRqcGQ3_Gb.jpg?quality=95&amp;as=32x14,48x22,72x33,108x49,160x72,240x108,360x163,480x217,540x244,640x289,715x323&amp;from=bu&amp;cs=715x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3625" y="3781425"/>
            <a:ext cx="6810375" cy="307657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4786322"/>
            <a:ext cx="2357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pip install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pythonnet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 стрелкой 5"/>
          <p:cNvCxnSpPr>
            <a:stCxn id="4" idx="0"/>
          </p:cNvCxnSpPr>
          <p:nvPr/>
        </p:nvCxnSpPr>
        <p:spPr>
          <a:xfrm rot="5400000" flipH="1" flipV="1">
            <a:off x="1375161" y="3804062"/>
            <a:ext cx="785818" cy="11787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https://sun9-36.userapi.com/s/v1/ig2/uiX0L1GMSUDMpuqNjkIBCn2-jhGXk1i1F18t767YxjAB5n4N5v2wZa81Dp-9neUOfltcPipGORmRWONI3BVUy687.jpg?quality=95&amp;as=32x20,48x30,72x44,108x66,160x98,240x148,360x221,480x295,540x332,640x394,720x443,751x462&amp;from=bu&amp;cs=751x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3526" y="1"/>
            <a:ext cx="4180473" cy="2571743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643174" y="0"/>
            <a:ext cx="235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 C#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072198" y="2571744"/>
            <a:ext cx="2357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DLL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создается через библиотеку классов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DLL: </a:t>
            </a:r>
            <a:r>
              <a:rPr lang="ru-RU" dirty="0" smtClean="0"/>
              <a:t>подключение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DLL может быть подключена к приложению 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при сборке последнего путём указания соответствующей библиотеки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как части проекта. В этом случае DLL загружается в память при запуске приложения.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Динамически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DLL может загружаться и выгружаться при необходимости. В этом случае приложение предъявляет меньше требований к ресурсам, но обращение к функциям DLL несколько усложнено.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при статическом связывании программа не может начать работу без DLL, в то время как при динамическом связывании наличие DLL для запуска приложения не обязательно.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4214818"/>
            <a:ext cx="4714908" cy="47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2000240"/>
            <a:ext cx="2209798" cy="129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857232"/>
            <a:ext cx="9144000" cy="33575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DLL: </a:t>
            </a:r>
            <a:r>
              <a:rPr lang="ru-RU" dirty="0" smtClean="0"/>
              <a:t>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Прежде всего необходимо создать функцию, которую смогут «видеть» другие программы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этого используют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__declspec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dllexport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 — экспорт функции из DLL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Помечает функцию как «видимую извне» — то есть доступную для других программ/DLL, которые подключат эту библиотеку.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работает: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 этого ключевого слова компилятор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 экспортирует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функцию из DLL (даже если она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Компилятор добавляет специальные метки в объектный файл, чтобы линкер включил функцию в таблицу экспорта DLL.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extern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"C"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предотвращение искажения имён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mangling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Функция становится совместимой с C и другими языками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ctypes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C#,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.).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4286256"/>
            <a:ext cx="600075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857232"/>
            <a:ext cx="9144000" cy="59293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r>
              <a:rPr lang="ru-RU" dirty="0" smtClean="0"/>
              <a:t>: 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Далее необходимо настроить заголовочный файл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Заголовочные файлы (.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C++ — ключевой механизм организации кода, позволяющий разделять объявления (интерфейс) и реализацию (тело функций).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Главные задачи заголовочных файлов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Разделение интерфейса и реализации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заголовочном файле — только объявления: что есть (функции, классы, переменные), но не как работает.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файле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реализация (код функций).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→ Проект становится понятнее: можно смотреть «что доступно», не вникая в детали.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Повторное использование кода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заголовочный файл можно подключить в нескольких .cpp-файлах.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нужно копировать объявления везде вручную.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Модульность и удобство поддержки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Меняете объявление в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все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его включают, «увидят» изменения.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Почему нельзя всё писать в .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Дублирование: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пришлось бы копировать объявления во все файлы, где они нужны.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Ошибки при обновлении: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изменив функцию, нужно править её объявление везде вручную.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Неудобство командной работы: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сложно понять, какие функции доступны в проекте, без единого «справочника».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Медленная компиляция: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при изменении объявления пришлось бы перекомпилировать все файлы, где оно используется.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r>
              <a:rPr lang="ru-RU" dirty="0" smtClean="0"/>
              <a:t>: 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Важные правила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Защитные директивы (#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ifndef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/ 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/ 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pragma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чтобы файл не включался многократно.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Подключение через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my_header.h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 (для своих файлов) или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library.h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 (для системных).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Минимум зависимостей: включайте в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только то, что действительно нужно для интерфейса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4714884"/>
            <a:ext cx="87153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стандартный способ защитить заголовочный файл от многократного включения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чтобы: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избежать дублирования объявлений;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предотвратить ошибки компиляции;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обеспечить корректную сборку проекта при сложной иерархии включений.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0372"/>
            <a:ext cx="9144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C++</a:t>
            </a:r>
            <a:br>
              <a:rPr lang="en-US" dirty="0" smtClean="0"/>
            </a:br>
            <a:r>
              <a:rPr lang="ru-RU" dirty="0" smtClean="0"/>
              <a:t>статическое</a:t>
            </a:r>
            <a:endParaRPr lang="ru-RU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142984"/>
            <a:ext cx="17907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3143248"/>
            <a:ext cx="36433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статического связывания необходимо подключить заголовочный файл и сам файл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endParaRPr lang="ru-RU" dirty="0"/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4" y="989617"/>
            <a:ext cx="2800341" cy="238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4357686" y="3429000"/>
            <a:ext cx="4857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компиляцию (подключить файл .а и поместить файлы .а и 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папку 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5984" y="4065861"/>
            <a:ext cx="5062544" cy="2792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C++</a:t>
            </a:r>
            <a:br>
              <a:rPr lang="en-US" dirty="0" smtClean="0"/>
            </a:br>
            <a:r>
              <a:rPr lang="ru-RU" dirty="0" smtClean="0"/>
              <a:t>динамическое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214423"/>
            <a:ext cx="598606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572008"/>
            <a:ext cx="52101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929322" y="1285860"/>
            <a:ext cx="3214678" cy="47705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Тип функции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через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(например,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(*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AddFunc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)(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);) при динамической загрузке DLL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необходим для безопасного и корректного вызова функций из библиотеки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Без явного типа компилятор не сможет проверить корректность вызова.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GetProcAddress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Получает указатель на функцию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по её имени. Важно: имя должно совпадать с тем, что экспортируется из DLL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FreeLibrary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Освобождает DLL из памяти после использования.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5857892"/>
            <a:ext cx="9144000" cy="5232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— это спецификатор, который создаёт </a:t>
            </a: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алиас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(синоним)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для существующего типа. Он </a:t>
            </a:r>
            <a:r>
              <a:rPr kumimoji="0" lang="ru-RU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не объявляет новую функцию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а лишь даёт альтернативное имя типу.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598606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6429396"/>
            <a:ext cx="91439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(*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FuncPtr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); //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FuncPtr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— синоним для "указатель на функцию, принимающую два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возвращающую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"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</a:t>
            </a:r>
            <a:r>
              <a:rPr lang="ru-RU" dirty="0" smtClean="0"/>
              <a:t> </a:t>
            </a:r>
            <a:r>
              <a:rPr lang="en-US" dirty="0" smtClean="0"/>
              <a:t>C++: </a:t>
            </a:r>
            <a:r>
              <a:rPr lang="ru-RU" dirty="0" smtClean="0"/>
              <a:t>Структуры</a:t>
            </a:r>
            <a:endParaRPr lang="ru-RU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143248"/>
            <a:ext cx="2714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857364"/>
            <a:ext cx="69056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85723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структура объявлена в заголовочном файле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main.h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DLL,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ее в других программах необходимо подключать к ним заголовочный файл, предварительно разместив его в директории вызывающей программы</a:t>
            </a:r>
            <a:endParaRPr lang="ru-RU" dirty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4643446"/>
            <a:ext cx="78009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78619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динамическом связывании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 DLL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указании синонимов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проверяйте, какие параметры Вы передаете в функцию и какой тип она возвращает</a:t>
            </a:r>
            <a:endParaRPr lang="ru-RU" dirty="0"/>
          </a:p>
        </p:txBody>
      </p:sp>
      <p:cxnSp>
        <p:nvCxnSpPr>
          <p:cNvPr id="14" name="Прямая со стрелкой 13"/>
          <p:cNvCxnSpPr>
            <a:stCxn id="11" idx="2"/>
          </p:cNvCxnSpPr>
          <p:nvPr/>
        </p:nvCxnSpPr>
        <p:spPr>
          <a:xfrm rot="5400000">
            <a:off x="3180654" y="3466413"/>
            <a:ext cx="425239" cy="235745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1142976" y="4357694"/>
            <a:ext cx="3643338" cy="50006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PYTHON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916660"/>
            <a:ext cx="16859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3559734"/>
            <a:ext cx="2372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сборки проекта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1988098"/>
            <a:ext cx="1228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571737" y="2916792"/>
            <a:ext cx="22145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Поместите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папку с кодом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715008" y="3559734"/>
            <a:ext cx="22145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Код связывания</a:t>
            </a:r>
            <a:endParaRPr lang="ru-RU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2" y="1988098"/>
            <a:ext cx="4286248" cy="1617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Прямоугольник 19"/>
          <p:cNvSpPr/>
          <p:nvPr/>
        </p:nvSpPr>
        <p:spPr>
          <a:xfrm>
            <a:off x="0" y="407194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работы с функциями С++ необходима встроенная библиотека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ctypes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Она позволяет создавать структуры данных, совместимые с C, и передавать их в функции С++. 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</a:t>
            </a:r>
            <a:r>
              <a:rPr lang="ru-RU" dirty="0" smtClean="0"/>
              <a:t> </a:t>
            </a:r>
            <a:r>
              <a:rPr lang="en-US" dirty="0" smtClean="0"/>
              <a:t>Python: </a:t>
            </a:r>
            <a:r>
              <a:rPr lang="ru-RU" dirty="0" smtClean="0"/>
              <a:t>Структуры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857232"/>
            <a:ext cx="5386471" cy="144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328863"/>
            <a:ext cx="8172685" cy="160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736" y="3578691"/>
            <a:ext cx="5700705" cy="3279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Ошибка версий</a:t>
            </a:r>
            <a:r>
              <a:rPr lang="en-US" dirty="0" smtClean="0"/>
              <a:t>: Python/C++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714488"/>
            <a:ext cx="60293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57224" y="2857496"/>
            <a:ext cx="714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возникновении такой ошибки есть два варианта решения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3429000"/>
            <a:ext cx="46434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Установить версию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другой разрядности</a:t>
            </a:r>
          </a:p>
          <a:p>
            <a:pPr marL="342900" indent="-342900" algn="just">
              <a:buAutoNum type="arabicParenR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Добавить компилятор другой разрядности в С++</a:t>
            </a:r>
          </a:p>
          <a:p>
            <a:pPr marL="342900"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dirty="0" smtClean="0">
                <a:hlinkClick r:id="rId4"/>
              </a:rPr>
              <a:t>https://disk.yandex.ru/d/MAnhEvAipQqGvA</a:t>
            </a:r>
            <a:endParaRPr lang="ru-RU" dirty="0" smtClean="0"/>
          </a:p>
          <a:p>
            <a:pPr marL="342900" indent="-342900" algn="just"/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92867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Основное отличие между 32-битной (x32) и 64-битной (x64) операционными системами заключается в способности работать с оперативной памятью (ОЗУ)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028" name="Picture 4" descr="https://sun9-54.userapi.com/s/v1/ig2/VI7RhAZSzUPrphGi6IigRGDJu0qwmY33bQ_0M9obLW4gVr2rz_DJeLd0SPyCnRTXMtoWlh0GwPJIDH653Bpu1Yj_.jpg?quality=95&amp;as=32x28,48x42,72x63,108x94,160x139,240x209,360x314,480x418,540x471,640x558,720x628,749x653&amp;from=bu&amp;cs=749x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29190" y="3183405"/>
            <a:ext cx="4214811" cy="3674596"/>
          </a:xfrm>
          <a:prstGeom prst="rect">
            <a:avLst/>
          </a:prstGeom>
          <a:noFill/>
        </p:spPr>
      </p:pic>
      <p:cxnSp>
        <p:nvCxnSpPr>
          <p:cNvPr id="12" name="Прямая со стрелкой 11"/>
          <p:cNvCxnSpPr>
            <a:endCxn id="1028" idx="1"/>
          </p:cNvCxnSpPr>
          <p:nvPr/>
        </p:nvCxnSpPr>
        <p:spPr>
          <a:xfrm>
            <a:off x="3286116" y="4214818"/>
            <a:ext cx="1643074" cy="8058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356</Words>
  <Application>Microsoft Office PowerPoint</Application>
  <PresentationFormat>Экран (4:3)</PresentationFormat>
  <Paragraphs>103</Paragraphs>
  <Slides>14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DLL</vt:lpstr>
      <vt:lpstr>Дополнительные материалы</vt:lpstr>
      <vt:lpstr>DLL</vt:lpstr>
      <vt:lpstr>Слайд 4</vt:lpstr>
      <vt:lpstr>DLL: подключение</vt:lpstr>
      <vt:lpstr>DLL: создание</vt:lpstr>
      <vt:lpstr>DLL: создание</vt:lpstr>
      <vt:lpstr>DLL: создание</vt:lpstr>
      <vt:lpstr>Подключение DLL: C++ статическое</vt:lpstr>
      <vt:lpstr>Подключение DLL: C++ динамическое</vt:lpstr>
      <vt:lpstr>Подключение DLL C++: Структуры</vt:lpstr>
      <vt:lpstr>Подключение DLL: PYTHON</vt:lpstr>
      <vt:lpstr>Подключение DLL Python: Структуры</vt:lpstr>
      <vt:lpstr>Ошибка версий: Python/C++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66</cp:revision>
  <dcterms:created xsi:type="dcterms:W3CDTF">2024-02-01T11:07:17Z</dcterms:created>
  <dcterms:modified xsi:type="dcterms:W3CDTF">2026-04-05T11:09:55Z</dcterms:modified>
</cp:coreProperties>
</file>