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2" r:id="rId4"/>
    <p:sldId id="259" r:id="rId5"/>
    <p:sldId id="260" r:id="rId6"/>
    <p:sldId id="261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948EB-607E-42AF-A64B-303EDACA2F8C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6B995-5A6F-4384-9CE5-F8DBA82E862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D31CB-8033-48C1-BE7F-E4E3E112B2B0}" type="datetimeFigureOut">
              <a:rPr lang="ru-RU" smtClean="0"/>
              <a:pPr/>
              <a:t>05.04.2026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1DF2F-5D2D-49A0-B07F-BE6D961DFCF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cpp/tutorial/4.6.php?ysclid=lsz1608awg681344146" TargetMode="External"/><Relationship Id="rId2" Type="http://schemas.openxmlformats.org/officeDocument/2006/relationships/hyperlink" Target="https://pvoid.pro/index.php/articles/11-cplusplus/49-cpp-tutorial-pointer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delessons.dev/ru/dinamicheskie-massivy-i-peremennye-vse-samoe-glavnoe/" TargetMode="External"/><Relationship Id="rId4" Type="http://schemas.openxmlformats.org/officeDocument/2006/relationships/hyperlink" Target="https://pvoid.pro/index.php/articles/11-cplusplus/15-cpp-tutorial-dynamic-memory?ysclid=lsloqg5bnx87792627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Указатели, массивы, динамическая память.</a:t>
            </a:r>
            <a:br>
              <a:rPr lang="ru-RU" dirty="0" smtClean="0"/>
            </a:br>
            <a:r>
              <a:rPr lang="ru-RU" dirty="0" smtClean="0"/>
              <a:t>Структуры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Статья по указателям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dirty="0" smtClean="0">
                <a:latin typeface="Cambria" pitchFamily="18" charset="0"/>
                <a:hlinkClick r:id="rId2"/>
              </a:rPr>
              <a:t>https://pvoid.pro/index.php/articles/11-cplusplus/49-cpp-tutorial-pointers#article-header-9</a:t>
            </a:r>
            <a:endParaRPr lang="en-US" sz="2600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Указатели в параметрах функции</a:t>
            </a:r>
          </a:p>
          <a:p>
            <a:pPr algn="just"/>
            <a:r>
              <a:rPr lang="en-US" sz="2600" dirty="0" smtClean="0">
                <a:latin typeface="Cambria" pitchFamily="18" charset="0"/>
                <a:hlinkClick r:id="rId3"/>
              </a:rPr>
              <a:t>https://metanit.com/cpp/tutorial/4.6.php?ysclid=lsz1608awg681344146</a:t>
            </a:r>
            <a:endParaRPr lang="ru-RU" sz="2600" dirty="0" smtClean="0">
              <a:latin typeface="Cambria" pitchFamily="18" charset="0"/>
            </a:endParaRPr>
          </a:p>
          <a:p>
            <a:pPr algn="just"/>
            <a:endParaRPr lang="ru-RU" sz="2600" dirty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Динамическая память</a:t>
            </a:r>
          </a:p>
          <a:p>
            <a:pPr algn="just"/>
            <a:r>
              <a:rPr lang="en-US" sz="2600" u="sng" dirty="0" smtClean="0">
                <a:latin typeface="Cambria" pitchFamily="18" charset="0"/>
                <a:hlinkClick r:id="rId4"/>
              </a:rPr>
              <a:t>https://pvoid.pro/index.php/articles/11-cplusplus/15-cpp-tutorial-dynamic-memory?ysclid=lsloqg5bnx877926279</a:t>
            </a:r>
            <a:endParaRPr lang="en-US" sz="2600" u="sng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Динамические массивы</a:t>
            </a:r>
          </a:p>
          <a:p>
            <a:pPr algn="just"/>
            <a:r>
              <a:rPr lang="en-US" sz="2600" dirty="0" smtClean="0">
                <a:latin typeface="Cambria" pitchFamily="18" charset="0"/>
                <a:hlinkClick r:id="rId5"/>
              </a:rPr>
              <a:t>https://codelessons.dev/ru/dinamicheskie-massivy-i-peremennye-vse-samoe-glavnoe/</a:t>
            </a:r>
            <a:endParaRPr lang="en-US" sz="2600" dirty="0" smtClean="0">
              <a:latin typeface="Cambria" pitchFamily="18" charset="0"/>
            </a:endParaRPr>
          </a:p>
          <a:p>
            <a:pPr algn="just"/>
            <a:endParaRPr lang="ru-RU" sz="2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14475"/>
            <a:ext cx="7877175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28596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Массивы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7148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Массив в C++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коллекция элементов одного и того же типа данных, сохраняемых в смежных участках памяти. В одной переменной под общим названием хранится несколько элементов, доступ к каждому из которых получается по индексу.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785926"/>
            <a:ext cx="9144000" cy="571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Указатели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Адрес переменной можно получить, поставив перед именем переменной знак амперсанда (</a:t>
            </a:r>
            <a:r>
              <a:rPr lang="ru-RU" sz="2000" b="1" dirty="0" smtClean="0">
                <a:latin typeface="Cambria" pitchFamily="18" charset="0"/>
              </a:rPr>
              <a:t>&amp;</a:t>
            </a:r>
            <a:r>
              <a:rPr lang="ru-RU" sz="2000" dirty="0" smtClean="0">
                <a:latin typeface="Cambria" pitchFamily="18" charset="0"/>
              </a:rPr>
              <a:t>), известный как </a:t>
            </a:r>
            <a:r>
              <a:rPr lang="ru-RU" sz="2000" b="1" dirty="0" smtClean="0">
                <a:latin typeface="Cambria" pitchFamily="18" charset="0"/>
              </a:rPr>
              <a:t>оператор взятия адреса</a:t>
            </a:r>
            <a:r>
              <a:rPr lang="ru-RU" sz="2000" dirty="0" smtClean="0">
                <a:latin typeface="Cambria" pitchFamily="18" charset="0"/>
              </a:rPr>
              <a:t>. Например: </a:t>
            </a:r>
            <a:r>
              <a:rPr lang="en-US" sz="2000" b="1" dirty="0" err="1" smtClean="0">
                <a:latin typeface="Cambria" pitchFamily="18" charset="0"/>
              </a:rPr>
              <a:t>foo</a:t>
            </a:r>
            <a:r>
              <a:rPr lang="en-US" sz="2000" b="1" dirty="0" smtClean="0">
                <a:latin typeface="Cambria" pitchFamily="18" charset="0"/>
              </a:rPr>
              <a:t> = &amp;</a:t>
            </a:r>
            <a:r>
              <a:rPr lang="en-US" sz="2000" b="1" dirty="0" err="1" smtClean="0">
                <a:latin typeface="Cambria" pitchFamily="18" charset="0"/>
              </a:rPr>
              <a:t>myvar</a:t>
            </a:r>
            <a:r>
              <a:rPr lang="en-US" sz="2000" dirty="0" smtClean="0">
                <a:latin typeface="Cambria" pitchFamily="18" charset="0"/>
              </a:rPr>
              <a:t>;</a:t>
            </a:r>
            <a:endParaRPr lang="ru-RU" sz="2000" dirty="0" smtClean="0">
              <a:latin typeface="Cambria" pitchFamily="18" charset="0"/>
            </a:endParaRPr>
          </a:p>
          <a:p>
            <a:pPr algn="just"/>
            <a:r>
              <a:rPr lang="ru-RU" sz="2000" dirty="0" smtClean="0">
                <a:latin typeface="Cambria" pitchFamily="18" charset="0"/>
              </a:rPr>
              <a:t>Переменная, хранящая адрес другой переменной (как </a:t>
            </a:r>
            <a:r>
              <a:rPr lang="ru-RU" sz="2000" b="1" dirty="0" err="1" smtClean="0">
                <a:latin typeface="Cambria" pitchFamily="18" charset="0"/>
              </a:rPr>
              <a:t>foo</a:t>
            </a:r>
            <a:r>
              <a:rPr lang="ru-RU" sz="2000" dirty="0" smtClean="0">
                <a:latin typeface="Cambria" pitchFamily="18" charset="0"/>
              </a:rPr>
              <a:t>), это то, что в C++ называется </a:t>
            </a:r>
            <a:r>
              <a:rPr lang="ru-RU" sz="2000" i="1" dirty="0" smtClean="0">
                <a:latin typeface="Cambria" pitchFamily="18" charset="0"/>
              </a:rPr>
              <a:t>указателем</a:t>
            </a:r>
            <a:r>
              <a:rPr lang="ru-RU" sz="2000" dirty="0" smtClean="0">
                <a:latin typeface="Cambria" pitchFamily="18" charset="0"/>
              </a:rPr>
              <a:t>.</a:t>
            </a:r>
          </a:p>
          <a:p>
            <a:pPr algn="just"/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357430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Интересным свойством указателей является то, что они могут быть использованы для доступа к переменной, на которую они указывают, напрямую. Это делается путём добавления перед именем указателя </a:t>
            </a:r>
            <a:r>
              <a:rPr lang="ru-RU" sz="2000" b="1" i="1" dirty="0" smtClean="0">
                <a:latin typeface="Cambria" pitchFamily="18" charset="0"/>
              </a:rPr>
              <a:t>оператора разыменования</a:t>
            </a:r>
            <a:r>
              <a:rPr lang="ru-RU" sz="2000" b="1" dirty="0" smtClean="0">
                <a:latin typeface="Cambria" pitchFamily="18" charset="0"/>
              </a:rPr>
              <a:t> (*)</a:t>
            </a:r>
            <a:r>
              <a:rPr lang="ru-RU" sz="2000" dirty="0" smtClean="0">
                <a:latin typeface="Cambria" pitchFamily="18" charset="0"/>
              </a:rPr>
              <a:t>. Сам оператор может быть прочтен как «значение, на которое указывает».</a:t>
            </a:r>
            <a:r>
              <a:rPr lang="en-US" sz="2000" dirty="0" smtClean="0">
                <a:latin typeface="Cambria" pitchFamily="18" charset="0"/>
              </a:rPr>
              <a:t> </a:t>
            </a:r>
            <a:endParaRPr lang="ru-RU" sz="2000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924299"/>
            <a:ext cx="6486525" cy="279082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6643702" y="5143512"/>
            <a:ext cx="2311851" cy="70788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firstvalue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10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secondvalue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20 </a:t>
            </a:r>
          </a:p>
        </p:txBody>
      </p:sp>
      <p:cxnSp>
        <p:nvCxnSpPr>
          <p:cNvPr id="8" name="Shape 7"/>
          <p:cNvCxnSpPr>
            <a:endCxn id="1027" idx="0"/>
          </p:cNvCxnSpPr>
          <p:nvPr/>
        </p:nvCxnSpPr>
        <p:spPr>
          <a:xfrm>
            <a:off x="6500826" y="4214818"/>
            <a:ext cx="1298802" cy="928694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42918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C++ позволяет использовать указатели, которые указывают на указатели, которые, в свою очередь, указывают на данные (или даже на другие указатели). Синтаксис просто требует звездочки (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для каждого уровня косвенности в объявлении указателя: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500174"/>
            <a:ext cx="6222646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Указатели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06"/>
            <a:ext cx="8229600" cy="1143000"/>
          </a:xfrm>
        </p:spPr>
        <p:txBody>
          <a:bodyPr/>
          <a:lstStyle/>
          <a:p>
            <a:r>
              <a:rPr lang="ru-RU" b="1" dirty="0" smtClean="0"/>
              <a:t>Указатели в массивах</a:t>
            </a:r>
            <a:endParaRPr lang="ru-RU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928934"/>
            <a:ext cx="7786710" cy="1743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428604"/>
            <a:ext cx="9144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Массив</a:t>
            </a:r>
            <a:r>
              <a:rPr lang="ru-RU" sz="2200" dirty="0" smtClean="0">
                <a:latin typeface="Cambria" pitchFamily="18" charset="0"/>
              </a:rPr>
              <a:t> – это набор однотипных элементов, расположенных в памяти друг за другом, доступ к которым осуществляется по индексу.</a:t>
            </a:r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en-US" sz="2200" dirty="0" smtClean="0">
              <a:latin typeface="Cambria" pitchFamily="18" charset="0"/>
            </a:endParaRPr>
          </a:p>
          <a:p>
            <a:pPr algn="just"/>
            <a:endParaRPr lang="ru-RU" sz="2200" dirty="0" smtClean="0">
              <a:latin typeface="Cambria" pitchFamily="18" charset="0"/>
            </a:endParaRPr>
          </a:p>
          <a:p>
            <a:pPr algn="just"/>
            <a:r>
              <a:rPr lang="ru-RU" sz="2200" dirty="0" smtClean="0">
                <a:latin typeface="Cambria" pitchFamily="18" charset="0"/>
              </a:rPr>
              <a:t>Индексация массива начинается с 0, последний элемент массива длины </a:t>
            </a:r>
            <a:r>
              <a:rPr lang="en-US" sz="2200" dirty="0" smtClean="0">
                <a:latin typeface="Cambria" pitchFamily="18" charset="0"/>
              </a:rPr>
              <a:t>n </a:t>
            </a:r>
            <a:r>
              <a:rPr lang="ru-RU" sz="2200" dirty="0" smtClean="0">
                <a:latin typeface="Cambria" pitchFamily="18" charset="0"/>
              </a:rPr>
              <a:t>имеет индекс </a:t>
            </a:r>
            <a:r>
              <a:rPr lang="en-US" sz="2200" dirty="0" smtClean="0">
                <a:latin typeface="Cambria" pitchFamily="18" charset="0"/>
              </a:rPr>
              <a:t>n-1.</a:t>
            </a:r>
            <a:endParaRPr lang="ru-RU" sz="22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142984"/>
            <a:ext cx="714380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929198"/>
            <a:ext cx="6946980" cy="103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857356" y="457200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Cambria" pitchFamily="18" charset="0"/>
              </a:rPr>
              <a:t>Заполнение массива с помощью указателей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5918" y="5917188"/>
            <a:ext cx="507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Вывод массива на экран</a:t>
            </a:r>
            <a:endParaRPr lang="en-US" dirty="0" smtClean="0">
              <a:latin typeface="Cambria" pitchFamily="18" charset="0"/>
            </a:endParaRPr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6400800"/>
            <a:ext cx="91440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int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SFMono-Regular"/>
                <a:cs typeface="Arial" pitchFamily="34" charset="0"/>
              </a:rPr>
              <a:t>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=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) /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sizeof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(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numbers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[0]); //размер</a:t>
            </a:r>
            <a:r>
              <a:rPr kumimoji="0" lang="ru-RU" sz="2400" b="0" i="0" u="none" strike="noStrike" cap="none" normalizeH="0" dirty="0" smtClean="0">
                <a:ln>
                  <a:noFill/>
                </a:ln>
                <a:effectLst/>
                <a:latin typeface="var(--code-font-family)"/>
                <a:cs typeface="Arial" pitchFamily="34" charset="0"/>
              </a:rPr>
              <a:t> массива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b="1" dirty="0" smtClean="0"/>
              <a:t>Указатели в массивах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Указатели</a:t>
            </a:r>
            <a:r>
              <a:rPr lang="ru-RU" sz="2200" dirty="0" smtClean="0">
                <a:latin typeface="Cambria" pitchFamily="18" charset="0"/>
              </a:rPr>
              <a:t> позволяют передвигаться по массивам с помощью арифметики указателей.</a:t>
            </a:r>
            <a:endParaRPr lang="en-US" sz="2200" dirty="0" smtClean="0">
              <a:latin typeface="Cambria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88"/>
            <a:ext cx="7280225" cy="1223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28596" y="3000372"/>
            <a:ext cx="87154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Cambria" pitchFamily="18" charset="0"/>
              </a:rPr>
              <a:t>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вправо.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(p-k)</a:t>
            </a:r>
            <a:r>
              <a:rPr lang="ru-RU" sz="2400" dirty="0" smtClean="0">
                <a:latin typeface="Cambria" pitchFamily="18" charset="0"/>
              </a:rPr>
              <a:t> – сдвиг на </a:t>
            </a:r>
            <a:r>
              <a:rPr lang="en-US" sz="2400" dirty="0" smtClean="0">
                <a:latin typeface="Cambria" pitchFamily="18" charset="0"/>
              </a:rPr>
              <a:t>k </a:t>
            </a:r>
            <a:r>
              <a:rPr lang="ru-RU" sz="2400" dirty="0" smtClean="0">
                <a:latin typeface="Cambria" pitchFamily="18" charset="0"/>
              </a:rPr>
              <a:t>ячеек типа </a:t>
            </a:r>
            <a:r>
              <a:rPr lang="en-US" sz="2400" dirty="0" err="1" smtClean="0">
                <a:latin typeface="Cambria" pitchFamily="18" charset="0"/>
              </a:rPr>
              <a:t>int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влево.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(q-p)</a:t>
            </a:r>
            <a:r>
              <a:rPr lang="ru-RU" sz="2400" dirty="0" smtClean="0">
                <a:latin typeface="Cambria" pitchFamily="18" charset="0"/>
              </a:rPr>
              <a:t> – количество ячеек между указателями.</a:t>
            </a:r>
            <a:endParaRPr lang="en-US" sz="2400" dirty="0" smtClean="0">
              <a:latin typeface="Cambr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400" dirty="0" smtClean="0">
                <a:latin typeface="Cambria" pitchFamily="18" charset="0"/>
              </a:rPr>
              <a:t>p[k]</a:t>
            </a:r>
            <a:r>
              <a:rPr lang="ru-RU" sz="2400" dirty="0" smtClean="0">
                <a:latin typeface="Cambria" pitchFamily="18" charset="0"/>
              </a:rPr>
              <a:t> эквивалентно *(</a:t>
            </a:r>
            <a:r>
              <a:rPr lang="en-US" sz="2400" dirty="0" err="1" smtClean="0">
                <a:latin typeface="Cambria" pitchFamily="18" charset="0"/>
              </a:rPr>
              <a:t>p+k</a:t>
            </a:r>
            <a:r>
              <a:rPr lang="ru-RU" sz="2400" dirty="0" smtClean="0">
                <a:latin typeface="Cambria" pitchFamily="18" charset="0"/>
              </a:rPr>
              <a:t>) 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" y="471488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Cambria" pitchFamily="18" charset="0"/>
              </a:rPr>
              <a:t>Примечания</a:t>
            </a:r>
            <a:r>
              <a:rPr lang="ru-RU" sz="2400" dirty="0" smtClean="0">
                <a:latin typeface="Cambria" pitchFamily="18" charset="0"/>
              </a:rPr>
              <a:t>: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для генерирования значения массива используйте </a:t>
            </a:r>
            <a:r>
              <a:rPr lang="en-US" sz="2400" dirty="0" smtClean="0">
                <a:latin typeface="Cambria" pitchFamily="18" charset="0"/>
              </a:rPr>
              <a:t>rand(): </a:t>
            </a:r>
            <a:br>
              <a:rPr lang="en-US" sz="2400" dirty="0" smtClean="0">
                <a:latin typeface="Cambria" pitchFamily="18" charset="0"/>
              </a:rPr>
            </a:br>
            <a:r>
              <a:rPr lang="en-US" sz="2400" dirty="0" err="1" smtClean="0">
                <a:latin typeface="Cambria" pitchFamily="18" charset="0"/>
              </a:rPr>
              <a:t>arr</a:t>
            </a:r>
            <a:r>
              <a:rPr lang="en-US" sz="2400" dirty="0" smtClean="0">
                <a:latin typeface="Cambria" pitchFamily="18" charset="0"/>
              </a:rPr>
              <a:t>[</a:t>
            </a:r>
            <a:r>
              <a:rPr lang="en-US" sz="2400" dirty="0" err="1" smtClean="0">
                <a:latin typeface="Cambria" pitchFamily="18" charset="0"/>
              </a:rPr>
              <a:t>i</a:t>
            </a:r>
            <a:r>
              <a:rPr lang="en-US" sz="2400" dirty="0" smtClean="0">
                <a:latin typeface="Cambria" pitchFamily="18" charset="0"/>
              </a:rPr>
              <a:t>] = </a:t>
            </a:r>
            <a:r>
              <a:rPr lang="ru-RU" sz="2400" i="1" dirty="0" smtClean="0">
                <a:latin typeface="Cambria" pitchFamily="18" charset="0"/>
              </a:rPr>
              <a:t>граница1</a:t>
            </a:r>
            <a:r>
              <a:rPr lang="en-US" sz="2400" dirty="0" smtClean="0">
                <a:latin typeface="Cambria" pitchFamily="18" charset="0"/>
              </a:rPr>
              <a:t>+ rand() % </a:t>
            </a:r>
            <a:r>
              <a:rPr lang="ru-RU" sz="2400" i="1" dirty="0" smtClean="0">
                <a:latin typeface="Cambria" pitchFamily="18" charset="0"/>
              </a:rPr>
              <a:t>граница2</a:t>
            </a:r>
            <a:r>
              <a:rPr lang="en-US" sz="2400" dirty="0" smtClean="0">
                <a:latin typeface="Cambria" pitchFamily="18" charset="0"/>
              </a:rPr>
              <a:t>;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для поиска максимального и минимального элемента можете использовать библиотеку: </a:t>
            </a:r>
            <a:r>
              <a:rPr lang="en-US" sz="2400" b="1" dirty="0" smtClean="0">
                <a:latin typeface="Cambria" pitchFamily="18" charset="0"/>
              </a:rPr>
              <a:t>#include &lt;algorithm&gt;</a:t>
            </a:r>
            <a:endParaRPr lang="ru-RU" sz="2400" b="1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35721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Передача параметра в функцию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86314" y="605363"/>
            <a:ext cx="4286280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Cambria" pitchFamily="18" charset="0"/>
              </a:rPr>
              <a:t>Передача аргумента по значению </a:t>
            </a:r>
            <a:r>
              <a:rPr lang="ru-RU" sz="1600" dirty="0" smtClean="0">
                <a:latin typeface="Cambria" pitchFamily="18" charset="0"/>
              </a:rPr>
              <a:t>означает, что при вызове функции</a:t>
            </a:r>
            <a:r>
              <a:rPr lang="en-US" sz="1600" dirty="0" smtClean="0">
                <a:latin typeface="Cambria" pitchFamily="18" charset="0"/>
              </a:rPr>
              <a:t> </a:t>
            </a:r>
            <a:r>
              <a:rPr lang="ru-RU" sz="1600" dirty="0" smtClean="0">
                <a:latin typeface="Cambria" pitchFamily="18" charset="0"/>
              </a:rPr>
              <a:t>изменения, которые происходят с аргументом внутри функции, не влияют на исходные значения аргументов.</a:t>
            </a:r>
            <a:endParaRPr lang="ru-RU" sz="1600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786314" y="2000240"/>
            <a:ext cx="4286248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Cambria" pitchFamily="18" charset="0"/>
              </a:rPr>
              <a:t>Передача с использованием указателя </a:t>
            </a:r>
            <a:r>
              <a:rPr lang="ru-RU" sz="1600" dirty="0" smtClean="0">
                <a:latin typeface="Cambria" pitchFamily="18" charset="0"/>
              </a:rPr>
              <a:t>позволяет функции работать непосредственно с оригиналом аргумента, а не с его копией. Это может быть полезно, когда необходимо изменить значение аргумента внутри функции или когда аргумент является очень большим и создание его копии может занимать много времени и памяти.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86314" y="4357695"/>
            <a:ext cx="4286248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Cambria" pitchFamily="18" charset="0"/>
              </a:rPr>
              <a:t>Передача аргумента по ссылке </a:t>
            </a:r>
            <a:r>
              <a:rPr lang="ru-RU" sz="1600" dirty="0" smtClean="0">
                <a:latin typeface="Cambria" pitchFamily="18" charset="0"/>
              </a:rPr>
              <a:t>позволяет функции работать с оригиналом аргумента, а не с его копией, но в отличие от передачи через указатель, создается ссылка на аргумент</a:t>
            </a:r>
            <a:r>
              <a:rPr lang="en-US" sz="1600" dirty="0" smtClean="0">
                <a:latin typeface="Cambria" pitchFamily="18" charset="0"/>
              </a:rPr>
              <a:t> (</a:t>
            </a:r>
            <a:r>
              <a:rPr lang="ru-RU" sz="1600" dirty="0" smtClean="0">
                <a:latin typeface="Cambria" pitchFamily="18" charset="0"/>
              </a:rPr>
              <a:t>ссылка имеет тот же адрес в памяти, что и элемент, на который она ссылается</a:t>
            </a:r>
            <a:r>
              <a:rPr lang="en-US" sz="1600" dirty="0" smtClean="0">
                <a:latin typeface="Cambria" pitchFamily="18" charset="0"/>
              </a:rPr>
              <a:t>)</a:t>
            </a:r>
            <a:r>
              <a:rPr lang="ru-RU" sz="1600" dirty="0" smtClean="0">
                <a:latin typeface="Cambria" pitchFamily="18" charset="0"/>
              </a:rPr>
              <a:t>. Любые изменения, которые произойдут с аргументом внутри функции, будут отражаться на оригинальном аргументе в вызывающем коде.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6673"/>
            <a:ext cx="4786314" cy="622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Скругленная соединительная линия 12"/>
          <p:cNvCxnSpPr/>
          <p:nvPr/>
        </p:nvCxnSpPr>
        <p:spPr>
          <a:xfrm rot="10800000">
            <a:off x="2500298" y="1357298"/>
            <a:ext cx="2286016" cy="1588"/>
          </a:xfrm>
          <a:prstGeom prst="curved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10800000">
            <a:off x="2714612" y="2285992"/>
            <a:ext cx="2071702" cy="1588"/>
          </a:xfrm>
          <a:prstGeom prst="curved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16200000" flipV="1">
            <a:off x="2536017" y="3464719"/>
            <a:ext cx="2571768" cy="1928826"/>
          </a:xfrm>
          <a:prstGeom prst="curvedConnector3">
            <a:avLst>
              <a:gd name="adj1" fmla="val 98395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5072074"/>
            <a:ext cx="221981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2357422" y="4988494"/>
            <a:ext cx="2423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latin typeface="Cambria" pitchFamily="18" charset="0"/>
              </a:rPr>
              <a:t>;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357422" y="5519338"/>
            <a:ext cx="2423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latin typeface="Cambria" pitchFamily="18" charset="0"/>
              </a:rPr>
              <a:t>;</a:t>
            </a:r>
            <a:endParaRPr lang="ru-RU" sz="16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2357422" y="6090842"/>
            <a:ext cx="2143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ambria" pitchFamily="18" charset="0"/>
              </a:rPr>
              <a:t>;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Передача массива в функцию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Передача массива в функцию может осуществляться по указателю на нулевой элемент, с дополнительной информацией о количестве элементов в массиве.</a:t>
            </a:r>
            <a:endParaRPr lang="en-US" sz="2400" dirty="0" smtClean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281212"/>
            <a:ext cx="5675470" cy="2433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4381784"/>
            <a:ext cx="7286644" cy="2476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214282" y="5143512"/>
            <a:ext cx="450059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Стек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работает с переменными по схеме LIFO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Управление стеком происходит автоматически. Стек работает очень быстро, но имеет ограниченный размер.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929190" y="5143512"/>
            <a:ext cx="407196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Куча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хранить объекты в произвольном месте, создавать и удалять их в произвольном порядке. Объекты из кучи не удаляются автоматически.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25"/>
          <p:cNvGrpSpPr/>
          <p:nvPr/>
        </p:nvGrpSpPr>
        <p:grpSpPr>
          <a:xfrm>
            <a:off x="1714480" y="142852"/>
            <a:ext cx="5786478" cy="4924321"/>
            <a:chOff x="1928794" y="862132"/>
            <a:chExt cx="5786478" cy="4924321"/>
          </a:xfrm>
          <a:solidFill>
            <a:schemeClr val="accent3">
              <a:lumMod val="20000"/>
              <a:lumOff val="80000"/>
            </a:schemeClr>
          </a:solidFill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887546" y="1071546"/>
              <a:ext cx="1827726" cy="4613158"/>
            </a:xfrm>
            <a:prstGeom prst="rect">
              <a:avLst/>
            </a:prstGeom>
            <a:grp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28794" y="862132"/>
              <a:ext cx="2214578" cy="4924321"/>
            </a:xfrm>
            <a:prstGeom prst="rect">
              <a:avLst/>
            </a:prstGeom>
            <a:grp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cxnSp>
          <p:nvCxnSpPr>
            <p:cNvPr id="14" name="Прямая со стрелкой 13"/>
            <p:cNvCxnSpPr/>
            <p:nvPr/>
          </p:nvCxnSpPr>
          <p:spPr>
            <a:xfrm>
              <a:off x="4143372" y="2071678"/>
              <a:ext cx="1928826" cy="1588"/>
            </a:xfrm>
            <a:prstGeom prst="straightConnector1">
              <a:avLst/>
            </a:prstGeom>
            <a:grpFill/>
            <a:ln w="158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4071934" y="3214686"/>
              <a:ext cx="2000264" cy="1588"/>
            </a:xfrm>
            <a:prstGeom prst="straightConnector1">
              <a:avLst/>
            </a:prstGeom>
            <a:grpFill/>
            <a:ln w="158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Скругленная соединительная линия 27"/>
          <p:cNvCxnSpPr>
            <a:stCxn id="10" idx="1"/>
            <a:endCxn id="1030" idx="1"/>
          </p:cNvCxnSpPr>
          <p:nvPr/>
        </p:nvCxnSpPr>
        <p:spPr>
          <a:xfrm rot="10800000" flipH="1">
            <a:off x="214282" y="2605014"/>
            <a:ext cx="1500198" cy="3277163"/>
          </a:xfrm>
          <a:prstGeom prst="curvedConnector3">
            <a:avLst>
              <a:gd name="adj1" fmla="val -7619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кругленная соединительная линия 30"/>
          <p:cNvCxnSpPr>
            <a:stCxn id="11" idx="3"/>
            <a:endCxn id="1029" idx="3"/>
          </p:cNvCxnSpPr>
          <p:nvPr/>
        </p:nvCxnSpPr>
        <p:spPr>
          <a:xfrm flipH="1" flipV="1">
            <a:off x="7500958" y="2658845"/>
            <a:ext cx="1500198" cy="3223331"/>
          </a:xfrm>
          <a:prstGeom prst="curvedConnector3">
            <a:avLst>
              <a:gd name="adj1" fmla="val -4233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/>
          <p:cNvSpPr/>
          <p:nvPr/>
        </p:nvSpPr>
        <p:spPr>
          <a:xfrm>
            <a:off x="3929058" y="714356"/>
            <a:ext cx="1714512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*x= 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(10);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4000528" y="1690204"/>
            <a:ext cx="1643042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объект класса</a:t>
            </a: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Player *p = new Player();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1"/>
          <p:cNvGrpSpPr/>
          <p:nvPr/>
        </p:nvGrpSpPr>
        <p:grpSpPr>
          <a:xfrm>
            <a:off x="-32" y="214290"/>
            <a:ext cx="9144032" cy="4143404"/>
            <a:chOff x="0" y="1071546"/>
            <a:chExt cx="9144032" cy="4143404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0" y="1071546"/>
              <a:ext cx="9144000" cy="414340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857628"/>
              <a:ext cx="9144032" cy="1214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254684"/>
              <a:ext cx="9144000" cy="2531506"/>
            </a:xfrm>
            <a:prstGeom prst="rect">
              <a:avLst/>
            </a:prstGeom>
            <a:noFill/>
            <a:ln w="1587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</p:grpSp>
      <p:sp>
        <p:nvSpPr>
          <p:cNvPr id="13" name="Прямоугольник 12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  <a:ln w="25400" cap="rnd">
            <a:solidFill>
              <a:srgbClr val="C00000"/>
            </a:solidFill>
            <a:beve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Примечание</a:t>
            </a:r>
            <a:r>
              <a:rPr lang="ru-RU" sz="2400" i="1" dirty="0" smtClean="0">
                <a:latin typeface="Cambria" pitchFamily="18" charset="0"/>
              </a:rPr>
              <a:t>: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Размер указателя </a:t>
            </a:r>
            <a:r>
              <a:rPr lang="ru-RU" sz="2400" b="1" i="1" u="sng" dirty="0" smtClean="0">
                <a:latin typeface="Cambria" pitchFamily="18" charset="0"/>
              </a:rPr>
              <a:t>ВСЕГДА</a:t>
            </a:r>
            <a:r>
              <a:rPr lang="ru-RU" sz="2400" b="1" i="1" dirty="0" smtClean="0">
                <a:latin typeface="Cambria" pitchFamily="18" charset="0"/>
              </a:rPr>
              <a:t> либо 4, либо 8 байтов;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Само значение указателя – это адрес памяти, в котором размещена переменная определенного типа;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Сам указатель размещен в </a:t>
            </a:r>
            <a:r>
              <a:rPr lang="en-US" sz="2400" b="1" i="1" u="sng" dirty="0" smtClean="0">
                <a:latin typeface="Cambria" pitchFamily="18" charset="0"/>
              </a:rPr>
              <a:t>Stack</a:t>
            </a:r>
            <a:r>
              <a:rPr lang="en-US" sz="2400" b="1" i="1" dirty="0" smtClean="0">
                <a:latin typeface="Cambria" pitchFamily="18" charset="0"/>
              </a:rPr>
              <a:t>, </a:t>
            </a:r>
            <a:r>
              <a:rPr lang="ru-RU" sz="2400" b="1" i="1" dirty="0" smtClean="0">
                <a:latin typeface="Cambria" pitchFamily="18" charset="0"/>
              </a:rPr>
              <a:t>но указывает на адрес в </a:t>
            </a:r>
            <a:r>
              <a:rPr lang="en-US" sz="2400" b="1" i="1" u="sng" dirty="0" smtClean="0">
                <a:latin typeface="Cambria" pitchFamily="18" charset="0"/>
              </a:rPr>
              <a:t>Heap</a:t>
            </a:r>
            <a:r>
              <a:rPr lang="ru-RU" sz="2400" b="1" i="1" dirty="0" smtClean="0">
                <a:latin typeface="Cambria" pitchFamily="18" charset="0"/>
              </a:rPr>
              <a:t>.</a:t>
            </a:r>
            <a:endParaRPr lang="ru-RU" sz="2400" b="1" i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Выделение памяти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37147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Язык С++ предоставляет два набора операторов для выделения памяти: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</a:t>
            </a:r>
            <a:r>
              <a:rPr lang="en-US" sz="2400" b="1" dirty="0" smtClean="0">
                <a:latin typeface="Cambria" pitchFamily="18" charset="0"/>
              </a:rPr>
              <a:t>new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 – для одиночных значений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</a:t>
            </a:r>
            <a:r>
              <a:rPr lang="en-US" sz="2400" b="1" dirty="0" smtClean="0">
                <a:latin typeface="Cambria" pitchFamily="18" charset="0"/>
              </a:rPr>
              <a:t>new[]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delete[]</a:t>
            </a:r>
            <a:r>
              <a:rPr lang="ru-RU" sz="2400" dirty="0" smtClean="0">
                <a:latin typeface="Cambria" pitchFamily="18" charset="0"/>
              </a:rPr>
              <a:t> – для массивов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350043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2400" dirty="0" smtClean="0">
                <a:latin typeface="Cambria" pitchFamily="18" charset="0"/>
              </a:rPr>
              <a:t>Операция </a:t>
            </a:r>
            <a:r>
              <a:rPr lang="ru-RU" altLang="ru-RU" sz="2400" i="1" dirty="0" err="1" smtClean="0">
                <a:latin typeface="Cambria" pitchFamily="18" charset="0"/>
              </a:rPr>
              <a:t>delete</a:t>
            </a:r>
            <a:r>
              <a:rPr lang="ru-RU" altLang="ru-RU" sz="2400" i="1" dirty="0" smtClean="0">
                <a:latin typeface="Cambria" pitchFamily="18" charset="0"/>
              </a:rPr>
              <a:t> </a:t>
            </a:r>
            <a:r>
              <a:rPr lang="ru-RU" altLang="ru-RU" sz="2400" dirty="0" smtClean="0">
                <a:latin typeface="Cambria" pitchFamily="18" charset="0"/>
              </a:rPr>
              <a:t>освобождает для дальнейшего использования в программе участок памяти, ранее выделенной операцией </a:t>
            </a:r>
            <a:r>
              <a:rPr lang="ru-RU" altLang="ru-RU" sz="2400" i="1" dirty="0" err="1" smtClean="0">
                <a:latin typeface="Cambria" pitchFamily="18" charset="0"/>
              </a:rPr>
              <a:t>new</a:t>
            </a:r>
            <a:r>
              <a:rPr lang="ru-RU" altLang="ru-RU" sz="2400" dirty="0" smtClean="0">
                <a:latin typeface="Cambria" pitchFamily="18" charset="0"/>
              </a:rPr>
              <a:t>.</a:t>
            </a:r>
            <a:endParaRPr lang="ru-RU" sz="2400" dirty="0" smtClean="0">
              <a:latin typeface="Cambria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1071546"/>
            <a:ext cx="5286380" cy="22479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273080"/>
            <a:ext cx="5162538" cy="25849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b="1" dirty="0"/>
              <a:t>Выделение памяти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Алгоритм </a:t>
            </a:r>
            <a:r>
              <a:rPr lang="ru-RU" sz="2400" dirty="0" err="1" smtClean="0">
                <a:latin typeface="Cambria" pitchFamily="18" charset="0"/>
              </a:rPr>
              <a:t>перевыделения</a:t>
            </a:r>
            <a:r>
              <a:rPr lang="ru-RU" sz="2400" dirty="0" smtClean="0">
                <a:latin typeface="Cambria" pitchFamily="18" charset="0"/>
              </a:rPr>
              <a:t> памяти для одномерного массива в С++ может быть следующим: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1) Создайте новый массив с помощью оператора </a:t>
            </a:r>
            <a:r>
              <a:rPr lang="ru-RU" sz="2400" dirty="0" err="1" smtClean="0">
                <a:latin typeface="Cambria" pitchFamily="18" charset="0"/>
              </a:rPr>
              <a:t>new</a:t>
            </a:r>
            <a:r>
              <a:rPr lang="ru-RU" sz="2400" dirty="0" smtClean="0">
                <a:latin typeface="Cambria" pitchFamily="18" charset="0"/>
              </a:rPr>
              <a:t>, указав новый размер.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2)Скопируйте элементы из старого массива в новый</a:t>
            </a:r>
            <a:r>
              <a:rPr lang="en-US" sz="2400" dirty="0" smtClean="0">
                <a:latin typeface="Cambria" pitchFamily="18" charset="0"/>
              </a:rPr>
              <a:t>, </a:t>
            </a:r>
            <a:r>
              <a:rPr lang="ru-RU" sz="2400" dirty="0" smtClean="0">
                <a:latin typeface="Cambria" pitchFamily="18" charset="0"/>
              </a:rPr>
              <a:t>учитывая условия задачи.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3) Удалите старый массив с помощью оператора </a:t>
            </a:r>
            <a:r>
              <a:rPr lang="ru-RU" sz="2400" dirty="0" err="1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.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3814" y="3714752"/>
            <a:ext cx="9110186" cy="193899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new_size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= ...; // Определите новый размер здесь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*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newArray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=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new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[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new_size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];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…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for (int i = 0; i &lt; size; i++) { newArray[i] = array[i]; 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delete []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array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//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array =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newArray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85720" y="5610541"/>
            <a:ext cx="8572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Полное копирование старого массива в новый/временный</a:t>
            </a:r>
            <a:endParaRPr lang="ru-RU" sz="24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Двумерный</a:t>
            </a:r>
            <a:r>
              <a:rPr kumimoji="0" lang="ru-RU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массив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4360" y="928670"/>
            <a:ext cx="7342416" cy="428628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1428728" y="5143512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Определение матрицы с использованием двойного указателя</a:t>
            </a:r>
            <a:endParaRPr lang="ru-RU" sz="2400" dirty="0">
              <a:latin typeface="Cambria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5929330"/>
            <a:ext cx="3562350" cy="419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6000760" y="6211669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побочной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211669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главной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b="1" dirty="0"/>
              <a:t>Двумерный массив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428728" y="4643446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Функции для выделения и высвобождения памяти для матрицы </a:t>
            </a:r>
            <a:endParaRPr lang="ru-RU" sz="2400" dirty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718598"/>
            <a:ext cx="8201032" cy="40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714488"/>
            <a:ext cx="7429552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857232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>
                <a:latin typeface="Cambria" pitchFamily="18" charset="0"/>
              </a:rPr>
              <a:t>Структуры</a:t>
            </a:r>
            <a:r>
              <a:rPr lang="ru-RU" sz="2600" dirty="0" smtClean="0">
                <a:latin typeface="Cambria" pitchFamily="18" charset="0"/>
              </a:rPr>
              <a:t> – это способ синтаксически (и физически) сгруппировать логически связанные данные.</a:t>
            </a:r>
            <a:endParaRPr lang="ru-RU" sz="2600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/>
          <a:lstStyle/>
          <a:p>
            <a:r>
              <a:rPr lang="ru-RU" dirty="0" smtClean="0"/>
              <a:t>Структуры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2428868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Доступ к полям структуры  осуществляется через оператор «.»</a:t>
            </a:r>
            <a:endParaRPr lang="ru-RU" sz="2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5000636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Для указателей на структуры используется «-</a:t>
            </a:r>
            <a:r>
              <a:rPr lang="en-US" sz="2600" dirty="0" smtClean="0">
                <a:latin typeface="Cambria" pitchFamily="18" charset="0"/>
              </a:rPr>
              <a:t>&gt;</a:t>
            </a:r>
            <a:r>
              <a:rPr lang="ru-RU" sz="2600" dirty="0" smtClean="0">
                <a:latin typeface="Cambria" pitchFamily="18" charset="0"/>
              </a:rPr>
              <a:t>»</a:t>
            </a:r>
            <a:endParaRPr lang="ru-RU" sz="26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3286124"/>
            <a:ext cx="5919799" cy="176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5420092"/>
            <a:ext cx="6257939" cy="1437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0"/>
            <a:ext cx="4500594" cy="2533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428604"/>
            <a:ext cx="9144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Поля структуры можно инициализировать подобно массивам.</a:t>
            </a:r>
            <a:endParaRPr lang="ru-RU" sz="2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2928934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Cambria" pitchFamily="18" charset="0"/>
              </a:rPr>
              <a:t>Структуры могут хранить переменные разных типов</a:t>
            </a:r>
            <a:endParaRPr lang="ru-RU" sz="2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57298"/>
            <a:ext cx="88868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29000"/>
            <a:ext cx="888682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148638" cy="4871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500702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dirty="0" smtClean="0">
                <a:latin typeface="Cambria" pitchFamily="18" charset="0"/>
              </a:rPr>
              <a:t>Динамический массив структур</a:t>
            </a:r>
            <a:endParaRPr lang="ru-RU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664845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842011"/>
            <a:ext cx="6000760" cy="258698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Перечисления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729</Words>
  <Application>Microsoft Office PowerPoint</Application>
  <PresentationFormat>Экран (4:3)</PresentationFormat>
  <Paragraphs>92</Paragraphs>
  <Slides>20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Указатели, массивы, динамическая память. Структуры</vt:lpstr>
      <vt:lpstr>Дополнительные материалы</vt:lpstr>
      <vt:lpstr>Массивы</vt:lpstr>
      <vt:lpstr>Указатели</vt:lpstr>
      <vt:lpstr>Слайд 5</vt:lpstr>
      <vt:lpstr>Указатели в массивах</vt:lpstr>
      <vt:lpstr>Слайд 7</vt:lpstr>
      <vt:lpstr>Слайд 8</vt:lpstr>
      <vt:lpstr>Слайд 9</vt:lpstr>
      <vt:lpstr>Слайд 10</vt:lpstr>
      <vt:lpstr>Слайд 11</vt:lpstr>
      <vt:lpstr>Выделение памяти</vt:lpstr>
      <vt:lpstr>Слайд 13</vt:lpstr>
      <vt:lpstr>Слайд 14</vt:lpstr>
      <vt:lpstr>Слайд 15</vt:lpstr>
      <vt:lpstr>Структуры</vt:lpstr>
      <vt:lpstr>Слайд 17</vt:lpstr>
      <vt:lpstr>Слайд 18</vt:lpstr>
      <vt:lpstr>Слайд 19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</cp:revision>
  <dcterms:created xsi:type="dcterms:W3CDTF">2026-04-03T21:18:47Z</dcterms:created>
  <dcterms:modified xsi:type="dcterms:W3CDTF">2026-04-05T11:03:14Z</dcterms:modified>
</cp:coreProperties>
</file>