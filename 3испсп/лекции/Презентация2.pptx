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A44E6-5E4A-463D-9D6A-EA4CAD3F5C9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16B94-1718-4F1F-9734-AEBD7CFB818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ozhzhaev.ru/learn/cpp/classes_objects" TargetMode="External"/><Relationship Id="rId2" Type="http://schemas.openxmlformats.org/officeDocument/2006/relationships/hyperlink" Target="https://education.yandex.ru/handbook/cpp/article/classes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yzzet.ru/a/inheritance-and-polymorphism/" TargetMode="External"/><Relationship Id="rId5" Type="http://schemas.openxmlformats.org/officeDocument/2006/relationships/hyperlink" Target="https://metanit.com/cpp/tutorial/8.4.php?ysclid=luqyjvqmnf874789181" TargetMode="External"/><Relationship Id="rId4" Type="http://schemas.openxmlformats.org/officeDocument/2006/relationships/hyperlink" Target="https://metanit.com/cpp/tutorial/5.7.php?ysclid=lt1nhdlcmk35513722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ООП в </a:t>
            </a:r>
            <a:r>
              <a:rPr lang="en-US" dirty="0" smtClean="0"/>
              <a:t>C++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346291"/>
            <a:ext cx="9144000" cy="694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Классы С++</a:t>
            </a:r>
          </a:p>
          <a:p>
            <a:pPr algn="just"/>
            <a:r>
              <a:rPr lang="en-US" sz="2500" b="1" dirty="0" smtClean="0">
                <a:latin typeface="Cambria" pitchFamily="18" charset="0"/>
                <a:hlinkClick r:id="rId2"/>
              </a:rPr>
              <a:t>https://education.yandex.ru/handbook/cpp/article/classes</a:t>
            </a: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Классы и объекты в С++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https://vozhzhaev.ru/learn/cpp/classes_objects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Статические поля и функции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4"/>
              </a:rPr>
              <a:t>https://metanit.com/cpp/tutorial/5.7.php?ysclid=lt1nhdlcmk355137226</a:t>
            </a:r>
            <a:endParaRPr lang="en-US" sz="2600" b="1" dirty="0" smtClean="0">
              <a:latin typeface="Cambria" pitchFamily="18" charset="0"/>
            </a:endParaRPr>
          </a:p>
          <a:p>
            <a:pPr algn="just"/>
            <a:endParaRPr lang="en-US" sz="2600" b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Перегрузка операторов ввода/вывода в С++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b="1" dirty="0" smtClean="0">
                <a:latin typeface="Cambria" pitchFamily="18" charset="0"/>
                <a:hlinkClick r:id="rId5"/>
              </a:rPr>
              <a:t>https://</a:t>
            </a:r>
            <a:r>
              <a:rPr lang="en-US" sz="2600" b="1" dirty="0" smtClean="0">
                <a:latin typeface="Cambria" pitchFamily="18" charset="0"/>
                <a:hlinkClick r:id="rId5"/>
              </a:rPr>
              <a:t>metanit.com/cpp/tutorial/8.4.php?ysclid=luqyjvqmnf874789181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b="1" dirty="0" smtClean="0">
              <a:latin typeface="Cambria" pitchFamily="18" charset="0"/>
            </a:endParaRPr>
          </a:p>
          <a:p>
            <a:pPr algn="just"/>
            <a:r>
              <a:rPr lang="ru-RU" sz="2800" i="1" dirty="0" smtClean="0">
                <a:latin typeface="Cambria" pitchFamily="18" charset="0"/>
              </a:rPr>
              <a:t>Наследование и полиморфизм в С++</a:t>
            </a:r>
          </a:p>
          <a:p>
            <a:pPr algn="just"/>
            <a:r>
              <a:rPr lang="en-US" sz="2800" b="1" dirty="0" smtClean="0">
                <a:latin typeface="Cambria" pitchFamily="18" charset="0"/>
                <a:hlinkClick r:id="rId6"/>
              </a:rPr>
              <a:t>https://dyzzet.ru/a/inheritance-and-polymorphism/</a:t>
            </a:r>
            <a:endParaRPr lang="en-US" sz="2800" b="1" dirty="0" smtClean="0">
              <a:latin typeface="Cambria" pitchFamily="18" charset="0"/>
            </a:endParaRPr>
          </a:p>
          <a:p>
            <a:pPr algn="just"/>
            <a:endParaRPr lang="ru-RU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Понятие класса и объекта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857232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Язык программирования 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++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является объектно-ориентированным языком, поэтому он подходит для создания решений на основе классов.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Описанием объекта является класс, а сам объект представляет экземпляр этого класса. Представьте себе человека как класс, где имя, возраст и другие характеристики являются атрибутами. Каждый человек является экземпляром этого класса и представляет собой уникальный объект с определёнными значениями атрибутов.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Класс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Поле класса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данные, содержащиеся внутри класса.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Методы класса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функции, входящие в состав класса.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4390460"/>
            <a:ext cx="7143788" cy="246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Модификаторы доступности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182079"/>
            <a:ext cx="34289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ublic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Указывает, что члены класса доступны из любой части программы. Данные и функции, объявленные 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могут быть доступны всем другим классам и функциям.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rivate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Указывает, что члены класса доступны только внутри класса. Они не могут быть доступны производным классам или другим частям программы.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rotected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Указывает, что члены класса доступны внутри класса и в производных (дочерних) классах, но не извне.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1856220"/>
            <a:ext cx="5643570" cy="5001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языке программирования C++ для классов используются модификаторы доступности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modifiers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которые определяют, какие члены класса (данные и функции) доступны для других классов и функций, а какие нет. В C++ доступны три основных модификатора: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Массив объектов класса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40973"/>
            <a:ext cx="6858048" cy="503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0004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Массив объектов класса в C++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последовательная коллекция объектов одного типа класса, расположенных в непрерывном отрезке памяти. Каждый элемент массива — экземпляр класса, который обладает своими атрибутами и методами.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6286520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Массив объектов</a:t>
            </a:r>
            <a:endParaRPr lang="ru-RU" sz="2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Статические поля</a:t>
            </a:r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2672784"/>
            <a:ext cx="5272100" cy="418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0004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поля — это переменные, общие для всех объектов класса. Они нужны для: хранения данных, относящихся ко всему классу, а не к конкретным объектам; учёта количества созданных объектов; общих настроек или конфигураций для всех объектов.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методы — это функции, работающие со статическими полями.     Могут обращаться непосредственно только к статическим полям и вызывать только другие статические методы класса, поскольку им не передаётся скрытый указатель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Обращение к статическим методам производится так же, как к статическим полям — либо через имя класса, либо, если хотя бы один объект класса уже создан, через имя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3000372"/>
            <a:ext cx="37147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поля нельзя инициализировать в теле класса, а также в методах. Статические поля должны инициализироваться аналогично глобальным переменным в области видимости файла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Структура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ru-RU" b="1" dirty="0" smtClean="0"/>
              <a:t>Класс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Структура — это определяемый пользователем тип данных, используемый для хранения разнородных типов данных.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объявляет его. С другой стороны, класс — это также определяемый пользователем тип данных для хранения данных разных типов.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обозначает это.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Однако основное различие между ними заключается в том, что класс скрывает детали реализации своих членов и по умолчанию делает все члены класса закрытыми, тогда как структура не скрывает детали реализации своих членов и по умолчанию делает все свои члены открытыми.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C++ структуры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могут выступать в качестве полей (членов данных) класса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распространённая практика для группировки связанных данных внутри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57525"/>
            <a:ext cx="559117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3429000"/>
            <a:ext cx="23050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Перегрузка</a:t>
            </a:r>
            <a:r>
              <a:rPr kumimoji="0" lang="ru-RU" sz="4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функций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193899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Перегрузка функций в C++ позволяет определить несколько функций с одинаковым именем, но с разными списками аргументов. Это полезно, когда вы хотите, чтобы одна и та же функция выполняла разные действия в зависимости от типа или количества аргументов, которые она получает. </a:t>
            </a:r>
            <a:endParaRPr lang="en-US" sz="2400" dirty="0" smtClean="0">
              <a:latin typeface="Cambria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000372"/>
            <a:ext cx="5256301" cy="385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hape 5"/>
          <p:cNvCxnSpPr>
            <a:endCxn id="2050" idx="3"/>
          </p:cNvCxnSpPr>
          <p:nvPr/>
        </p:nvCxnSpPr>
        <p:spPr>
          <a:xfrm rot="5400000">
            <a:off x="6807248" y="3163906"/>
            <a:ext cx="2000252" cy="1530309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hape 6"/>
          <p:cNvCxnSpPr>
            <a:endCxn id="2050" idx="1"/>
          </p:cNvCxnSpPr>
          <p:nvPr/>
        </p:nvCxnSpPr>
        <p:spPr>
          <a:xfrm rot="16200000" flipH="1">
            <a:off x="71412" y="3214680"/>
            <a:ext cx="2071690" cy="1357322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Перегрузка операторов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142984"/>
            <a:ext cx="35004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Перегрузка операторов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overloading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позволяет определить для объектов классов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втроенные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операторы, такие как +, -, * и т.д. Для определения оператора для объектов своего класса, необходимо определить функцию, название которой содержит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символ перегружаемого оператора. Функция оператора может быть определена как член класса, либо вне класса.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Перегрузить можно только те операторы, которые уже определены в C++. Создать новые операторы нельзя.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68" y="500042"/>
            <a:ext cx="5572132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914" y="2500306"/>
            <a:ext cx="9110086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357158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Пример класса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294143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Пример работы</a:t>
            </a:r>
            <a:endParaRPr lang="ru-RU" sz="2600" dirty="0">
              <a:latin typeface="Cambria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714356"/>
            <a:ext cx="52863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C++ можно реализовать динамический массив (структуру данных) с помощью класса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используя механизмы динамического выделения памяти. Это позволяет создавать гибкие структуры данных, размер которых определяется во время выполнения, и управлять памятью.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642918"/>
            <a:ext cx="3786182" cy="194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ru-RU" b="1" dirty="0"/>
              <a:t>Пример класса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-285784" y="6437019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Примерный шаблон класса класса</a:t>
            </a:r>
            <a:endParaRPr lang="ru-RU" sz="2600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252" y="500042"/>
            <a:ext cx="8998342" cy="242889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57562"/>
            <a:ext cx="3857620" cy="92869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cxnSp>
        <p:nvCxnSpPr>
          <p:cNvPr id="26" name="Прямая соединительная линия 25"/>
          <p:cNvCxnSpPr/>
          <p:nvPr/>
        </p:nvCxnSpPr>
        <p:spPr>
          <a:xfrm rot="5400000">
            <a:off x="2857885" y="4286653"/>
            <a:ext cx="2713850" cy="15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rot="10800000">
            <a:off x="3857620" y="4071942"/>
            <a:ext cx="357190" cy="158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4214810" y="4071942"/>
            <a:ext cx="357190" cy="158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71670" y="4500570"/>
            <a:ext cx="4572000" cy="186830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grpSp>
        <p:nvGrpSpPr>
          <p:cNvPr id="3" name="Группа 16"/>
          <p:cNvGrpSpPr/>
          <p:nvPr/>
        </p:nvGrpSpPr>
        <p:grpSpPr>
          <a:xfrm>
            <a:off x="4572001" y="3324231"/>
            <a:ext cx="4572000" cy="962025"/>
            <a:chOff x="4572001" y="3324231"/>
            <a:chExt cx="4572000" cy="962025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572001" y="3324231"/>
              <a:ext cx="4572000" cy="962025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sp>
          <p:nvSpPr>
            <p:cNvPr id="16" name="Прямоугольник 15"/>
            <p:cNvSpPr/>
            <p:nvPr/>
          </p:nvSpPr>
          <p:spPr>
            <a:xfrm>
              <a:off x="6715140" y="3857628"/>
              <a:ext cx="857256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принципы ООП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14348" y="1071546"/>
            <a:ext cx="8429652" cy="1015663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Cambria" pitchFamily="18" charset="0"/>
              </a:rPr>
              <a:t>Абстракция </a:t>
            </a:r>
            <a:r>
              <a:rPr lang="ru-RU" sz="2000" dirty="0" smtClean="0">
                <a:latin typeface="Cambria" pitchFamily="18" charset="0"/>
              </a:rPr>
              <a:t>— это придание объекту характеристик, которые отличают его от всех объектов, четко определяя его концептуальные границы.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14348" y="2285992"/>
            <a:ext cx="8429652" cy="193899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Cambria" pitchFamily="18" charset="0"/>
              </a:rPr>
              <a:t>Инкапсуляция</a:t>
            </a:r>
            <a:r>
              <a:rPr lang="ru-RU" sz="2000" dirty="0" smtClean="0">
                <a:latin typeface="Cambria" pitchFamily="18" charset="0"/>
              </a:rPr>
              <a:t> — свойство, позволяющее пользователю не задумываться о сложности реализации используемого программного компонента (что у него внутри?), а взаимодействовать с ним посредством предоставляемого интерфейса (публичных методов и членов), а также объединить и защитить жизненно важные для компонента данные.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14348" y="4413601"/>
            <a:ext cx="8429652" cy="1015663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Cambria" pitchFamily="18" charset="0"/>
              </a:rPr>
              <a:t>Наследование</a:t>
            </a:r>
            <a:r>
              <a:rPr lang="ru-RU" sz="2000" dirty="0" smtClean="0">
                <a:latin typeface="Cambria" pitchFamily="18" charset="0"/>
              </a:rPr>
              <a:t> — свойство, позволяющий описать новый класс на основе уже существующего, при этом свойства и функциональность родительского класса заимствуются новым классом.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14348" y="5572141"/>
            <a:ext cx="8429652" cy="992579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950" b="1" dirty="0" smtClean="0">
                <a:latin typeface="Cambria" pitchFamily="18" charset="0"/>
              </a:rPr>
              <a:t>Полиморфизм</a:t>
            </a:r>
            <a:r>
              <a:rPr lang="ru-RU" sz="1950" dirty="0" smtClean="0">
                <a:latin typeface="Cambria" pitchFamily="18" charset="0"/>
              </a:rPr>
              <a:t> — возможность объектов с одинаковой спецификацией иметь различную реализацию. Кратко смысл полиморфизма можно выразить фразой: «Один интерфейс, множество реализаций»</a:t>
            </a:r>
            <a:endParaRPr lang="ru-RU" sz="1950" dirty="0">
              <a:latin typeface="Cambria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214282" y="571480"/>
            <a:ext cx="1071570" cy="15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rot="5400000">
            <a:off x="-2535287" y="3321843"/>
            <a:ext cx="5499932" cy="7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endCxn id="5" idx="1"/>
          </p:cNvCxnSpPr>
          <p:nvPr/>
        </p:nvCxnSpPr>
        <p:spPr>
          <a:xfrm>
            <a:off x="214282" y="1571612"/>
            <a:ext cx="500066" cy="776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endCxn id="7" idx="1"/>
          </p:cNvCxnSpPr>
          <p:nvPr/>
        </p:nvCxnSpPr>
        <p:spPr>
          <a:xfrm>
            <a:off x="214282" y="3245322"/>
            <a:ext cx="500066" cy="1016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endCxn id="8" idx="1"/>
          </p:cNvCxnSpPr>
          <p:nvPr/>
        </p:nvCxnSpPr>
        <p:spPr>
          <a:xfrm flipV="1">
            <a:off x="214282" y="4921433"/>
            <a:ext cx="500066" cy="776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endCxn id="9" idx="1"/>
          </p:cNvCxnSpPr>
          <p:nvPr/>
        </p:nvCxnSpPr>
        <p:spPr>
          <a:xfrm flipV="1">
            <a:off x="214282" y="6068431"/>
            <a:ext cx="500066" cy="377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Наследование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197945"/>
            <a:ext cx="3243252" cy="366005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429388" y="4214818"/>
            <a:ext cx="1428760" cy="164307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20</a:t>
            </a:r>
          </a:p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10</a:t>
            </a:r>
            <a:endParaRPr lang="ru-RU" sz="2800" b="1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1026" idx="3"/>
            <a:endCxn id="4" idx="1"/>
          </p:cNvCxnSpPr>
          <p:nvPr/>
        </p:nvCxnSpPr>
        <p:spPr>
          <a:xfrm>
            <a:off x="5029170" y="5027973"/>
            <a:ext cx="1400218" cy="838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500042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Наследование в C++ — ключевой механизм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объектно‑ориентированного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программирования (ООП), который позволяет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создавать новые классы на основе уже существующих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(базовых). Производный (дочерний) класс автоматически получает поля и методы базового (родительского) класса, при этом может добавлять собственные члены и переопределять унаследованные.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Основные цели использования наследования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Избегание дублирования кода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Вместо того чтобы заново описывать одинаковые поля и методы в нескольких классах, вы определяете их в базовом классе и наследуете в производных. Это сокращает объём кода и уменьшает вероятность ошибок.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Повторное использование кода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Уже реализованный и протестированный функционал базового класса становится доступен в производных классах без переписывания.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Расширение функциональности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Производный класс может: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добавлять новые поля и методы;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переопределять (модифицировать) унаследованные методы;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реализовывать специфическое поведение для своей предметной области.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Наследование конструкторов</a:t>
            </a:r>
            <a:endParaRPr lang="ru-RU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4358452" cy="485776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7148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сделать все переменные приватными, а для их инициализации добавить конструкторы, то тут стоит учитывать, что конструкторы при наследовании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 наследуются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И если базовый класс содержит только конструкторы с параметрами, то производный класс должен вызывать в своем конструкторе один из конструкторов базового класса: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257174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списка параметров конструктора производного класса через двоеточие идет вызов конструктора базового класса, в который передаются значения параметров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6" idx="1"/>
          </p:cNvCxnSpPr>
          <p:nvPr/>
        </p:nvCxnSpPr>
        <p:spPr>
          <a:xfrm rot="10800000" flipV="1">
            <a:off x="2285984" y="3310408"/>
            <a:ext cx="2286016" cy="140447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Динамический массив объектов класса</a:t>
            </a:r>
            <a:endParaRPr lang="ru-RU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500042"/>
            <a:ext cx="7705725" cy="621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715008" y="642918"/>
            <a:ext cx="3428992" cy="22467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Объявление массива объектов класса в C++: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arrayName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arraySize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 этом синтаксисе: 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имя класса, к которому принадлежат объекты.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arrayName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имя массива объектов.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arraySize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количество объектов в массиве или размер массива, указанное как константное выражение.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Абстрактные классы</a:t>
            </a:r>
            <a:endParaRPr lang="ru-RU" b="1" dirty="0"/>
          </a:p>
        </p:txBody>
      </p: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0" y="500042"/>
            <a:ext cx="9144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Иногда возникает необходимость определить класс, который не предполагает создания конкретных объектов. Например, класс фигуры. В реальности есть конкретные фигуры: квадрат, прямоугольник, треугольник, круг и так далее. Однако абстрактной фигуры самой по себе не существует. В то же время может потребоваться определить для всех фигур какой-то общий класс, который будет содержать общую для всех функциональность. И для описания подобных сущностей используются абстрактные классы.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Абстрактные классы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- это классы, которые содержат или наследуют без переопределения хотя бы одну чистую виртуальную функцию. Абстрактный класс определяет интерфейс для переопределения производными классами.</a:t>
            </a:r>
            <a:endParaRPr lang="en-US" sz="20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 такое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чистые виртуальные функции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pure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)? Это функции, которые не имеют определения. Цель подобных функций - просто определить функционал без реализации, а реализацию определят производные классы. Чтобы определить виртуальную функцию как чистую, ее объявление завершается значением "=0".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5214950"/>
            <a:ext cx="479107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Наследники абстрактных классов</a:t>
            </a:r>
            <a:endParaRPr lang="ru-RU" b="1" dirty="0"/>
          </a:p>
        </p:txBody>
      </p: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0" y="500042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C++ абстрактные методы и виртуальные функции (а вместе с ними — абстрактные классы) служат ключевыми инструментами для реализации полиморфизма — одного из трёх китов </a:t>
            </a:r>
            <a:r>
              <a:rPr lang="ru-RU" sz="16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объектно‑ориентированного</a:t>
            </a:r>
            <a:r>
              <a:rPr lang="ru-RU" sz="16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программирования (наряду с инкапсуляцией и наследованием).</a:t>
            </a:r>
            <a:endParaRPr lang="en-US" sz="16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Зачем нужны: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Задание контракта (интерфейса)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чётко определяет, 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какие методы должны быть у наследников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не заботясь о том, 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как именно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они будут реализованы. Это как «технический регламент» для разработчиков.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Принудительная реализация поведения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Компилятор гарантирует, что любой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не‑абстрактный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наследник реализует все обязательные методы. Нет риска забыть важную функцию.</a:t>
            </a:r>
            <a:endParaRPr kumimoji="0" lang="ru-RU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496"/>
            <a:ext cx="5735131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6000792" y="2786058"/>
            <a:ext cx="3143208" cy="38933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Виртуальный</a:t>
            </a:r>
            <a:r>
              <a:rPr kumimoji="0" lang="en-US" sz="13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деструктор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Всегда объявляйте деструктор базового класса как 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virtual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если планируете удалять объекты через указатель на базовый класс. Иначе может произойти утечка памяти.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Ключевое слово </a:t>
            </a:r>
            <a:r>
              <a:rPr kumimoji="0" lang="ru-RU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Используйте его при переопределении методов — это защитит от ошибок (например, если вы случайно изменили сигнатуру метода).</a:t>
            </a:r>
            <a:endParaRPr kumimoji="0" 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ru-RU" sz="1300" b="1" i="1" dirty="0" smtClean="0">
                <a:latin typeface="Times New Roman" pitchFamily="18" charset="0"/>
                <a:cs typeface="Times New Roman" pitchFamily="18" charset="0"/>
              </a:rPr>
              <a:t>Сигнатура функции в языке программирования C++</a:t>
            </a:r>
            <a:r>
              <a:rPr lang="ru-RU" sz="1300" i="1" dirty="0" smtClean="0">
                <a:latin typeface="Times New Roman" pitchFamily="18" charset="0"/>
                <a:cs typeface="Times New Roman" pitchFamily="18" charset="0"/>
              </a:rPr>
              <a:t> — это объявление функции, которое указывает её возвращаемый тип, имя и параметры. Сигнатура говорит компилятору, что ожидать от функции, без определения всего её тела.</a:t>
            </a:r>
            <a:endParaRPr kumimoji="0" lang="ru-RU" sz="13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Работа с абстрактными классами</a:t>
            </a:r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86" y="1275622"/>
            <a:ext cx="9123414" cy="2510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071538" y="6365557"/>
            <a:ext cx="62865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Базовый класс</a:t>
            </a:r>
            <a:endParaRPr lang="ru-RU" sz="2600" dirty="0">
              <a:latin typeface="Cambria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3286124"/>
            <a:ext cx="55149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57148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Результат работы программы. В массив базового абстрактного класса можно записать объекты производных и работать с ними</a:t>
            </a:r>
            <a:endParaRPr lang="ru-RU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5417982" cy="2208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970" y="923925"/>
            <a:ext cx="4029029" cy="3433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2807568"/>
            <a:ext cx="4038606" cy="4050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572000" y="4214818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Также можно использовать умные указатели (можете прочитать про эту концепцию дополнительно)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Сырые указатели (T*) — это просто адреса памяти. Они не управляют временем жизни объекта: программист вручную должен следить за выделением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 и освобождением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 памяти.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Умные указатели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std::unique_ptr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&lt;T&gt;,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std::shared_ptr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&lt;T&gt; и др.) — это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классы‑обёртки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над сырыми указателями. Они автоматически управляют памятью по принципу RAII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Acquisition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Initialization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): ресурс освобождается при выходе указателя из области видимости.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Когда вы просто помещаете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объект‑наследник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контейнер типа базового класса, происходит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объектное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обрезание.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Можно положить наследников в контейнер базового класса, но: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Без виртуальных методов это почти всегда ошибка (теряется полиморфизм).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 виртуальными методами нужно использовать указатели.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Дружественные функции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857364"/>
            <a:ext cx="6938952" cy="4683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6365581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Перегрузка операторов ввода/вывода</a:t>
            </a:r>
            <a:endParaRPr lang="ru-RU" sz="2600" dirty="0">
              <a:latin typeface="Cambria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Дружественные функции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это функции, которые не являются членами класса, однако имеют доступ к его закрытым членам - переменным и функциям, которые имеют спецификатор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1147</Words>
  <Application>Microsoft Office PowerPoint</Application>
  <PresentationFormat>Экран (4:3)</PresentationFormat>
  <Paragraphs>94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ООП в C++</vt:lpstr>
      <vt:lpstr>Дополнительные материалы</vt:lpstr>
      <vt:lpstr>Понятие класса и объекта</vt:lpstr>
      <vt:lpstr>Модификаторы доступности</vt:lpstr>
      <vt:lpstr>Массив объектов класса</vt:lpstr>
      <vt:lpstr>Статические поля</vt:lpstr>
      <vt:lpstr>Структура vs Класс</vt:lpstr>
      <vt:lpstr>Слайд 8</vt:lpstr>
      <vt:lpstr>Перегрузка операторов</vt:lpstr>
      <vt:lpstr>Слайд 10</vt:lpstr>
      <vt:lpstr>Пример класса</vt:lpstr>
      <vt:lpstr>Основные принципы ООП</vt:lpstr>
      <vt:lpstr>Наследование</vt:lpstr>
      <vt:lpstr>Наследование конструкторов</vt:lpstr>
      <vt:lpstr>Динамический массив объектов класса</vt:lpstr>
      <vt:lpstr>Абстрактные классы</vt:lpstr>
      <vt:lpstr>Наследники абстрактных классов</vt:lpstr>
      <vt:lpstr>Работа с абстрактными классами</vt:lpstr>
      <vt:lpstr>Слайд 19</vt:lpstr>
      <vt:lpstr>Дружественные функции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ООП</dc:title>
  <dc:creator>user</dc:creator>
  <cp:lastModifiedBy>user</cp:lastModifiedBy>
  <cp:revision>7</cp:revision>
  <dcterms:created xsi:type="dcterms:W3CDTF">2026-04-03T21:57:25Z</dcterms:created>
  <dcterms:modified xsi:type="dcterms:W3CDTF">2026-04-03T22:32:43Z</dcterms:modified>
</cp:coreProperties>
</file>