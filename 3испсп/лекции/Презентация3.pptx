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0867" autoAdjust="0"/>
    <p:restoredTop sz="94660"/>
  </p:normalViewPr>
  <p:slideViewPr>
    <p:cSldViewPr>
      <p:cViewPr varScale="1">
        <p:scale>
          <a:sx n="107" d="100"/>
          <a:sy n="107" d="100"/>
        </p:scale>
        <p:origin x="-189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06688-C314-4E32-AC84-BC836EAC6526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47ADF-92B0-4F6C-BF7B-3A1B432FEF5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06688-C314-4E32-AC84-BC836EAC6526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47ADF-92B0-4F6C-BF7B-3A1B432FEF5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06688-C314-4E32-AC84-BC836EAC6526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47ADF-92B0-4F6C-BF7B-3A1B432FEF5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06688-C314-4E32-AC84-BC836EAC6526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47ADF-92B0-4F6C-BF7B-3A1B432FEF5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06688-C314-4E32-AC84-BC836EAC6526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47ADF-92B0-4F6C-BF7B-3A1B432FEF5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06688-C314-4E32-AC84-BC836EAC6526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47ADF-92B0-4F6C-BF7B-3A1B432FEF5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06688-C314-4E32-AC84-BC836EAC6526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47ADF-92B0-4F6C-BF7B-3A1B432FEF5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06688-C314-4E32-AC84-BC836EAC6526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47ADF-92B0-4F6C-BF7B-3A1B432FEF5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06688-C314-4E32-AC84-BC836EAC6526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47ADF-92B0-4F6C-BF7B-3A1B432FEF5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06688-C314-4E32-AC84-BC836EAC6526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47ADF-92B0-4F6C-BF7B-3A1B432FEF5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06688-C314-4E32-AC84-BC836EAC6526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47ADF-92B0-4F6C-BF7B-3A1B432FEF5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206688-C314-4E32-AC84-BC836EAC6526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47ADF-92B0-4F6C-BF7B-3A1B432FEF54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isk.360.yandex.ru/d/nkJB3dVINNoxqw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ducation.yandex.ru/handbook/cpp/article/classes" TargetMode="External"/><Relationship Id="rId2" Type="http://schemas.openxmlformats.org/officeDocument/2006/relationships/hyperlink" Target="https://lexpenz.com/programmirovanie/cpp/win32-api-sozdanie-prostejshego-prilozheniya-pod-windows.html?ysclid=mikpfjqddj421370514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pdfiles.net/storage/Books/designing-and-graphics/programming_2d_games.pdf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cppstudio.com/post/9384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cppstudio.com/post/9741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shatalov.ghost17.ru/winapi/threads.html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ducation.yandex.ru/handbook/cpp/article/classes" TargetMode="External"/><Relationship Id="rId2" Type="http://schemas.openxmlformats.org/officeDocument/2006/relationships/hyperlink" Target="https://www.codeincodeblock.com/2011/02/setup-openglglut-in-codeblock.html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rutube.ru/video/9f9d4fba3785ebc006aca34ffaaadc8c/" TargetMode="External"/><Relationship Id="rId4" Type="http://schemas.openxmlformats.org/officeDocument/2006/relationships/hyperlink" Target="https://www.dir.by/developer/c_plus_plus/opengl/new_app/?ysclid=mibj5jcru6906798404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42910" y="2786058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ru-RU" sz="6700" b="1" dirty="0" smtClean="0"/>
              <a:t>Графические возможности </a:t>
            </a:r>
            <a:r>
              <a:rPr lang="en-US" sz="6700" b="1" dirty="0" smtClean="0"/>
              <a:t>C</a:t>
            </a:r>
            <a:r>
              <a:rPr lang="en-US" sz="6700" b="1" dirty="0" smtClean="0"/>
              <a:t>++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ru-RU" sz="2200" dirty="0" smtClean="0"/>
              <a:t>настроенные проекты ищите по ссылке</a:t>
            </a:r>
            <a:br>
              <a:rPr lang="ru-RU" sz="2200" dirty="0" smtClean="0"/>
            </a:br>
            <a:r>
              <a:rPr lang="en-US" sz="2200" dirty="0" smtClean="0">
                <a:hlinkClick r:id="rId2"/>
              </a:rPr>
              <a:t>https://</a:t>
            </a:r>
            <a:r>
              <a:rPr lang="en-US" sz="2200" dirty="0" smtClean="0">
                <a:hlinkClick r:id="rId2"/>
              </a:rPr>
              <a:t>disk.360.yandex.ru/d/nkJB3dVINNoxqw</a:t>
            </a:r>
            <a:r>
              <a:rPr lang="ru-RU" sz="2200" dirty="0" smtClean="0"/>
              <a:t/>
            </a:r>
            <a:br>
              <a:rPr lang="ru-RU" sz="2200" dirty="0" smtClean="0"/>
            </a:br>
            <a:endParaRPr lang="ru-RU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428736"/>
            <a:ext cx="9144000" cy="5109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ru-RU" sz="2400" i="1" dirty="0" err="1" smtClean="0">
                <a:latin typeface="Cambria" pitchFamily="18" charset="0"/>
              </a:rPr>
              <a:t>WinAPI</a:t>
            </a:r>
            <a:r>
              <a:rPr lang="ru-RU" sz="2400" i="1" dirty="0" smtClean="0">
                <a:latin typeface="Cambria" pitchFamily="18" charset="0"/>
              </a:rPr>
              <a:t>. Создание простейшего приложения под Windows</a:t>
            </a:r>
          </a:p>
          <a:p>
            <a:pPr algn="just" fontAlgn="base"/>
            <a:r>
              <a:rPr lang="en-US" sz="2800" dirty="0" smtClean="0">
                <a:hlinkClick r:id="rId2"/>
              </a:rPr>
              <a:t>https://lexpenz.com/programmirovanie/cpp/win32-api-sozdanie-prostejshego-prilozheniya-pod-windows.html?ysclid=mikpfjqddj421370514</a:t>
            </a:r>
            <a:endParaRPr lang="ru-RU" sz="2800" dirty="0" smtClean="0"/>
          </a:p>
          <a:p>
            <a:pPr algn="just"/>
            <a:endParaRPr lang="ru-RU" sz="2500" b="1" dirty="0" smtClean="0">
              <a:latin typeface="Cambria" pitchFamily="18" charset="0"/>
              <a:hlinkClick r:id="rId3"/>
            </a:endParaRPr>
          </a:p>
          <a:p>
            <a:pPr algn="just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Programming 2D Games </a:t>
            </a:r>
            <a:endParaRPr lang="ru-RU" sz="2400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Cambria" pitchFamily="18" charset="0"/>
                <a:hlinkClick r:id="rId4"/>
              </a:rPr>
              <a:t>https://www.pdfiles.net/storage/Books/designing-and-graphics/programming_2d_games.pdf</a:t>
            </a:r>
            <a:endParaRPr lang="en-US" sz="2400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en-US" sz="2500" b="1" dirty="0" smtClean="0">
              <a:latin typeface="Cambria" pitchFamily="18" charset="0"/>
              <a:hlinkClick r:id="rId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/>
          <a:lstStyle/>
          <a:p>
            <a:r>
              <a:rPr lang="en-US" b="1" dirty="0" err="1" smtClean="0"/>
              <a:t>WinAPI</a:t>
            </a:r>
            <a:endParaRPr lang="ru-RU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7422" y="1857364"/>
            <a:ext cx="4681530" cy="3503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500042"/>
            <a:ext cx="9144000" cy="132343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Win32 API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 (далее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WinAPI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) – это набор функций (</a:t>
            </a:r>
            <a:r>
              <a:rPr kumimoji="0" lang="ru-RU" sz="1600" b="0" i="1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API – </a:t>
            </a:r>
            <a:r>
              <a:rPr kumimoji="0" lang="ru-RU" sz="1600" b="0" i="1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Application</a:t>
            </a:r>
            <a:r>
              <a:rPr kumimoji="0" lang="ru-RU" sz="1600" b="0" i="1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ru-RU" sz="1600" b="0" i="1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Programming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 </a:t>
            </a:r>
            <a:r>
              <a:rPr kumimoji="0" lang="ru-RU" sz="1600" b="0" i="1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Interface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), работающих под управлением ОС Windows. Они содержатся в библиотеке 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C7254E"/>
                </a:solidFill>
                <a:effectLst/>
                <a:latin typeface="Times New Roman" pitchFamily="18" charset="0"/>
                <a:cs typeface="Times New Roman" pitchFamily="18" charset="0"/>
              </a:rPr>
              <a:t>windows.h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С помощью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WinAPI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 можно создавать различные оконные процедуры, диалоговые окна, программы и даже игры. Эта, скажем так, библиотека является базовой в освоении программирования 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428BCA"/>
                </a:solidFill>
                <a:effectLst/>
                <a:latin typeface="Times New Roman" pitchFamily="18" charset="0"/>
                <a:cs typeface="Times New Roman" pitchFamily="18" charset="0"/>
              </a:rPr>
              <a:t>Windows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428BCA"/>
                </a:solidFill>
                <a:effectLst/>
                <a:latin typeface="Times New Roman" pitchFamily="18" charset="0"/>
                <a:cs typeface="Times New Roman" pitchFamily="18" charset="0"/>
              </a:rPr>
              <a:t>Forms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, MFC, потому что эти интерфейсы являются надстройками этой библиотеки.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5380672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В проекте задания 1 уже даны комментарии касательно функций создания окна и необходимых переменных. Дополнительную информацию можно найти по ссылкам в файле с заданием и по следующим ссылкам: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3"/>
              </a:rPr>
              <a:t>http://cppstudio.com/post/9384/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dirty="0" smtClean="0">
                <a:latin typeface="Times New Roman" pitchFamily="18" charset="0"/>
                <a:cs typeface="Times New Roman" pitchFamily="18" charset="0"/>
                <a:hlinkClick r:id="rId4"/>
              </a:rPr>
              <a:t>http://cppstudio.com/post/9741/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/>
          <a:lstStyle/>
          <a:p>
            <a:r>
              <a:rPr lang="ru-RU" b="1" dirty="0" smtClean="0"/>
              <a:t>Код программы с потоками</a:t>
            </a:r>
            <a:endParaRPr lang="ru-RU" b="1" dirty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642918"/>
            <a:ext cx="9144000" cy="40011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Функция 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Draw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 — основная двойная буферизация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 t="47009"/>
          <a:stretch>
            <a:fillRect/>
          </a:stretch>
        </p:blipFill>
        <p:spPr bwMode="auto">
          <a:xfrm>
            <a:off x="1142976" y="2571744"/>
            <a:ext cx="7191375" cy="1771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4071942"/>
            <a:ext cx="7953375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357158" y="5572140"/>
            <a:ext cx="82867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Если этого не сделать, при двойной буферизации будет черный фон</a:t>
            </a:r>
          </a:p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Создаётся чистый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bitmap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памяти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CreateCompatibleBitmap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он изначально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чёрный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(нулевые пиксели).</a:t>
            </a:r>
          </a:p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200,200,200 – серый (как изначальный экран)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5720" y="1142984"/>
            <a:ext cx="841057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/>
          <a:lstStyle/>
          <a:p>
            <a:r>
              <a:rPr lang="ru-RU" b="1" dirty="0" smtClean="0"/>
              <a:t>Код программы с потоками</a:t>
            </a:r>
            <a:endParaRPr lang="ru-RU" b="1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0" y="848479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DrawBitmap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(hdcMem,50,y_1,hBitmap_1);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DrawBitmap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(hdcMem,100,y_2,hBitmap_2);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DrawBitmap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(hdcMem,150,y_3,hBitmap_3);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0" y="857232"/>
            <a:ext cx="9144000" cy="33855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//Рисуем 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все три </a:t>
            </a:r>
            <a:r>
              <a:rPr kumimoji="0" lang="ru-RU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bitmap’а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в 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hdcMem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(т. е. в наш буфер памяти, а не на экран!).</a:t>
            </a: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2071678"/>
            <a:ext cx="6233918" cy="1378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3357562"/>
            <a:ext cx="9144000" cy="23083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BitBlt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hdc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, 0, 25, 250, 250,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hdcMem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, 0, 0, SRCCOPY);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//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Функция 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BitBlt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выполняет 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копирование прямоугольного блока пикселей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из одного контекста устройства (DC) в другой.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hdc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Обычно это контекст окна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GetDC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hwnd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)), т. е. видимая область экрана.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//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hdcMem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— исходный DC (откуда копируем).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Это контекст памяти, в котором вы предварительно нарисовали содержимое (например, объекты и фон).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SRCCOPY означает: «просто заменить пиксели приёмника на пиксели источника» (без смешения, масок и т. п.).</a:t>
            </a:r>
          </a:p>
        </p:txBody>
      </p:sp>
      <p:grpSp>
        <p:nvGrpSpPr>
          <p:cNvPr id="3" name="Группа 13"/>
          <p:cNvGrpSpPr/>
          <p:nvPr/>
        </p:nvGrpSpPr>
        <p:grpSpPr>
          <a:xfrm>
            <a:off x="1571604" y="5443582"/>
            <a:ext cx="6748459" cy="1414418"/>
            <a:chOff x="1571604" y="5443582"/>
            <a:chExt cx="6748459" cy="1414418"/>
          </a:xfrm>
        </p:grpSpPr>
        <p:pic>
          <p:nvPicPr>
            <p:cNvPr id="11" name="Picture 2"/>
            <p:cNvPicPr>
              <a:picLocks noChangeAspect="1" noChangeArrowheads="1"/>
            </p:cNvPicPr>
            <p:nvPr/>
          </p:nvPicPr>
          <p:blipFill>
            <a:blip r:embed="rId3"/>
            <a:srcRect t="49685"/>
            <a:stretch>
              <a:fillRect/>
            </a:stretch>
          </p:blipFill>
          <p:spPr bwMode="auto">
            <a:xfrm>
              <a:off x="1571604" y="5443582"/>
              <a:ext cx="6748459" cy="14144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2" name="Прямоугольник 11"/>
            <p:cNvSpPr/>
            <p:nvPr/>
          </p:nvSpPr>
          <p:spPr>
            <a:xfrm>
              <a:off x="5857884" y="5857892"/>
              <a:ext cx="714380" cy="2857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/>
          <a:lstStyle/>
          <a:p>
            <a:r>
              <a:rPr lang="ru-RU" b="1" dirty="0" smtClean="0"/>
              <a:t>Код программы с потоками</a:t>
            </a:r>
            <a:endParaRPr lang="ru-RU" b="1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642918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Когда приложение начинает свою работу, для него создаётся процесс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process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). Обычно, каждой программе соответствует один процесс. Дополнительную информацию про потоки можете почитать здесь: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https://shatalov.ghost17.ru/winapi/threads.html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0" y="1819809"/>
            <a:ext cx="9144000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0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case WM_CREATE: //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код</a:t>
            </a:r>
            <a:r>
              <a:rPr kumimoji="0" lang="ru-RU" sz="1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создания кнопки при запуске</a:t>
            </a: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{</a:t>
            </a: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	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CreateWindow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(TEXT("BUTTON"), TEXT("PUSK"),</a:t>
            </a: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WS_VISIBLE | WS_CHILD,</a:t>
            </a: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0, 0,</a:t>
            </a: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100, 25,</a:t>
            </a: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hwnd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, (HMENU)15000,</a:t>
            </a: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NULL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, 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NULL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);</a:t>
            </a: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break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</a:t>
            </a: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}</a:t>
            </a: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345528"/>
            <a:ext cx="9144000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-1" y="322005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Объект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мьютекса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можно использовать для защиты общего ресурса от одновременного доступа нескольких потоков или процессов. Каждый поток должен дождаться владения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мьютексом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прежде чем он сможет выполнить код, который обращается к общему ресурсу.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928661" y="4131238"/>
            <a:ext cx="7143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CONST HANDLE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hMutex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CreateMutex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(NULL, FALSE, NULL);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857223" y="6488668"/>
            <a:ext cx="78581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 нажатию кнопки запускает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три потока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428604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WM_PAINT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системное сообщение Windows, которое отправляется в окно приложения, когда требуется перерисовать (обновить) его клиентскую область (ту часть окна, где отображается основное содержимое — текст, графика, элементы управления и т. п.).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Когда возникает WM_PAINT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Система генерирует это сообщение в таких случаях: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окно стало видимым (например, после сворачивания/разворачивания);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изменился размер окна;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2714620"/>
            <a:ext cx="7243353" cy="3990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4786314" y="2643182"/>
            <a:ext cx="364330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rcPaint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— прямоугольник (тип RECT), описывающий область окна, требующую обновления (часто — вся клиентская область);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428596" y="-71454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Еще один способ перерисовки изображения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428596" y="-71454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Работа с таймером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786190"/>
            <a:ext cx="9144001" cy="1908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428604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WM_TIMER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это системное сообщение Windows, которое приложение получает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 срабатывании таймера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(по истечении заданного интервала времени). Оно позволяет выполнять код «по расписанию», например, обновлять интерфейс, проверять состояние системы, анимировать элементы и т. п.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43042" y="1714488"/>
            <a:ext cx="6181725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5812713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 другими видами сообщений и способами их обработки можете ознакомиться самостоятельно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071546"/>
            <a:ext cx="9144000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sz="2400" i="1" dirty="0" smtClean="0">
                <a:latin typeface="Cambria" pitchFamily="18" charset="0"/>
              </a:rPr>
              <a:t>Setup GLUT (OpenGL) in </a:t>
            </a:r>
            <a:r>
              <a:rPr lang="en-US" sz="2400" i="1" dirty="0" err="1" smtClean="0">
                <a:latin typeface="Cambria" pitchFamily="18" charset="0"/>
              </a:rPr>
              <a:t>Codeblocks</a:t>
            </a:r>
            <a:endParaRPr lang="en-US" sz="2400" i="1" dirty="0" smtClean="0">
              <a:latin typeface="Cambria" pitchFamily="18" charset="0"/>
            </a:endParaRPr>
          </a:p>
          <a:p>
            <a:pPr algn="just" fontAlgn="base"/>
            <a:r>
              <a:rPr lang="en-US" sz="2800" dirty="0" smtClean="0">
                <a:hlinkClick r:id="rId2"/>
              </a:rPr>
              <a:t>https://www.codeincodeblock.com/2011/02/setup-openglglut-in-codeblock.html</a:t>
            </a:r>
            <a:endParaRPr lang="ru-RU" sz="2800" dirty="0" smtClean="0"/>
          </a:p>
          <a:p>
            <a:pPr algn="just" fontAlgn="base"/>
            <a:endParaRPr lang="ru-RU" sz="2500" b="1" dirty="0" smtClean="0">
              <a:latin typeface="Cambria" pitchFamily="18" charset="0"/>
              <a:hlinkClick r:id="rId3"/>
            </a:endParaRPr>
          </a:p>
          <a:p>
            <a:pPr algn="just"/>
            <a:r>
              <a:rPr lang="ru-RU" sz="2400" i="1" dirty="0" smtClean="0">
                <a:latin typeface="Cambria" pitchFamily="18" charset="0"/>
                <a:cs typeface="Times New Roman" pitchFamily="18" charset="0"/>
              </a:rPr>
              <a:t> Создаем новое </a:t>
            </a:r>
            <a:r>
              <a:rPr lang="en-US" sz="2400" i="1" dirty="0" smtClean="0">
                <a:latin typeface="Cambria" pitchFamily="18" charset="0"/>
                <a:cs typeface="Times New Roman" pitchFamily="18" charset="0"/>
              </a:rPr>
              <a:t>OpenGL </a:t>
            </a:r>
            <a:r>
              <a:rPr lang="ru-RU" sz="2400" i="1" dirty="0" smtClean="0">
                <a:latin typeface="Cambria" pitchFamily="18" charset="0"/>
                <a:cs typeface="Times New Roman" pitchFamily="18" charset="0"/>
              </a:rPr>
              <a:t>приложение на </a:t>
            </a:r>
            <a:r>
              <a:rPr lang="en-US" sz="2400" i="1" dirty="0" smtClean="0">
                <a:latin typeface="Cambria" pitchFamily="18" charset="0"/>
                <a:cs typeface="Times New Roman" pitchFamily="18" charset="0"/>
              </a:rPr>
              <a:t>C++ | </a:t>
            </a:r>
            <a:r>
              <a:rPr lang="ru-RU" sz="2400" i="1" dirty="0" smtClean="0">
                <a:latin typeface="Cambria" pitchFamily="18" charset="0"/>
                <a:cs typeface="Times New Roman" pitchFamily="18" charset="0"/>
              </a:rPr>
              <a:t>библиотека </a:t>
            </a:r>
            <a:r>
              <a:rPr lang="en-US" sz="2400" i="1" dirty="0" smtClean="0">
                <a:latin typeface="Cambria" pitchFamily="18" charset="0"/>
                <a:cs typeface="Times New Roman" pitchFamily="18" charset="0"/>
              </a:rPr>
              <a:t>GLUT, Visual Studio  </a:t>
            </a:r>
            <a:endParaRPr lang="ru-RU" sz="2400" i="1" dirty="0" smtClean="0">
              <a:latin typeface="Cambria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Cambria" pitchFamily="18" charset="0"/>
                <a:hlinkClick r:id="rId4"/>
              </a:rPr>
              <a:t>https://www.dir.by/developer/c_plus_plus/opengl/new_app/?ysclid=mibj5jcru6906798404</a:t>
            </a:r>
            <a:endParaRPr lang="ru-RU" sz="2400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r>
              <a:rPr lang="ru-RU" sz="2400" i="1" dirty="0" err="1" smtClean="0">
                <a:latin typeface="Cambria" pitchFamily="18" charset="0"/>
              </a:rPr>
              <a:t>OpenGL</a:t>
            </a:r>
            <a:r>
              <a:rPr lang="ru-RU" sz="2400" i="1" dirty="0" smtClean="0">
                <a:latin typeface="Cambria" pitchFamily="18" charset="0"/>
              </a:rPr>
              <a:t> - Урок 17 - Основы </a:t>
            </a:r>
            <a:r>
              <a:rPr lang="ru-RU" sz="2400" i="1" dirty="0" err="1" smtClean="0">
                <a:latin typeface="Cambria" pitchFamily="18" charset="0"/>
              </a:rPr>
              <a:t>текстурирования</a:t>
            </a:r>
            <a:r>
              <a:rPr lang="ru-RU" sz="2400" i="1" dirty="0" smtClean="0">
                <a:latin typeface="Cambria" pitchFamily="18" charset="0"/>
              </a:rPr>
              <a:t>. Загрузка текстур из файла. (с канала </a:t>
            </a:r>
            <a:r>
              <a:rPr lang="en-US" sz="2400" i="1" dirty="0" smtClean="0">
                <a:latin typeface="Cambria" pitchFamily="18" charset="0"/>
              </a:rPr>
              <a:t>Begin End</a:t>
            </a:r>
            <a:r>
              <a:rPr lang="ru-RU" sz="2400" i="1" dirty="0" smtClean="0">
                <a:latin typeface="Cambria" pitchFamily="18" charset="0"/>
              </a:rPr>
              <a:t>)</a:t>
            </a:r>
          </a:p>
          <a:p>
            <a:pPr algn="just"/>
            <a:r>
              <a:rPr lang="en-US" sz="2400" dirty="0" smtClean="0">
                <a:latin typeface="Cambria" pitchFamily="18" charset="0"/>
                <a:hlinkClick r:id="rId5"/>
              </a:rPr>
              <a:t>https://rutube.ru/video/9f9d4fba3785ebc006aca34ffaaadc8c/</a:t>
            </a:r>
            <a:endParaRPr lang="ru-RU" sz="24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500042"/>
            <a:ext cx="9144000" cy="206210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OpenGL</a:t>
            </a:r>
            <a:r>
              <a:rPr lang="ru-RU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— 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набор команд, которые описывают геометрические объекты и способ их отображения на экране. Программист определяет объекты, задаёт их местоположение в трёхмерном пространстве, другие параметры (поворот, масштаб) и свойства (цвет, текстура, материал), а библиотека </a:t>
            </a:r>
            <a:r>
              <a:rPr lang="ru-RU" sz="16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OpenGL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отображает всё это на экране.</a:t>
            </a:r>
            <a:r>
              <a:rPr lang="en-US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GLUT (</a:t>
            </a:r>
            <a:r>
              <a:rPr lang="ru-RU" sz="16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OpenGL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Utility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Toolkit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— «Набор утилит для </a:t>
            </a:r>
            <a:r>
              <a:rPr lang="ru-RU" sz="16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OpenGL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») — это дополнительная библиотека, упрощающая работу с </a:t>
            </a:r>
            <a:r>
              <a:rPr lang="ru-RU" sz="16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OpenGL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Простыми словами: GLUT решает «бытовые» задачи, которые не входит в обязанности </a:t>
            </a:r>
            <a:r>
              <a:rPr lang="ru-RU" sz="16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OpenGL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, чтобы программист мог сосредоточиться на графике.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0" lang="ru-RU" sz="16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2285046"/>
            <a:ext cx="4143404" cy="3100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72132" y="2357430"/>
            <a:ext cx="31623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5500694" y="2143116"/>
            <a:ext cx="33614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Glut </a:t>
            </a:r>
            <a:r>
              <a:rPr lang="ru-RU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уже встроен в </a:t>
            </a:r>
            <a:r>
              <a:rPr lang="en-US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CodeBlocks</a:t>
            </a:r>
            <a:endParaRPr lang="ru-R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11917" y="3122155"/>
            <a:ext cx="4932083" cy="3735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Прямая со стрелкой 12"/>
          <p:cNvCxnSpPr/>
          <p:nvPr/>
        </p:nvCxnSpPr>
        <p:spPr>
          <a:xfrm flipV="1">
            <a:off x="3643306" y="5286388"/>
            <a:ext cx="1857388" cy="64294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71406" y="5429264"/>
            <a:ext cx="6239016" cy="14157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Необходимо настроить компилятор</a:t>
            </a:r>
          </a:p>
          <a:p>
            <a:r>
              <a:rPr lang="en-US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Settings→Compiler</a:t>
            </a:r>
            <a:r>
              <a:rPr lang="en-US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→Linker </a:t>
            </a:r>
            <a:endParaRPr lang="ru-RU" b="1" dirty="0" smtClean="0">
              <a:solidFill>
                <a:srgbClr val="333333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или использовать готовый проект с сайта</a:t>
            </a:r>
          </a:p>
          <a:p>
            <a:endParaRPr lang="ru-RU" sz="1600" b="1" dirty="0" smtClean="0">
              <a:solidFill>
                <a:srgbClr val="333333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Также необходимо добавить </a:t>
            </a:r>
            <a:r>
              <a:rPr lang="en-US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sz="16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windows.h</a:t>
            </a:r>
            <a:r>
              <a:rPr lang="en-US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ru-RU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в самое начало</a:t>
            </a:r>
            <a:endParaRPr lang="ru-RU" sz="160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OpenGL + GLUT</a:t>
            </a:r>
            <a:endParaRPr lang="ru-RU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500042"/>
            <a:ext cx="9144000" cy="255454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Без GLUT программист должен был бы: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вручную настраивать окна под каждую ОС;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писать код для отслеживания нажатий клавиш;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реализовывать базовые фигуры самостоятельно.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GLUT делает это за него несколькими строками кода.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en-US" sz="1600" b="1" dirty="0" smtClean="0">
              <a:solidFill>
                <a:srgbClr val="333333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OpenGL</a:t>
            </a:r>
            <a:r>
              <a:rPr lang="ru-RU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 — «сердце» 3D‑графики: рисует объекты, работает с освещением, текстурами.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GLUT — «помощник» для </a:t>
            </a:r>
            <a:r>
              <a:rPr lang="ru-RU" sz="16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OpenGL</a:t>
            </a:r>
            <a:r>
              <a:rPr lang="ru-RU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: создаёт окна, ловит ввод с устройств, рисует примитивы.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Вместе они позволяют быстро начать работу с 3D‑графикой, не погружаясь в низкоуровневые детали операционной системы.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GLUT</a:t>
            </a:r>
            <a:endParaRPr lang="ru-RU" sz="40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3148008"/>
            <a:ext cx="6834195" cy="3709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Прямая со стрелкой 10"/>
          <p:cNvCxnSpPr/>
          <p:nvPr/>
        </p:nvCxnSpPr>
        <p:spPr>
          <a:xfrm>
            <a:off x="2928926" y="3786190"/>
            <a:ext cx="3500462" cy="171451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2918"/>
            <a:ext cx="4651874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4714876" y="500042"/>
            <a:ext cx="4429124" cy="28931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Обработка изменения размера окна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Вычисляет соотношение сторон (</a:t>
            </a:r>
            <a:r>
              <a:rPr lang="ru-RU" sz="13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aspect</a:t>
            </a:r>
            <a:r>
              <a:rPr lang="ru-RU" sz="13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ratio</a:t>
            </a:r>
            <a:r>
              <a:rPr lang="ru-RU" sz="13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) окна.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Задаёт область вывода графики — весь клиентский регион окна.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Переключает текущую матрицу на матрицу проекции (отвечает за «камеру» и перспективу).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Обнуляет текущую матрицу (делает её единичной).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Переключает матрицу на модельную (для трансформации объектов). Без этого объекты могут выглядеть плоскими или искажёнными.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Переключает матрицу обратно на модельную (для трансформации объектов в сцене). Следующие операции (например, в </a:t>
            </a:r>
            <a:r>
              <a:rPr lang="ru-RU" sz="13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display</a:t>
            </a:r>
            <a:r>
              <a:rPr lang="ru-RU" sz="13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) будут влиять на положение объектов, а не на камеру.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Объяснение базового проекта</a:t>
            </a:r>
            <a:endParaRPr lang="ru-RU" sz="4000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2222036"/>
            <a:ext cx="4786314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Функция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resize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Обновляет область вывода под новый размер окна.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Настраивает перспективную камеру с учётом соотношения сторон.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Готовит матрицы для корректной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отрисовки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объектов в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display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Без неё при изменении размера окна: графика могла бы растягиваться/сжиматься; перспектива нарушилась (например, объекты «улетали» бы за экран); пропорции сцены искажались.</a:t>
            </a:r>
            <a:endParaRPr lang="ru-RU" sz="13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929066"/>
            <a:ext cx="5372085" cy="2928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5572132" y="3357562"/>
            <a:ext cx="3571868" cy="349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300" b="1" dirty="0" err="1" smtClean="0">
                <a:latin typeface="Times New Roman" pitchFamily="18" charset="0"/>
                <a:cs typeface="Times New Roman" pitchFamily="18" charset="0"/>
              </a:rPr>
              <a:t>отрисовка</a:t>
            </a:r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 кадра</a:t>
            </a:r>
            <a:endParaRPr lang="en-US" sz="13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Очищает буфер цвета (экран) и буфер глубины (для корректного отображения 3D).</a:t>
            </a:r>
            <a:endParaRPr lang="en-US" sz="13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Устанавливает позицию «камеры»: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камера в точке (0, 0, 5);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смотрит в точку (0, 0, 0);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вектор «вверх» — (0, 1, 0) (ось Y).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Сдвигает объект на 1 единицу по оси Y (конус поднимется вверх).</a:t>
            </a:r>
            <a:endParaRPr lang="en-US" sz="13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Поворачивает объект на угол 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angleX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 вокруг оси X.</a:t>
            </a:r>
            <a:endParaRPr lang="en-US" sz="13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Устанавливает цвет объекта: красный (RGB = 1, 0, 0).</a:t>
            </a:r>
            <a:endParaRPr lang="en-US" sz="13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Рисует сплошной конус: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радиус основания: 1;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высота: 1;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количество сегментов по окружности: 20;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количество уровней по высоте: 20.</a:t>
            </a:r>
            <a:endParaRPr lang="en-US" sz="13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Двойная буферизация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500042"/>
            <a:ext cx="9144000" cy="89255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Функция </a:t>
            </a:r>
            <a:r>
              <a:rPr lang="ru-RU" sz="13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key</a:t>
            </a:r>
            <a:r>
              <a:rPr lang="ru-RU" sz="13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 (обработка нажатий клавиш)</a:t>
            </a:r>
            <a:endParaRPr lang="en-US" sz="1300" b="1" dirty="0" smtClean="0">
              <a:solidFill>
                <a:srgbClr val="333333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key</a:t>
            </a:r>
            <a:r>
              <a:rPr lang="ru-RU" sz="13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 — нажатая клавиша;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13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ru-RU" sz="13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ru-RU" sz="13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 — координаты курсора в момент нажатия.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glutPostRedisplay</a:t>
            </a:r>
            <a:r>
              <a:rPr lang="ru-RU" sz="13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(); </a:t>
            </a:r>
            <a:r>
              <a:rPr lang="en-US" sz="13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//</a:t>
            </a:r>
            <a:r>
              <a:rPr lang="ru-RU" sz="13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Запрашивает перерисовку окна (чтобы отразить изменения).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Объяснение базового проекта</a:t>
            </a:r>
            <a:endParaRPr lang="ru-RU" sz="4000" b="1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71678"/>
            <a:ext cx="4571999" cy="3671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4572000" y="1500174"/>
            <a:ext cx="4572000" cy="504753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Инициализирует GLUT, передавая аргументы командной строки.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Задаёт начальный размер окна: 640×480 пикселей.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Задаёт позицию окна на экране: 10×10 пикселей от левого верхнего угла.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Настраивает режим отображения: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GLUT_RGB — цветовая модель RGB;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GLUT_DOUBLE — двойная буферизация (плавная анимация);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GLUT_DEPTH — буфер глубины (для 3D).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Создаёт окно с заголовком «GLUT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Shapes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».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Регистрирует функцию 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resize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как обработчик изменения размера окна.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Регистрирует функцию 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display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как обработчик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отрисовки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Регистрирует функцию 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key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как обработчик нажатий клавиш.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Устанавливает цвет очистки экрана: чёрный (RGBA = 0, 0, 0, 0).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Включает тест глубины (чтобы объекты правильно перекрывались в 3D).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Запускает главный цикл GLUT (обработка событий, перерисовка и т. д.).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Рисование объектов</a:t>
            </a:r>
            <a:endParaRPr lang="ru-RU" sz="40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500042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glPushMatrix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glPopMatrix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«скобки» для трансформаций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OpenGL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Они позволяют временно изменить систему координат, а потом вернуться к прежнему состоянию.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3D‑графике часто требуется: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нарисовать объект, повернутый на 45°;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затем вернуться к «прямой» системе координат и нарисовать другой объект без поворота.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Без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glPush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glPop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все трансформации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накапливались бы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второй объект тоже оказался бы повёрнут на 45°, третий — на 90° и т. д.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Как это работает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glPushMatrix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()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«Замораживает» текущую матрицу (систему координат).</a:t>
            </a:r>
          </a:p>
          <a:p>
            <a:pPr lvl="1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Сохраняет её в специальный стек (как папку в памяти).</a:t>
            </a:r>
          </a:p>
          <a:p>
            <a:pPr lvl="1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Теперь можно смело менять матрицу (вращать, сдвигать) — исходное состояние «запомнено».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glPopMatrix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()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Достаёт из стека последнюю сохранённую матрицу.</a:t>
            </a:r>
          </a:p>
          <a:p>
            <a:pPr lvl="1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Восстанавливает систему координат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том виде, как она была до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glPushMatrix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Все изменения, сделанные после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glPushMatrix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отменяются.</a:t>
            </a: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5286388"/>
            <a:ext cx="6829425" cy="1571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85860"/>
            <a:ext cx="8753475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Рисование объектов</a:t>
            </a:r>
            <a:endParaRPr lang="ru-RU" sz="40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500042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рисования снеговика можно создать отдельно вот эти функции для шаров и конусов, а далее использовать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glTranslatef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для позиционирования этих фигур.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0" y="3857628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Функцию непосредственной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отрисовки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снеговика можете вызвать в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display()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4505325"/>
            <a:ext cx="8010525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Рисование объектов</a:t>
            </a:r>
            <a:endParaRPr lang="ru-RU" sz="40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857232"/>
            <a:ext cx="585788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// Функция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отрисовки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текста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drawString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(const char*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, float x, float y, float z) {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const char* c;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glRasterPos3f(x, y, z);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for (c =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; *c != '\0';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c++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) {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glutBitmapCharacter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(GLUT_BITMAP_HELVETICA_18, *c);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}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471656"/>
            <a:ext cx="5715008" cy="3029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5715008" y="3571876"/>
            <a:ext cx="3428992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Этот код позволяет: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Временно перейти в 2D (как в графическом редакторе) для удобного вывода текста по пиксельным координатам.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Не испортить 3D‑сцену: после вывода текста все настройки (проекция, положение объектов) возвращаются к исходному состоянию.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Избежать наложения трансформаций: без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glPush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glPop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текст мог бы наследовать повороты/масштабы 3D‑объектов, а 3D‑объекты — «запомнить» 2D‑сдвиги.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785786" y="6488668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Вывод 2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D-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текста на экран</a:t>
            </a:r>
            <a:endParaRPr lang="ru-RU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215074" y="714356"/>
            <a:ext cx="29289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Функция получает строку и координаты.</a:t>
            </a:r>
          </a:p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Устанавливает начальную позицию вывода в 3D‑пространстве.</a:t>
            </a:r>
          </a:p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Посимвольно проходит по строке.</a:t>
            </a:r>
          </a:p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Для каждого символа вызывает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glutBitmapCharacter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, который:</a:t>
            </a:r>
          </a:p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берёт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глиф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(изображение символа) из встроенного шрифта;</a:t>
            </a:r>
          </a:p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выводит его в текущей растровой позиции;</a:t>
            </a:r>
          </a:p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автоматически сдвигает позицию для следующего символа.</a:t>
            </a:r>
          </a:p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Цикл завершается при достижении конца строки (\0).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Текстуры</a:t>
            </a:r>
            <a:endParaRPr lang="ru-RU" sz="4000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14356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stb_image.h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 это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однофайловая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header‑only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библиотека на языке C для загрузки и декодирования изображений различных форматов в проекты на C/C++.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Ключевые особенности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Header‑only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не требует отдельной компиляции — достаточно подключить заголовочный файл.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Минималистичная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один файл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stb_image.h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(нет зависимостей).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Кроссплатформенная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работает на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macOS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др.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Простота интеграции: не нужно собирать библиотеку, линковать и т. п.</a:t>
            </a:r>
          </a:p>
        </p:txBody>
      </p:sp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0" y="4803485"/>
            <a:ext cx="9144000" cy="147732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Как использовать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Скачайте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файл 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stb_image.h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с официального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репозитория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Поместите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его в папку вашего проекта.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Определите макрос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STB_IMAGE_IMPLEMENTATION 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один раз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в одном .cpp-файле перед включением заголовка: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ru-RU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232245"/>
            <a:ext cx="4929190" cy="625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0" y="3000372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Преимущества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Простота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один файл, нет сборочных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Скорость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оптимизированный код для быстрого декодирования.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Малый объём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подходит для встраиваемых систем и небольших проектов.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Лицензия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Domain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(можно использовать в коммерческих проектах без ограничений).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Текстуры</a:t>
            </a:r>
            <a:endParaRPr lang="ru-RU" sz="4000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14356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void </a:t>
            </a:r>
            <a:r>
              <a:rPr lang="en-US" b="1" dirty="0" err="1" smtClean="0"/>
              <a:t>Load_Texture</a:t>
            </a:r>
            <a:r>
              <a:rPr lang="en-US" b="1" dirty="0" smtClean="0"/>
              <a:t>(const char* </a:t>
            </a:r>
            <a:r>
              <a:rPr lang="en-US" b="1" dirty="0" err="1" smtClean="0"/>
              <a:t>fileName</a:t>
            </a:r>
            <a:r>
              <a:rPr lang="en-US" b="1" dirty="0" smtClean="0"/>
              <a:t>, </a:t>
            </a:r>
            <a:r>
              <a:rPr lang="en-US" b="1" dirty="0" err="1" smtClean="0"/>
              <a:t>GLuint</a:t>
            </a:r>
            <a:r>
              <a:rPr lang="en-US" b="1" dirty="0" smtClean="0"/>
              <a:t>* </a:t>
            </a:r>
            <a:r>
              <a:rPr lang="en-US" b="1" dirty="0" err="1" smtClean="0"/>
              <a:t>textureID</a:t>
            </a:r>
            <a:r>
              <a:rPr lang="en-US" b="1" dirty="0" smtClean="0"/>
              <a:t>) {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int</a:t>
            </a:r>
            <a:r>
              <a:rPr lang="en-US" b="1" dirty="0" smtClean="0"/>
              <a:t> width, height, channels;</a:t>
            </a:r>
          </a:p>
          <a:p>
            <a:r>
              <a:rPr lang="en-US" b="1" dirty="0" smtClean="0"/>
              <a:t>    unsigned char* data = </a:t>
            </a:r>
            <a:r>
              <a:rPr lang="en-US" b="1" dirty="0" err="1" smtClean="0"/>
              <a:t>stbi_load</a:t>
            </a:r>
            <a:r>
              <a:rPr lang="en-US" b="1" dirty="0" smtClean="0"/>
              <a:t>(</a:t>
            </a:r>
            <a:r>
              <a:rPr lang="en-US" b="1" dirty="0" err="1" smtClean="0"/>
              <a:t>fileName</a:t>
            </a:r>
            <a:r>
              <a:rPr lang="en-US" b="1" dirty="0" smtClean="0"/>
              <a:t>, &amp;width, &amp;height, &amp;channels, 0);</a:t>
            </a:r>
          </a:p>
          <a:p>
            <a:r>
              <a:rPr lang="en-US" b="1" dirty="0" smtClean="0"/>
              <a:t>    if (!data) {</a:t>
            </a:r>
          </a:p>
          <a:p>
            <a:r>
              <a:rPr lang="en-US" b="1" dirty="0" smtClean="0"/>
              <a:t>        </a:t>
            </a:r>
            <a:r>
              <a:rPr lang="en-US" b="1" dirty="0" err="1" smtClean="0"/>
              <a:t>fprintf</a:t>
            </a:r>
            <a:r>
              <a:rPr lang="en-US" b="1" dirty="0" smtClean="0"/>
              <a:t>(</a:t>
            </a:r>
            <a:r>
              <a:rPr lang="en-US" b="1" dirty="0" err="1" smtClean="0"/>
              <a:t>stderr</a:t>
            </a:r>
            <a:r>
              <a:rPr lang="en-US" b="1" dirty="0" smtClean="0"/>
              <a:t>, "Failed to load image: %s\n", </a:t>
            </a:r>
            <a:r>
              <a:rPr lang="en-US" b="1" dirty="0" err="1" smtClean="0"/>
              <a:t>fileName</a:t>
            </a:r>
            <a:r>
              <a:rPr lang="en-US" b="1" dirty="0" smtClean="0"/>
              <a:t>);</a:t>
            </a:r>
          </a:p>
          <a:p>
            <a:r>
              <a:rPr lang="en-US" b="1" dirty="0" smtClean="0"/>
              <a:t>        return;</a:t>
            </a:r>
          </a:p>
          <a:p>
            <a:r>
              <a:rPr lang="en-US" b="1" dirty="0" smtClean="0"/>
              <a:t>    }</a:t>
            </a:r>
          </a:p>
          <a:p>
            <a:r>
              <a:rPr lang="en-US" b="1" dirty="0" smtClean="0"/>
              <a:t>    // </a:t>
            </a:r>
            <a:r>
              <a:rPr lang="ru-RU" b="1" dirty="0" smtClean="0"/>
              <a:t>Генерируем </a:t>
            </a:r>
            <a:r>
              <a:rPr lang="en-US" b="1" dirty="0" smtClean="0"/>
              <a:t>ID </a:t>
            </a:r>
            <a:r>
              <a:rPr lang="ru-RU" b="1" dirty="0" smtClean="0"/>
              <a:t>текстуры</a:t>
            </a:r>
          </a:p>
          <a:p>
            <a:r>
              <a:rPr lang="ru-RU" b="1" dirty="0" smtClean="0"/>
              <a:t>    </a:t>
            </a:r>
            <a:r>
              <a:rPr lang="en-US" b="1" dirty="0" err="1" smtClean="0"/>
              <a:t>glGenTextures</a:t>
            </a:r>
            <a:r>
              <a:rPr lang="en-US" b="1" dirty="0" smtClean="0"/>
              <a:t>(1, </a:t>
            </a:r>
            <a:r>
              <a:rPr lang="en-US" b="1" dirty="0" err="1" smtClean="0"/>
              <a:t>textureID</a:t>
            </a:r>
            <a:r>
              <a:rPr lang="en-US" b="1" dirty="0" smtClean="0"/>
              <a:t>);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glBindTexture</a:t>
            </a:r>
            <a:r>
              <a:rPr lang="en-US" b="1" dirty="0" smtClean="0"/>
              <a:t>(GL_TEXTURE_2D, *</a:t>
            </a:r>
            <a:r>
              <a:rPr lang="en-US" b="1" dirty="0" err="1" smtClean="0"/>
              <a:t>textureID</a:t>
            </a:r>
            <a:r>
              <a:rPr lang="en-US" b="1" dirty="0" smtClean="0"/>
              <a:t>);</a:t>
            </a:r>
          </a:p>
          <a:p>
            <a:r>
              <a:rPr lang="en-US" b="1" dirty="0" smtClean="0"/>
              <a:t>    // </a:t>
            </a:r>
            <a:r>
              <a:rPr lang="ru-RU" b="1" dirty="0" smtClean="0"/>
              <a:t>Параметры </a:t>
            </a:r>
            <a:r>
              <a:rPr lang="ru-RU" b="1" dirty="0" err="1" smtClean="0"/>
              <a:t>текстурирования</a:t>
            </a:r>
            <a:endParaRPr lang="ru-RU" b="1" dirty="0" smtClean="0"/>
          </a:p>
          <a:p>
            <a:r>
              <a:rPr lang="ru-RU" b="1" dirty="0" smtClean="0"/>
              <a:t>    </a:t>
            </a:r>
            <a:r>
              <a:rPr lang="en-US" b="1" dirty="0" err="1" smtClean="0"/>
              <a:t>glTexParameteri</a:t>
            </a:r>
            <a:r>
              <a:rPr lang="en-US" b="1" dirty="0" smtClean="0"/>
              <a:t>(GL_TEXTURE_2D, GL_TEXTURE_WRAP_S, GL_REPEAT);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glTexParameteri</a:t>
            </a:r>
            <a:r>
              <a:rPr lang="en-US" b="1" dirty="0" smtClean="0"/>
              <a:t>(GL_TEXTURE_2D, GL_TEXTURE_WRAP_T, GL_REPEAT);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glTexParameteri</a:t>
            </a:r>
            <a:r>
              <a:rPr lang="en-US" b="1" dirty="0" smtClean="0"/>
              <a:t>(GL_TEXTURE_2D, GL_TEXTURE_MIN_FILTER, GL_LINEAR);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glTexParameteri</a:t>
            </a:r>
            <a:r>
              <a:rPr lang="en-US" b="1" dirty="0" smtClean="0"/>
              <a:t>(GL_TEXTURE_2D, GL_TEXTURE_MAG_FILTER, GL_LINEAR);</a:t>
            </a:r>
          </a:p>
          <a:p>
            <a:r>
              <a:rPr lang="en-US" b="1" dirty="0" smtClean="0"/>
              <a:t>    // </a:t>
            </a:r>
            <a:r>
              <a:rPr lang="ru-RU" b="1" dirty="0" smtClean="0"/>
              <a:t>Определяем формат на основе количества каналов</a:t>
            </a:r>
          </a:p>
          <a:p>
            <a:r>
              <a:rPr lang="ru-RU" b="1" dirty="0" smtClean="0"/>
              <a:t>    </a:t>
            </a:r>
            <a:r>
              <a:rPr lang="en-US" b="1" dirty="0" err="1" smtClean="0"/>
              <a:t>GLenum</a:t>
            </a:r>
            <a:r>
              <a:rPr lang="en-US" b="1" dirty="0" smtClean="0"/>
              <a:t> format = (channels == 4) ? GL_RGBA : GL_RGB;</a:t>
            </a:r>
          </a:p>
          <a:p>
            <a:r>
              <a:rPr lang="en-US" b="1" dirty="0" smtClean="0"/>
              <a:t>    glTexImage2D(GL_TEXTURE_2D, 0, format, width, height, 0, format, GL_UNSIGNED_BYTE, data);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stbi_image_free</a:t>
            </a:r>
            <a:r>
              <a:rPr lang="en-US" b="1" dirty="0" smtClean="0"/>
              <a:t>(data);</a:t>
            </a:r>
          </a:p>
          <a:p>
            <a:r>
              <a:rPr lang="en-US" b="1" dirty="0" smtClean="0"/>
              <a:t>}</a:t>
            </a:r>
            <a:endParaRPr lang="ru-RU" dirty="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ru-RU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Текстуры</a:t>
            </a:r>
            <a:endParaRPr lang="ru-RU" sz="4000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14356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// </a:t>
            </a:r>
            <a:r>
              <a:rPr lang="ru-RU" b="1" dirty="0" err="1" smtClean="0"/>
              <a:t>Отрисовка</a:t>
            </a:r>
            <a:r>
              <a:rPr lang="ru-RU" b="1" dirty="0" smtClean="0"/>
              <a:t> </a:t>
            </a:r>
            <a:r>
              <a:rPr lang="ru-RU" b="1" dirty="0" err="1" smtClean="0"/>
              <a:t>текстурированной</a:t>
            </a:r>
            <a:r>
              <a:rPr lang="ru-RU" b="1" dirty="0" smtClean="0"/>
              <a:t> сферы</a:t>
            </a:r>
          </a:p>
          <a:p>
            <a:r>
              <a:rPr lang="en-US" b="1" dirty="0" smtClean="0"/>
              <a:t>void </a:t>
            </a:r>
            <a:r>
              <a:rPr lang="en-US" b="1" dirty="0" err="1" smtClean="0"/>
              <a:t>drawTexturedSphere</a:t>
            </a:r>
            <a:r>
              <a:rPr lang="en-US" b="1" dirty="0" smtClean="0"/>
              <a:t>() {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glEnable</a:t>
            </a:r>
            <a:r>
              <a:rPr lang="en-US" b="1" dirty="0" smtClean="0"/>
              <a:t>(GL_TEXTURE_2D);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GLUquadric</a:t>
            </a:r>
            <a:r>
              <a:rPr lang="en-US" b="1" dirty="0" smtClean="0"/>
              <a:t>* quadric = </a:t>
            </a:r>
            <a:r>
              <a:rPr lang="en-US" b="1" dirty="0" err="1" smtClean="0"/>
              <a:t>gluNewQuadric</a:t>
            </a:r>
            <a:r>
              <a:rPr lang="en-US" b="1" dirty="0" smtClean="0"/>
              <a:t>();</a:t>
            </a:r>
          </a:p>
          <a:p>
            <a:r>
              <a:rPr lang="en-US" b="1" dirty="0" smtClean="0"/>
              <a:t>    // </a:t>
            </a:r>
            <a:r>
              <a:rPr lang="ru-RU" b="1" dirty="0" smtClean="0"/>
              <a:t>Включаем генерацию текстурных координат</a:t>
            </a:r>
          </a:p>
          <a:p>
            <a:r>
              <a:rPr lang="ru-RU" b="1" dirty="0" smtClean="0"/>
              <a:t>    </a:t>
            </a:r>
            <a:r>
              <a:rPr lang="en-US" b="1" dirty="0" err="1" smtClean="0"/>
              <a:t>gluQuadricTexture</a:t>
            </a:r>
            <a:r>
              <a:rPr lang="en-US" b="1" dirty="0" smtClean="0"/>
              <a:t>(quadric, GL_TRUE);</a:t>
            </a:r>
          </a:p>
          <a:p>
            <a:r>
              <a:rPr lang="en-US" b="1" dirty="0" smtClean="0"/>
              <a:t>    // </a:t>
            </a:r>
            <a:r>
              <a:rPr lang="ru-RU" b="1" dirty="0" smtClean="0"/>
              <a:t>Применяем текстуру</a:t>
            </a:r>
          </a:p>
          <a:p>
            <a:r>
              <a:rPr lang="ru-RU" b="1" dirty="0" smtClean="0"/>
              <a:t>    </a:t>
            </a:r>
            <a:r>
              <a:rPr lang="en-US" b="1" dirty="0" err="1" smtClean="0"/>
              <a:t>Load_Texture</a:t>
            </a:r>
            <a:r>
              <a:rPr lang="en-US" b="1" dirty="0" smtClean="0"/>
              <a:t>("D:/128.bmp", &amp;</a:t>
            </a:r>
            <a:r>
              <a:rPr lang="en-US" b="1" dirty="0" err="1" smtClean="0"/>
              <a:t>textureID</a:t>
            </a:r>
            <a:r>
              <a:rPr lang="en-US" b="1" dirty="0" smtClean="0"/>
              <a:t>);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glBindTexture</a:t>
            </a:r>
            <a:r>
              <a:rPr lang="en-US" b="1" dirty="0" smtClean="0"/>
              <a:t>(GL_TEXTURE_2D, </a:t>
            </a:r>
            <a:r>
              <a:rPr lang="en-US" b="1" dirty="0" err="1" smtClean="0"/>
              <a:t>textureID</a:t>
            </a:r>
            <a:r>
              <a:rPr lang="en-US" b="1" dirty="0" smtClean="0"/>
              <a:t>);</a:t>
            </a:r>
          </a:p>
          <a:p>
            <a:r>
              <a:rPr lang="en-US" b="1" dirty="0" smtClean="0"/>
              <a:t>    // </a:t>
            </a:r>
            <a:r>
              <a:rPr lang="ru-RU" b="1" dirty="0" smtClean="0"/>
              <a:t>Рисуем сферу: </a:t>
            </a:r>
            <a:r>
              <a:rPr lang="en-US" b="1" dirty="0" err="1" smtClean="0"/>
              <a:t>baseRadius</a:t>
            </a:r>
            <a:r>
              <a:rPr lang="en-US" b="1" dirty="0" smtClean="0"/>
              <a:t>=1.0, </a:t>
            </a:r>
            <a:r>
              <a:rPr lang="en-US" b="1" dirty="0" err="1" smtClean="0"/>
              <a:t>topRadius</a:t>
            </a:r>
            <a:r>
              <a:rPr lang="en-US" b="1" dirty="0" smtClean="0"/>
              <a:t>=0.0, height=1.0, slices=20, stacks=20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gluSphere</a:t>
            </a:r>
            <a:r>
              <a:rPr lang="en-US" b="1" dirty="0" smtClean="0"/>
              <a:t>(quadric, 0.1, 20, 20); //</a:t>
            </a:r>
            <a:r>
              <a:rPr lang="ru-RU" b="1" dirty="0" smtClean="0"/>
              <a:t>также есть </a:t>
            </a:r>
            <a:r>
              <a:rPr lang="en-US" b="1" dirty="0" err="1" smtClean="0"/>
              <a:t>gluCylinder</a:t>
            </a:r>
            <a:r>
              <a:rPr lang="en-US" b="1" dirty="0" smtClean="0"/>
              <a:t>, </a:t>
            </a:r>
            <a:r>
              <a:rPr lang="en-US" b="1" dirty="0" err="1" smtClean="0"/>
              <a:t>gluDisk</a:t>
            </a:r>
            <a:r>
              <a:rPr lang="en-US" b="1" dirty="0" smtClean="0"/>
              <a:t> </a:t>
            </a:r>
            <a:r>
              <a:rPr lang="ru-RU" b="1" dirty="0" smtClean="0"/>
              <a:t>и </a:t>
            </a:r>
            <a:r>
              <a:rPr lang="en-US" b="1" dirty="0" err="1" smtClean="0"/>
              <a:t>gluPartialDisk</a:t>
            </a:r>
            <a:endParaRPr lang="en-US" b="1" dirty="0" smtClean="0"/>
          </a:p>
          <a:p>
            <a:r>
              <a:rPr lang="en-US" b="1" dirty="0" smtClean="0"/>
              <a:t>    </a:t>
            </a:r>
            <a:r>
              <a:rPr lang="en-US" b="1" dirty="0" err="1" smtClean="0"/>
              <a:t>gluDeleteQuadric</a:t>
            </a:r>
            <a:r>
              <a:rPr lang="en-US" b="1" dirty="0" smtClean="0"/>
              <a:t>(quadric);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glDisable</a:t>
            </a:r>
            <a:r>
              <a:rPr lang="en-US" b="1" dirty="0" smtClean="0"/>
              <a:t>(GL_TEXTURE_2D);</a:t>
            </a:r>
          </a:p>
          <a:p>
            <a:r>
              <a:rPr lang="en-US" b="1" dirty="0" smtClean="0"/>
              <a:t>}</a:t>
            </a:r>
            <a:endParaRPr lang="ru-RU" dirty="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ru-RU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14612" y="4396447"/>
            <a:ext cx="3652823" cy="2461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1144</Words>
  <Application>Microsoft Office PowerPoint</Application>
  <PresentationFormat>Экран (4:3)</PresentationFormat>
  <Paragraphs>218</Paragraphs>
  <Slides>19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0" baseType="lpstr">
      <vt:lpstr>Тема Office</vt:lpstr>
      <vt:lpstr>Графические возможности C++  настроенные проекты ищите по ссылке https://disk.360.yandex.ru/d/nkJB3dVINNoxqw </vt:lpstr>
      <vt:lpstr>Дополнительные материалы</vt:lpstr>
      <vt:lpstr>WinAPI</vt:lpstr>
      <vt:lpstr>Код программы с потоками</vt:lpstr>
      <vt:lpstr>Код программы с потоками</vt:lpstr>
      <vt:lpstr>Код программы с потоками</vt:lpstr>
      <vt:lpstr>Слайд 7</vt:lpstr>
      <vt:lpstr>Слайд 8</vt:lpstr>
      <vt:lpstr>Дополнительные материалы</vt:lpstr>
      <vt:lpstr>OpenGL + GLUT</vt:lpstr>
      <vt:lpstr>GLUT</vt:lpstr>
      <vt:lpstr>Объяснение базового проекта</vt:lpstr>
      <vt:lpstr>Объяснение базового проекта</vt:lpstr>
      <vt:lpstr>Рисование объектов</vt:lpstr>
      <vt:lpstr>Рисование объектов</vt:lpstr>
      <vt:lpstr>Рисование объектов</vt:lpstr>
      <vt:lpstr>Текстуры</vt:lpstr>
      <vt:lpstr>Текстуры</vt:lpstr>
      <vt:lpstr>Текстуры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Графические возможности C++</dc:title>
  <dc:creator>user</dc:creator>
  <cp:lastModifiedBy>user</cp:lastModifiedBy>
  <cp:revision>3</cp:revision>
  <dcterms:created xsi:type="dcterms:W3CDTF">2026-04-03T22:36:31Z</dcterms:created>
  <dcterms:modified xsi:type="dcterms:W3CDTF">2026-04-03T22:52:41Z</dcterms:modified>
</cp:coreProperties>
</file>