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1" r:id="rId5"/>
    <p:sldId id="262" r:id="rId6"/>
    <p:sldId id="259" r:id="rId7"/>
    <p:sldId id="263" r:id="rId8"/>
    <p:sldId id="260" r:id="rId9"/>
    <p:sldId id="264" r:id="rId10"/>
    <p:sldId id="265" r:id="rId11"/>
    <p:sldId id="266" r:id="rId12"/>
    <p:sldId id="267" r:id="rId1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78" y="-76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4ADE545-B7AC-4E99-9776-43A9C0107120}"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30E3CF-3F40-4A44-AC14-F8E909F67D05}" type="datetimeFigureOut">
              <a:rPr lang="ru-RU" smtClean="0"/>
              <a:pPr/>
              <a:t>09.03.2026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DE545-B7AC-4E99-9776-43A9C0107120}"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iseadvice-it.ru/o-kompanii/blog/articles/obshhie-moduli-v-1s-8-3/?ysclid=mmixqtuosf897188381" TargetMode="External"/><Relationship Id="rId2" Type="http://schemas.openxmlformats.org/officeDocument/2006/relationships/hyperlink" Target="https://stepik.org/course/228003/info"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1082;&#1091;&#1088;&#1089;&#1099;-&#1087;&#1086;-1&#1089;.&#1088;&#1092;/articles/%D0%BC%D0%BE%D0%B4%D1%83%D0%BB%D0%B8-%D0%B2-%D0%BF%D0%BB%D0%B0%D1%82%D1%84%D0%BE%D1%80%D0%BC%D0%B5-1%D1%81-%D0%BF%D1%80%D0%B5%D0%B4%D0%BF%D1%80%D0%B8%D1%8F%D1%82%D0%B8%D0%B5-8-3/?ysclid=mmg66hzvon23830149"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scloud.ru/techinfo_1c_online/sozdanie-vneshney-obrabotki-1s/sozdanie-vneshney-obrabotki-1s/"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Программные модули</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000108"/>
            <a:ext cx="9143998" cy="4524315"/>
          </a:xfrm>
          <a:prstGeom prst="rect">
            <a:avLst/>
          </a:prstGeom>
        </p:spPr>
        <p:txBody>
          <a:bodyPr wrap="square">
            <a:spAutoFit/>
          </a:bodyPr>
          <a:lstStyle/>
          <a:p>
            <a:pPr algn="just"/>
            <a:r>
              <a:rPr lang="ru-RU" sz="3200" b="1" dirty="0" smtClean="0">
                <a:latin typeface="Times New Roman" pitchFamily="18" charset="0"/>
                <a:cs typeface="Times New Roman" pitchFamily="18" charset="0"/>
              </a:rPr>
              <a:t>Встроенный язык программирования 1С:Предприятие</a:t>
            </a:r>
            <a:endParaRPr lang="en-US" sz="3200" dirty="0" smtClean="0">
              <a:latin typeface="Times New Roman" pitchFamily="18" charset="0"/>
              <a:cs typeface="Times New Roman" pitchFamily="18" charset="0"/>
              <a:hlinkClick r:id="rId2"/>
            </a:endParaRPr>
          </a:p>
          <a:p>
            <a:pPr algn="just"/>
            <a:r>
              <a:rPr lang="en-US" sz="3200" dirty="0" smtClean="0">
                <a:latin typeface="Times New Roman" pitchFamily="18" charset="0"/>
                <a:cs typeface="Times New Roman" pitchFamily="18" charset="0"/>
                <a:hlinkClick r:id="rId2"/>
              </a:rPr>
              <a:t>https://stepik.org/course/228003/info</a:t>
            </a:r>
            <a:endParaRPr lang="en-US" sz="3200" dirty="0" smtClean="0">
              <a:latin typeface="Times New Roman" pitchFamily="18" charset="0"/>
              <a:cs typeface="Times New Roman" pitchFamily="18" charset="0"/>
            </a:endParaRPr>
          </a:p>
          <a:p>
            <a:pPr algn="just"/>
            <a:endParaRPr lang="en-US" sz="3200" dirty="0" smtClean="0">
              <a:latin typeface="Times New Roman" pitchFamily="18" charset="0"/>
              <a:cs typeface="Times New Roman" pitchFamily="18" charset="0"/>
            </a:endParaRPr>
          </a:p>
          <a:p>
            <a:pPr algn="just"/>
            <a:r>
              <a:rPr lang="ru-RU" sz="3200" b="1" dirty="0" smtClean="0">
                <a:latin typeface="Times New Roman" pitchFamily="18" charset="0"/>
                <a:cs typeface="Times New Roman" pitchFamily="18" charset="0"/>
              </a:rPr>
              <a:t>Общие модули в </a:t>
            </a:r>
            <a:r>
              <a:rPr lang="ru-RU" sz="3200" b="1" smtClean="0">
                <a:latin typeface="Times New Roman" pitchFamily="18" charset="0"/>
                <a:cs typeface="Times New Roman" pitchFamily="18" charset="0"/>
              </a:rPr>
              <a:t>1С 8.3</a:t>
            </a:r>
            <a:endParaRPr lang="en-US" sz="3200" dirty="0" smtClean="0">
              <a:latin typeface="Times New Roman" pitchFamily="18" charset="0"/>
              <a:cs typeface="Times New Roman" pitchFamily="18" charset="0"/>
            </a:endParaRPr>
          </a:p>
          <a:p>
            <a:pPr algn="just"/>
            <a:r>
              <a:rPr lang="en-US" sz="3200" dirty="0" smtClean="0">
                <a:latin typeface="Times New Roman" pitchFamily="18" charset="0"/>
                <a:cs typeface="Times New Roman" pitchFamily="18" charset="0"/>
                <a:hlinkClick r:id="rId3"/>
              </a:rPr>
              <a:t>https://wiseadvice-it.ru/o-kompanii/blog/articles/obshhie-moduli-v-1s-8-3/?ysclid=mmixqtuosf897188381</a:t>
            </a:r>
            <a:endParaRPr lang="en-US" sz="3200" dirty="0" smtClean="0">
              <a:latin typeface="Times New Roman" pitchFamily="18" charset="0"/>
              <a:cs typeface="Times New Roman" pitchFamily="18" charset="0"/>
            </a:endParaRPr>
          </a:p>
          <a:p>
            <a:pPr algn="just"/>
            <a:endParaRPr lang="ru-RU" sz="3200" dirty="0">
              <a:latin typeface="Times New Roman" pitchFamily="18" charset="0"/>
              <a:cs typeface="Times New Roman" pitchFamily="18" charset="0"/>
            </a:endParaRPr>
          </a:p>
        </p:txBody>
      </p:sp>
      <p:sp>
        <p:nvSpPr>
          <p:cNvPr id="3" name="Заголовок 1"/>
          <p:cNvSpPr txBox="1">
            <a:spLocks/>
          </p:cNvSpPr>
          <p:nvPr/>
        </p:nvSpPr>
        <p:spPr>
          <a:xfrm>
            <a:off x="457200" y="-24"/>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0" i="0" u="none" strike="noStrike" kern="1200" cap="none" spc="0" normalizeH="0" baseline="0" noProof="0" dirty="0" smtClean="0">
                <a:ln>
                  <a:noFill/>
                </a:ln>
                <a:solidFill>
                  <a:schemeClr val="tx1"/>
                </a:solidFill>
                <a:effectLst/>
                <a:uLnTx/>
                <a:uFillTx/>
                <a:latin typeface="+mj-lt"/>
                <a:ea typeface="+mj-ea"/>
                <a:cs typeface="+mj-cs"/>
              </a:rPr>
              <a:t>Дополнительные материалы</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1754326"/>
          </a:xfrm>
          <a:prstGeom prst="rect">
            <a:avLst/>
          </a:prstGeom>
        </p:spPr>
        <p:txBody>
          <a:bodyPr wrap="square">
            <a:spAutoFit/>
          </a:bodyPr>
          <a:lstStyle/>
          <a:p>
            <a:pPr algn="ctr"/>
            <a:r>
              <a:rPr lang="en-US" dirty="0" smtClean="0">
                <a:hlinkClick r:id="rId2"/>
              </a:rPr>
              <a:t>https://</a:t>
            </a:r>
            <a:r>
              <a:rPr lang="ru-RU" dirty="0" smtClean="0">
                <a:hlinkClick r:id="rId2"/>
              </a:rPr>
              <a:t>курсы-по-1с.рф/</a:t>
            </a:r>
            <a:r>
              <a:rPr lang="en-US" dirty="0" smtClean="0">
                <a:hlinkClick r:id="rId2"/>
              </a:rPr>
              <a:t>articles/%D0%BC%D0%BE%D0%B4%D1%83%D0%BB%D0%B8-%D0%B2-%D0%BF%D0%BB%D0%B0%D1%82%D1%84%D0%BE%D1%80%D0%BC%D0%B5-1%D1%81-%D0%BF%D1%80%D0%B5%D0%B4%D0%BF%D1%80%D0%B8%D1%8F%D1%82%D0%B8%D0%B5-8-3/?</a:t>
            </a:r>
            <a:r>
              <a:rPr lang="en-US" dirty="0" err="1" smtClean="0">
                <a:hlinkClick r:id="rId2"/>
              </a:rPr>
              <a:t>ysclid</a:t>
            </a:r>
            <a:r>
              <a:rPr lang="en-US" dirty="0" smtClean="0">
                <a:hlinkClick r:id="rId2"/>
              </a:rPr>
              <a:t>=mmg66hzvon23830149</a:t>
            </a:r>
            <a:endParaRPr lang="en-US" dirty="0" smtClean="0"/>
          </a:p>
          <a:p>
            <a:pPr algn="ctr"/>
            <a:endParaRPr lang="ru-RU" dirty="0"/>
          </a:p>
        </p:txBody>
      </p:sp>
      <p:pic>
        <p:nvPicPr>
          <p:cNvPr id="1030" name="Picture 6" descr="https://ucarecdn.stepik.net/6fd0e5b2-c56b-4f87-8c89-41ee10e08ad9/"/>
          <p:cNvPicPr>
            <a:picLocks noChangeAspect="1" noChangeArrowheads="1"/>
          </p:cNvPicPr>
          <p:nvPr/>
        </p:nvPicPr>
        <p:blipFill>
          <a:blip r:embed="rId3"/>
          <a:srcRect b="9630"/>
          <a:stretch>
            <a:fillRect/>
          </a:stretch>
        </p:blipFill>
        <p:spPr bwMode="auto">
          <a:xfrm>
            <a:off x="1000100" y="1643050"/>
            <a:ext cx="7053255" cy="469274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blob:https://web.telegram.org/09e5c57d-c007-4d97-9ce8-2d72360aeb6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027" name="Picture 3"/>
          <p:cNvPicPr>
            <a:picLocks noChangeAspect="1" noChangeArrowheads="1"/>
          </p:cNvPicPr>
          <p:nvPr/>
        </p:nvPicPr>
        <p:blipFill>
          <a:blip r:embed="rId2"/>
          <a:srcRect/>
          <a:stretch>
            <a:fillRect/>
          </a:stretch>
        </p:blipFill>
        <p:spPr bwMode="auto">
          <a:xfrm>
            <a:off x="1142976" y="-23834"/>
            <a:ext cx="6881834" cy="6881834"/>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a:srcRect/>
          <a:stretch>
            <a:fillRect/>
          </a:stretch>
        </p:blipFill>
        <p:spPr bwMode="auto">
          <a:xfrm>
            <a:off x="285720" y="0"/>
            <a:ext cx="8557961" cy="3420987"/>
          </a:xfrm>
          <a:prstGeom prst="rect">
            <a:avLst/>
          </a:prstGeom>
          <a:noFill/>
          <a:ln w="9525">
            <a:noFill/>
            <a:miter lim="800000"/>
            <a:headEnd/>
            <a:tailEnd/>
          </a:ln>
        </p:spPr>
      </p:pic>
      <p:pic>
        <p:nvPicPr>
          <p:cNvPr id="3" name="Picture 4" descr="https://ucarecdn.stepik.net/fb912db7-c91f-4b18-aee5-e91fd991efaa/"/>
          <p:cNvPicPr>
            <a:picLocks noChangeAspect="1" noChangeArrowheads="1"/>
          </p:cNvPicPr>
          <p:nvPr/>
        </p:nvPicPr>
        <p:blipFill>
          <a:blip r:embed="rId3"/>
          <a:srcRect/>
          <a:stretch>
            <a:fillRect/>
          </a:stretch>
        </p:blipFill>
        <p:spPr bwMode="auto">
          <a:xfrm>
            <a:off x="0" y="3377740"/>
            <a:ext cx="6143636" cy="3480260"/>
          </a:xfrm>
          <a:prstGeom prst="rect">
            <a:avLst/>
          </a:prstGeom>
          <a:noFill/>
        </p:spPr>
      </p:pic>
      <p:sp>
        <p:nvSpPr>
          <p:cNvPr id="4" name="Прямоугольник 3"/>
          <p:cNvSpPr/>
          <p:nvPr/>
        </p:nvSpPr>
        <p:spPr>
          <a:xfrm>
            <a:off x="6143636" y="3429000"/>
            <a:ext cx="3000364" cy="1200329"/>
          </a:xfrm>
          <a:prstGeom prst="rect">
            <a:avLst/>
          </a:prstGeom>
        </p:spPr>
        <p:txBody>
          <a:bodyPr wrap="square">
            <a:spAutoFit/>
          </a:bodyPr>
          <a:lstStyle/>
          <a:p>
            <a:pPr algn="ctr"/>
            <a:r>
              <a:rPr lang="ru-RU" b="1" dirty="0" smtClean="0"/>
              <a:t>Система выдаст ошибку, если переменная будет названа следующим образом:</a:t>
            </a:r>
            <a:endParaRPr lang="ru-RU" dirty="0"/>
          </a:p>
        </p:txBody>
      </p:sp>
      <p:pic>
        <p:nvPicPr>
          <p:cNvPr id="19458" name="Picture 2"/>
          <p:cNvPicPr>
            <a:picLocks noChangeAspect="1" noChangeArrowheads="1"/>
          </p:cNvPicPr>
          <p:nvPr/>
        </p:nvPicPr>
        <p:blipFill>
          <a:blip r:embed="rId4"/>
          <a:srcRect t="15625"/>
          <a:stretch>
            <a:fillRect/>
          </a:stretch>
        </p:blipFill>
        <p:spPr bwMode="auto">
          <a:xfrm>
            <a:off x="6429388" y="4643446"/>
            <a:ext cx="2513171" cy="1928802"/>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 y="214290"/>
            <a:ext cx="9144000" cy="5909310"/>
          </a:xfrm>
          <a:prstGeom prst="rect">
            <a:avLst/>
          </a:prstGeom>
          <a:noFill/>
        </p:spPr>
        <p:txBody>
          <a:bodyPr wrap="square" rtlCol="0">
            <a:spAutoFit/>
          </a:bodyPr>
          <a:lstStyle/>
          <a:p>
            <a:pPr algn="just"/>
            <a:r>
              <a:rPr lang="ru-RU" dirty="0" smtClean="0">
                <a:latin typeface="Times New Roman" pitchFamily="18" charset="0"/>
                <a:cs typeface="Times New Roman" pitchFamily="18" charset="0"/>
              </a:rPr>
              <a:t>Напишите программу, в модуле управляемого приложения получает имя пользователя из переменной и системное время и выводит сообщение в следующем виде:</a:t>
            </a:r>
          </a:p>
          <a:p>
            <a:pPr algn="just"/>
            <a:r>
              <a:rPr lang="ru-RU" dirty="0" smtClean="0">
                <a:latin typeface="Times New Roman" pitchFamily="18" charset="0"/>
                <a:cs typeface="Times New Roman" pitchFamily="18" charset="0"/>
              </a:rPr>
              <a:t>Если текущий час больше 5, но меньше 12 – Доброе утро</a:t>
            </a:r>
          </a:p>
          <a:p>
            <a:pPr algn="just"/>
            <a:r>
              <a:rPr lang="ru-RU" dirty="0" err="1" smtClean="0">
                <a:latin typeface="Times New Roman" pitchFamily="18" charset="0"/>
                <a:cs typeface="Times New Roman" pitchFamily="18" charset="0"/>
              </a:rPr>
              <a:t>ИначеЕсли</a:t>
            </a:r>
            <a:r>
              <a:rPr lang="ru-RU" dirty="0" smtClean="0">
                <a:latin typeface="Times New Roman" pitchFamily="18" charset="0"/>
                <a:cs typeface="Times New Roman" pitchFamily="18" charset="0"/>
              </a:rPr>
              <a:t> час больше 12, но меньше 18 – Добрый день</a:t>
            </a:r>
          </a:p>
          <a:p>
            <a:pPr algn="just"/>
            <a:r>
              <a:rPr lang="ru-RU" dirty="0" err="1" smtClean="0">
                <a:latin typeface="Times New Roman" pitchFamily="18" charset="0"/>
                <a:cs typeface="Times New Roman" pitchFamily="18" charset="0"/>
              </a:rPr>
              <a:t>ИначеЕсли</a:t>
            </a:r>
            <a:r>
              <a:rPr lang="ru-RU" dirty="0" smtClean="0">
                <a:latin typeface="Times New Roman" pitchFamily="18" charset="0"/>
                <a:cs typeface="Times New Roman" pitchFamily="18" charset="0"/>
              </a:rPr>
              <a:t> час больше 18, но меньше 23 – Добрый вечер</a:t>
            </a:r>
          </a:p>
          <a:p>
            <a:pPr algn="just"/>
            <a:r>
              <a:rPr lang="ru-RU" dirty="0" smtClean="0">
                <a:latin typeface="Times New Roman" pitchFamily="18" charset="0"/>
                <a:cs typeface="Times New Roman" pitchFamily="18" charset="0"/>
              </a:rPr>
              <a:t>Иначе Доброй ночи</a:t>
            </a:r>
          </a:p>
          <a:p>
            <a:pPr algn="just"/>
            <a:endParaRPr lang="ru-RU"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В Блоке объявления переменных должны быть имя пользователя и текущая дата</a:t>
            </a:r>
          </a:p>
          <a:p>
            <a:pPr algn="just"/>
            <a:r>
              <a:rPr lang="ru-RU" dirty="0" smtClean="0">
                <a:latin typeface="Times New Roman" pitchFamily="18" charset="0"/>
                <a:cs typeface="Times New Roman" pitchFamily="18" charset="0"/>
              </a:rPr>
              <a:t>Функция </a:t>
            </a:r>
            <a:r>
              <a:rPr lang="ru-RU" dirty="0" err="1" smtClean="0">
                <a:latin typeface="Times New Roman" pitchFamily="18" charset="0"/>
                <a:cs typeface="Times New Roman" pitchFamily="18" charset="0"/>
              </a:rPr>
              <a:t>ПриветствиеПользователя</a:t>
            </a:r>
            <a:r>
              <a:rPr lang="ru-RU" dirty="0" smtClean="0">
                <a:latin typeface="Times New Roman" pitchFamily="18" charset="0"/>
                <a:cs typeface="Times New Roman" pitchFamily="18" charset="0"/>
              </a:rPr>
              <a:t> с параметрами имя и время суток</a:t>
            </a:r>
          </a:p>
          <a:p>
            <a:pPr algn="just"/>
            <a:r>
              <a:rPr lang="ru-RU" dirty="0" smtClean="0">
                <a:latin typeface="Times New Roman" pitchFamily="18" charset="0"/>
                <a:cs typeface="Times New Roman" pitchFamily="18" charset="0"/>
              </a:rPr>
              <a:t>Основная программа с кодом:</a:t>
            </a:r>
          </a:p>
          <a:p>
            <a:pPr algn="just"/>
            <a:r>
              <a:rPr lang="ru-RU" dirty="0" smtClean="0">
                <a:latin typeface="Times New Roman" pitchFamily="18" charset="0"/>
                <a:cs typeface="Times New Roman" pitchFamily="18" charset="0"/>
              </a:rPr>
              <a:t>// 3. Основная программа (выполняется при запуске модуля)</a:t>
            </a:r>
          </a:p>
          <a:p>
            <a:pPr algn="just"/>
            <a:r>
              <a:rPr lang="ru-RU" dirty="0" err="1" smtClean="0">
                <a:latin typeface="Courier New" pitchFamily="49" charset="0"/>
                <a:cs typeface="Courier New" pitchFamily="49" charset="0"/>
              </a:rPr>
              <a:t>ИмяПользователя</a:t>
            </a:r>
            <a:r>
              <a:rPr lang="ru-RU" dirty="0" smtClean="0">
                <a:latin typeface="Courier New" pitchFamily="49" charset="0"/>
                <a:cs typeface="Courier New" pitchFamily="49" charset="0"/>
              </a:rPr>
              <a:t> = «…";</a:t>
            </a:r>
          </a:p>
          <a:p>
            <a:pPr algn="just"/>
            <a:r>
              <a:rPr lang="ru-RU" dirty="0" err="1" smtClean="0">
                <a:latin typeface="Courier New" pitchFamily="49" charset="0"/>
                <a:cs typeface="Courier New" pitchFamily="49" charset="0"/>
              </a:rPr>
              <a:t>ТекущаяДата</a:t>
            </a:r>
            <a:r>
              <a:rPr lang="ru-RU" dirty="0" smtClean="0">
                <a:latin typeface="Courier New" pitchFamily="49" charset="0"/>
                <a:cs typeface="Courier New" pitchFamily="49" charset="0"/>
              </a:rPr>
              <a:t> = </a:t>
            </a:r>
            <a:r>
              <a:rPr lang="ru-RU" dirty="0" err="1" smtClean="0">
                <a:latin typeface="Courier New" pitchFamily="49" charset="0"/>
                <a:cs typeface="Courier New" pitchFamily="49" charset="0"/>
              </a:rPr>
              <a:t>ТекущаяДата</a:t>
            </a:r>
            <a:r>
              <a:rPr lang="ru-RU" dirty="0" smtClean="0">
                <a:latin typeface="Courier New" pitchFamily="49" charset="0"/>
                <a:cs typeface="Courier New" pitchFamily="49" charset="0"/>
              </a:rPr>
              <a:t>();</a:t>
            </a:r>
          </a:p>
          <a:p>
            <a:pPr algn="just"/>
            <a:endParaRPr lang="ru-RU" dirty="0" smtClean="0">
              <a:latin typeface="Courier New" pitchFamily="49" charset="0"/>
              <a:cs typeface="Courier New" pitchFamily="49" charset="0"/>
            </a:endParaRPr>
          </a:p>
          <a:p>
            <a:pPr algn="just"/>
            <a:r>
              <a:rPr lang="ru-RU" dirty="0" smtClean="0">
                <a:latin typeface="Courier New" pitchFamily="49" charset="0"/>
                <a:cs typeface="Courier New" pitchFamily="49" charset="0"/>
              </a:rPr>
              <a:t>// Вызываем функцию с параметрами</a:t>
            </a:r>
          </a:p>
          <a:p>
            <a:pPr algn="just"/>
            <a:r>
              <a:rPr lang="ru-RU" dirty="0" err="1" smtClean="0">
                <a:latin typeface="Courier New" pitchFamily="49" charset="0"/>
                <a:cs typeface="Courier New" pitchFamily="49" charset="0"/>
              </a:rPr>
              <a:t>РезультатПриветствия</a:t>
            </a:r>
            <a:r>
              <a:rPr lang="ru-RU" dirty="0" smtClean="0">
                <a:latin typeface="Courier New" pitchFamily="49" charset="0"/>
                <a:cs typeface="Courier New" pitchFamily="49" charset="0"/>
              </a:rPr>
              <a:t> = </a:t>
            </a:r>
            <a:r>
              <a:rPr lang="ru-RU" dirty="0" err="1" smtClean="0">
                <a:latin typeface="Courier New" pitchFamily="49" charset="0"/>
                <a:cs typeface="Courier New" pitchFamily="49" charset="0"/>
              </a:rPr>
              <a:t>ПриветствиеПользователя</a:t>
            </a:r>
            <a:r>
              <a:rPr lang="ru-RU" dirty="0" smtClean="0">
                <a:latin typeface="Courier New" pitchFamily="49" charset="0"/>
                <a:cs typeface="Courier New" pitchFamily="49" charset="0"/>
              </a:rPr>
              <a:t>(</a:t>
            </a:r>
            <a:r>
              <a:rPr lang="ru-RU" dirty="0" err="1" smtClean="0">
                <a:latin typeface="Courier New" pitchFamily="49" charset="0"/>
                <a:cs typeface="Courier New" pitchFamily="49" charset="0"/>
              </a:rPr>
              <a:t>ИмяПользователя</a:t>
            </a:r>
            <a:r>
              <a:rPr lang="ru-RU" dirty="0" smtClean="0">
                <a:latin typeface="Courier New" pitchFamily="49" charset="0"/>
                <a:cs typeface="Courier New" pitchFamily="49" charset="0"/>
              </a:rPr>
              <a:t>, Час(</a:t>
            </a:r>
            <a:r>
              <a:rPr lang="ru-RU" dirty="0" err="1" smtClean="0">
                <a:latin typeface="Courier New" pitchFamily="49" charset="0"/>
                <a:cs typeface="Courier New" pitchFamily="49" charset="0"/>
              </a:rPr>
              <a:t>ТекущаяДата</a:t>
            </a:r>
            <a:r>
              <a:rPr lang="ru-RU" dirty="0" smtClean="0">
                <a:latin typeface="Courier New" pitchFamily="49" charset="0"/>
                <a:cs typeface="Courier New" pitchFamily="49" charset="0"/>
              </a:rPr>
              <a:t>));</a:t>
            </a:r>
          </a:p>
          <a:p>
            <a:pPr algn="just"/>
            <a:endParaRPr lang="ru-RU" dirty="0" smtClean="0">
              <a:latin typeface="Courier New" pitchFamily="49" charset="0"/>
              <a:cs typeface="Courier New" pitchFamily="49" charset="0"/>
            </a:endParaRPr>
          </a:p>
          <a:p>
            <a:pPr algn="just"/>
            <a:r>
              <a:rPr lang="ru-RU" dirty="0" smtClean="0">
                <a:latin typeface="Courier New" pitchFamily="49" charset="0"/>
                <a:cs typeface="Courier New" pitchFamily="49" charset="0"/>
              </a:rPr>
              <a:t>// Показываем результат пользователю</a:t>
            </a:r>
          </a:p>
          <a:p>
            <a:pPr algn="just"/>
            <a:r>
              <a:rPr lang="ru-RU" dirty="0" smtClean="0">
                <a:latin typeface="Courier New" pitchFamily="49" charset="0"/>
                <a:cs typeface="Courier New" pitchFamily="49" charset="0"/>
              </a:rPr>
              <a:t>Сообщить(</a:t>
            </a:r>
            <a:r>
              <a:rPr lang="ru-RU" dirty="0" err="1" smtClean="0">
                <a:latin typeface="Courier New" pitchFamily="49" charset="0"/>
                <a:cs typeface="Courier New" pitchFamily="49" charset="0"/>
              </a:rPr>
              <a:t>РезультатПриветствия</a:t>
            </a:r>
            <a:r>
              <a:rPr lang="ru-RU" dirty="0" smtClean="0">
                <a:latin typeface="Courier New" pitchFamily="49" charset="0"/>
                <a:cs typeface="Courier New" pitchFamily="49" charset="0"/>
              </a:rPr>
              <a:t>);</a:t>
            </a:r>
          </a:p>
          <a:p>
            <a:pPr algn="just"/>
            <a:endParaRPr lang="ru-RU"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1143000"/>
          </a:xfrm>
        </p:spPr>
        <p:txBody>
          <a:bodyPr>
            <a:normAutofit fontScale="90000"/>
          </a:bodyPr>
          <a:lstStyle/>
          <a:p>
            <a:r>
              <a:rPr lang="ru-RU" b="1" dirty="0" smtClean="0"/>
              <a:t>Почему код в редакторах подсвечивается разными цветами?</a:t>
            </a:r>
            <a:endParaRPr lang="ru-RU" dirty="0"/>
          </a:p>
        </p:txBody>
      </p:sp>
      <p:sp>
        <p:nvSpPr>
          <p:cNvPr id="3" name="Прямоугольник 2"/>
          <p:cNvSpPr/>
          <p:nvPr/>
        </p:nvSpPr>
        <p:spPr>
          <a:xfrm>
            <a:off x="0" y="1214422"/>
            <a:ext cx="9144000" cy="4247317"/>
          </a:xfrm>
          <a:prstGeom prst="rect">
            <a:avLst/>
          </a:prstGeom>
        </p:spPr>
        <p:txBody>
          <a:bodyPr wrap="square">
            <a:spAutoFit/>
          </a:bodyPr>
          <a:lstStyle/>
          <a:p>
            <a:pPr algn="just"/>
            <a:r>
              <a:rPr lang="ru-RU" dirty="0" smtClean="0">
                <a:latin typeface="Times New Roman" pitchFamily="18" charset="0"/>
                <a:cs typeface="Times New Roman" pitchFamily="18" charset="0"/>
              </a:rPr>
              <a:t>Красный цвет:</a:t>
            </a:r>
          </a:p>
          <a:p>
            <a:pPr algn="just"/>
            <a:r>
              <a:rPr lang="ru-RU" dirty="0" smtClean="0">
                <a:latin typeface="Times New Roman" pitchFamily="18" charset="0"/>
                <a:cs typeface="Times New Roman" pitchFamily="18" charset="0"/>
              </a:rPr>
              <a:t>   - Используется для выделения **обязательных слов и символов**, таких как ключевые слова языка (например, `Если`, `Тогда`, `Иначе`, `</a:t>
            </a:r>
            <a:r>
              <a:rPr lang="ru-RU" dirty="0" err="1" smtClean="0">
                <a:latin typeface="Times New Roman" pitchFamily="18" charset="0"/>
                <a:cs typeface="Times New Roman" pitchFamily="18" charset="0"/>
              </a:rPr>
              <a:t>КонецЕсли</a:t>
            </a:r>
            <a:r>
              <a:rPr lang="ru-RU" dirty="0" smtClean="0">
                <a:latin typeface="Times New Roman" pitchFamily="18" charset="0"/>
                <a:cs typeface="Times New Roman" pitchFamily="18" charset="0"/>
              </a:rPr>
              <a:t>`, `Процедура`, `Функция` и т.д.).</a:t>
            </a:r>
          </a:p>
          <a:p>
            <a:pPr algn="just"/>
            <a:r>
              <a:rPr lang="ru-RU" dirty="0" smtClean="0">
                <a:latin typeface="Times New Roman" pitchFamily="18" charset="0"/>
                <a:cs typeface="Times New Roman" pitchFamily="18" charset="0"/>
              </a:rPr>
              <a:t>   - Это помогает быстро идентифицировать структурные элементы программы.</a:t>
            </a:r>
          </a:p>
          <a:p>
            <a:pPr algn="just"/>
            <a:r>
              <a:rPr lang="ru-RU" dirty="0" smtClean="0">
                <a:latin typeface="Times New Roman" pitchFamily="18" charset="0"/>
                <a:cs typeface="Times New Roman" pitchFamily="18" charset="0"/>
              </a:rPr>
              <a:t>Синий цвет:</a:t>
            </a:r>
          </a:p>
          <a:p>
            <a:pPr algn="just"/>
            <a:r>
              <a:rPr lang="ru-RU" dirty="0" smtClean="0">
                <a:latin typeface="Times New Roman" pitchFamily="18" charset="0"/>
                <a:cs typeface="Times New Roman" pitchFamily="18" charset="0"/>
              </a:rPr>
              <a:t>   - Применяется для **известных слов конфигурации**, таких как имена объектов метаданных (например, справочники, документы, регистры), методы встроенного языка, предопределенные переменные и т.д.</a:t>
            </a:r>
          </a:p>
          <a:p>
            <a:pPr algn="just"/>
            <a:r>
              <a:rPr lang="ru-RU" dirty="0" smtClean="0">
                <a:latin typeface="Times New Roman" pitchFamily="18" charset="0"/>
                <a:cs typeface="Times New Roman" pitchFamily="18" charset="0"/>
              </a:rPr>
              <a:t>   - Это позволяет разработчику легко отличать элементы конфигурации от других частей кода.</a:t>
            </a:r>
          </a:p>
          <a:p>
            <a:pPr algn="just"/>
            <a:r>
              <a:rPr lang="ru-RU" dirty="0" smtClean="0">
                <a:latin typeface="Times New Roman" pitchFamily="18" charset="0"/>
                <a:cs typeface="Times New Roman" pitchFamily="18" charset="0"/>
              </a:rPr>
              <a:t>Черный цвет:</a:t>
            </a:r>
          </a:p>
          <a:p>
            <a:pPr algn="just"/>
            <a:r>
              <a:rPr lang="ru-RU" dirty="0" smtClean="0">
                <a:latin typeface="Times New Roman" pitchFamily="18" charset="0"/>
                <a:cs typeface="Times New Roman" pitchFamily="18" charset="0"/>
              </a:rPr>
              <a:t>   - Используется для **литералов** (например, строки, числа, даты) и других элементов, которые не относятся к ключевым словам или объектам конфигурации.</a:t>
            </a:r>
          </a:p>
          <a:p>
            <a:pPr algn="just"/>
            <a:r>
              <a:rPr lang="ru-RU" dirty="0" smtClean="0">
                <a:latin typeface="Times New Roman" pitchFamily="18" charset="0"/>
                <a:cs typeface="Times New Roman" pitchFamily="18" charset="0"/>
              </a:rPr>
              <a:t>Чтобы отделить комментарии, используется зелёная подцветка.</a:t>
            </a:r>
            <a:endParaRPr lang="ru-RU" dirty="0">
              <a:latin typeface="Times New Roman" pitchFamily="18" charset="0"/>
              <a:cs typeface="Times New Roman" pitchFamily="18" charset="0"/>
            </a:endParaRPr>
          </a:p>
        </p:txBody>
      </p:sp>
      <p:pic>
        <p:nvPicPr>
          <p:cNvPr id="20482" name="Picture 2"/>
          <p:cNvPicPr>
            <a:picLocks noChangeAspect="1" noChangeArrowheads="1"/>
          </p:cNvPicPr>
          <p:nvPr/>
        </p:nvPicPr>
        <p:blipFill>
          <a:blip r:embed="rId2"/>
          <a:srcRect/>
          <a:stretch>
            <a:fillRect/>
          </a:stretch>
        </p:blipFill>
        <p:spPr bwMode="auto">
          <a:xfrm>
            <a:off x="4324350" y="5857875"/>
            <a:ext cx="4819650" cy="1000125"/>
          </a:xfrm>
          <a:prstGeom prst="rect">
            <a:avLst/>
          </a:prstGeom>
          <a:noFill/>
          <a:ln w="9525">
            <a:noFill/>
            <a:miter lim="800000"/>
            <a:headEnd/>
            <a:tailEnd/>
          </a:ln>
          <a:effectLst/>
        </p:spPr>
      </p:pic>
      <p:sp>
        <p:nvSpPr>
          <p:cNvPr id="5" name="Прямоугольник 4"/>
          <p:cNvSpPr/>
          <p:nvPr/>
        </p:nvSpPr>
        <p:spPr>
          <a:xfrm>
            <a:off x="0" y="5688449"/>
            <a:ext cx="4357686" cy="1169551"/>
          </a:xfrm>
          <a:prstGeom prst="rect">
            <a:avLst/>
          </a:prstGeom>
        </p:spPr>
        <p:txBody>
          <a:bodyPr wrap="square">
            <a:spAutoFit/>
          </a:bodyPr>
          <a:lstStyle/>
          <a:p>
            <a:pPr algn="just"/>
            <a:r>
              <a:rPr lang="ru-RU" sz="1400" dirty="0" smtClean="0">
                <a:latin typeface="Times New Roman" pitchFamily="18" charset="0"/>
                <a:cs typeface="Times New Roman" pitchFamily="18" charset="0"/>
              </a:rPr>
              <a:t>В конфигураторе 1С можно настроить цвета подсветки под свои предпочтения. Это делается через меню следующим образом:</a:t>
            </a:r>
            <a:br>
              <a:rPr lang="ru-RU" sz="1400" dirty="0" smtClean="0">
                <a:latin typeface="Times New Roman" pitchFamily="18" charset="0"/>
                <a:cs typeface="Times New Roman" pitchFamily="18" charset="0"/>
              </a:rPr>
            </a:br>
            <a:r>
              <a:rPr lang="ru-RU" sz="1400" dirty="0" smtClean="0">
                <a:latin typeface="Times New Roman" pitchFamily="18" charset="0"/>
                <a:cs typeface="Times New Roman" pitchFamily="18" charset="0"/>
              </a:rPr>
              <a:t>- **Сервис → Параметры → Модули → Редактирование**.</a:t>
            </a:r>
            <a:endParaRPr lang="ru-RU" sz="1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57214"/>
            <a:ext cx="8229600" cy="1143000"/>
          </a:xfrm>
        </p:spPr>
        <p:txBody>
          <a:bodyPr/>
          <a:lstStyle/>
          <a:p>
            <a:r>
              <a:rPr lang="ru-RU" dirty="0" smtClean="0"/>
              <a:t>Внешняя обработка</a:t>
            </a:r>
            <a:endParaRPr lang="ru-RU" dirty="0"/>
          </a:p>
        </p:txBody>
      </p:sp>
      <p:sp>
        <p:nvSpPr>
          <p:cNvPr id="3" name="Прямоугольник 2"/>
          <p:cNvSpPr/>
          <p:nvPr/>
        </p:nvSpPr>
        <p:spPr>
          <a:xfrm>
            <a:off x="0" y="785794"/>
            <a:ext cx="9144000" cy="3693319"/>
          </a:xfrm>
          <a:prstGeom prst="rect">
            <a:avLst/>
          </a:prstGeom>
        </p:spPr>
        <p:txBody>
          <a:bodyPr wrap="square">
            <a:spAutoFit/>
          </a:bodyPr>
          <a:lstStyle/>
          <a:p>
            <a:pPr algn="just"/>
            <a:r>
              <a:rPr lang="ru-RU" dirty="0" smtClean="0">
                <a:latin typeface="Times New Roman" pitchFamily="18" charset="0"/>
                <a:cs typeface="Times New Roman" pitchFamily="18" charset="0"/>
              </a:rPr>
              <a:t>Внешняя обработка — это отдельный файл с расширением .</a:t>
            </a:r>
            <a:r>
              <a:rPr lang="ru-RU" dirty="0" err="1" smtClean="0">
                <a:latin typeface="Times New Roman" pitchFamily="18" charset="0"/>
                <a:cs typeface="Times New Roman" pitchFamily="18" charset="0"/>
              </a:rPr>
              <a:t>epf</a:t>
            </a:r>
            <a:r>
              <a:rPr lang="ru-RU" dirty="0" smtClean="0">
                <a:latin typeface="Times New Roman" pitchFamily="18" charset="0"/>
                <a:cs typeface="Times New Roman" pitchFamily="18" charset="0"/>
              </a:rPr>
              <a:t>, который содержит программный код для выполнения определённых действий в 1С. В отличие от внутренних обработок, она:</a:t>
            </a:r>
          </a:p>
          <a:p>
            <a:pPr algn="just"/>
            <a:r>
              <a:rPr lang="ru-RU" dirty="0" smtClean="0">
                <a:latin typeface="Times New Roman" pitchFamily="18" charset="0"/>
                <a:cs typeface="Times New Roman" pitchFamily="18" charset="0"/>
              </a:rPr>
              <a:t>    не входит в конфигурацию;</a:t>
            </a:r>
          </a:p>
          <a:p>
            <a:pPr algn="just"/>
            <a:r>
              <a:rPr lang="ru-RU" dirty="0" smtClean="0">
                <a:latin typeface="Times New Roman" pitchFamily="18" charset="0"/>
                <a:cs typeface="Times New Roman" pitchFamily="18" charset="0"/>
              </a:rPr>
              <a:t>    хранится как отдельный файл на диске;</a:t>
            </a:r>
          </a:p>
          <a:p>
            <a:pPr algn="just"/>
            <a:r>
              <a:rPr lang="ru-RU" dirty="0" smtClean="0">
                <a:latin typeface="Times New Roman" pitchFamily="18" charset="0"/>
                <a:cs typeface="Times New Roman" pitchFamily="18" charset="0"/>
              </a:rPr>
              <a:t>    подключается к базе по мере необходимости.</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Создание внешних обработок в 1С:Предприятие позволяет расширять функциональность системы без необходимости изменения конфигурации. На внешней обработке удобнее писать примеры использования встроенного языка 1С. Они также могут использоваться для выполнения различных задач, таких как формирование отчетов, обработка данных, интеграция с другими системами и т.д. Ниже приведены основные шаги для создания внешней обработки в 1С:</a:t>
            </a:r>
            <a:endParaRPr lang="ru-RU" dirty="0">
              <a:latin typeface="Times New Roman" pitchFamily="18" charset="0"/>
              <a:cs typeface="Times New Roman" pitchFamily="18" charset="0"/>
            </a:endParaRPr>
          </a:p>
        </p:txBody>
      </p:sp>
      <p:sp>
        <p:nvSpPr>
          <p:cNvPr id="4" name="Прямоугольник 3"/>
          <p:cNvSpPr/>
          <p:nvPr/>
        </p:nvSpPr>
        <p:spPr>
          <a:xfrm>
            <a:off x="0" y="4786322"/>
            <a:ext cx="4572000" cy="1200329"/>
          </a:xfrm>
          <a:prstGeom prst="rect">
            <a:avLst/>
          </a:prstGeom>
        </p:spPr>
        <p:txBody>
          <a:bodyPr>
            <a:spAutoFit/>
          </a:bodyPr>
          <a:lstStyle/>
          <a:p>
            <a:pPr algn="just"/>
            <a:r>
              <a:rPr lang="ru-RU" dirty="0" smtClean="0">
                <a:latin typeface="Times New Roman" pitchFamily="18" charset="0"/>
                <a:cs typeface="Times New Roman" pitchFamily="18" charset="0"/>
              </a:rPr>
              <a:t>1.  Создание новой внешней обработки </a:t>
            </a:r>
            <a:br>
              <a:rPr lang="ru-RU" dirty="0" smtClean="0">
                <a:latin typeface="Times New Roman" pitchFamily="18" charset="0"/>
                <a:cs typeface="Times New Roman" pitchFamily="18" charset="0"/>
              </a:rPr>
            </a:br>
            <a:r>
              <a:rPr lang="ru-RU" dirty="0" smtClean="0">
                <a:latin typeface="Times New Roman" pitchFamily="18" charset="0"/>
                <a:cs typeface="Times New Roman" pitchFamily="18" charset="0"/>
              </a:rPr>
              <a:t>   - Откроем конфигуратор 1С:Предприятие.</a:t>
            </a:r>
            <a:br>
              <a:rPr lang="ru-RU" dirty="0" smtClean="0">
                <a:latin typeface="Times New Roman" pitchFamily="18" charset="0"/>
                <a:cs typeface="Times New Roman" pitchFamily="18" charset="0"/>
              </a:rPr>
            </a:br>
            <a:r>
              <a:rPr lang="ru-RU" dirty="0" smtClean="0">
                <a:latin typeface="Times New Roman" pitchFamily="18" charset="0"/>
                <a:cs typeface="Times New Roman" pitchFamily="18" charset="0"/>
              </a:rPr>
              <a:t>   - Переходим в меню  "Файл" -&gt; "Новый" -&gt; "Внешняя обработка".</a:t>
            </a:r>
            <a:endParaRPr lang="ru-RU" dirty="0">
              <a:latin typeface="Times New Roman" pitchFamily="18" charset="0"/>
              <a:cs typeface="Times New Roman" pitchFamily="18" charset="0"/>
            </a:endParaRPr>
          </a:p>
        </p:txBody>
      </p:sp>
      <p:pic>
        <p:nvPicPr>
          <p:cNvPr id="2050" name="Picture 2" descr="https://ucarecdn.stepik.net/526ab6ff-d5c7-46de-b2da-c2269f372681/"/>
          <p:cNvPicPr>
            <a:picLocks noChangeAspect="1" noChangeArrowheads="1"/>
          </p:cNvPicPr>
          <p:nvPr/>
        </p:nvPicPr>
        <p:blipFill>
          <a:blip r:embed="rId2"/>
          <a:srcRect/>
          <a:stretch>
            <a:fillRect/>
          </a:stretch>
        </p:blipFill>
        <p:spPr bwMode="auto">
          <a:xfrm>
            <a:off x="4786314" y="4152900"/>
            <a:ext cx="3962400" cy="2705100"/>
          </a:xfrm>
          <a:prstGeom prst="rect">
            <a:avLst/>
          </a:prstGeom>
          <a:noFill/>
        </p:spPr>
      </p:pic>
      <p:sp>
        <p:nvSpPr>
          <p:cNvPr id="6" name="Прямоугольник 5"/>
          <p:cNvSpPr/>
          <p:nvPr/>
        </p:nvSpPr>
        <p:spPr>
          <a:xfrm>
            <a:off x="0" y="6119336"/>
            <a:ext cx="4572000" cy="738664"/>
          </a:xfrm>
          <a:prstGeom prst="rect">
            <a:avLst/>
          </a:prstGeom>
        </p:spPr>
        <p:txBody>
          <a:bodyPr>
            <a:spAutoFit/>
          </a:bodyPr>
          <a:lstStyle/>
          <a:p>
            <a:pPr algn="just"/>
            <a:r>
              <a:rPr lang="ru-RU" sz="1400" dirty="0" smtClean="0">
                <a:latin typeface="Times New Roman" pitchFamily="18" charset="0"/>
                <a:cs typeface="Times New Roman" pitchFamily="18" charset="0"/>
              </a:rPr>
              <a:t>   -Нажимаем "ОК" и в открывшемся в окне даем имя внешней обработки "</a:t>
            </a:r>
            <a:r>
              <a:rPr lang="ru-RU" sz="1400" dirty="0" err="1" smtClean="0">
                <a:latin typeface="Times New Roman" pitchFamily="18" charset="0"/>
                <a:cs typeface="Times New Roman" pitchFamily="18" charset="0"/>
              </a:rPr>
              <a:t>ПриветМир</a:t>
            </a:r>
            <a:r>
              <a:rPr lang="ru-RU" sz="1400" dirty="0" smtClean="0">
                <a:latin typeface="Times New Roman" pitchFamily="18" charset="0"/>
                <a:cs typeface="Times New Roman" pitchFamily="18" charset="0"/>
              </a:rPr>
              <a:t>" и сохраняем в отдельной папке</a:t>
            </a:r>
            <a:endParaRPr lang="ru-RU" sz="1400" dirty="0">
              <a:latin typeface="Times New Roman" pitchFamily="18" charset="0"/>
              <a:cs typeface="Times New Roman" pitchFamily="18" charset="0"/>
            </a:endParaRPr>
          </a:p>
        </p:txBody>
      </p:sp>
      <p:sp>
        <p:nvSpPr>
          <p:cNvPr id="7" name="Прямоугольник 6"/>
          <p:cNvSpPr/>
          <p:nvPr/>
        </p:nvSpPr>
        <p:spPr>
          <a:xfrm>
            <a:off x="0" y="500042"/>
            <a:ext cx="9144000" cy="523220"/>
          </a:xfrm>
          <a:prstGeom prst="rect">
            <a:avLst/>
          </a:prstGeom>
        </p:spPr>
        <p:txBody>
          <a:bodyPr wrap="square">
            <a:spAutoFit/>
          </a:bodyPr>
          <a:lstStyle/>
          <a:p>
            <a:pPr algn="ctr"/>
            <a:r>
              <a:rPr lang="en-US" sz="1400" b="1" dirty="0" smtClean="0">
                <a:latin typeface="Times New Roman" pitchFamily="18" charset="0"/>
                <a:cs typeface="Times New Roman" pitchFamily="18" charset="0"/>
                <a:hlinkClick r:id="rId3"/>
              </a:rPr>
              <a:t>https://scloud.ru/techinfo_1c_online/sozdanie-vneshney-obrabotki-1s/sozdanie-vneshney-obrabotki-1s/</a:t>
            </a:r>
            <a:endParaRPr lang="en-US" sz="1400" b="1" dirty="0" smtClean="0">
              <a:latin typeface="Times New Roman" pitchFamily="18" charset="0"/>
              <a:cs typeface="Times New Roman" pitchFamily="18" charset="0"/>
            </a:endParaRPr>
          </a:p>
          <a:p>
            <a:pPr algn="ctr"/>
            <a:endParaRPr lang="ru-RU" sz="1400" b="1"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4572000" cy="2585323"/>
          </a:xfrm>
          <a:prstGeom prst="rect">
            <a:avLst/>
          </a:prstGeom>
        </p:spPr>
        <p:txBody>
          <a:bodyPr>
            <a:spAutoFit/>
          </a:bodyPr>
          <a:lstStyle/>
          <a:p>
            <a:pPr algn="just"/>
            <a:r>
              <a:rPr lang="ru-RU" dirty="0" smtClean="0">
                <a:latin typeface="Times New Roman" pitchFamily="18" charset="0"/>
                <a:cs typeface="Times New Roman" pitchFamily="18" charset="0"/>
              </a:rPr>
              <a:t>2. Определение структуры обработки</a:t>
            </a:r>
          </a:p>
          <a:p>
            <a:pPr algn="just"/>
            <a:r>
              <a:rPr lang="ru-RU" dirty="0" smtClean="0">
                <a:latin typeface="Times New Roman" pitchFamily="18" charset="0"/>
                <a:cs typeface="Times New Roman" pitchFamily="18" charset="0"/>
              </a:rPr>
              <a:t>На начальном этапе с новой обработкой мы будем работать в управляемой форме. Формы — это интерфейс обработки, который будет отображаться пользователю. Наведем курсор на элемент "Формы", выделяем его, нажимаем правую кнопку и выбираем пункт "Добавить“</a:t>
            </a:r>
            <a:endParaRPr lang="en-US"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В открывшем окне нажимаем на "Готово".</a:t>
            </a:r>
            <a:endParaRPr lang="ru-RU" dirty="0">
              <a:latin typeface="Times New Roman" pitchFamily="18" charset="0"/>
              <a:cs typeface="Times New Roman" pitchFamily="18" charset="0"/>
            </a:endParaRPr>
          </a:p>
        </p:txBody>
      </p:sp>
      <p:pic>
        <p:nvPicPr>
          <p:cNvPr id="21506" name="Picture 2" descr="https://ucarecdn.stepik.net/602db06b-08c1-45b7-9c6c-5d02f589ee53/"/>
          <p:cNvPicPr>
            <a:picLocks noChangeAspect="1" noChangeArrowheads="1"/>
          </p:cNvPicPr>
          <p:nvPr/>
        </p:nvPicPr>
        <p:blipFill>
          <a:blip r:embed="rId2"/>
          <a:srcRect/>
          <a:stretch>
            <a:fillRect/>
          </a:stretch>
        </p:blipFill>
        <p:spPr bwMode="auto">
          <a:xfrm>
            <a:off x="5024508" y="1"/>
            <a:ext cx="3895651" cy="2428868"/>
          </a:xfrm>
          <a:prstGeom prst="rect">
            <a:avLst/>
          </a:prstGeom>
          <a:noFill/>
        </p:spPr>
      </p:pic>
      <p:sp>
        <p:nvSpPr>
          <p:cNvPr id="4" name="Прямоугольник 3"/>
          <p:cNvSpPr/>
          <p:nvPr/>
        </p:nvSpPr>
        <p:spPr>
          <a:xfrm>
            <a:off x="0" y="2571744"/>
            <a:ext cx="9144000" cy="369332"/>
          </a:xfrm>
          <a:prstGeom prst="rect">
            <a:avLst/>
          </a:prstGeom>
        </p:spPr>
        <p:txBody>
          <a:bodyPr wrap="square">
            <a:spAutoFit/>
          </a:bodyPr>
          <a:lstStyle/>
          <a:p>
            <a:pPr algn="just"/>
            <a:r>
              <a:rPr lang="ru-RU" dirty="0" smtClean="0">
                <a:latin typeface="Times New Roman" pitchFamily="18" charset="0"/>
                <a:cs typeface="Times New Roman" pitchFamily="18" charset="0"/>
              </a:rPr>
              <a:t> В результате получим вновь созданную форму обработки следующего вида:</a:t>
            </a:r>
            <a:endParaRPr lang="ru-RU" dirty="0">
              <a:latin typeface="Times New Roman" pitchFamily="18" charset="0"/>
              <a:cs typeface="Times New Roman" pitchFamily="18" charset="0"/>
            </a:endParaRPr>
          </a:p>
        </p:txBody>
      </p:sp>
      <p:pic>
        <p:nvPicPr>
          <p:cNvPr id="21508" name="Picture 4" descr="https://ucarecdn.stepik.net/4826214b-c2b4-42c9-9fe6-033f28fe09fa/"/>
          <p:cNvPicPr>
            <a:picLocks noChangeAspect="1" noChangeArrowheads="1"/>
          </p:cNvPicPr>
          <p:nvPr/>
        </p:nvPicPr>
        <p:blipFill>
          <a:blip r:embed="rId3"/>
          <a:srcRect/>
          <a:stretch>
            <a:fillRect/>
          </a:stretch>
        </p:blipFill>
        <p:spPr bwMode="auto">
          <a:xfrm>
            <a:off x="571472" y="3000372"/>
            <a:ext cx="7886700" cy="2419351"/>
          </a:xfrm>
          <a:prstGeom prst="rect">
            <a:avLst/>
          </a:prstGeom>
          <a:noFill/>
        </p:spPr>
      </p:pic>
      <p:sp>
        <p:nvSpPr>
          <p:cNvPr id="6" name="Прямоугольник 5"/>
          <p:cNvSpPr/>
          <p:nvPr/>
        </p:nvSpPr>
        <p:spPr>
          <a:xfrm>
            <a:off x="0" y="5357826"/>
            <a:ext cx="9144000" cy="1200329"/>
          </a:xfrm>
          <a:prstGeom prst="rect">
            <a:avLst/>
          </a:prstGeom>
        </p:spPr>
        <p:txBody>
          <a:bodyPr wrap="square">
            <a:spAutoFit/>
          </a:bodyPr>
          <a:lstStyle/>
          <a:p>
            <a:pPr algn="just"/>
            <a:r>
              <a:rPr lang="ru-RU" dirty="0" smtClean="0">
                <a:latin typeface="Times New Roman" pitchFamily="18" charset="0"/>
                <a:cs typeface="Times New Roman" pitchFamily="18" charset="0"/>
              </a:rPr>
              <a:t>В этой форме нам следует  создавать команды и обработчики команд. Команды — это действия, которые может выполнять обработка (например, кнопка "Ввести Число").</a:t>
            </a:r>
          </a:p>
          <a:p>
            <a:pPr algn="just"/>
            <a:r>
              <a:rPr lang="ru-RU" dirty="0" smtClean="0">
                <a:latin typeface="Times New Roman" pitchFamily="18" charset="0"/>
                <a:cs typeface="Times New Roman" pitchFamily="18" charset="0"/>
              </a:rPr>
              <a:t>Для этого мы далее нажимаем на закладку "Команды".</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В правой верхней части указанной формы нажимаем на зеленый кружочек с плюсом.</a:t>
            </a:r>
            <a:endParaRPr lang="ru-RU"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Код для команды записываем в обработчике команды. Для создания обработчика заходим в палитру свойств команды "</a:t>
            </a:r>
            <a:r>
              <a:rPr lang="ru-RU" dirty="0" err="1" smtClean="0">
                <a:latin typeface="Times New Roman" pitchFamily="18" charset="0"/>
                <a:cs typeface="Times New Roman" pitchFamily="18" charset="0"/>
              </a:rPr>
              <a:t>ПриветМир</a:t>
            </a:r>
            <a:r>
              <a:rPr lang="ru-RU" dirty="0" smtClean="0">
                <a:latin typeface="Times New Roman" pitchFamily="18" charset="0"/>
                <a:cs typeface="Times New Roman" pitchFamily="18" charset="0"/>
              </a:rPr>
              <a:t>" и у свойства "Действие" нажимаем на кнопку "Лупа"</a:t>
            </a:r>
            <a:endParaRPr lang="ru-RU" dirty="0">
              <a:latin typeface="Times New Roman" pitchFamily="18" charset="0"/>
              <a:cs typeface="Times New Roman" pitchFamily="18" charset="0"/>
            </a:endParaRPr>
          </a:p>
        </p:txBody>
      </p:sp>
      <p:pic>
        <p:nvPicPr>
          <p:cNvPr id="22530" name="Picture 2" descr="https://ucarecdn.stepik.net/43ea57f9-271e-4b9c-9213-0e2d51083130/"/>
          <p:cNvPicPr>
            <a:picLocks noChangeAspect="1" noChangeArrowheads="1"/>
          </p:cNvPicPr>
          <p:nvPr/>
        </p:nvPicPr>
        <p:blipFill>
          <a:blip r:embed="rId2"/>
          <a:srcRect/>
          <a:stretch>
            <a:fillRect/>
          </a:stretch>
        </p:blipFill>
        <p:spPr bwMode="auto">
          <a:xfrm>
            <a:off x="785786" y="857232"/>
            <a:ext cx="7858125" cy="1924051"/>
          </a:xfrm>
          <a:prstGeom prst="rect">
            <a:avLst/>
          </a:prstGeom>
          <a:noFill/>
        </p:spPr>
      </p:pic>
      <p:sp>
        <p:nvSpPr>
          <p:cNvPr id="4" name="Прямоугольник 3"/>
          <p:cNvSpPr/>
          <p:nvPr/>
        </p:nvSpPr>
        <p:spPr>
          <a:xfrm>
            <a:off x="0" y="2828836"/>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Откроется окно, где придется выбирать место создания обработчика команды. Оставляем "Создать на клиенте" и нажимаем "ОК". Нам остается вставить в заготовленную процедуру обработчик команды.</a:t>
            </a:r>
            <a:endParaRPr lang="ru-RU" dirty="0">
              <a:latin typeface="Times New Roman" pitchFamily="18" charset="0"/>
              <a:cs typeface="Times New Roman" pitchFamily="18" charset="0"/>
            </a:endParaRPr>
          </a:p>
        </p:txBody>
      </p:sp>
      <p:pic>
        <p:nvPicPr>
          <p:cNvPr id="22532" name="Picture 4" descr="https://ucarecdn.stepik.net/4fe67f24-5e54-422b-909a-6b411dc0a890/"/>
          <p:cNvPicPr>
            <a:picLocks noChangeAspect="1" noChangeArrowheads="1"/>
          </p:cNvPicPr>
          <p:nvPr/>
        </p:nvPicPr>
        <p:blipFill>
          <a:blip r:embed="rId3"/>
          <a:srcRect/>
          <a:stretch>
            <a:fillRect/>
          </a:stretch>
        </p:blipFill>
        <p:spPr bwMode="auto">
          <a:xfrm>
            <a:off x="2000232" y="3643314"/>
            <a:ext cx="5400675" cy="1514475"/>
          </a:xfrm>
          <a:prstGeom prst="rect">
            <a:avLst/>
          </a:prstGeom>
          <a:noFill/>
        </p:spPr>
      </p:pic>
      <p:sp>
        <p:nvSpPr>
          <p:cNvPr id="6" name="Прямоугольник 5"/>
          <p:cNvSpPr/>
          <p:nvPr/>
        </p:nvSpPr>
        <p:spPr>
          <a:xfrm>
            <a:off x="0" y="5657671"/>
            <a:ext cx="4572000" cy="923330"/>
          </a:xfrm>
          <a:prstGeom prst="rect">
            <a:avLst/>
          </a:prstGeom>
        </p:spPr>
        <p:txBody>
          <a:bodyPr>
            <a:spAutoFit/>
          </a:bodyPr>
          <a:lstStyle/>
          <a:p>
            <a:pPr algn="just"/>
            <a:r>
              <a:rPr lang="ru-RU" dirty="0" smtClean="0">
                <a:latin typeface="Times New Roman" pitchFamily="18" charset="0"/>
                <a:cs typeface="Times New Roman" pitchFamily="18" charset="0"/>
              </a:rPr>
              <a:t>Запускаем файл внешней обработки прямо в приложении, посмотрим, как выполнится наша обработка.</a:t>
            </a:r>
            <a:endParaRPr lang="ru-RU" dirty="0">
              <a:latin typeface="Times New Roman" pitchFamily="18" charset="0"/>
              <a:cs typeface="Times New Roman" pitchFamily="18" charset="0"/>
            </a:endParaRPr>
          </a:p>
        </p:txBody>
      </p:sp>
      <p:pic>
        <p:nvPicPr>
          <p:cNvPr id="7" name="Рисунок 6"/>
          <p:cNvPicPr/>
          <p:nvPr/>
        </p:nvPicPr>
        <p:blipFill>
          <a:blip r:embed="rId4"/>
          <a:srcRect/>
          <a:stretch>
            <a:fillRect/>
          </a:stretch>
        </p:blipFill>
        <p:spPr bwMode="auto">
          <a:xfrm>
            <a:off x="4714876" y="5214950"/>
            <a:ext cx="3795994" cy="140166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46331"/>
          </a:xfrm>
          <a:prstGeom prst="rect">
            <a:avLst/>
          </a:prstGeom>
        </p:spPr>
        <p:txBody>
          <a:bodyPr wrap="square">
            <a:spAutoFit/>
          </a:bodyPr>
          <a:lstStyle/>
          <a:p>
            <a:pPr algn="just"/>
            <a:r>
              <a:rPr lang="ru-RU" dirty="0" smtClean="0">
                <a:latin typeface="Times New Roman" pitchFamily="18" charset="0"/>
                <a:cs typeface="Times New Roman" pitchFamily="18" charset="0"/>
              </a:rPr>
              <a:t>создать внешнюю обработку в 1С 8.3, которая рассчитывает скидку на товар в зависимости от его количества и выводит результат в удобном виде.</a:t>
            </a:r>
            <a:endParaRPr lang="ru-RU" dirty="0">
              <a:latin typeface="Times New Roman" pitchFamily="18" charset="0"/>
              <a:cs typeface="Times New Roman" pitchFamily="18" charset="0"/>
            </a:endParaRPr>
          </a:p>
        </p:txBody>
      </p:sp>
      <p:pic>
        <p:nvPicPr>
          <p:cNvPr id="23554" name="Picture 2"/>
          <p:cNvPicPr>
            <a:picLocks noChangeAspect="1" noChangeArrowheads="1"/>
          </p:cNvPicPr>
          <p:nvPr/>
        </p:nvPicPr>
        <p:blipFill>
          <a:blip r:embed="rId2"/>
          <a:srcRect/>
          <a:stretch>
            <a:fillRect/>
          </a:stretch>
        </p:blipFill>
        <p:spPr bwMode="auto">
          <a:xfrm>
            <a:off x="2357422" y="714356"/>
            <a:ext cx="4765816" cy="3357586"/>
          </a:xfrm>
          <a:prstGeom prst="rect">
            <a:avLst/>
          </a:prstGeom>
          <a:noFill/>
          <a:ln w="9525">
            <a:noFill/>
            <a:miter lim="800000"/>
            <a:headEnd/>
            <a:tailEnd/>
          </a:ln>
          <a:effectLst/>
        </p:spPr>
      </p:pic>
      <p:pic>
        <p:nvPicPr>
          <p:cNvPr id="23557" name="Picture 5"/>
          <p:cNvPicPr>
            <a:picLocks noChangeAspect="1" noChangeArrowheads="1"/>
          </p:cNvPicPr>
          <p:nvPr/>
        </p:nvPicPr>
        <p:blipFill>
          <a:blip r:embed="rId3"/>
          <a:srcRect/>
          <a:stretch>
            <a:fillRect/>
          </a:stretch>
        </p:blipFill>
        <p:spPr bwMode="auto">
          <a:xfrm>
            <a:off x="2357422" y="4038716"/>
            <a:ext cx="5000628" cy="281928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5191125" cy="30861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928926" y="2486437"/>
            <a:ext cx="6215074" cy="4371563"/>
          </a:xfrm>
          <a:prstGeom prst="rect">
            <a:avLst/>
          </a:prstGeom>
          <a:noFill/>
          <a:ln w="9525">
            <a:noFill/>
            <a:miter lim="800000"/>
            <a:headEnd/>
            <a:tailEnd/>
          </a:ln>
          <a:effectLst/>
        </p:spPr>
      </p:pic>
      <p:sp>
        <p:nvSpPr>
          <p:cNvPr id="4" name="Прямоугольник 3"/>
          <p:cNvSpPr/>
          <p:nvPr/>
        </p:nvSpPr>
        <p:spPr>
          <a:xfrm>
            <a:off x="5286380" y="214290"/>
            <a:ext cx="3857620" cy="2031325"/>
          </a:xfrm>
          <a:prstGeom prst="rect">
            <a:avLst/>
          </a:prstGeom>
        </p:spPr>
        <p:txBody>
          <a:bodyPr wrap="square">
            <a:spAutoFit/>
          </a:bodyPr>
          <a:lstStyle/>
          <a:p>
            <a:pPr algn="just"/>
            <a:r>
              <a:rPr lang="ru-RU" sz="1400" dirty="0" smtClean="0">
                <a:latin typeface="Times New Roman" pitchFamily="18" charset="0"/>
                <a:cs typeface="Times New Roman" pitchFamily="18" charset="0"/>
              </a:rPr>
              <a:t>&amp;</a:t>
            </a:r>
            <a:r>
              <a:rPr lang="ru-RU" sz="1400" dirty="0" err="1" smtClean="0">
                <a:latin typeface="Times New Roman" pitchFamily="18" charset="0"/>
                <a:cs typeface="Times New Roman" pitchFamily="18" charset="0"/>
              </a:rPr>
              <a:t>НаКлиенте</a:t>
            </a:r>
            <a:endParaRPr lang="ru-RU" sz="1400" dirty="0" smtClean="0">
              <a:latin typeface="Times New Roman" pitchFamily="18" charset="0"/>
              <a:cs typeface="Times New Roman" pitchFamily="18" charset="0"/>
            </a:endParaRPr>
          </a:p>
          <a:p>
            <a:pPr algn="just"/>
            <a:r>
              <a:rPr lang="ru-RU" sz="1400" dirty="0" smtClean="0">
                <a:latin typeface="Times New Roman" pitchFamily="18" charset="0"/>
                <a:cs typeface="Times New Roman" pitchFamily="18" charset="0"/>
              </a:rPr>
              <a:t>// Процедура обработки нажатия кнопки «Рассчитать»</a:t>
            </a:r>
          </a:p>
          <a:p>
            <a:pPr algn="just"/>
            <a:r>
              <a:rPr lang="ru-RU" sz="1400" dirty="0" smtClean="0">
                <a:latin typeface="Times New Roman" pitchFamily="18" charset="0"/>
                <a:cs typeface="Times New Roman" pitchFamily="18" charset="0"/>
              </a:rPr>
              <a:t>Процедура </a:t>
            </a:r>
            <a:r>
              <a:rPr lang="ru-RU" sz="1400" dirty="0" err="1" smtClean="0">
                <a:latin typeface="Times New Roman" pitchFamily="18" charset="0"/>
                <a:cs typeface="Times New Roman" pitchFamily="18" charset="0"/>
              </a:rPr>
              <a:t>РассчитатьНажатие</a:t>
            </a:r>
            <a:r>
              <a:rPr lang="ru-RU" sz="1400" dirty="0" smtClean="0">
                <a:latin typeface="Times New Roman" pitchFamily="18" charset="0"/>
                <a:cs typeface="Times New Roman" pitchFamily="18" charset="0"/>
              </a:rPr>
              <a:t>(Кнопка)</a:t>
            </a:r>
          </a:p>
          <a:p>
            <a:pPr algn="just"/>
            <a:r>
              <a:rPr lang="ru-RU" sz="1400" dirty="0" smtClean="0">
                <a:latin typeface="Times New Roman" pitchFamily="18" charset="0"/>
                <a:cs typeface="Times New Roman" pitchFamily="18" charset="0"/>
              </a:rPr>
              <a:t>    // Считываем данные из полей ввода</a:t>
            </a:r>
          </a:p>
          <a:p>
            <a:pPr algn="just"/>
            <a:r>
              <a:rPr lang="ru-RU" sz="1400" dirty="0" smtClean="0">
                <a:latin typeface="Times New Roman" pitchFamily="18" charset="0"/>
                <a:cs typeface="Times New Roman" pitchFamily="18" charset="0"/>
              </a:rPr>
              <a:t>    </a:t>
            </a:r>
            <a:r>
              <a:rPr lang="ru-RU" sz="1400" dirty="0" err="1" smtClean="0">
                <a:latin typeface="Times New Roman" pitchFamily="18" charset="0"/>
                <a:cs typeface="Times New Roman" pitchFamily="18" charset="0"/>
              </a:rPr>
              <a:t>НаименованиеТовара</a:t>
            </a:r>
            <a:r>
              <a:rPr lang="ru-RU" sz="1400" dirty="0" smtClean="0">
                <a:latin typeface="Times New Roman" pitchFamily="18" charset="0"/>
                <a:cs typeface="Times New Roman" pitchFamily="18" charset="0"/>
              </a:rPr>
              <a:t> = </a:t>
            </a:r>
            <a:r>
              <a:rPr lang="ru-RU" sz="1400" dirty="0" err="1" smtClean="0">
                <a:latin typeface="Times New Roman" pitchFamily="18" charset="0"/>
                <a:cs typeface="Times New Roman" pitchFamily="18" charset="0"/>
              </a:rPr>
              <a:t>ЭтаФорма.Наименование</a:t>
            </a:r>
            <a:r>
              <a:rPr lang="ru-RU" sz="1400" dirty="0" smtClean="0">
                <a:latin typeface="Times New Roman" pitchFamily="18" charset="0"/>
                <a:cs typeface="Times New Roman" pitchFamily="18" charset="0"/>
              </a:rPr>
              <a:t>;</a:t>
            </a:r>
          </a:p>
          <a:p>
            <a:pPr algn="just"/>
            <a:r>
              <a:rPr lang="ru-RU" sz="1400" dirty="0" smtClean="0">
                <a:latin typeface="Times New Roman" pitchFamily="18" charset="0"/>
                <a:cs typeface="Times New Roman" pitchFamily="18" charset="0"/>
              </a:rPr>
              <a:t>    </a:t>
            </a:r>
            <a:r>
              <a:rPr lang="ru-RU" sz="1400" dirty="0" err="1" smtClean="0">
                <a:latin typeface="Times New Roman" pitchFamily="18" charset="0"/>
                <a:cs typeface="Times New Roman" pitchFamily="18" charset="0"/>
              </a:rPr>
              <a:t>ЦенаЗаЕдиницу</a:t>
            </a:r>
            <a:r>
              <a:rPr lang="ru-RU" sz="1400" dirty="0" smtClean="0">
                <a:latin typeface="Times New Roman" pitchFamily="18" charset="0"/>
                <a:cs typeface="Times New Roman" pitchFamily="18" charset="0"/>
              </a:rPr>
              <a:t> = </a:t>
            </a:r>
            <a:r>
              <a:rPr lang="ru-RU" sz="1400" dirty="0" err="1" smtClean="0">
                <a:latin typeface="Times New Roman" pitchFamily="18" charset="0"/>
                <a:cs typeface="Times New Roman" pitchFamily="18" charset="0"/>
              </a:rPr>
              <a:t>ЭтаФорма.Цена</a:t>
            </a:r>
            <a:r>
              <a:rPr lang="ru-RU" sz="1400" dirty="0" smtClean="0">
                <a:latin typeface="Times New Roman" pitchFamily="18" charset="0"/>
                <a:cs typeface="Times New Roman" pitchFamily="18" charset="0"/>
              </a:rPr>
              <a:t>;</a:t>
            </a:r>
          </a:p>
          <a:p>
            <a:pPr algn="just"/>
            <a:r>
              <a:rPr lang="ru-RU" sz="1400" dirty="0" smtClean="0">
                <a:latin typeface="Times New Roman" pitchFamily="18" charset="0"/>
                <a:cs typeface="Times New Roman" pitchFamily="18" charset="0"/>
              </a:rPr>
              <a:t>    Количество = </a:t>
            </a:r>
            <a:r>
              <a:rPr lang="ru-RU" sz="1400" dirty="0" err="1" smtClean="0">
                <a:latin typeface="Times New Roman" pitchFamily="18" charset="0"/>
                <a:cs typeface="Times New Roman" pitchFamily="18" charset="0"/>
              </a:rPr>
              <a:t>ЭтаФорма.КоличествоТовара</a:t>
            </a:r>
            <a:r>
              <a:rPr lang="ru-RU" sz="1400" dirty="0" smtClean="0">
                <a:latin typeface="Times New Roman" pitchFamily="18" charset="0"/>
                <a:cs typeface="Times New Roman" pitchFamily="18" charset="0"/>
              </a:rPr>
              <a:t>;</a:t>
            </a:r>
            <a:endParaRPr lang="ru-RU" sz="1400" dirty="0">
              <a:latin typeface="Times New Roman" pitchFamily="18" charset="0"/>
              <a:cs typeface="Times New Roman" pitchFamily="18" charset="0"/>
            </a:endParaRPr>
          </a:p>
        </p:txBody>
      </p:sp>
      <p:sp>
        <p:nvSpPr>
          <p:cNvPr id="5" name="Прямоугольник 4"/>
          <p:cNvSpPr/>
          <p:nvPr/>
        </p:nvSpPr>
        <p:spPr>
          <a:xfrm>
            <a:off x="0" y="3929066"/>
            <a:ext cx="2571736" cy="1815882"/>
          </a:xfrm>
          <a:prstGeom prst="rect">
            <a:avLst/>
          </a:prstGeom>
        </p:spPr>
        <p:txBody>
          <a:bodyPr wrap="square">
            <a:spAutoFit/>
          </a:bodyPr>
          <a:lstStyle/>
          <a:p>
            <a:pPr algn="just"/>
            <a:r>
              <a:rPr lang="ru-RU" sz="800" dirty="0" smtClean="0"/>
              <a:t> // Формирование результата</a:t>
            </a:r>
          </a:p>
          <a:p>
            <a:pPr algn="just"/>
            <a:r>
              <a:rPr lang="ru-RU" sz="800" dirty="0" smtClean="0"/>
              <a:t>    </a:t>
            </a:r>
            <a:r>
              <a:rPr lang="ru-RU" sz="800" dirty="0" err="1" smtClean="0"/>
              <a:t>ТекстРезультата</a:t>
            </a:r>
            <a:r>
              <a:rPr lang="ru-RU" sz="800" dirty="0" smtClean="0"/>
              <a:t> =</a:t>
            </a:r>
          </a:p>
          <a:p>
            <a:pPr algn="just"/>
            <a:r>
              <a:rPr lang="ru-RU" sz="800" dirty="0" smtClean="0"/>
              <a:t>        "Товар: " + Наименование + </a:t>
            </a:r>
            <a:r>
              <a:rPr lang="ru-RU" sz="800" dirty="0" err="1" smtClean="0"/>
              <a:t>Символы.ПС</a:t>
            </a:r>
            <a:r>
              <a:rPr lang="ru-RU" sz="800" dirty="0" smtClean="0"/>
              <a:t> +</a:t>
            </a:r>
          </a:p>
          <a:p>
            <a:pPr algn="just"/>
            <a:r>
              <a:rPr lang="ru-RU" sz="800" dirty="0" smtClean="0"/>
              <a:t>        "Цена за единицу: " + Формат(</a:t>
            </a:r>
            <a:r>
              <a:rPr lang="ru-RU" sz="800" dirty="0" err="1" smtClean="0"/>
              <a:t>ЦенаЗаЕдиницу</a:t>
            </a:r>
            <a:r>
              <a:rPr lang="ru-RU" sz="800" dirty="0" smtClean="0"/>
              <a:t>, "ЧДЦ=2") + " руб." + </a:t>
            </a:r>
            <a:r>
              <a:rPr lang="ru-RU" sz="800" dirty="0" err="1" smtClean="0"/>
              <a:t>Символы.ПС</a:t>
            </a:r>
            <a:r>
              <a:rPr lang="ru-RU" sz="800" dirty="0" smtClean="0"/>
              <a:t> +</a:t>
            </a:r>
          </a:p>
          <a:p>
            <a:pPr algn="just"/>
            <a:r>
              <a:rPr lang="ru-RU" sz="800" dirty="0" smtClean="0"/>
              <a:t>        "Количество: " + </a:t>
            </a:r>
            <a:r>
              <a:rPr lang="ru-RU" sz="800" dirty="0" err="1" smtClean="0"/>
              <a:t>КоличествоТовара</a:t>
            </a:r>
            <a:r>
              <a:rPr lang="ru-RU" sz="800" dirty="0" smtClean="0"/>
              <a:t> + " шт." + </a:t>
            </a:r>
            <a:r>
              <a:rPr lang="ru-RU" sz="800" dirty="0" err="1" smtClean="0"/>
              <a:t>Символы.ПС</a:t>
            </a:r>
            <a:r>
              <a:rPr lang="ru-RU" sz="800" dirty="0" smtClean="0"/>
              <a:t> +</a:t>
            </a:r>
          </a:p>
          <a:p>
            <a:pPr algn="just"/>
            <a:r>
              <a:rPr lang="ru-RU" sz="800" dirty="0" smtClean="0"/>
              <a:t>        "Сумма без скидки: " + Формат(</a:t>
            </a:r>
            <a:r>
              <a:rPr lang="ru-RU" sz="800" dirty="0" err="1" smtClean="0"/>
              <a:t>СуммаБезСкидки</a:t>
            </a:r>
            <a:r>
              <a:rPr lang="ru-RU" sz="800" dirty="0" smtClean="0"/>
              <a:t>, "ЧДЦ=2") + " руб." + </a:t>
            </a:r>
            <a:r>
              <a:rPr lang="ru-RU" sz="800" dirty="0" err="1" smtClean="0"/>
              <a:t>Символы.ПС</a:t>
            </a:r>
            <a:r>
              <a:rPr lang="ru-RU" sz="800" dirty="0" smtClean="0"/>
              <a:t> +</a:t>
            </a:r>
          </a:p>
          <a:p>
            <a:pPr algn="just"/>
            <a:r>
              <a:rPr lang="ru-RU" sz="800" dirty="0" smtClean="0"/>
              <a:t>        "Скидка: " + </a:t>
            </a:r>
            <a:r>
              <a:rPr lang="ru-RU" sz="800" dirty="0" err="1" smtClean="0"/>
              <a:t>ПроцентСкидки</a:t>
            </a:r>
            <a:r>
              <a:rPr lang="ru-RU" sz="800" dirty="0" smtClean="0"/>
              <a:t> + "% (" + Формат(</a:t>
            </a:r>
            <a:r>
              <a:rPr lang="ru-RU" sz="800" dirty="0" err="1" smtClean="0"/>
              <a:t>РазмерСкидки</a:t>
            </a:r>
            <a:r>
              <a:rPr lang="ru-RU" sz="800" dirty="0" smtClean="0"/>
              <a:t>, "ЧДЦ=2") + " руб.)" + </a:t>
            </a:r>
            <a:r>
              <a:rPr lang="ru-RU" sz="800" dirty="0" err="1" smtClean="0"/>
              <a:t>Символы.ПС</a:t>
            </a:r>
            <a:r>
              <a:rPr lang="ru-RU" sz="800" dirty="0" smtClean="0"/>
              <a:t> +</a:t>
            </a:r>
          </a:p>
          <a:p>
            <a:pPr algn="just"/>
            <a:r>
              <a:rPr lang="ru-RU" sz="800" dirty="0" smtClean="0"/>
              <a:t>        "Итоговая сумма: " + Формат(</a:t>
            </a:r>
            <a:r>
              <a:rPr lang="ru-RU" sz="800" dirty="0" err="1" smtClean="0"/>
              <a:t>ИтоговаяСумма</a:t>
            </a:r>
            <a:r>
              <a:rPr lang="ru-RU" sz="800" dirty="0" smtClean="0"/>
              <a:t>, "ЧДЦ=2") + " руб.";</a:t>
            </a:r>
            <a:endParaRPr lang="ru-RU" sz="800" dirty="0"/>
          </a:p>
        </p:txBody>
      </p:sp>
      <p:cxnSp>
        <p:nvCxnSpPr>
          <p:cNvPr id="7" name="Прямая со стрелкой 6"/>
          <p:cNvCxnSpPr>
            <a:stCxn id="5" idx="2"/>
          </p:cNvCxnSpPr>
          <p:nvPr/>
        </p:nvCxnSpPr>
        <p:spPr>
          <a:xfrm rot="16200000" flipH="1">
            <a:off x="1979487" y="5051329"/>
            <a:ext cx="327258" cy="1714496"/>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734</Words>
  <Application>Microsoft Office PowerPoint</Application>
  <PresentationFormat>Экран (4:3)</PresentationFormat>
  <Paragraphs>73</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Тема Office</vt:lpstr>
      <vt:lpstr>Программные модули</vt:lpstr>
      <vt:lpstr>Слайд 2</vt:lpstr>
      <vt:lpstr>Слайд 3</vt:lpstr>
      <vt:lpstr>Слайд 4</vt:lpstr>
      <vt:lpstr>Слайд 5</vt:lpstr>
      <vt:lpstr>Слайд 6</vt:lpstr>
      <vt:lpstr>Почему код в редакторах подсвечивается разными цветами?</vt:lpstr>
      <vt:lpstr>Внешняя обработка</vt:lpstr>
      <vt:lpstr>Слайд 9</vt:lpstr>
      <vt:lpstr>Слайд 10</vt:lpstr>
      <vt:lpstr>Слайд 11</vt:lpstr>
      <vt:lpstr>Слайд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user</dc:creator>
  <cp:lastModifiedBy>user</cp:lastModifiedBy>
  <cp:revision>18</cp:revision>
  <dcterms:created xsi:type="dcterms:W3CDTF">2026-03-07T10:18:05Z</dcterms:created>
  <dcterms:modified xsi:type="dcterms:W3CDTF">2026-03-09T09:26:21Z</dcterms:modified>
</cp:coreProperties>
</file>