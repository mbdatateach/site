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164BE-D66A-4271-84DB-1DFB15F9F296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EDCFD-5AFD-456C-A5F9-E4C1C95E2D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video-179327594_456239081" TargetMode="External"/><Relationship Id="rId2" Type="http://schemas.openxmlformats.org/officeDocument/2006/relationships/hyperlink" Target="https://infostart.ru/1c/articles/388527/?ysclid=mn1ynpcvem804062742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elpme1s.ru/vnutrennij-yazyk-programmirovaniya-1s-8-3-dlya-nachinayushhix-programmistov-urok-21-ispolzovanie-dialogov?ysclid=mn3htqivp1218864741" TargetMode="External"/><Relationship Id="rId5" Type="http://schemas.openxmlformats.org/officeDocument/2006/relationships/hyperlink" Target="https://www.koderline.ru/expert/instruktsii/article-generator-sluchaynykh-znacheniy-v-resheniyakh-1s/?ysclid=mn3hiidxg0643888530" TargetMode="External"/><Relationship Id="rId4" Type="http://schemas.openxmlformats.org/officeDocument/2006/relationships/hyperlink" Target="https://www.koderline.ru/expert/instruktsii/article-rabota-s-otladchikom-instruktsiya-dlya-chaynikov/?ysclid=mn1zpv7cpo60101732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Встроенный язык 1С. Отладчик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Дополнительная литература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 ссылке или по значению? Ключевое слово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Знач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с чем его едят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https://infostart.ru/1c/articles/388527/?ysclid=mn1ynpcvem804062742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Отладчик 1С за 10 минут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https://vk.com/video-179327594_456239081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https://www.koderline.ru/expert/instruktsii/article-rabota-s-otladchikom-instruktsiya-dlya-chaynikov/?ysclid=mn1zpv7cpo601017320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Генератор случайных значений в 1С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https://www.koderline.ru/expert/instruktsii/article-generator-sluchaynykh-znacheniy-v-resheniyakh-1s/?ysclid=mn3hiidxg0643888530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Диалоги с пользователем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6"/>
              </a:rPr>
              <a:t>https://helpme1s.ru/vnutrennij-yazyk-programmirovaniya-1s-8-3-dlya-nachinayushhix-programmistov-urok-21-ispolzovanie-dialogov?ysclid=mn3htqivp1218864741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ЕСЛИ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335755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 в языке программирования 1С:Предприятие используется для выполнения условных операций. Он позволяет выполнять определенные действия в зависимости от того, выполняется ли заданное условие или нет. Синтаксис оператора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выглядит следующим образом: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500042"/>
            <a:ext cx="571500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286256"/>
            <a:ext cx="5572164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643050"/>
            <a:ext cx="4429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Создайте внешнюю обработку, которая просит пользователя ввести число А и: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число больше 5, сообщить разницу между числом и 5;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число меньше 5, сообщить разницу между 5 и этим числом;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Иначе сообщить А=5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5935" y="428604"/>
            <a:ext cx="4658065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2124075"/>
            <a:ext cx="3629025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Циклы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1С:Предприятие циклы — это не просто повторение кода, а мощный инструмент для автоматизации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бизнес-логики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эффективно обрабатывать данные, будь то перебор документов, строк таблицы или выполнение действий до достижения нужного условия.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https://ucarecdn.stepik.net/3129ed7c-cc48-4cf7-a23b-49d2bbc9e244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4000528" cy="3091317"/>
          </a:xfrm>
          <a:prstGeom prst="rect">
            <a:avLst/>
          </a:prstGeom>
          <a:noFill/>
        </p:spPr>
      </p:pic>
      <p:pic>
        <p:nvPicPr>
          <p:cNvPr id="3076" name="Picture 4" descr="https://ucarecdn.stepik.net/aaba398e-fd51-478e-9e04-a056583757d8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714488"/>
            <a:ext cx="5000628" cy="3648076"/>
          </a:xfrm>
          <a:prstGeom prst="rect">
            <a:avLst/>
          </a:prstGeom>
          <a:noFill/>
        </p:spPr>
      </p:pic>
      <p:pic>
        <p:nvPicPr>
          <p:cNvPr id="3078" name="Picture 6" descr="https://ucarecdn.stepik.net/083fe81c-4862-459c-940d-bd8f653fde6e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4871833"/>
            <a:ext cx="3676626" cy="19861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ucarecdn.stepik.net/04d70b5e-cb8a-4c65-a136-81fe3b7db1e7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610225" cy="3476626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3857628"/>
            <a:ext cx="4643438" cy="178510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Создайте внешнюю обработку, которая произвольным образом реализовывала бы функционал работы с циклами. Опирайтесь на интерфейс на изображении ниже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5016"/>
            <a:ext cx="5429256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2329" y="3786190"/>
            <a:ext cx="4371671" cy="1123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24500" y="5114925"/>
            <a:ext cx="36195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29275" y="2000240"/>
            <a:ext cx="35147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286248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Процедуры и функции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500042"/>
            <a:ext cx="4643438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895725"/>
            <a:ext cx="557212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72198" y="3643314"/>
            <a:ext cx="232410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72198" y="5305425"/>
            <a:ext cx="2524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Отладка включается: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Через меню "Отладка" → "Начать отладку" (F5). Это происходит при запуске конфигурации в режиме "1С:Предприятие" с отладкой.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https://ucarecdn.stepik.net/be4ba1a7-208c-4a16-8f86-32733d72f791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928670"/>
            <a:ext cx="6610350" cy="181927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82883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Процесс отладки инициируется нажатием кнопки в конфигураторе, но только после корректной настройки рабочего режима.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https://ucarecdn.stepik.net/f11a30b2-567d-43d3-972d-78990f3b1c27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500438"/>
            <a:ext cx="5238736" cy="29502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Прежде чем начинать отладку программы следует установить точки останова.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Обычно, двойным щелчком мыши в служебной области слева от необходимой строки.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https://ucarecdn.stepik.net/d5d049a9-04b0-42ed-88e2-5806c9f1186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714356"/>
            <a:ext cx="2537040" cy="1249204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14311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Алгоритм отладки после точки останова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достижении точки останова у вас есть несколько способов контроля выполнения программы: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Шаг за шагом — выполнение текущей строки с переходом к следующей.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Погружение — вход в вызываемую функцию или процедуру для детальной отладки.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Выход из процедуры — завершение текущей функции с возвратом в точку вызова.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Бег до курсора — выполнение кода до строки, на которой установлен курсор.</a:t>
            </a:r>
          </a:p>
        </p:txBody>
      </p:sp>
      <p:pic>
        <p:nvPicPr>
          <p:cNvPr id="21508" name="Picture 4" descr="https://ucarecdn.stepik.net/e7702195-75f8-40ce-8ea1-9280c791e37a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4214818"/>
            <a:ext cx="5480608" cy="17049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отладке программа приостанавливается на точках останова или во время пошагового прохода, что позволяет анализировать текущее состояние переменных. Это даёт возможность отслеживать изменения данных в режиме реального времени и отклонения. Для этого курсор редактора наводят на нужную переменную и в небольшом всплывающем окне отобразится ее текущее значение.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https://ucarecdn.stepik.net/85ea5f66-bd0f-48d3-b5ed-4415f6651a4d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500174"/>
            <a:ext cx="4000488" cy="177355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328612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Следующий способ: мы выделяем курсором название переменной и нажимаем сочетание кнопок "Shift+F9". В результате чего всплывает окно "Выражение", где отражается вся информация о переменной: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 descr="https://ucarecdn.stepik.net/29df7058-802c-41be-92f0-11fc30e1869b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86256"/>
            <a:ext cx="6629390" cy="24605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Контекстной подсказкой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уже пользовались. Так, при вводе первых символов имени уже объявленной переменной, комбинация клавиш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Ctrl+Пробел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активировала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автодополнение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система подставляла полный идентификатор в код, избавляя от рутинного набора. ​​​​​​Если  же контекстные подсказки не отображаются, их можно настроить по следующей схеме: Панель инструментов &gt; Сервис &gt; Параметры &gt; Модули &gt; Контекстная подсказка.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 descr="https://ucarecdn.stepik.net/6b920551-c575-4597-9b9d-ae7d3000f69b/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714488"/>
            <a:ext cx="4552936" cy="221029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392906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Объявленные переменные в списке контекстного меню имеют маркер красного цвета. К примеру мы объявим переменную Дата и присвоим ей значение Текущая дата. Если после ввода первых же букв идентификатора переменной (Дат), вызвать контекстную подсказку, получим следующий список: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6" name="Picture 4" descr="https://ucarecdn.stepik.net/401c24fd-2370-4b7e-ada9-4aacc305fb0c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9" y="5141904"/>
            <a:ext cx="2286016" cy="1716096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2857488" y="5214950"/>
            <a:ext cx="57150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Красный маркер впереди идентификатора "Дата" означает что эта переменная уже была объявлена в тексте и опознана системой, а при необходимости  можно с помощью нажатия клавиши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добавить ее еще раз в код.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Теперь присвоим переменной Дата значение функции Текущая Дата, используя опять-таки контекстную подсказку: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https://ucarecdn.stepik.net/b1bf85bb-d796-4aad-85fb-124217acfb0e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500042"/>
            <a:ext cx="2695568" cy="180631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параметров подсказка может иной раз исчезнуть, тогда заново ее вызывают с помощью сочетания клавиш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+ Пробел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Контекстная подсказка срабатывает и когда после объекта встроенного языка в коде мы вставим точку. К примеру мы создали массив, а после с помощью подсказки вызвали и все методы объекта (функции и процедуры)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2" name="Picture 6" descr="https://ucarecdn.stepik.net/61a581d3-5798-4794-84df-06622310363c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86190"/>
            <a:ext cx="5314950" cy="2800351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5286380" y="4000504"/>
            <a:ext cx="38576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аналогично вставить в код любой объект 1С, включая объекты метаданных (справочники, документы и т.д.),  а затем с помощью точки вызвать контекстное меню со всеми методами и свойствами, присущими для данного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 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первую очередь часть встроенной справки. 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обратиться  либо через меню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Справка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Либо вызывается с клавиатуры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 F1), либо в командной панели нажимаем  на иконку  данного инструмента.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 descr="https://ucarecdn.stepik.net/0071104b-08a4-4a81-91dc-22df7ae90aed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928670"/>
            <a:ext cx="2205032" cy="1790711"/>
          </a:xfrm>
          <a:prstGeom prst="rect">
            <a:avLst/>
          </a:prstGeom>
          <a:noFill/>
        </p:spPr>
      </p:pic>
      <p:pic>
        <p:nvPicPr>
          <p:cNvPr id="25604" name="Picture 4" descr="https://ucarecdn.stepik.net/949f9609-143e-47a5-adf8-01ee47036a0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142984"/>
            <a:ext cx="3181350" cy="628651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264318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просто показывает информацию – он связывает все элементы встроенного языка удобными гиперссылками для навигации в один клик.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8" name="Picture 8" descr="https://ucarecdn.stepik.net/ba2833bb-aefc-4e61-8332-b28d721fd227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286124"/>
            <a:ext cx="3007230" cy="3429024"/>
          </a:xfrm>
          <a:prstGeom prst="rect">
            <a:avLst/>
          </a:prstGeom>
          <a:noFill/>
        </p:spPr>
      </p:pic>
      <p:pic>
        <p:nvPicPr>
          <p:cNvPr id="25610" name="Picture 10" descr="https://ucarecdn.stepik.net/89aa3689-6628-483d-9e4a-d7df16bbd8d4/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2" y="3357562"/>
            <a:ext cx="3178854" cy="33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ru-RU" sz="3200" dirty="0" smtClean="0">
                <a:latin typeface="+mj-lt"/>
                <a:ea typeface="+mj-ea"/>
                <a:cs typeface="+mj-cs"/>
              </a:rPr>
              <a:t>Оперативный доступ к справочной информации при работе с кодом</a:t>
            </a:r>
          </a:p>
        </p:txBody>
      </p:sp>
      <p:pic>
        <p:nvPicPr>
          <p:cNvPr id="26626" name="Picture 2" descr="https://ucarecdn.stepik.net/7ed059d3-fbdb-486c-89c2-e2e04dfd82e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857652" cy="2481109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4214810" y="928670"/>
            <a:ext cx="49291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закрепить результат, воспользуемся кнопкой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«Найти текущий элемент в дереве».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действие развернет дерево справки именно на том фрагменте кода, с которым мы работаем.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8" name="Picture 4" descr="https://ucarecdn.stepik.net/467bfdaf-e4da-405f-8bbc-75acb885e7ef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2357430"/>
            <a:ext cx="4553012" cy="2786082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350043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вставить готовые конструкции встроенного языка, просто перетащим их из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синтакс-помощника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модуль — это быстро и удобно.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30" name="Picture 6" descr="https://ucarecdn.stepik.net/ced87dfb-7634-4d24-932e-861bee8cbc76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714884"/>
            <a:ext cx="4552790" cy="21431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строенный язык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81725" y="428604"/>
            <a:ext cx="2962275" cy="5543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1428736"/>
            <a:ext cx="59293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Универсальные коллекции значений — это объекты во встроенном языке платформы «1С:Предприятие», предназначенные для временного хранения наборов данных в течение сеанса работы пользователя. Они используются для вспомогательного сбора, группировки, анализа и обработки информации.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0963"/>
            <a:ext cx="9153859" cy="6205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ucarecdn.stepik.net/173d4c24-f072-46a5-9186-59fa2150f0b8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19800" cy="2495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5572132" y="0"/>
            <a:ext cx="35718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 помощью отладки проверим правильность присвоения элементами значений.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Установим точку останова на строке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КонецПроцедуры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После срабатывания 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точки останова, открываем табло, пишем название Массива в табло,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адалее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установив курсор на названии массива ПКМ выводим следующее диалоговое окно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90" name="Picture 6" descr="https://ucarecdn.stepik.net/36d0b06c-d95f-43c8-9a78-fdc4329d124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294" y="2000240"/>
            <a:ext cx="4333706" cy="1428760"/>
          </a:xfrm>
          <a:prstGeom prst="rect">
            <a:avLst/>
          </a:prstGeom>
          <a:noFill/>
        </p:spPr>
      </p:pic>
      <p:pic>
        <p:nvPicPr>
          <p:cNvPr id="16392" name="Picture 8" descr="https://ucarecdn.stepik.net/9d9b911e-9511-4748-b223-d50f20c7d374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2500306"/>
            <a:ext cx="2928958" cy="2069965"/>
          </a:xfrm>
          <a:prstGeom prst="rect">
            <a:avLst/>
          </a:prstGeom>
          <a:noFill/>
        </p:spPr>
      </p:pic>
      <p:pic>
        <p:nvPicPr>
          <p:cNvPr id="16394" name="Picture 10" descr="https://ucarecdn.stepik.net/b98d1c9c-aab6-4440-86b3-eee1f43f6019/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4580014"/>
            <a:ext cx="3500462" cy="2277985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0" y="3533775"/>
            <a:ext cx="43910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 descr="https://ucarecdn.stepik.net/dcc2d0d5-0366-49dd-be5d-61a5f204f3d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1"/>
            <a:ext cx="4849691" cy="271464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3214678" y="0"/>
            <a:ext cx="2541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/>
              <a:t>Соответствие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5506" y="2509088"/>
            <a:ext cx="6648494" cy="434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214678" y="0"/>
            <a:ext cx="32319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/>
              <a:t>Список значений</a:t>
            </a:r>
            <a:endParaRPr lang="ru-RU" sz="3200" b="1" dirty="0"/>
          </a:p>
        </p:txBody>
      </p:sp>
      <p:pic>
        <p:nvPicPr>
          <p:cNvPr id="18434" name="Picture 2" descr="https://ucarecdn.stepik.net/49cb1fc0-1b4c-4fed-aa09-e557445eb98c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3886200" cy="2581276"/>
          </a:xfrm>
          <a:prstGeom prst="rect">
            <a:avLst/>
          </a:prstGeom>
          <a:noFill/>
        </p:spPr>
      </p:pic>
      <p:pic>
        <p:nvPicPr>
          <p:cNvPr id="18436" name="Picture 4" descr="https://ucarecdn.stepik.net/9aa9e5d3-1dd9-431e-a0fd-f2126377f6b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642918"/>
            <a:ext cx="5214942" cy="2476501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3071810"/>
            <a:ext cx="5423461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655</Words>
  <Application>Microsoft Office PowerPoint</Application>
  <PresentationFormat>Экран (4:3)</PresentationFormat>
  <Paragraphs>52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Встроенный язык 1С. Отладчик</vt:lpstr>
      <vt:lpstr>Дополнительная литература</vt:lpstr>
      <vt:lpstr>ЕСЛИ</vt:lpstr>
      <vt:lpstr>Слайд 4</vt:lpstr>
      <vt:lpstr>Циклы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12</cp:revision>
  <dcterms:created xsi:type="dcterms:W3CDTF">2026-03-22T11:40:11Z</dcterms:created>
  <dcterms:modified xsi:type="dcterms:W3CDTF">2026-04-03T16:57:07Z</dcterms:modified>
</cp:coreProperties>
</file>