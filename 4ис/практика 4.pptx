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0" r:id="rId7"/>
    <p:sldId id="262" r:id="rId8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>
        <p:scale>
          <a:sx n="100" d="100"/>
          <a:sy n="100" d="100"/>
        </p:scale>
        <p:origin x="-1860" y="-2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80692E-2DF2-4160-8FCC-EE817E0C47E2}" type="datetimeFigureOut">
              <a:rPr lang="ru-RU" smtClean="0"/>
              <a:pPr/>
              <a:t>06.04.2026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0240-E8AC-4F10-98FB-DE1E40CAF290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80692E-2DF2-4160-8FCC-EE817E0C47E2}" type="datetimeFigureOut">
              <a:rPr lang="ru-RU" smtClean="0"/>
              <a:pPr/>
              <a:t>06.04.2026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0240-E8AC-4F10-98FB-DE1E40CAF290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80692E-2DF2-4160-8FCC-EE817E0C47E2}" type="datetimeFigureOut">
              <a:rPr lang="ru-RU" smtClean="0"/>
              <a:pPr/>
              <a:t>06.04.2026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0240-E8AC-4F10-98FB-DE1E40CAF290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80692E-2DF2-4160-8FCC-EE817E0C47E2}" type="datetimeFigureOut">
              <a:rPr lang="ru-RU" smtClean="0"/>
              <a:pPr/>
              <a:t>06.04.2026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0240-E8AC-4F10-98FB-DE1E40CAF290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80692E-2DF2-4160-8FCC-EE817E0C47E2}" type="datetimeFigureOut">
              <a:rPr lang="ru-RU" smtClean="0"/>
              <a:pPr/>
              <a:t>06.04.2026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0240-E8AC-4F10-98FB-DE1E40CAF290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80692E-2DF2-4160-8FCC-EE817E0C47E2}" type="datetimeFigureOut">
              <a:rPr lang="ru-RU" smtClean="0"/>
              <a:pPr/>
              <a:t>06.04.2026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0240-E8AC-4F10-98FB-DE1E40CAF290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80692E-2DF2-4160-8FCC-EE817E0C47E2}" type="datetimeFigureOut">
              <a:rPr lang="ru-RU" smtClean="0"/>
              <a:pPr/>
              <a:t>06.04.2026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0240-E8AC-4F10-98FB-DE1E40CAF290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80692E-2DF2-4160-8FCC-EE817E0C47E2}" type="datetimeFigureOut">
              <a:rPr lang="ru-RU" smtClean="0"/>
              <a:pPr/>
              <a:t>06.04.2026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0240-E8AC-4F10-98FB-DE1E40CAF290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80692E-2DF2-4160-8FCC-EE817E0C47E2}" type="datetimeFigureOut">
              <a:rPr lang="ru-RU" smtClean="0"/>
              <a:pPr/>
              <a:t>06.04.2026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0240-E8AC-4F10-98FB-DE1E40CAF290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80692E-2DF2-4160-8FCC-EE817E0C47E2}" type="datetimeFigureOut">
              <a:rPr lang="ru-RU" smtClean="0"/>
              <a:pPr/>
              <a:t>06.04.2026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0240-E8AC-4F10-98FB-DE1E40CAF290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80692E-2DF2-4160-8FCC-EE817E0C47E2}" type="datetimeFigureOut">
              <a:rPr lang="ru-RU" smtClean="0"/>
              <a:pPr/>
              <a:t>06.04.2026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60240-E8AC-4F10-98FB-DE1E40CAF290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80692E-2DF2-4160-8FCC-EE817E0C47E2}" type="datetimeFigureOut">
              <a:rPr lang="ru-RU" smtClean="0"/>
              <a:pPr/>
              <a:t>06.04.2026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360240-E8AC-4F10-98FB-DE1E40CAF290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tokmakov.msk.ru/blog/item/74?ysclid=mn1o7zc7t5669184110" TargetMode="External"/><Relationship Id="rId2" Type="http://schemas.openxmlformats.org/officeDocument/2006/relationships/hyperlink" Target="https://v8.1c.ru/platforma/dokumenty/" TargetMode="Externa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Документы: структура, форма, логика проведения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4"/>
            <a:ext cx="8229600" cy="1143000"/>
          </a:xfrm>
        </p:spPr>
        <p:txBody>
          <a:bodyPr/>
          <a:lstStyle/>
          <a:p>
            <a:r>
              <a:rPr lang="ru-RU" dirty="0" smtClean="0"/>
              <a:t>Дополнительные материалы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1000108"/>
            <a:ext cx="9144000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3200" b="1" dirty="0" smtClean="0">
                <a:latin typeface="Times New Roman" pitchFamily="18" charset="0"/>
                <a:cs typeface="Times New Roman" pitchFamily="18" charset="0"/>
              </a:rPr>
              <a:t>Документы</a:t>
            </a:r>
          </a:p>
          <a:p>
            <a:pPr algn="just"/>
            <a:r>
              <a:rPr lang="en-US" sz="3200" dirty="0" smtClean="0">
                <a:latin typeface="Times New Roman" pitchFamily="18" charset="0"/>
                <a:cs typeface="Times New Roman" pitchFamily="18" charset="0"/>
                <a:hlinkClick r:id="rId2"/>
              </a:rPr>
              <a:t>https://v8.1c.ru/platforma/dokumenty/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?</a:t>
            </a:r>
          </a:p>
          <a:p>
            <a:pPr algn="just"/>
            <a:endParaRPr lang="en-US" sz="3200" dirty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3200" b="1" dirty="0" smtClean="0">
                <a:latin typeface="Times New Roman" pitchFamily="18" charset="0"/>
                <a:cs typeface="Times New Roman" pitchFamily="18" charset="0"/>
              </a:rPr>
              <a:t>Проведение документов</a:t>
            </a:r>
          </a:p>
          <a:p>
            <a:pPr algn="just"/>
            <a:r>
              <a:rPr lang="en-US" sz="3200" dirty="0" smtClean="0">
                <a:latin typeface="Times New Roman" pitchFamily="18" charset="0"/>
                <a:cs typeface="Times New Roman" pitchFamily="18" charset="0"/>
                <a:hlinkClick r:id="rId3"/>
              </a:rPr>
              <a:t>https://tokmakov.msk.ru/blog/item/74?ysclid=mn1o7zc7t5669184110</a:t>
            </a:r>
            <a:endParaRPr lang="en-US" sz="32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ru-RU" sz="32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28596" y="-285776"/>
            <a:ext cx="8229600" cy="1143000"/>
          </a:xfrm>
        </p:spPr>
        <p:txBody>
          <a:bodyPr/>
          <a:lstStyle/>
          <a:p>
            <a:r>
              <a:rPr lang="ru-RU" dirty="0" smtClean="0"/>
              <a:t>Документы</a:t>
            </a:r>
            <a:endParaRPr lang="ru-RU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428860" y="4286256"/>
            <a:ext cx="3628408" cy="25717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Прямоугольник 4"/>
          <p:cNvSpPr/>
          <p:nvPr/>
        </p:nvSpPr>
        <p:spPr>
          <a:xfrm>
            <a:off x="0" y="500042"/>
            <a:ext cx="9144000" cy="4031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Документы в 1С нужны, чтобы записывать и учитывать все важные события в работе компании — как электронные чеки или записи в журнале.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Например: продали товар → создали документ «Реализация», купили материалы → «Поступление», выдали зарплату → «Начисление зарплаты» и т. д.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Зачем это надо: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Запомнить, что и когда произошло (кто, кому, что продал, сколько денег пришло или ушло).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Автоматически сделать бухгалтерские проводки — система сама запишет, как изменились деньги, товары, долги.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Сформировать отчёты для налоговой и руководства (баланс, декларации и пр.).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Иметь доказательство сделки — если придут с проверкой или будет спор.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Быстро найти историю операций — что было вчера, месяц или год назад.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Автоматизировать работу — не заполнять вручную десятки бумаг: ввёл данные один раз, а система сама сделала накладные, </a:t>
            </a:r>
            <a:r>
              <a:rPr lang="ru-RU" sz="1600" dirty="0" err="1" smtClean="0">
                <a:latin typeface="Times New Roman" pitchFamily="18" charset="0"/>
                <a:cs typeface="Times New Roman" pitchFamily="18" charset="0"/>
              </a:rPr>
              <a:t>счета‑фактуры</a:t>
            </a:r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, подставила цифры в отчёты.</a:t>
            </a:r>
          </a:p>
          <a:p>
            <a:pPr algn="just"/>
            <a:r>
              <a:rPr lang="ru-RU" sz="1600" dirty="0" smtClean="0">
                <a:latin typeface="Times New Roman" pitchFamily="18" charset="0"/>
                <a:cs typeface="Times New Roman" pitchFamily="18" charset="0"/>
              </a:rPr>
              <a:t>Коротко: документы в 1С — это электронные записи о делах компании. Они помогают всё учесть, не запутаться, сэкономить время и правильно отчитаться перед налоговой.</a:t>
            </a:r>
          </a:p>
          <a:p>
            <a:pPr algn="just"/>
            <a:endParaRPr lang="ru-RU" sz="16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85786" y="2643182"/>
            <a:ext cx="7008601" cy="42148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Прямоугольник 2"/>
          <p:cNvSpPr/>
          <p:nvPr/>
        </p:nvSpPr>
        <p:spPr>
          <a:xfrm>
            <a:off x="0" y="0"/>
            <a:ext cx="914400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Форма документа в программе «1С»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— это визуальный интерфейс, предназначенный для ввода, отображения и редактирования данных, связанных с конкретным документом (например, «Поступление товаров», «Реализация товаров и услуг»). 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Форма позволяет: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вводить данные в поля и табличные части формы;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просматривать данные, хранящиеся в базе данных, в удобном и структурированном виде;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редактировать данные, используя элементы управления формы;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сохранять введённые или изменённые данные в базе данных;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распечатывать документы на основании данных, отображаемых на форме.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487924"/>
            <a:ext cx="9096375" cy="2828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876675" y="2631040"/>
            <a:ext cx="5267325" cy="1476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5" name="Прямая со стрелкой 4"/>
          <p:cNvCxnSpPr/>
          <p:nvPr/>
        </p:nvCxnSpPr>
        <p:spPr>
          <a:xfrm rot="10800000" flipV="1">
            <a:off x="6572264" y="2416726"/>
            <a:ext cx="1785950" cy="1143008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Прямая со стрелкой 5"/>
          <p:cNvCxnSpPr/>
          <p:nvPr/>
        </p:nvCxnSpPr>
        <p:spPr>
          <a:xfrm rot="16200000" flipH="1">
            <a:off x="571472" y="2345288"/>
            <a:ext cx="3000396" cy="714380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Прямоугольник 9"/>
          <p:cNvSpPr/>
          <p:nvPr/>
        </p:nvSpPr>
        <p:spPr>
          <a:xfrm>
            <a:off x="0" y="4206603"/>
            <a:ext cx="7143704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Создаётся объект Запрос для работы с данными.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В тексте запроса описывается выборка из справочника Товары:</a:t>
            </a:r>
          </a:p>
          <a:p>
            <a:pPr algn="just">
              <a:buFont typeface="Arial" pitchFamily="34" charset="0"/>
              <a:buChar char="•"/>
            </a:pP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Товары.Ссылка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(ссылка на элемент справочника) возвращается как поле Товар;</a:t>
            </a:r>
          </a:p>
          <a:p>
            <a:pPr algn="just">
              <a:buFont typeface="Arial" pitchFamily="34" charset="0"/>
              <a:buChar char="•"/>
            </a:pP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Товары.ТекущаяЦена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возвращается как поле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СтараяЦена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;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условие ГДЕ фильтрует записи: выбираются только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Товары.Родитель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принадлежащие к группе, указанной в параметре &amp;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ТекущаяГруппа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2285984" y="6488692"/>
            <a:ext cx="45224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i="1" dirty="0" smtClean="0">
                <a:latin typeface="Times New Roman" pitchFamily="18" charset="0"/>
                <a:cs typeface="Times New Roman" pitchFamily="18" charset="0"/>
              </a:rPr>
              <a:t>Не забудьте вызвать процедуру на клиенте</a:t>
            </a:r>
            <a:endParaRPr lang="ru-RU" i="1" dirty="0"/>
          </a:p>
        </p:txBody>
      </p:sp>
      <p:sp>
        <p:nvSpPr>
          <p:cNvPr id="12" name="Прямоугольник 11"/>
          <p:cNvSpPr/>
          <p:nvPr/>
        </p:nvSpPr>
        <p:spPr>
          <a:xfrm>
            <a:off x="4143372" y="0"/>
            <a:ext cx="10326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Пункт 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4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257800" y="142852"/>
            <a:ext cx="3886200" cy="1171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13" name="Прямая со стрелкой 12"/>
          <p:cNvCxnSpPr/>
          <p:nvPr/>
        </p:nvCxnSpPr>
        <p:spPr>
          <a:xfrm flipV="1">
            <a:off x="2000232" y="928670"/>
            <a:ext cx="3286148" cy="214314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357422" y="3000372"/>
            <a:ext cx="4482132" cy="11430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7413" name="Picture 5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16273" y="4429133"/>
            <a:ext cx="8016186" cy="21145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Прямоугольник 5"/>
          <p:cNvSpPr/>
          <p:nvPr/>
        </p:nvSpPr>
        <p:spPr>
          <a:xfrm>
            <a:off x="0" y="0"/>
            <a:ext cx="91440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Обработка проведения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— это специальный алгоритм (процедура) в модуле документа 1С, который запускается при нажатии кнопки «Провести». Он выполняет все действия, ради которых документ создавался: преобразует данные из формы документа в изменения в других частях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системы.В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нашем случае — берёт список ноутбуков с новыми ценами из документа «Изменение цен» и обновляет соответствующие записи в справочнике «Товары».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Обработка проведения документа — это «двигатель» учёта в 1С. Она превращает форму с данными (документ) в реальные учётные записи (движения в регистрах, изменения в справочниках). Без неё документы были бы просто электронными бланками без влияния на состояние системы.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3929058" y="6488668"/>
            <a:ext cx="10326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Пункт 5</a:t>
            </a:r>
            <a:endParaRPr lang="en-US" b="1" dirty="0" smtClean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63401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В рамках этой задачи</a:t>
            </a:r>
            <a:endParaRPr lang="en-US" b="1" dirty="0" smtClean="0">
              <a:latin typeface="Times New Roman" pitchFamily="18" charset="0"/>
              <a:cs typeface="Times New Roman" pitchFamily="18" charset="0"/>
            </a:endParaRPr>
          </a:p>
          <a:p>
            <a:pPr algn="ctr"/>
            <a:r>
              <a:rPr lang="ru-RU" sz="1400" b="1" i="1" dirty="0" smtClean="0">
                <a:latin typeface="Times New Roman" pitchFamily="18" charset="0"/>
                <a:cs typeface="Times New Roman" pitchFamily="18" charset="0"/>
              </a:rPr>
              <a:t>1. Исключает ошибки ручного ввода</a:t>
            </a:r>
          </a:p>
          <a:p>
            <a:pPr algn="just"/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Без документа пришлось бы открывать каждый товар из группы «Ноутбуки» в справочнике «Товары» и менять цену вручную. При сотне позиций это:</a:t>
            </a:r>
          </a:p>
          <a:p>
            <a:pPr algn="just"/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долго; высок риск опечатки (ввести 5 000 вместо 50 000); легко пропустить </a:t>
            </a:r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какой‑то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 товар.</a:t>
            </a:r>
          </a:p>
          <a:p>
            <a:pPr algn="just"/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Документ автоматически обрабатывает всю группу — ошибка практически исключена.</a:t>
            </a:r>
          </a:p>
          <a:p>
            <a:pPr algn="ctr"/>
            <a:r>
              <a:rPr lang="ru-RU" sz="1400" b="1" i="1" dirty="0" smtClean="0">
                <a:latin typeface="Times New Roman" pitchFamily="18" charset="0"/>
                <a:cs typeface="Times New Roman" pitchFamily="18" charset="0"/>
              </a:rPr>
              <a:t>2. Фиксирует решение руководства</a:t>
            </a:r>
          </a:p>
          <a:p>
            <a:pPr algn="just"/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Документ — это официальный след: кто создал документ (ответственный); когда (дата и время создания); почему (поле «Причина»: «Подорожание оперативной памяти»); на сколько и на какие товары (таблица с товарами и ценами). Без него доказать, что цены подняли осознанно (а не случайно), будет сложно.</a:t>
            </a:r>
          </a:p>
          <a:p>
            <a:pPr algn="ctr"/>
            <a:r>
              <a:rPr lang="ru-RU" sz="1400" b="1" i="1" dirty="0" smtClean="0">
                <a:latin typeface="Times New Roman" pitchFamily="18" charset="0"/>
                <a:cs typeface="Times New Roman" pitchFamily="18" charset="0"/>
              </a:rPr>
              <a:t>3. Сохраняет историю изменений</a:t>
            </a:r>
          </a:p>
          <a:p>
            <a:pPr algn="just"/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Документ создаёт «версию» цен: до проведения — видны старые цены; после проведения — новые; можно сравнить, на сколько выросла цена по каждому товару; в карточке товара можно посмотреть, когда и каким документом менялась цена.</a:t>
            </a:r>
          </a:p>
          <a:p>
            <a:pPr algn="just"/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Без документа история теряется — через месяц никто не вспомнит, почему цена выросла.</a:t>
            </a:r>
          </a:p>
          <a:p>
            <a:pPr algn="ctr"/>
            <a:r>
              <a:rPr lang="ru-RU" sz="1400" b="1" i="1" dirty="0" smtClean="0">
                <a:latin typeface="Times New Roman" pitchFamily="18" charset="0"/>
                <a:cs typeface="Times New Roman" pitchFamily="18" charset="0"/>
              </a:rPr>
              <a:t>4. Автоматизирует обновление данных</a:t>
            </a:r>
          </a:p>
          <a:p>
            <a:pPr algn="just"/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При проведении документа система: сама находит все ноутбуки в справочнике; сама пересчитывает цену (+50 %); сама записывает новое значение в поле «Цена»; сама ставит дату изменения.</a:t>
            </a:r>
          </a:p>
          <a:p>
            <a:pPr algn="just"/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Без документа всё это нужно делать вручную — час работы вместо минуты.</a:t>
            </a:r>
          </a:p>
          <a:p>
            <a:pPr algn="ctr"/>
            <a:r>
              <a:rPr lang="ru-RU" sz="1400" b="1" i="1" dirty="0" smtClean="0">
                <a:latin typeface="Times New Roman" pitchFamily="18" charset="0"/>
                <a:cs typeface="Times New Roman" pitchFamily="18" charset="0"/>
              </a:rPr>
              <a:t>5. Даёт основу для отчётности и контроля</a:t>
            </a:r>
          </a:p>
          <a:p>
            <a:pPr algn="just"/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На основе документа можно: распечатать приказ об изменении цен для руководства; сформировать отчёт «История изменения цен» по группе товаров;</a:t>
            </a:r>
          </a:p>
          <a:p>
            <a:pPr algn="just"/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проверить, все ли ноутбуки получили новую цену; сверить дату изменения с датой подорожания оперативной памяти у поставщика.</a:t>
            </a:r>
          </a:p>
          <a:p>
            <a:pPr algn="just"/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Без документа подтвердить факт и параметры изменения невозможно.</a:t>
            </a:r>
          </a:p>
          <a:p>
            <a:pPr algn="ctr"/>
            <a:r>
              <a:rPr lang="ru-RU" sz="1400" b="1" i="1" dirty="0" smtClean="0">
                <a:latin typeface="Times New Roman" pitchFamily="18" charset="0"/>
                <a:cs typeface="Times New Roman" pitchFamily="18" charset="0"/>
              </a:rPr>
              <a:t>6. Обеспечивает прозрачность и аудит</a:t>
            </a:r>
          </a:p>
          <a:p>
            <a:pPr algn="just"/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Если придёт проверка или возникнет спор с клиентом («У вас вчера была другая цена!»), документ покажет: когда именно изменилась цена; какой был официальный приказ (причина); какая цена была до и после. Без документа компания не сможет подтвердить законность новой цены.</a:t>
            </a:r>
            <a:endParaRPr lang="ru-RU" sz="1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</TotalTime>
  <Words>697</Words>
  <Application>Microsoft Office PowerPoint</Application>
  <PresentationFormat>Экран (4:3)</PresentationFormat>
  <Paragraphs>54</Paragraphs>
  <Slides>7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8" baseType="lpstr">
      <vt:lpstr>Тема Office</vt:lpstr>
      <vt:lpstr>Документы: структура, форма, логика проведения</vt:lpstr>
      <vt:lpstr>Дополнительные материалы</vt:lpstr>
      <vt:lpstr>Документы</vt:lpstr>
      <vt:lpstr>Слайд 4</vt:lpstr>
      <vt:lpstr>Слайд 5</vt:lpstr>
      <vt:lpstr>Слайд 6</vt:lpstr>
      <vt:lpstr>Слайд 7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user</dc:creator>
  <cp:lastModifiedBy>user</cp:lastModifiedBy>
  <cp:revision>16</cp:revision>
  <dcterms:created xsi:type="dcterms:W3CDTF">2026-03-22T09:17:50Z</dcterms:created>
  <dcterms:modified xsi:type="dcterms:W3CDTF">2026-04-06T18:18:06Z</dcterms:modified>
</cp:coreProperties>
</file>