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C04BF-8A92-46C4-A5A4-15600A46B760}" type="datetimeFigureOut">
              <a:rPr lang="ru-RU" smtClean="0"/>
              <a:pPr/>
              <a:t>13.04.2026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A29CE-3256-4BA1-99AD-C6B29F45050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Лабораторная работа №1</a:t>
            </a:r>
            <a:br>
              <a:rPr lang="ru-RU" dirty="0" smtClean="0"/>
            </a:br>
            <a:r>
              <a:rPr lang="ru-RU" dirty="0" smtClean="0"/>
              <a:t>Закрепление </a:t>
            </a:r>
            <a:r>
              <a:rPr lang="en-US" dirty="0" smtClean="0"/>
              <a:t>HTML</a:t>
            </a:r>
            <a:r>
              <a:rPr lang="ru-RU" smtClean="0"/>
              <a:t> и </a:t>
            </a:r>
            <a:r>
              <a:rPr lang="en-US" dirty="0" smtClean="0"/>
              <a:t>CSS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Наберите/скопируйте с помощью программы «Блокнот» следующий программный код. Сохраните его и просмотрите результат в браузере.</a:t>
            </a:r>
            <a:endParaRPr lang="ru-RU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714356"/>
            <a:ext cx="900109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&lt;HEAD&gt;&lt;TITLE&gt;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Задание&lt;/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TITLE&gt;&lt;/HEAD&gt;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&lt;H1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AlIGN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=CENTER&gt;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Оформление текстов на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веб-страницах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H1&gt;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&lt;B&gt;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Жирный текст&lt;/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B&gt;&lt;BR&gt;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&lt;I&gt;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Курсивный текст&lt;/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I&gt;&lt;BR&gt;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&lt;U&gt;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Подчеркнутый текст&lt;/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U&gt;&lt;BR&gt;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&lt;S&gt;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Зачеркнутый текст&lt;/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S&gt;&lt;BR&gt;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E=mc&lt;SUP&gt;2&lt;/SUP&gt;-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Верхний индекс&lt;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BR&gt;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H&lt;SUB&gt;2&lt;/SUB&gt;-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Нижний индекс&lt;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BR&gt;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&lt;p&gt;&lt;span style="font-size: 24px;"&gt;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Это шрифт размера 24&lt;/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span&gt;&lt;/p&gt;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&lt;p&gt;&lt;span style="font-size: 18px; color: red;"&gt;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Это красный шрифт размера 18&lt;/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span&gt;&lt;/p&gt;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&lt;p&gt;&lt;span style="font-size: 20px; color: #000088; font-family: 'Monotype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Corsiva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', cursive;"&gt;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Это синий шрифт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Monotype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Corsiva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размером 20&lt;/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span&gt;&lt;/p&gt;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  &lt;/body&gt;</a:t>
            </a:r>
          </a:p>
          <a:p>
            <a:pPr algn="just"/>
            <a:r>
              <a:rPr lang="en-US" dirty="0" smtClean="0">
                <a:latin typeface="Courier New" pitchFamily="49" charset="0"/>
                <a:cs typeface="Courier New" pitchFamily="49" charset="0"/>
              </a:rPr>
              <a:t>&lt;/HTML&gt;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143644"/>
            <a:ext cx="914400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Добавьте в тег 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&lt;BODY&gt;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атрибут 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style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 с CSS-свойством: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style="background-color: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lightgray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Напишите HTML-код для отображения на Web-странице слова «Информатика» красным цветом, жирным, по центру. Фон документа – желтый. </a:t>
            </a:r>
            <a:endParaRPr lang="ru-RU" sz="20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785794"/>
            <a:ext cx="9003992" cy="19389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Напишите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HTML-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код следующего списка.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Используйте </a:t>
            </a:r>
            <a:r>
              <a:rPr lang="it-IT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it-IT" sz="2400" dirty="0" smtClean="0">
                <a:latin typeface="Times New Roman" pitchFamily="18" charset="0"/>
                <a:cs typeface="Times New Roman" pitchFamily="18" charset="0"/>
              </a:rPr>
              <a:t>&lt;ol&gt;</a:t>
            </a:r>
          </a:p>
          <a:p>
            <a:pPr algn="just"/>
            <a:r>
              <a:rPr lang="it-IT" sz="2400" dirty="0" smtClean="0">
                <a:latin typeface="Times New Roman" pitchFamily="18" charset="0"/>
                <a:cs typeface="Times New Roman" pitchFamily="18" charset="0"/>
              </a:rPr>
              <a:t>&lt;li&gt;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it-IT" sz="2400" dirty="0" smtClean="0">
                <a:latin typeface="Times New Roman" pitchFamily="18" charset="0"/>
                <a:cs typeface="Times New Roman" pitchFamily="18" charset="0"/>
              </a:rPr>
              <a:t>&lt;/li&gt;</a:t>
            </a:r>
          </a:p>
          <a:p>
            <a:pPr algn="just"/>
            <a:r>
              <a:rPr lang="it-IT" sz="2400" dirty="0" smtClean="0">
                <a:latin typeface="Times New Roman" pitchFamily="18" charset="0"/>
                <a:cs typeface="Times New Roman" pitchFamily="18" charset="0"/>
              </a:rPr>
              <a:t>&lt;/ol&gt;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32" y="785794"/>
            <a:ext cx="2571768" cy="1922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3000372"/>
            <a:ext cx="7643834" cy="203132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Создайте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HTML-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документ по образцу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Изображение елочки возьмите любое из сети Интернет.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Используйте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&lt;div style="text-align: center"&gt;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img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"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 width="300"&gt;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&lt;/div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 также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&lt;span style="color: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red;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font-weight: bold;"&gt;В&lt;/span&gt;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37307" y="2714620"/>
            <a:ext cx="1506693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5357826"/>
            <a:ext cx="8572528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Создайте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HTML-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страницу по образцу: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00562" y="5000636"/>
            <a:ext cx="4143404" cy="1058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6140255"/>
            <a:ext cx="914400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Создайте общую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HTML-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страницу и добавьте на нее ссылки на 4 созданные в предыдущих заданиях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30856" y="0"/>
            <a:ext cx="6115024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spcAft>
                <a:spcPts val="0"/>
              </a:spcAft>
            </a:pP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Дополнительные задания:</a:t>
            </a:r>
          </a:p>
          <a:p>
            <a:pPr indent="450215" algn="just">
              <a:spcAft>
                <a:spcPts val="0"/>
              </a:spcAft>
            </a:pPr>
            <a:endParaRPr lang="ru-RU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3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Анимация </a:t>
            </a:r>
            <a:r>
              <a:rPr lang="ru-RU" sz="23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появления.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Реализуйте плавное появление текста при загрузке страницы (</a:t>
            </a:r>
            <a:r>
              <a:rPr lang="ru-RU" sz="23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fade‑in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или эффект пульсации цвета</a:t>
            </a:r>
            <a:r>
              <a:rPr lang="ru-RU" sz="23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3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3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Вложенные списки. 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Создайте многоуровневый список (например, к каждому предмету список заданий). Используйте &lt;</a:t>
            </a:r>
            <a:r>
              <a:rPr lang="ru-RU" sz="23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 внутри &lt;</a:t>
            </a:r>
            <a:r>
              <a:rPr lang="ru-RU" sz="23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3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таблице добавьте еще одну строку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объедините первые два столбца, а в последнем впишите сумму в рублях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3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Эффект увеличения. 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наведении изображение увеличивается на 10 % с плавным переходом (</a:t>
            </a:r>
            <a:r>
              <a:rPr lang="ru-RU" sz="23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3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ru-RU" sz="2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(1.1) + </a:t>
            </a:r>
            <a:r>
              <a:rPr lang="ru-RU" sz="23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transition</a:t>
            </a:r>
            <a:r>
              <a:rPr lang="ru-RU" sz="23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3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188640"/>
            <a:ext cx="2867794" cy="2997412"/>
          </a:xfrm>
          <a:prstGeom prst="rect">
            <a:avLst/>
          </a:prstGeom>
        </p:spPr>
      </p:pic>
      <p:cxnSp>
        <p:nvCxnSpPr>
          <p:cNvPr id="7" name="Прямая со стрелкой 6"/>
          <p:cNvCxnSpPr>
            <a:endCxn id="5" idx="1"/>
          </p:cNvCxnSpPr>
          <p:nvPr/>
        </p:nvCxnSpPr>
        <p:spPr>
          <a:xfrm>
            <a:off x="5364088" y="1687346"/>
            <a:ext cx="72008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3919036"/>
            <a:ext cx="3059832" cy="2114550"/>
          </a:xfrm>
          <a:prstGeom prst="rect">
            <a:avLst/>
          </a:prstGeom>
        </p:spPr>
      </p:pic>
      <p:cxnSp>
        <p:nvCxnSpPr>
          <p:cNvPr id="12" name="Прямая со стрелкой 11"/>
          <p:cNvCxnSpPr/>
          <p:nvPr/>
        </p:nvCxnSpPr>
        <p:spPr>
          <a:xfrm>
            <a:off x="1835696" y="5661248"/>
            <a:ext cx="41044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6300192" y="3190026"/>
            <a:ext cx="2195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Анимация появления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6069138" y="6001643"/>
            <a:ext cx="2658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Увеличение изображения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857370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0"/>
            <a:ext cx="3114675" cy="188595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436096" y="1885950"/>
            <a:ext cx="3334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Стиль для гиперссылки</a:t>
            </a:r>
          </a:p>
          <a:p>
            <a:pPr algn="ctr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a:hover –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стиль при наведении)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-30856" y="0"/>
            <a:ext cx="53949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spcAft>
                <a:spcPts val="0"/>
              </a:spcAft>
            </a:pP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Дополнительные задания: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Активное состояние ссылки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Выделите текущую активную ссылку в меню (подсветка или подчёркивание) при переходе к разделу.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-30856" y="3093154"/>
            <a:ext cx="35947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Оформите титульную страницу с помощью </a:t>
            </a:r>
            <a:r>
              <a:rPr lang="en-US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стилей</a:t>
            </a:r>
            <a:endParaRPr lang="ru-RU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Прямая со стрелкой 6"/>
          <p:cNvCxnSpPr>
            <a:stCxn id="11" idx="3"/>
          </p:cNvCxnSpPr>
          <p:nvPr/>
        </p:nvCxnSpPr>
        <p:spPr>
          <a:xfrm>
            <a:off x="2915816" y="5618435"/>
            <a:ext cx="1156118" cy="59664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-16143" y="4464273"/>
            <a:ext cx="2931959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HTML-тег &lt;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 используется для создания горизонтальной линии, которая визуально разделяет контент на веб-странице или обозначает тематический разрыв между элементами.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31794" y="2644854"/>
            <a:ext cx="5112206" cy="421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581333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463</Words>
  <Application>Microsoft Office PowerPoint</Application>
  <PresentationFormat>Экран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Лабораторная работа №1 Закрепление HTML и CSS</vt:lpstr>
      <vt:lpstr>Слайд 2</vt:lpstr>
      <vt:lpstr>Слайд 3</vt:lpstr>
      <vt:lpstr>Слайд 4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19</cp:revision>
  <dcterms:created xsi:type="dcterms:W3CDTF">2026-04-04T19:58:49Z</dcterms:created>
  <dcterms:modified xsi:type="dcterms:W3CDTF">2026-04-13T19:35:33Z</dcterms:modified>
</cp:coreProperties>
</file>