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66" d="100"/>
          <a:sy n="66" d="100"/>
        </p:scale>
        <p:origin x="-348" y="-96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C04BF-8A92-46C4-A5A4-15600A46B760}" type="datetimeFigureOut">
              <a:rPr lang="ru-RU" smtClean="0"/>
              <a:pPr/>
              <a:t>11.04.2026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A29CE-3256-4BA1-99AD-C6B29F45050A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Лабораторная работа №1</a:t>
            </a:r>
            <a:br>
              <a:rPr lang="ru-RU" dirty="0" smtClean="0"/>
            </a:br>
            <a:r>
              <a:rPr lang="ru-RU" dirty="0" smtClean="0"/>
              <a:t>Закрепление </a:t>
            </a:r>
            <a:r>
              <a:rPr lang="en-US" dirty="0" smtClean="0"/>
              <a:t>HTML</a:t>
            </a:r>
            <a:r>
              <a:rPr lang="ru-RU" smtClean="0"/>
              <a:t> и </a:t>
            </a:r>
            <a:r>
              <a:rPr lang="en-US" dirty="0" smtClean="0"/>
              <a:t>CSS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i="1" dirty="0" smtClean="0">
                <a:latin typeface="Times New Roman" pitchFamily="18" charset="0"/>
                <a:cs typeface="Times New Roman" pitchFamily="18" charset="0"/>
              </a:rPr>
              <a:t>Наберите/скопируйте с помощью программы «Блокнот» следующий программный код. Сохраните его и просмотрите результат в браузере.</a:t>
            </a:r>
            <a:endParaRPr lang="ru-RU" sz="2000" b="1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714356"/>
            <a:ext cx="9001092" cy="53553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&lt;HTML&gt;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&lt;HEAD&gt;&lt;TITLE&gt;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Задание&lt;/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TITLE&gt;&lt;/HEAD&gt;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&lt;BODY&gt;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&lt;H1 </a:t>
            </a:r>
            <a:r>
              <a:rPr lang="en-US" dirty="0" err="1" smtClean="0">
                <a:latin typeface="Courier New" pitchFamily="49" charset="0"/>
                <a:cs typeface="Courier New" pitchFamily="49" charset="0"/>
              </a:rPr>
              <a:t>AlIGN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=CENTER&gt;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Оформление текстов на </a:t>
            </a:r>
            <a:r>
              <a:rPr lang="ru-RU" dirty="0" err="1" smtClean="0">
                <a:latin typeface="Courier New" pitchFamily="49" charset="0"/>
                <a:cs typeface="Courier New" pitchFamily="49" charset="0"/>
              </a:rPr>
              <a:t>веб-страницах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H1&gt;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&lt;B&gt;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Жирный текст&lt;/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B&gt;&lt;BR&gt;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&lt;I&gt;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Курсивный текст&lt;/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I&gt;&lt;BR&gt;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&lt;U&gt;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Подчеркнутый текст&lt;/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U&gt;&lt;BR&gt;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&lt;S&gt;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Зачеркнутый текст&lt;/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S&gt;&lt;BR&gt;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E=mc&lt;SUP&gt;2&lt;/SUP&gt;-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Верхний индекс&lt;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BR&gt;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H&lt;SUB&gt;2&lt;/SUB&gt;-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Нижний индекс&lt;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BR&gt;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&lt;p&gt;&lt;span style="font-size: 24px;"&gt;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Это шрифт размера 24&lt;/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span&gt;&lt;/p&gt;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&lt;p&gt;&lt;span style="font-size: 18px; color: red;"&gt;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Это красный шрифт размера 18&lt;/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span&gt;&lt;/p&gt;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&lt;p&gt;&lt;span style="font-size: 20px; color: #000088; font-family: 'Monotype </a:t>
            </a:r>
            <a:r>
              <a:rPr lang="en-US" dirty="0" err="1" smtClean="0">
                <a:latin typeface="Courier New" pitchFamily="49" charset="0"/>
                <a:cs typeface="Courier New" pitchFamily="49" charset="0"/>
              </a:rPr>
              <a:t>Corsiva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', cursive;"&gt;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Это синий шрифт 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Monotype </a:t>
            </a:r>
            <a:r>
              <a:rPr lang="en-US" dirty="0" err="1" smtClean="0">
                <a:latin typeface="Courier New" pitchFamily="49" charset="0"/>
                <a:cs typeface="Courier New" pitchFamily="49" charset="0"/>
              </a:rPr>
              <a:t>Corsiva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 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размером 20&lt;/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span&gt;&lt;/p&gt;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  &lt;/body&gt;</a:t>
            </a:r>
          </a:p>
          <a:p>
            <a:pPr algn="just"/>
            <a:r>
              <a:rPr lang="en-US" dirty="0" smtClean="0">
                <a:latin typeface="Courier New" pitchFamily="49" charset="0"/>
                <a:cs typeface="Courier New" pitchFamily="49" charset="0"/>
              </a:rPr>
              <a:t>&lt;/HTML&gt;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143644"/>
            <a:ext cx="914400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b="1" i="1" dirty="0" smtClean="0">
                <a:latin typeface="Times New Roman" pitchFamily="18" charset="0"/>
                <a:cs typeface="Times New Roman" pitchFamily="18" charset="0"/>
              </a:rPr>
              <a:t>Добавьте в тег  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&lt;BODY&gt;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 атрибут </a:t>
            </a:r>
            <a:r>
              <a:rPr lang="ru-RU" dirty="0" err="1" smtClean="0">
                <a:latin typeface="Courier New" pitchFamily="49" charset="0"/>
                <a:cs typeface="Courier New" pitchFamily="49" charset="0"/>
              </a:rPr>
              <a:t>style</a:t>
            </a:r>
            <a:r>
              <a:rPr lang="ru-RU" dirty="0" smtClean="0">
                <a:latin typeface="Courier New" pitchFamily="49" charset="0"/>
                <a:cs typeface="Courier New" pitchFamily="49" charset="0"/>
              </a:rPr>
              <a:t> с CSS-свойством: 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style="background-color: </a:t>
            </a:r>
            <a:r>
              <a:rPr lang="en-US" dirty="0" err="1" smtClean="0">
                <a:latin typeface="Courier New" pitchFamily="49" charset="0"/>
                <a:cs typeface="Courier New" pitchFamily="49" charset="0"/>
              </a:rPr>
              <a:t>lightgray</a:t>
            </a:r>
            <a:r>
              <a:rPr lang="en-US" dirty="0" smtClean="0">
                <a:latin typeface="Courier New" pitchFamily="49" charset="0"/>
                <a:cs typeface="Courier New" pitchFamily="49" charset="0"/>
              </a:rPr>
              <a:t>;"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707886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000" i="1" dirty="0" smtClean="0">
                <a:latin typeface="Times New Roman" pitchFamily="18" charset="0"/>
                <a:cs typeface="Times New Roman" pitchFamily="18" charset="0"/>
              </a:rPr>
              <a:t>Напишите HTML-код для отображения на Web-странице слова «Информатика» красным цветом, жирным, по центру. Фон документа – желтый. </a:t>
            </a:r>
            <a:endParaRPr lang="ru-RU" sz="2000" i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0" y="785794"/>
            <a:ext cx="9003992" cy="193899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Напишите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HTML-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код следующего списка.</a:t>
            </a: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Используйте </a:t>
            </a:r>
            <a:r>
              <a:rPr lang="it-IT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it-IT" sz="2400" dirty="0" smtClean="0">
                <a:latin typeface="Times New Roman" pitchFamily="18" charset="0"/>
                <a:cs typeface="Times New Roman" pitchFamily="18" charset="0"/>
              </a:rPr>
              <a:t>&lt;ol&gt;</a:t>
            </a:r>
          </a:p>
          <a:p>
            <a:pPr algn="just"/>
            <a:r>
              <a:rPr lang="it-IT" sz="2400" dirty="0" smtClean="0">
                <a:latin typeface="Times New Roman" pitchFamily="18" charset="0"/>
                <a:cs typeface="Times New Roman" pitchFamily="18" charset="0"/>
              </a:rPr>
              <a:t>&lt;li&gt;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…</a:t>
            </a:r>
            <a:r>
              <a:rPr lang="it-IT" sz="2400" dirty="0" smtClean="0">
                <a:latin typeface="Times New Roman" pitchFamily="18" charset="0"/>
                <a:cs typeface="Times New Roman" pitchFamily="18" charset="0"/>
              </a:rPr>
              <a:t>&lt;/li&gt;</a:t>
            </a:r>
          </a:p>
          <a:p>
            <a:pPr algn="just"/>
            <a:r>
              <a:rPr lang="it-IT" sz="2400" dirty="0" smtClean="0">
                <a:latin typeface="Times New Roman" pitchFamily="18" charset="0"/>
                <a:cs typeface="Times New Roman" pitchFamily="18" charset="0"/>
              </a:rPr>
              <a:t>&lt;/ol&gt;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572232" y="785794"/>
            <a:ext cx="2571768" cy="19224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3000372"/>
            <a:ext cx="7643834" cy="2123658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Создайте 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HTML-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документ по образцу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. 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Изображение елочки возьмите любое из сети Интернет.</a:t>
            </a:r>
          </a:p>
          <a:p>
            <a:pPr algn="just"/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Используйте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&lt;div style="text-align: center"&gt;</a:t>
            </a: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 &lt;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img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src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= " </a:t>
            </a:r>
            <a:r>
              <a:rPr lang="ru-RU" sz="2200" dirty="0" smtClean="0">
                <a:latin typeface="Times New Roman" pitchFamily="18" charset="0"/>
                <a:cs typeface="Times New Roman" pitchFamily="18" charset="0"/>
              </a:rPr>
              <a:t>…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" width="300"&gt;</a:t>
            </a:r>
          </a:p>
          <a:p>
            <a:pPr algn="just"/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&lt;/div&gt;</a:t>
            </a:r>
            <a:endParaRPr lang="ru-RU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37307" y="2714620"/>
            <a:ext cx="1506693" cy="2286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Прямоугольник 6"/>
          <p:cNvSpPr/>
          <p:nvPr/>
        </p:nvSpPr>
        <p:spPr>
          <a:xfrm>
            <a:off x="0" y="5357826"/>
            <a:ext cx="8572528" cy="369332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Создайте </a:t>
            </a:r>
            <a:r>
              <a:rPr lang="en-US" i="1" dirty="0" smtClean="0">
                <a:latin typeface="Times New Roman" pitchFamily="18" charset="0"/>
                <a:cs typeface="Times New Roman" pitchFamily="18" charset="0"/>
              </a:rPr>
              <a:t>HTML-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страницу по образцу:</a:t>
            </a:r>
            <a:endParaRPr lang="ru-RU" i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500562" y="5000636"/>
            <a:ext cx="4143404" cy="1058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Прямоугольник 8"/>
          <p:cNvSpPr/>
          <p:nvPr/>
        </p:nvSpPr>
        <p:spPr>
          <a:xfrm>
            <a:off x="0" y="6140255"/>
            <a:ext cx="914400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ctr"/>
            <a:r>
              <a:rPr lang="ru-RU" b="1" i="1" dirty="0" smtClean="0">
                <a:latin typeface="Times New Roman" pitchFamily="18" charset="0"/>
                <a:cs typeface="Times New Roman" pitchFamily="18" charset="0"/>
              </a:rPr>
              <a:t>Создайте общую </a:t>
            </a:r>
            <a:r>
              <a:rPr lang="en-US" b="1" i="1" dirty="0" smtClean="0">
                <a:latin typeface="Times New Roman" pitchFamily="18" charset="0"/>
                <a:cs typeface="Times New Roman" pitchFamily="18" charset="0"/>
              </a:rPr>
              <a:t>HTML-</a:t>
            </a:r>
            <a:r>
              <a:rPr lang="ru-RU" b="1" i="1" dirty="0" smtClean="0">
                <a:latin typeface="Times New Roman" pitchFamily="18" charset="0"/>
                <a:cs typeface="Times New Roman" pitchFamily="18" charset="0"/>
              </a:rPr>
              <a:t>страницу и добавьте на нее ссылки на 4 созданные в предыдущих заданиях</a:t>
            </a:r>
            <a:endParaRPr lang="ru-RU" b="1" i="1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-30856" y="0"/>
            <a:ext cx="6115024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spcAft>
                <a:spcPts val="0"/>
              </a:spcAft>
            </a:pP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Дополнительные задания:</a:t>
            </a:r>
          </a:p>
          <a:p>
            <a:pPr indent="450215" algn="just">
              <a:spcAft>
                <a:spcPts val="0"/>
              </a:spcAft>
            </a:pPr>
            <a:endParaRPr lang="ru-RU" sz="2400" dirty="0" smtClean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Анимация </a:t>
            </a: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появления. Реализуйте плавное появление текста при загрузке страницы (</a:t>
            </a:r>
            <a:r>
              <a:rPr lang="ru-RU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fade‑in</a:t>
            </a: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 или эффект пульсации цвета</a:t>
            </a:r>
            <a:r>
              <a:rPr lang="ru-RU" sz="24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4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Вложенные списки. Создайте многоуровневый список (например, к каждому предмету список заданий). Используйте &lt;</a:t>
            </a:r>
            <a:r>
              <a:rPr lang="ru-RU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ol</a:t>
            </a: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 внутри &lt;</a:t>
            </a:r>
            <a:r>
              <a:rPr lang="ru-RU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li</a:t>
            </a: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&gt;.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В таблице добавьте еще одну строку: объедините первые два столбца, а в последнем впишите сумму в рублях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Эффект увеличения. При наведении изображение увеличивается на 10 % с плавным переходом (</a:t>
            </a:r>
            <a:r>
              <a:rPr lang="ru-RU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transform</a:t>
            </a: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scale</a:t>
            </a: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(1.1) + </a:t>
            </a:r>
            <a:r>
              <a:rPr lang="ru-RU" sz="2400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transition</a:t>
            </a:r>
            <a:r>
              <a:rPr lang="ru-RU" sz="24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endParaRPr lang="ru-RU" sz="24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168" y="188640"/>
            <a:ext cx="2867794" cy="2997412"/>
          </a:xfrm>
          <a:prstGeom prst="rect">
            <a:avLst/>
          </a:prstGeom>
        </p:spPr>
      </p:pic>
      <p:cxnSp>
        <p:nvCxnSpPr>
          <p:cNvPr id="7" name="Прямая со стрелкой 6"/>
          <p:cNvCxnSpPr>
            <a:endCxn id="5" idx="1"/>
          </p:cNvCxnSpPr>
          <p:nvPr/>
        </p:nvCxnSpPr>
        <p:spPr>
          <a:xfrm>
            <a:off x="5364088" y="1687346"/>
            <a:ext cx="72008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168" y="3919036"/>
            <a:ext cx="3059832" cy="2114550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>
            <a:off x="1835696" y="5661248"/>
            <a:ext cx="4104456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Прямоугольник 14"/>
          <p:cNvSpPr/>
          <p:nvPr/>
        </p:nvSpPr>
        <p:spPr>
          <a:xfrm>
            <a:off x="6300192" y="3190026"/>
            <a:ext cx="21959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Анимация появления</a:t>
            </a:r>
            <a:endParaRPr lang="ru-RU" dirty="0"/>
          </a:p>
        </p:txBody>
      </p:sp>
      <p:sp>
        <p:nvSpPr>
          <p:cNvPr id="16" name="Прямоугольник 15"/>
          <p:cNvSpPr/>
          <p:nvPr/>
        </p:nvSpPr>
        <p:spPr>
          <a:xfrm>
            <a:off x="6069138" y="6001643"/>
            <a:ext cx="26581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Увеличение изображения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857370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096" y="0"/>
            <a:ext cx="3114675" cy="188595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5436096" y="1885950"/>
            <a:ext cx="333482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Стиль для гиперссылки</a:t>
            </a:r>
          </a:p>
          <a:p>
            <a:pPr algn="ctr"/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(</a:t>
            </a:r>
            <a:r>
              <a:rPr lang="en-US" i="1" dirty="0" smtClean="0">
                <a:latin typeface="Times New Roman" pitchFamily="18" charset="0"/>
                <a:cs typeface="Times New Roman" pitchFamily="18" charset="0"/>
              </a:rPr>
              <a:t>a:hover – </a:t>
            </a:r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стиль при наведении)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-30856" y="0"/>
            <a:ext cx="539494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450215" algn="ctr">
              <a:spcAft>
                <a:spcPts val="0"/>
              </a:spcAft>
            </a:pPr>
            <a:r>
              <a:rPr lang="ru-RU" sz="2400" b="1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Дополнительные задания: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Активное состояние ссылки. Выделите текущую активную ссылку в меню (подсветка или подчёркивание) при переходе к разделу.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888" y="2506062"/>
            <a:ext cx="5580112" cy="4352161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-30856" y="3093154"/>
            <a:ext cx="359474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Оформите титульную страницу с помощью </a:t>
            </a:r>
            <a:r>
              <a:rPr lang="en-US" sz="2400" dirty="0" err="1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css</a:t>
            </a:r>
            <a:r>
              <a:rPr lang="en-US" sz="24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smtClean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стилей.</a:t>
            </a:r>
            <a:endParaRPr lang="ru-RU" sz="2400" dirty="0"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Прямая со стрелкой 6"/>
          <p:cNvCxnSpPr>
            <a:stCxn id="11" idx="3"/>
          </p:cNvCxnSpPr>
          <p:nvPr/>
        </p:nvCxnSpPr>
        <p:spPr>
          <a:xfrm>
            <a:off x="2915816" y="5618435"/>
            <a:ext cx="792088" cy="83490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/>
          <p:cNvSpPr/>
          <p:nvPr/>
        </p:nvSpPr>
        <p:spPr>
          <a:xfrm>
            <a:off x="-16143" y="4464273"/>
            <a:ext cx="2931959" cy="2308324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HTML-тег &lt;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hr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&gt; используется для создания горизонтальной линии, которая визуально разделяет контент на веб-странице или обозначает тематический разрыв между элементами.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25813339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446</Words>
  <Application>Microsoft Office PowerPoint</Application>
  <PresentationFormat>Экран (4:3)</PresentationFormat>
  <Paragraphs>45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Лабораторная работа №1 Закрепление HTML и CSS</vt:lpstr>
      <vt:lpstr>Слайд 2</vt:lpstr>
      <vt:lpstr>Слайд 3</vt:lpstr>
      <vt:lpstr>Слайд 4</vt:lpstr>
      <vt:lpstr>Слайд 5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16</cp:revision>
  <dcterms:created xsi:type="dcterms:W3CDTF">2026-04-04T19:58:49Z</dcterms:created>
  <dcterms:modified xsi:type="dcterms:W3CDTF">2026-04-11T19:45:30Z</dcterms:modified>
</cp:coreProperties>
</file>