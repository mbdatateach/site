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9" r:id="rId4"/>
    <p:sldId id="275" r:id="rId5"/>
    <p:sldId id="276" r:id="rId6"/>
    <p:sldId id="277" r:id="rId7"/>
    <p:sldId id="278" r:id="rId8"/>
    <p:sldId id="274" r:id="rId9"/>
    <p:sldId id="279" r:id="rId10"/>
    <p:sldId id="280" r:id="rId11"/>
    <p:sldId id="282" r:id="rId12"/>
    <p:sldId id="283" r:id="rId13"/>
    <p:sldId id="284" r:id="rId14"/>
    <p:sldId id="286" r:id="rId15"/>
    <p:sldId id="285" r:id="rId16"/>
    <p:sldId id="281" r:id="rId17"/>
    <p:sldId id="287" r:id="rId18"/>
    <p:sldId id="288" r:id="rId19"/>
    <p:sldId id="293" r:id="rId20"/>
    <p:sldId id="289" r:id="rId21"/>
    <p:sldId id="292" r:id="rId22"/>
    <p:sldId id="290" r:id="rId23"/>
    <p:sldId id="295" r:id="rId24"/>
    <p:sldId id="294" r:id="rId25"/>
    <p:sldId id="291" r:id="rId2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08" y="-7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10.04.2026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10.04.2026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10.04.2026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10.04.2026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10.04.2026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10.04.2026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10.04.2026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10.04.2026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10.04.2026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10.04.2026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10.04.2026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10.04.2026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mbdatateach.github.io/site/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hyperlink" Target="https://colorscheme.ru/color-converter.html" TargetMode="Externa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uperbwebsitebuilders.com/ru/kak-sozdat-svoj-prostoj-html-sajt-v-bloknote/?ysclid=m13cihn8w2598913438" TargetMode="External"/><Relationship Id="rId2" Type="http://schemas.openxmlformats.org/officeDocument/2006/relationships/hyperlink" Target="https://htmlbook.ru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learning-zone/website-templates?ysclid=mnhzjsilb7757781975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Основы </a:t>
            </a:r>
            <a:r>
              <a:rPr lang="en-US" b="1" dirty="0" smtClean="0"/>
              <a:t>HTML </a:t>
            </a:r>
            <a:r>
              <a:rPr lang="ru-RU" b="1" dirty="0" smtClean="0"/>
              <a:t>и </a:t>
            </a:r>
            <a:r>
              <a:rPr lang="en-US" b="1" dirty="0" smtClean="0"/>
              <a:t>CSS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err="1" smtClean="0"/>
              <a:t>Веб-страница</a:t>
            </a:r>
            <a:r>
              <a:rPr lang="ru-RU" b="1" dirty="0" smtClean="0"/>
              <a:t> и </a:t>
            </a:r>
            <a:r>
              <a:rPr lang="ru-RU" b="1" dirty="0" err="1" smtClean="0"/>
              <a:t>веб-сайт</a:t>
            </a:r>
            <a:endParaRPr lang="ru-RU" b="1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642918"/>
            <a:ext cx="9144000" cy="19288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0" y="571480"/>
            <a:ext cx="914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Сайт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набор связанных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веб-страниц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которые обычно имеют общий домен и предназначены для предоставления информации пользователям. Сайты могут быть статическими или динамическими, но их основная цель — представление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контента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Они могут включать текст, изображения, видео и другие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мультимедийные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элементы. Сайты часто создаются с использованием HTML, CSS и базового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что делает их относительно простыми в разработке и поддержке.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Примеры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Личный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блог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новостной портал, корпоративный сайт.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2643182"/>
            <a:ext cx="9144000" cy="34778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Навык создания одностраничных сайтов полезен по нескольким причинам: </a:t>
            </a:r>
          </a:p>
          <a:p>
            <a:pPr marL="342900" indent="-342900" algn="just">
              <a:buAutoNum type="arabicPeriod"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Эффективное продвижение продуктов и услуг.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Сайты позволяют сосредоточиться на одной конкретной цели, будь то продажа товара, сбор заявок или информирование о компании. Это помогает быстро донести ключевое сообщение до аудитории.</a:t>
            </a:r>
          </a:p>
          <a:p>
            <a:pPr marL="342900" indent="-342900" algn="just">
              <a:buAutoNum type="arabicPeriod"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Гибкость и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масштабируемость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Сайты легко адаптировать под разные задачи и целевые аудитории. Менеджеры могут быстро тестировать новые идеи, собирать обратную связь и вносить изменения.</a:t>
            </a:r>
          </a:p>
          <a:p>
            <a:pPr marL="342900" indent="-342900" algn="just">
              <a:buAutoNum type="arabicPeriod"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Экономия времени и ресурсов.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Создание сайта занимает меньше времени и требует меньших затрат по сравнению с разработкой полноценного многостраничного ресурса.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Разработка одностраничного сайта</a:t>
            </a:r>
            <a:endParaRPr lang="ru-RU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571480"/>
            <a:ext cx="9144000" cy="14287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500034" y="-28577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Разработка одностраничного сайта</a:t>
            </a:r>
            <a:endParaRPr kumimoji="0" lang="ru-RU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" name="Picture 8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875" y="1955421"/>
            <a:ext cx="4385694" cy="3831033"/>
          </a:xfrm>
          <a:prstGeom prst="rect">
            <a:avLst/>
          </a:prstGeom>
          <a:noFill/>
        </p:spPr>
      </p:pic>
      <p:sp>
        <p:nvSpPr>
          <p:cNvPr id="11" name="Прямоугольник 10"/>
          <p:cNvSpPr/>
          <p:nvPr/>
        </p:nvSpPr>
        <p:spPr>
          <a:xfrm>
            <a:off x="0" y="5600658"/>
            <a:ext cx="91200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язык разметки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который определяет структуру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веб-страницы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её содержание.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2214554"/>
            <a:ext cx="22859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язык стилей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который описывает внешний вид HTML-документов. 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6643702" y="2000240"/>
            <a:ext cx="25002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язык программирования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который делает сайты интерактивными.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-71470" y="500042"/>
            <a:ext cx="928684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Хотя существуют инструменты и подходы, позволяющие разрабатывать сайты без углубленного знания HTML и CSS, понимание базовых принципов этих технологий остаётся крайне полезным. Оно обеспечивает лучшее представление о структуре сайтов, облегчает процесс улучшения интерфейса, способствует повышению качества и доступности ваших продуктов.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0" y="6068817"/>
            <a:ext cx="9144000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Кроме того, на сайте могут быть интерактивные элементы, предназначенные для выполнения конкретных задач.  Они требует взаимодействия с пользователем.</a:t>
            </a:r>
            <a:endParaRPr lang="ru-RU" b="1" dirty="0"/>
          </a:p>
        </p:txBody>
      </p:sp>
      <p:sp>
        <p:nvSpPr>
          <p:cNvPr id="16" name="Овал 15"/>
          <p:cNvSpPr/>
          <p:nvPr/>
        </p:nvSpPr>
        <p:spPr>
          <a:xfrm rot="19739294">
            <a:off x="2593389" y="1700179"/>
            <a:ext cx="2500330" cy="42147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72264" y="1142984"/>
            <a:ext cx="2571736" cy="2864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1214414" y="3143248"/>
            <a:ext cx="32855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Редакторы кода и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IDE</a:t>
            </a:r>
            <a:endParaRPr lang="en-US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7143768" y="4000504"/>
            <a:ext cx="1439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Браузеры</a:t>
            </a:r>
            <a:endParaRPr lang="en-US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500034" y="-142892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Базовые инструменты </a:t>
            </a:r>
            <a:r>
              <a:rPr kumimoji="0" lang="ru-RU" sz="4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веб-разработчика</a:t>
            </a:r>
            <a:endParaRPr kumimoji="0" lang="ru-RU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" y="3714752"/>
            <a:ext cx="2928926" cy="1460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5143512"/>
            <a:ext cx="3000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Системы контроля версий</a:t>
            </a:r>
            <a:endParaRPr lang="ru-RU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1" y="1357298"/>
            <a:ext cx="5972777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214678" y="4500570"/>
            <a:ext cx="5643602" cy="1526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4286248" y="6000768"/>
            <a:ext cx="40304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Программы для </a:t>
            </a:r>
            <a:r>
              <a:rPr lang="ru-RU" sz="2400" b="1" i="1" dirty="0" err="1" smtClean="0">
                <a:latin typeface="Times New Roman" pitchFamily="18" charset="0"/>
                <a:cs typeface="Times New Roman" pitchFamily="18" charset="0"/>
              </a:rPr>
              <a:t>веб-дизайна</a:t>
            </a:r>
            <a:endParaRPr lang="en-US" sz="2400" b="1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39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https://mbdatateach.github.io/site/</a:t>
            </a: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 l="11702"/>
          <a:stretch>
            <a:fillRect/>
          </a:stretch>
        </p:blipFill>
        <p:spPr bwMode="auto">
          <a:xfrm>
            <a:off x="1714480" y="642918"/>
            <a:ext cx="5929307" cy="604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58317"/>
            <a:ext cx="3714744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3500430" y="701085"/>
            <a:ext cx="564357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Первый тег, который нужно добавить, указывает всему документу, что будет использоваться язык HTML</a:t>
            </a:r>
            <a:endParaRPr lang="ru-RU" dirty="0"/>
          </a:p>
        </p:txBody>
      </p:sp>
      <p:cxnSp>
        <p:nvCxnSpPr>
          <p:cNvPr id="4" name="Прямая со стрелкой 3"/>
          <p:cNvCxnSpPr>
            <a:stCxn id="3" idx="1"/>
          </p:cNvCxnSpPr>
          <p:nvPr/>
        </p:nvCxnSpPr>
        <p:spPr>
          <a:xfrm rot="10800000" flipV="1">
            <a:off x="642910" y="1024251"/>
            <a:ext cx="2857520" cy="7483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4071934" y="1415441"/>
            <a:ext cx="507206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Этот раздел HTML-документа содержит метаданные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веб-страницы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веб-браузере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они не отображаются. Здесь может содержаться такая информация, как имя страницы, таблицы стилей (CSS),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так далее.</a:t>
            </a:r>
            <a:endParaRPr lang="ru-RU" dirty="0"/>
          </a:p>
        </p:txBody>
      </p:sp>
      <p:cxnSp>
        <p:nvCxnSpPr>
          <p:cNvPr id="11" name="Прямая со стрелкой 10"/>
          <p:cNvCxnSpPr>
            <a:stCxn id="6" idx="1"/>
          </p:cNvCxnSpPr>
          <p:nvPr/>
        </p:nvCxnSpPr>
        <p:spPr>
          <a:xfrm rot="10800000">
            <a:off x="714348" y="1986945"/>
            <a:ext cx="3357586" cy="16716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3929058" y="2915639"/>
            <a:ext cx="5214942" cy="132343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 fontAlgn="base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Примечание: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Каждый HTML-элемент должен находиться между двумя тегами. Когда мы добавляем новый элемент, например тег «&lt;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&gt;», открывающий соответствующий раздел, нам нужно добавить и закрывающий тег. В данном случае это «&lt;/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&gt;».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" name="Прямая со стрелкой 15"/>
          <p:cNvCxnSpPr/>
          <p:nvPr/>
        </p:nvCxnSpPr>
        <p:spPr>
          <a:xfrm rot="10800000">
            <a:off x="785786" y="2772763"/>
            <a:ext cx="3089446" cy="96440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3286116" y="4344399"/>
            <a:ext cx="58578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Имя страницы.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Оно должно находиться внутри раздела 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», так что его нужно ввести между открывающим тегом «&lt;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&gt;» и закрывающим «&lt;/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&gt;». Чтобы добавить имя, наберите открывающий тег 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title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&gt;, затем введите текст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собствнно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имя) и сразу за ним добавьте закрывающий тег &lt;/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title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&gt;.</a:t>
            </a:r>
            <a:endParaRPr lang="ru-RU" dirty="0"/>
          </a:p>
        </p:txBody>
      </p:sp>
      <p:cxnSp>
        <p:nvCxnSpPr>
          <p:cNvPr id="24" name="Прямая со стрелкой 23"/>
          <p:cNvCxnSpPr/>
          <p:nvPr/>
        </p:nvCxnSpPr>
        <p:spPr>
          <a:xfrm rot="16200000" flipV="1">
            <a:off x="1464448" y="2665607"/>
            <a:ext cx="2143138" cy="164307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Прямоугольник 31"/>
          <p:cNvSpPr/>
          <p:nvPr/>
        </p:nvSpPr>
        <p:spPr>
          <a:xfrm>
            <a:off x="0" y="4630151"/>
            <a:ext cx="321467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Все, что будет отображаться на вашей странице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веб-браузере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должно находиться между этими тегами.</a:t>
            </a:r>
            <a:endParaRPr lang="ru-RU" dirty="0"/>
          </a:p>
        </p:txBody>
      </p:sp>
      <p:cxnSp>
        <p:nvCxnSpPr>
          <p:cNvPr id="33" name="Прямая со стрелкой 32"/>
          <p:cNvCxnSpPr>
            <a:stCxn id="32" idx="0"/>
          </p:cNvCxnSpPr>
          <p:nvPr/>
        </p:nvCxnSpPr>
        <p:spPr>
          <a:xfrm rot="16200000" flipV="1">
            <a:off x="482184" y="3504996"/>
            <a:ext cx="1214444" cy="10358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Прямоугольник 39"/>
          <p:cNvSpPr/>
          <p:nvPr/>
        </p:nvSpPr>
        <p:spPr>
          <a:xfrm>
            <a:off x="0" y="6273225"/>
            <a:ext cx="9144000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Запомните, что все элементы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веб-страницы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должны находиться между тегами «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body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».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Любой элемент — будь то заголовок или абзац — нужно вводить после тега &lt;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body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&gt; и перед тегом &lt;/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body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&gt;.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Заголовок 1"/>
          <p:cNvSpPr txBox="1">
            <a:spLocks/>
          </p:cNvSpPr>
          <p:nvPr/>
        </p:nvSpPr>
        <p:spPr>
          <a:xfrm>
            <a:off x="500034" y="-214330"/>
            <a:ext cx="8229600" cy="1143000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Базовая структура </a:t>
            </a:r>
            <a:r>
              <a:rPr kumimoji="0" lang="ru-RU" sz="4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веб-страницы</a:t>
            </a:r>
            <a:endParaRPr kumimoji="0" lang="ru-RU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4" y="4272380"/>
            <a:ext cx="5273490" cy="2585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571612"/>
            <a:ext cx="9144001" cy="1500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3214686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Открыть созданную страницу в сети Интернет можно следующим способом</a:t>
            </a:r>
            <a:endParaRPr lang="ru-RU" sz="2400" i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6027003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Введенный заголовок страницы отображается здесь</a:t>
            </a:r>
            <a:endParaRPr lang="ru-RU" sz="2400" i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71736" y="0"/>
            <a:ext cx="3619512" cy="1310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571612"/>
            <a:ext cx="4314825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Основные разделы </a:t>
            </a:r>
            <a:r>
              <a:rPr lang="ru-RU" b="1" dirty="0" err="1" smtClean="0"/>
              <a:t>веб-страницы</a:t>
            </a:r>
            <a:endParaRPr lang="ru-RU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929190" y="642918"/>
            <a:ext cx="4214810" cy="83099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Шапка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размещается в верхней части страницы и содержит название сайта, главное меню и поисковую форму.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643570" y="1857364"/>
            <a:ext cx="3500430" cy="83099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Навигация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главное меню сайта, ссылки для перехода к основным разделам сайта.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4857752" y="5429264"/>
            <a:ext cx="3786214" cy="107721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Футер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сайта — находится внизу страницы и содержит дополнительную информацию, такую как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копирайты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контакты, ссылки на социальные сети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5643570" y="2928934"/>
            <a:ext cx="3500430" cy="15696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Боковая панель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часто используется для размещения вспомогательной информации, такой как навигационные ссылки, список категорий, последние новости или дополнительные ресурсы.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28596" y="5288340"/>
            <a:ext cx="3571868" cy="15696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Основной блок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содержит основное содержимое страницы, которое представляет главную цель и суть вашего сайта. Здесь размещаются тексты, изображения, видео, формы и другие важные элементы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контента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cxnSp>
        <p:nvCxnSpPr>
          <p:cNvPr id="12" name="Shape 11"/>
          <p:cNvCxnSpPr>
            <a:stCxn id="5" idx="1"/>
          </p:cNvCxnSpPr>
          <p:nvPr/>
        </p:nvCxnSpPr>
        <p:spPr>
          <a:xfrm rot="10800000" flipV="1">
            <a:off x="2928926" y="1058416"/>
            <a:ext cx="2000264" cy="513195"/>
          </a:xfrm>
          <a:prstGeom prst="bent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hape 16"/>
          <p:cNvCxnSpPr>
            <a:stCxn id="8" idx="1"/>
          </p:cNvCxnSpPr>
          <p:nvPr/>
        </p:nvCxnSpPr>
        <p:spPr>
          <a:xfrm rot="10800000">
            <a:off x="5072066" y="3181646"/>
            <a:ext cx="571504" cy="532118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>
            <a:stCxn id="6" idx="1"/>
          </p:cNvCxnSpPr>
          <p:nvPr/>
        </p:nvCxnSpPr>
        <p:spPr>
          <a:xfrm rot="10800000" flipV="1">
            <a:off x="5000628" y="2272862"/>
            <a:ext cx="642942" cy="1312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hape 16"/>
          <p:cNvCxnSpPr>
            <a:stCxn id="7" idx="0"/>
          </p:cNvCxnSpPr>
          <p:nvPr/>
        </p:nvCxnSpPr>
        <p:spPr>
          <a:xfrm rot="16200000" flipV="1">
            <a:off x="4521101" y="3199505"/>
            <a:ext cx="637584" cy="3821933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hape 16"/>
          <p:cNvCxnSpPr>
            <a:stCxn id="10" idx="0"/>
          </p:cNvCxnSpPr>
          <p:nvPr/>
        </p:nvCxnSpPr>
        <p:spPr>
          <a:xfrm rot="16200000" flipV="1">
            <a:off x="446811" y="3520621"/>
            <a:ext cx="2106694" cy="1428744"/>
          </a:xfrm>
          <a:prstGeom prst="bentConnector4">
            <a:avLst>
              <a:gd name="adj1" fmla="val 11788"/>
              <a:gd name="adj2" fmla="val 141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 l="5351" t="11719" r="3675" b="17968"/>
          <a:stretch>
            <a:fillRect/>
          </a:stretch>
        </p:blipFill>
        <p:spPr bwMode="auto">
          <a:xfrm>
            <a:off x="1071538" y="3643314"/>
            <a:ext cx="1214446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/>
          <a:srcRect l="5351" t="11719" r="3675" b="17968"/>
          <a:stretch>
            <a:fillRect/>
          </a:stretch>
        </p:blipFill>
        <p:spPr bwMode="auto">
          <a:xfrm>
            <a:off x="2500298" y="3643314"/>
            <a:ext cx="1214446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14480" y="2786058"/>
            <a:ext cx="13620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/>
          <a:lstStyle/>
          <a:p>
            <a:r>
              <a:rPr lang="ru-RU" dirty="0" smtClean="0"/>
              <a:t>Форматирование текста</a:t>
            </a:r>
            <a:endParaRPr lang="ru-RU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00042"/>
            <a:ext cx="4425671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70417" y="1142984"/>
            <a:ext cx="4773583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3108" y="4500570"/>
            <a:ext cx="4714876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3571876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Так работает тег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&lt;p&gt;&lt;/p&gt;</a:t>
            </a:r>
            <a:endParaRPr lang="ru-RU" sz="2400" i="1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0" y="6143644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А так можно переносить строки в пределах одного абзаца</a:t>
            </a:r>
            <a:endParaRPr lang="ru-RU" sz="2400" i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85752"/>
            <a:ext cx="4929189" cy="4429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42132" y="357166"/>
            <a:ext cx="4201868" cy="400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00166" y="5072074"/>
            <a:ext cx="6353175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6072206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Выравнивание заголовков</a:t>
            </a:r>
            <a:endParaRPr lang="ru-RU" sz="2400" i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4500570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Демонстрация заголовков разных уровней</a:t>
            </a:r>
            <a:endParaRPr lang="ru-RU" sz="2400" i="1" dirty="0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457200" y="-2143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Заголовки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14290"/>
            <a:ext cx="3609975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3786182" y="357166"/>
            <a:ext cx="53578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Списки превращают сплошной текст в упорядоченную последовательность элементов. Это упрощает восприятие: пользователь видит чёткие пункты, а не монолитную стену текста.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2143116"/>
            <a:ext cx="33575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Маркированный список</a:t>
            </a:r>
            <a:endParaRPr lang="ru-RU" sz="2400" i="1" dirty="0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643182"/>
            <a:ext cx="5286380" cy="140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5357818" y="1785926"/>
            <a:ext cx="378618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HTML‑списки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передают смысл данных: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нумерованный список (&lt;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&gt;) показывает последовательность (порядок важен);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маркированный список (&lt;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&gt;) обозначает набор элементов (порядок не важен).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4000504"/>
            <a:ext cx="33575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Нумерованный список</a:t>
            </a:r>
            <a:endParaRPr lang="ru-RU" sz="2400" i="1" dirty="0"/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4398879"/>
            <a:ext cx="3214677" cy="2459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3143240" y="4272677"/>
            <a:ext cx="600076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Внешний список (&lt;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&gt;) — нумерованный: «1. Фрукты», «2. Овощи».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Вложенные списки (&lt;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&gt;) — маркированные: внутри каждой категории свой набор пунктов.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Вложенность делается так: 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 или 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 помещается внутри тега 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li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 родительского списка.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Закрывать теги нужно в правильном порядке: сначала завершаем вложенный список, потом закрываем 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li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&gt;, затем — внешний список.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457200" y="-2143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Списки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3599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3643314"/>
            <a:ext cx="285748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JPG — для фотографий, много цветов, небольшой размер файла, но может терять качество и не бывает прозрачным.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929322" y="3571876"/>
            <a:ext cx="321467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PNG — для чётких картинок с прозрачностью (логотипы,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скриншоты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), сохраняет качество без потерь, но файлы тяжелее.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714612" y="3643314"/>
            <a:ext cx="335758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GIF — для коротких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анимаций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без звука и простых рисунков с небольшим количеством цветов; легко делится 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соцсетях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мессенджерах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855"/>
            <a:ext cx="7496175" cy="2386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913481"/>
            <a:ext cx="9144000" cy="2944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2428868"/>
            <a:ext cx="42148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Картинка слева от текста — за это отвечает 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align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right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;. Изображение «прилипает» к правому краю, а текст обтекает его слева.</a:t>
            </a:r>
            <a:endParaRPr lang="ru-RU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143108" y="6488668"/>
            <a:ext cx="47589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Альтернативный текст и картинки в списках</a:t>
            </a:r>
            <a:endParaRPr lang="ru-RU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6248" y="1714488"/>
            <a:ext cx="4857752" cy="1940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Заголовок 1"/>
          <p:cNvSpPr txBox="1">
            <a:spLocks/>
          </p:cNvSpPr>
          <p:nvPr/>
        </p:nvSpPr>
        <p:spPr>
          <a:xfrm>
            <a:off x="457200" y="-2143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Изображения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319072"/>
            <a:ext cx="7534275" cy="823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43174" y="1090600"/>
            <a:ext cx="329565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1568223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Ссылки выравниваются по левому краю. Для изменения выравнивания можно обернуть контейнер со ссылкой в теги параграф и выровнять уже его с помощью 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align</a:t>
            </a:r>
            <a:endParaRPr lang="ru-RU" b="1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2910" y="2143116"/>
            <a:ext cx="7877150" cy="3877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0" y="6211669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Оглавление — это список ссылок на разделы страницы. Для удобства навигации часто используют якоря (</a:t>
            </a:r>
            <a:r>
              <a:rPr lang="ru-RU" b="1" i="1" dirty="0" err="1" smtClean="0">
                <a:latin typeface="Times New Roman" pitchFamily="18" charset="0"/>
                <a:cs typeface="Times New Roman" pitchFamily="18" charset="0"/>
              </a:rPr>
              <a:t>id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 элементов) и внутренние ссылки.</a:t>
            </a:r>
            <a:endParaRPr lang="ru-RU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-2143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Гиперссылки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92138"/>
            <a:ext cx="9039224" cy="557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4429124" y="4478262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table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 — создаёт таблицу;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border=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"1" — задаёт видимую границу (толщиной 1 пиксель);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убрать двойные рамки можно с помощью  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 — строка таблицы;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 — ячейка заголовка (обычно выделяется жирным и центрируется);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 — обычная ячейка с данными.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457200" y="-71454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Таблицы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42918"/>
            <a:ext cx="3757654" cy="1457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Заголовок 1"/>
          <p:cNvSpPr txBox="1">
            <a:spLocks/>
          </p:cNvSpPr>
          <p:nvPr/>
        </p:nvSpPr>
        <p:spPr>
          <a:xfrm>
            <a:off x="457200" y="-142892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Стилизация текста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4357694"/>
            <a:ext cx="58579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Возможности стилизации текста</a:t>
            </a:r>
            <a:endParaRPr lang="ru-RU" sz="2400" i="1" dirty="0"/>
          </a:p>
        </p:txBody>
      </p: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86446" y="2285992"/>
            <a:ext cx="3357554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2428868"/>
            <a:ext cx="5786446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0" y="4857760"/>
            <a:ext cx="552035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5"/>
              </a:rPr>
              <a:t>https://colorscheme.ru/color-converter.html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Конвертер цветов</a:t>
            </a:r>
            <a:endParaRPr lang="ru-RU" sz="24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14348" y="5676900"/>
            <a:ext cx="4238625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000497" y="642918"/>
            <a:ext cx="5143504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4357686" y="1714488"/>
            <a:ext cx="36630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Современный способ выравнивания</a:t>
            </a:r>
            <a:endParaRPr lang="ru-R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54757"/>
            <a:ext cx="3819525" cy="401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57620" y="754757"/>
            <a:ext cx="5114216" cy="1285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3714744" y="2214554"/>
            <a:ext cx="542925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Конструкция 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{ 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blue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font-size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: 18px; } — это короткая и мощная команда браузеру: «Все абзацы на этой странице сделай синими и размером 18 пикселей». Один раз написали — и все абзацы на сайте выглядят так, как нужно. Хотите поменять — правите одну строчку, а эффект распространяется на всю страницу.</a:t>
            </a:r>
            <a:endParaRPr lang="ru-RU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4826699"/>
            <a:ext cx="914396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class=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red-text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" — это простой и удобный способ: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группировать разные элементы по общему признаку (например, важности); единообразно их оформлять; быстро менять внешний вид целой группы, редактируя всего одну строчку в CSS. Это как повесить на вещи одинаковые бирки в гардеробе: потом по биркам легко найти все красные рубашки или все зимние куртки, не разглядывая каждую вещь по отдельности. Точно так же браузер «видит» все элементы с классом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red-text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применяет к ним заданные стили.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457200" y="-142892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Внутренний стиль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8628"/>
            <a:ext cx="4245802" cy="2928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43306" y="3552825"/>
            <a:ext cx="5500694" cy="330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4572000" y="857232"/>
            <a:ext cx="4572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Подключение внешнего 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CSS‑файла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через &lt;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link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rel=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stylesheet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" 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href=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"..."&gt; — оптимальный способ управления стилями для большинства проектов. Он позволяет:</a:t>
            </a:r>
          </a:p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управлять оформлением всего сайта из одного места;</a:t>
            </a:r>
          </a:p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разделить структуру (HTML) и оформление (CSS);</a:t>
            </a:r>
          </a:p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упростить поддержку и развитие сайта.</a:t>
            </a:r>
            <a:endParaRPr lang="ru-RU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457200" y="-142892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Внешний файл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321848"/>
            <a:ext cx="3929058" cy="3536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57200" y="-142892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Свойство </a:t>
            </a: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float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071934" y="500042"/>
            <a:ext cx="507206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Раньше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float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часто использовали для создания многоколоночных макетов. Например, чтобы разместить два &lt;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div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&gt; рядом, каждому задают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float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left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 и фиксированную ширину. Оба блока займут по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0 % ширины контейнера и встанут рядом. Но если содержимого в одном из блоков станет слишком много, он может «выпасть» из макета — это один из недостатков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float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8604"/>
            <a:ext cx="3819525" cy="362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3810000"/>
            <a:ext cx="47625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5500694" y="4226510"/>
            <a:ext cx="3643306" cy="263149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500" b="1" dirty="0" err="1" smtClean="0">
                <a:latin typeface="Times New Roman" pitchFamily="18" charset="0"/>
                <a:cs typeface="Times New Roman" pitchFamily="18" charset="0"/>
              </a:rPr>
              <a:t>Border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— видимая рамка вокруг элемента (границы коробки). Задаётся через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border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: 1px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solid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black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;.</a:t>
            </a:r>
          </a:p>
          <a:p>
            <a:pPr algn="just"/>
            <a:r>
              <a:rPr lang="ru-RU" sz="1500" b="1" dirty="0" err="1" smtClean="0">
                <a:latin typeface="Times New Roman" pitchFamily="18" charset="0"/>
                <a:cs typeface="Times New Roman" pitchFamily="18" charset="0"/>
              </a:rPr>
              <a:t>Padding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— пространство внутри элемента, между содержимым и рамкой (вата вокруг подарка). Задаётся через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padding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: 10px;.</a:t>
            </a:r>
          </a:p>
          <a:p>
            <a:pPr algn="just"/>
            <a:r>
              <a:rPr lang="ru-RU" sz="1500" b="1" dirty="0" err="1" smtClean="0">
                <a:latin typeface="Times New Roman" pitchFamily="18" charset="0"/>
                <a:cs typeface="Times New Roman" pitchFamily="18" charset="0"/>
              </a:rPr>
              <a:t>Margin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— пространство снаружи элемента, между ним и другими элементами (расстояние от коробки до стены). Задаётся через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margin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: 15px;.</a:t>
            </a:r>
            <a:endParaRPr lang="ru-RU" sz="15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-357222" y="-142892"/>
            <a:ext cx="9858444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Flexbox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для</a:t>
            </a:r>
            <a:r>
              <a:rPr kumimoji="0" lang="ru-RU" sz="4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4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создани</a:t>
            </a:r>
            <a:r>
              <a:rPr lang="ru-RU" sz="4000" dirty="0" smtClean="0">
                <a:latin typeface="+mj-lt"/>
                <a:ea typeface="+mj-ea"/>
                <a:cs typeface="+mj-cs"/>
              </a:rPr>
              <a:t>я адаптивных макетов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1480"/>
            <a:ext cx="4067175" cy="183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428868"/>
            <a:ext cx="4543843" cy="4429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4572000" y="642918"/>
            <a:ext cx="4572000" cy="584775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1700" b="1" dirty="0" err="1" smtClean="0">
                <a:latin typeface="Times New Roman" pitchFamily="18" charset="0"/>
                <a:cs typeface="Times New Roman" pitchFamily="18" charset="0"/>
              </a:rPr>
              <a:t>display</a:t>
            </a:r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1700" b="1" dirty="0" err="1" smtClean="0">
                <a:latin typeface="Times New Roman" pitchFamily="18" charset="0"/>
                <a:cs typeface="Times New Roman" pitchFamily="18" charset="0"/>
              </a:rPr>
              <a:t>flex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; — превращает контейнер &lt;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nav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&gt; в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flex‑контейнер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. Все дочерние элементы (&lt;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class=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menu-item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"&gt;) становятся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flex‑элементами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flex-wrap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wrap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; — разрешает элементам переходить на новую строку, если не помещаются в одну.</a:t>
            </a:r>
          </a:p>
          <a:p>
            <a:pPr algn="just"/>
            <a:r>
              <a:rPr lang="ru-RU" sz="1700" b="1" dirty="0" err="1" smtClean="0">
                <a:latin typeface="Times New Roman" pitchFamily="18" charset="0"/>
                <a:cs typeface="Times New Roman" pitchFamily="18" charset="0"/>
              </a:rPr>
              <a:t>flex</a:t>
            </a:r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: 1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; для .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menu-item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 — заставляет все пункты равномерно растягиваться и занимать доступное пространство внутри контейнера.</a:t>
            </a:r>
          </a:p>
          <a:p>
            <a:pPr algn="just"/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@</a:t>
            </a:r>
            <a:r>
              <a:rPr lang="ru-RU" sz="1700" b="1" dirty="0" err="1" smtClean="0">
                <a:latin typeface="Times New Roman" pitchFamily="18" charset="0"/>
                <a:cs typeface="Times New Roman" pitchFamily="18" charset="0"/>
              </a:rPr>
              <a:t>media</a:t>
            </a:r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1700" b="1" dirty="0" err="1" smtClean="0">
                <a:latin typeface="Times New Roman" pitchFamily="18" charset="0"/>
                <a:cs typeface="Times New Roman" pitchFamily="18" charset="0"/>
              </a:rPr>
              <a:t>max-width</a:t>
            </a:r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: 768px) 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медиа‑запрос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. Когда ширина экрана становится меньше 768 пикселей (планшеты, смартфоны), применяются правила внутри блока:</a:t>
            </a:r>
          </a:p>
          <a:p>
            <a:pPr algn="just"/>
            <a:r>
              <a:rPr lang="ru-RU" sz="1700" b="1" dirty="0" err="1" smtClean="0">
                <a:latin typeface="Times New Roman" pitchFamily="18" charset="0"/>
                <a:cs typeface="Times New Roman" pitchFamily="18" charset="0"/>
              </a:rPr>
              <a:t>flex-direction</a:t>
            </a:r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1700" b="1" dirty="0" err="1" smtClean="0">
                <a:latin typeface="Times New Roman" pitchFamily="18" charset="0"/>
                <a:cs typeface="Times New Roman" pitchFamily="18" charset="0"/>
              </a:rPr>
              <a:t>column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; — меняет направление оси с горизонтального на вертикальное (элементы встают друг под другом);</a:t>
            </a:r>
          </a:p>
          <a:p>
            <a:pPr algn="just"/>
            <a:r>
              <a:rPr lang="ru-RU" sz="1700" b="1" dirty="0" err="1" smtClean="0">
                <a:latin typeface="Times New Roman" pitchFamily="18" charset="0"/>
                <a:cs typeface="Times New Roman" pitchFamily="18" charset="0"/>
              </a:rPr>
              <a:t>align-items</a:t>
            </a:r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1700" b="1" dirty="0" err="1" smtClean="0">
                <a:latin typeface="Times New Roman" pitchFamily="18" charset="0"/>
                <a:cs typeface="Times New Roman" pitchFamily="18" charset="0"/>
              </a:rPr>
              <a:t>stretch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; — растягивает элементы на всю ширину контейнера;</a:t>
            </a:r>
          </a:p>
          <a:p>
            <a:pPr algn="just"/>
            <a:r>
              <a:rPr lang="ru-RU" sz="1700" b="1" dirty="0" err="1" smtClean="0">
                <a:latin typeface="Times New Roman" pitchFamily="18" charset="0"/>
                <a:cs typeface="Times New Roman" pitchFamily="18" charset="0"/>
              </a:rPr>
              <a:t>flex</a:t>
            </a:r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1700" b="1" dirty="0" err="1" smtClean="0">
                <a:latin typeface="Times New Roman" pitchFamily="18" charset="0"/>
                <a:cs typeface="Times New Roman" pitchFamily="18" charset="0"/>
              </a:rPr>
              <a:t>none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; — отключает растягивание для пунктов меню, чтобы они занимали только необходимую ширину.</a:t>
            </a:r>
            <a:endParaRPr lang="ru-RU" sz="17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-357222" y="-142892"/>
            <a:ext cx="9858444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Grid </a:t>
            </a: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для</a:t>
            </a:r>
            <a:r>
              <a:rPr kumimoji="0" lang="ru-RU" sz="4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ru-RU" sz="4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создани</a:t>
            </a:r>
            <a:r>
              <a:rPr lang="ru-RU" sz="4000" dirty="0" smtClean="0">
                <a:latin typeface="+mj-lt"/>
                <a:ea typeface="+mj-ea"/>
                <a:cs typeface="+mj-cs"/>
              </a:rPr>
              <a:t>я адаптивных макетов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00042"/>
            <a:ext cx="4407020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486025"/>
            <a:ext cx="4381500" cy="437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4572000" y="785794"/>
            <a:ext cx="4572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display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grid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— превращает .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grid-container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grid‑контейнер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Теперь его дочерние элементы (&lt;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div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class=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box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"&gt;) будут располагаться по правилам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Grid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grid-template-columns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: 200px 1fr 300px;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— задаёт три колонки: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первая — фиксированная, 200 пикселей;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вторая — «резиновая», 1fr (занимает всё оставшееся место);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третья — фиксированная, 300 пикселей.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gap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: 10px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; — добавляет отступы в 10 пикселей между всеми блоками (и по горизонтали, и по вертикали).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@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media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max-width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: 700px)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медиа‑запрос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Когда ширина экрана становится меньше 700 пикселей: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grid-template-columns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: 1fr;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— все колонки превращаются в одну: она занимает всю доступную ширину (1fr). В результате три блока выстраиваются друг под другом.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500042"/>
            <a:ext cx="9144000" cy="2560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214282" y="3143248"/>
            <a:ext cx="285748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Float</a:t>
            </a:r>
          </a:p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чтобы текст обтекал картинку или блок (как в журнале: фото слева, текст справа)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286116" y="3214686"/>
            <a:ext cx="257176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lex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чтобы выстроить элементы в ряд (в строчку или столбиком) и равномерно их распределить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357950" y="3155928"/>
            <a:ext cx="278605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rid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чтобы разбить страницу на ячейки (как таблицу или шахматную доску) и разместить блоки в нужных местах.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285784" y="-428652"/>
            <a:ext cx="9715568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Теги логического форматирования текста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8604"/>
            <a:ext cx="9144000" cy="298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429000"/>
            <a:ext cx="5337386" cy="2428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5143504" y="3164705"/>
            <a:ext cx="400049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Логические теги в HTML задают смысловую нагрузку текста (важность, цитату, код и т. д.), а не его внешний вид — например, &lt;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strong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&gt; обозначает особо важный фрагмент, а &lt;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em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&gt; создаёт смысловой акцент. Они помогают поисковым системам лучше понимать содержание страницы, а вспомогательным технологиям (например, программам чтения с экрана) — корректно озвучивать 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контент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с нужными интонациями.</a:t>
            </a:r>
            <a:endParaRPr lang="ru-RU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-357222" y="-142892"/>
            <a:ext cx="9858444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Дополнительные материалы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857232"/>
            <a:ext cx="9144000" cy="5232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htmlbook.ru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сервис для изучения вёрстки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интернет-страниц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Ресурс разделён на темы, ориентированные на пользователей разного уровня подготовки.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https://htmlbook.ru/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Как создать простой HTML сайт в блокноте</a:t>
            </a: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https://superbwebsitebuilders.com/ru/kak-sozdat-svoj-prostoj-html-sajt-v-bloknote/?ysclid=m13cihn8w2598913438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b="1" dirty="0" smtClean="0">
              <a:latin typeface="Times New Roman" pitchFamily="18" charset="0"/>
              <a:cs typeface="Times New Roman" pitchFamily="18" charset="0"/>
              <a:hlinkClick r:id="rId2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Шаблоны сайтов (например)</a:t>
            </a:r>
            <a:endParaRPr lang="en-US" sz="2400" i="1" dirty="0" smtClean="0">
              <a:latin typeface="Cambria" pitchFamily="18" charset="0"/>
            </a:endParaRPr>
          </a:p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https://github.com/learning-zone/website-templates?ysclid=mnhzjsilb7757781975</a:t>
            </a: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3000" b="1" dirty="0" smtClean="0">
                <a:latin typeface="Times New Roman" pitchFamily="18" charset="0"/>
                <a:cs typeface="Times New Roman" pitchFamily="18" charset="0"/>
              </a:rPr>
              <a:t>И не забывайте про искусственный интеллект </a:t>
            </a:r>
            <a:r>
              <a:rPr lang="ru-RU" sz="3000" b="1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</a:t>
            </a:r>
            <a:endParaRPr lang="ru-RU" sz="3000" b="1" dirty="0" smtClean="0">
              <a:latin typeface="Times New Roman" pitchFamily="18" charset="0"/>
              <a:cs typeface="Times New Roman" pitchFamily="18" charset="0"/>
              <a:hlinkClick r:id="rId2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/>
          <a:lstStyle/>
          <a:p>
            <a:r>
              <a:rPr lang="ru-RU" dirty="0" smtClean="0"/>
              <a:t>Пример для закрепления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643050"/>
            <a:ext cx="8543925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428596" y="714356"/>
            <a:ext cx="84296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разместить три карточки с блюдами в ряд. В каждой — название и цена.</a:t>
            </a:r>
            <a:endParaRPr lang="ru-RU" sz="2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2828836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Добавить изображения к карточкам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1517" y="3357562"/>
            <a:ext cx="8315325" cy="291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1253</TotalTime>
  <Words>1622</Words>
  <Application>Microsoft Office PowerPoint</Application>
  <PresentationFormat>Экран (4:3)</PresentationFormat>
  <Paragraphs>125</Paragraphs>
  <Slides>25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6" baseType="lpstr">
      <vt:lpstr>Тема Office</vt:lpstr>
      <vt:lpstr>Основы HTML и CSS </vt:lpstr>
      <vt:lpstr>Веб-страница и веб-сайт</vt:lpstr>
      <vt:lpstr>Разработка одностраничного сайта</vt:lpstr>
      <vt:lpstr>Слайд 4</vt:lpstr>
      <vt:lpstr>Слайд 5</vt:lpstr>
      <vt:lpstr>Слайд 6</vt:lpstr>
      <vt:lpstr>Слайд 7</vt:lpstr>
      <vt:lpstr>Основные разделы веб-страницы</vt:lpstr>
      <vt:lpstr>Форматирование текста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Теги логического форматирования текста</vt:lpstr>
      <vt:lpstr>Слайд 24</vt:lpstr>
      <vt:lpstr>Пример для закрепления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Создание сайта</dc:title>
  <dc:creator>user</dc:creator>
  <cp:lastModifiedBy>user</cp:lastModifiedBy>
  <cp:revision>146</cp:revision>
  <dcterms:created xsi:type="dcterms:W3CDTF">2024-02-01T09:49:19Z</dcterms:created>
  <dcterms:modified xsi:type="dcterms:W3CDTF">2026-04-10T20:06:02Z</dcterms:modified>
</cp:coreProperties>
</file>