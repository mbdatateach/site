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1934" y="9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A861C-B2EA-4126-BA75-81AD1EB47481}" type="datetimeFigureOut">
              <a:rPr lang="ru-RU" smtClean="0"/>
              <a:t>14.10.2026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80D40-0BAD-4B29-933B-205BD02CFD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77976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A861C-B2EA-4126-BA75-81AD1EB47481}" type="datetimeFigureOut">
              <a:rPr lang="ru-RU" smtClean="0"/>
              <a:t>14.10.2026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80D40-0BAD-4B29-933B-205BD02CFD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48897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A861C-B2EA-4126-BA75-81AD1EB47481}" type="datetimeFigureOut">
              <a:rPr lang="ru-RU" smtClean="0"/>
              <a:t>14.10.2026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80D40-0BAD-4B29-933B-205BD02CFD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02001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A861C-B2EA-4126-BA75-81AD1EB47481}" type="datetimeFigureOut">
              <a:rPr lang="ru-RU" smtClean="0"/>
              <a:t>14.10.2026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80D40-0BAD-4B29-933B-205BD02CFD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29638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A861C-B2EA-4126-BA75-81AD1EB47481}" type="datetimeFigureOut">
              <a:rPr lang="ru-RU" smtClean="0"/>
              <a:t>14.10.2026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80D40-0BAD-4B29-933B-205BD02CFD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58514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A861C-B2EA-4126-BA75-81AD1EB47481}" type="datetimeFigureOut">
              <a:rPr lang="ru-RU" smtClean="0"/>
              <a:t>14.10.2026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80D40-0BAD-4B29-933B-205BD02CFD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93729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A861C-B2EA-4126-BA75-81AD1EB47481}" type="datetimeFigureOut">
              <a:rPr lang="ru-RU" smtClean="0"/>
              <a:t>14.10.2026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80D40-0BAD-4B29-933B-205BD02CFD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80812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A861C-B2EA-4126-BA75-81AD1EB47481}" type="datetimeFigureOut">
              <a:rPr lang="ru-RU" smtClean="0"/>
              <a:t>14.10.2026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80D40-0BAD-4B29-933B-205BD02CFD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569674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A861C-B2EA-4126-BA75-81AD1EB47481}" type="datetimeFigureOut">
              <a:rPr lang="ru-RU" smtClean="0"/>
              <a:t>14.10.2026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80D40-0BAD-4B29-933B-205BD02CFD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41389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A861C-B2EA-4126-BA75-81AD1EB47481}" type="datetimeFigureOut">
              <a:rPr lang="ru-RU" smtClean="0"/>
              <a:t>14.10.2026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80D40-0BAD-4B29-933B-205BD02CFD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79847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A861C-B2EA-4126-BA75-81AD1EB47481}" type="datetimeFigureOut">
              <a:rPr lang="ru-RU" smtClean="0"/>
              <a:t>14.10.2026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80D40-0BAD-4B29-933B-205BD02CFD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274459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2A861C-B2EA-4126-BA75-81AD1EB47481}" type="datetimeFigureOut">
              <a:rPr lang="ru-RU" smtClean="0"/>
              <a:t>14.10.2026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380D40-0BAD-4B29-933B-205BD02CFD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05375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habr.com/ru/companies/yougile/articles/982970/" TargetMode="Externa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Менеджмент качества: управление дефектами и процессом тестирования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473412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2192000" cy="61555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3400" b="1" cap="none" spc="0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жизненный цикл дефекта</a:t>
            </a:r>
            <a:endParaRPr lang="ru-RU" sz="34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0" y="629900"/>
            <a:ext cx="6532880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Жизненный цикл дефекта — это формализованный путь бага от обнаружения до окончательного закрытия (либо отклонения), где каждый статус служит сигналом для конкретных действий. Базовые статусы включают: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Open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(дефект заведён и подтверждён),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Assigned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(назначен исполнителю),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Progress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(в работе),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Fixed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(исправлен, ждёт проверки),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Reopened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(возвращён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тестировщику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после неудачного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ретеста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Closed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(подтверждён как устранённый), а также вспомогательные — 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Rejected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(не дефект или не воспроизводится) и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Deferred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(отложен по приоритету). В вашем контексте работы с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и виртуальными окружениями статус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Deferred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часто используют для дефектов, связанных с несовместимостью версий или специфичными конфигурациями, которые планируют закрыть в следующем релизе.</a:t>
            </a:r>
          </a:p>
          <a:p>
            <a:pPr algn="just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Переходы между статусами строго регламентируют процесс и не допускают «пропусков»: например, разработчик не должен закрывать дефект — он переводит его в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Fixed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а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тестировщик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после проверки либо закрывает, либо возвращает в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Reopened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Такая логика предотвращает преждевременное снятие проблемы и гарантирует, что исправление действительно работает в целевом окружении. 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4000" y="1311235"/>
            <a:ext cx="5588000" cy="3802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41621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2192000" cy="61555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3400" b="1" cap="none" spc="0" dirty="0" err="1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Severity</a:t>
            </a:r>
            <a:r>
              <a:rPr lang="ru-RU" sz="3400" b="1" cap="none" spc="0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 и </a:t>
            </a:r>
            <a:r>
              <a:rPr lang="ru-RU" sz="3400" b="1" cap="none" spc="0" dirty="0" err="1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Priority</a:t>
            </a:r>
            <a:r>
              <a:rPr lang="ru-RU" sz="3400" b="1" cap="none" spc="0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: в чём разница и зачем разделять</a:t>
            </a:r>
            <a:endParaRPr lang="ru-RU" sz="34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0" y="682437"/>
            <a:ext cx="121920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Severity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отражает технический масштаб проблемы: насколько дефект ломает функционал и стабильность — от критической ошибки, делающей продукт непригодным, до мелкой опечатки. Это оценка «со стороны системы»: она помогает инженерам понять, где искать проблему и сколько усилий может потребоваться на исправление.</a:t>
            </a:r>
          </a:p>
          <a:p>
            <a:pPr algn="just"/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Priority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показывает бизнес‑срочность: насколько важно закрыть дефект прямо сейчас с точки зрения пользователей, выручки или репутации. Приоритет задают менеджеры и владельцы продукта, и он может меняться по ходу релиза.</a:t>
            </a:r>
          </a:p>
          <a:p>
            <a:pPr algn="just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Разделение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Severity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Priority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позволяет команде не тратить ресурсы на технически заметные, но малозначимые для бизнеса ошибки, и наоборот — быстро закрывать небольшие с технической стороны, но опасные для бизнеса дефекты.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2000" y="2780646"/>
            <a:ext cx="5588000" cy="4066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90729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2192000" cy="61555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3400" b="1" cap="none" spc="0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Структура идеального баг‑репорта</a:t>
            </a:r>
            <a:endParaRPr lang="ru-RU" sz="34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0" y="682437"/>
            <a:ext cx="6837680" cy="62478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Заголовок должен быть ёмким и однозначным: он отвечает на вопрос «что не работает и где», без расплывчатых формулировок. Описание даёт контекст — какой сценарий выполнял пользователь и почему проблема критична для бизнес‑процесса. Шаги воспроизведения пишут как нумерованный список, чтобы любой человек мог повторить ошибку.</a:t>
            </a:r>
          </a:p>
          <a:p>
            <a:pPr algn="just"/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Ожидаемое и фактическое поведение фиксируют расхождение между тем, как система должна работать, и тем, как она ведёт себя на практике: это убирает субъективность и служит чек‑листом для проверки исправления. Окружение (версия, ОС, браузер, среда) критично для локализации: нередко проблема связана именно с несовместимостью версий или спецификой платформы.</a:t>
            </a:r>
          </a:p>
          <a:p>
            <a:pPr algn="just"/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Вложения (скриншоты, видео,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логи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делают репорт наглядным: они позволяют увидеть проблему «глазами»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тестировщика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и ускоряют диагностику. Стандартизация полей в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трекере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Jira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YouTrack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Битрикс24) помогает не пропускать важные детали и делает процесс предсказуемым.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1247" y="899657"/>
            <a:ext cx="4678306" cy="5813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51369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2192000" cy="61555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3400" b="1" cap="none" spc="0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Локализация и изоляция дефекта</a:t>
            </a:r>
            <a:endParaRPr lang="ru-RU" sz="34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0" y="682437"/>
            <a:ext cx="121920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Локализация — это сужение области проявления дефекта до конкретного модуля, экрана или API‑метода. Минимизация теста позволяет получить самый короткий сценарий, который всё ещё воспроизводит ошибку: это экономит время разработчика и упрощает автоматизацию.</a:t>
            </a:r>
          </a:p>
          <a:p>
            <a:pPr algn="just"/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Изоляция означает исключение внешних факторов: сторонних сервисов, кэша, разных версий библиотек, настроек окружения. Для этого используют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моки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поднимают локальную базу с минимальным набором данных, фиксируют версии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рантайма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(например,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 3.7) и убирают влияние сети и кэша.</a:t>
            </a:r>
          </a:p>
          <a:p>
            <a:pPr algn="just"/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 локализации и изоляции — не только исправленный дефект, но и артефакты: минимальный тест‑кейс, набор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моков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скрипт для поднятия изолированного окружения. Эти материалы помогают предотвратить повторение проблемы и усиливают регрессионное тестирование.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73787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2192000" cy="61555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3400" b="1" cap="none" spc="0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Инструменты управления задачами: </a:t>
            </a:r>
            <a:r>
              <a:rPr lang="ru-RU" sz="3400" b="1" cap="none" spc="0" dirty="0" err="1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Jira</a:t>
            </a:r>
            <a:r>
              <a:rPr lang="ru-RU" sz="3400" b="1" cap="none" spc="0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, Битрикс24, </a:t>
            </a:r>
            <a:r>
              <a:rPr lang="ru-RU" sz="3400" b="1" cap="none" spc="0" dirty="0" err="1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YouTrack</a:t>
            </a:r>
            <a:endParaRPr lang="ru-RU" sz="34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0" y="682437"/>
            <a:ext cx="12192000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Jira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подходит для строгих инженерных процессов: здесь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строят через статусы и переходы с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валидаторами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и пост‑функциями, поля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кастомизируют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под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Severity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Priority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а уведомления настраивают точечно по событиям и ролям.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YouTrack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ориентирован на разработку: в нём удобно задавать обязательные поля на переходах, использовать мощные поисковые запросы и интегрироваться с IDE и CI/CD.</a:t>
            </a:r>
          </a:p>
          <a:p>
            <a:pPr algn="just"/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Битрикс24 лучше подходит для бизнес‑ориентированных команд: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реализуют через статусы, роботов и бизнес‑процессы, а уведомления приходят не только на почту, но и в ленту, чаты и мобильное приложение. Здесь больше гибкости в согласовании и меньше формальных ограничений на статусы.</a:t>
            </a:r>
          </a:p>
          <a:p>
            <a:pPr algn="just"/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Ключевой принцип настройки — не плодить лишние статусы и поля: каждый переход должен соответствовать конкретному действию, а каждое поле — нести ценность для принятия решений. Уведомления делают значимыми, чтобы не приучать команду игнорировать оповещения.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0" y="4660315"/>
            <a:ext cx="12192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400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Лучшие системы управления проектами и задачами в 2026 году. Полный обзор российских сервисов / </a:t>
            </a:r>
            <a:r>
              <a:rPr lang="ru-RU" sz="3400" dirty="0" err="1" smtClean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Хабр</a:t>
            </a:r>
            <a:endParaRPr lang="ru-RU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76804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2192000" cy="113877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3400" b="1" cap="none" spc="0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Планирование тестирования: тест‑план, политика качества, критерии входа/выхода</a:t>
            </a:r>
            <a:endParaRPr lang="ru-RU" sz="34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0" y="1058357"/>
            <a:ext cx="6664960" cy="56477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Тест‑план описывает стратегию и тактику: цели тестирования, объект проверки, подходы и техники, расписание, роли, тестовые данные и окружение, а также риски и способы их смягчения. Политика качества фиксирует стандарты продукта: допустимые уровни дефектов, правила классификации, требования к документации и порядок принятия решений о выпуске.</a:t>
            </a:r>
          </a:p>
          <a:p>
            <a:pPr algn="just"/>
            <a:r>
              <a:rPr lang="ru-RU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Критерии входа определяют, когда тестирование можно начинать: например, сборка стабильна, требования утверждены, окружение готово, нет блокирующих дефектов. Критерии выхода задают, когда тестирование считают завершённым: достигнуто целевое покрытие, выполнен процент тест‑кейсов, отсутствуют критические дефекты, подтверждена стабильность на нагрузочных тестах.</a:t>
            </a:r>
          </a:p>
          <a:p>
            <a:pPr algn="just"/>
            <a:r>
              <a:rPr lang="ru-RU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Эти артефакты тесно связаны: тест‑план опирается на политику качества, а критерии входа/выхода конкретизируют её для текущего релиза. Такая связка делает процесс прозрачным и позволяет принимать решения на объективных признаках готовности продукта.</a:t>
            </a:r>
            <a:endParaRPr lang="ru-RU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0375" y="1677253"/>
            <a:ext cx="5381625" cy="3848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543655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2192000" cy="61555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3400" b="1" cap="none" spc="0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Оценка усилий: методы и учёт рисков</a:t>
            </a:r>
            <a:endParaRPr lang="ru-RU" sz="34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0" y="615553"/>
            <a:ext cx="12192000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 по аналогии использует опыт прошлых похожих задач: если правка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валидации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формы раньше занимала 4 часа, берут эту цифру за основу и корректируют под отличия. Экспертная оценка (например,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Planning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Poker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помогает учесть скрытые сложности и прийти к консенсусу команды. Параметрическая оценка опирается на измеримые параметры: количество тест‑кейсов, интеграций, экранов — и коэффициенты трудоёмкости.</a:t>
            </a:r>
          </a:p>
          <a:p>
            <a:pPr algn="just"/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На практике методы комбинируют: для типовой задачи берут аналогию и корректируют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экспертно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 для новой — оценивают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экспертно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а затем проверяют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параметрически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разбивая задачу на части. Такой гибридный подход снижает субъективность и повышает точность прогнозов.</a:t>
            </a:r>
          </a:p>
          <a:p>
            <a:pPr algn="just"/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Учёт рисков делают через буфер (процент или отдельные «рисковые часы»), матрицу рисков (вероятность и влияние) или сценарное планирование (оптимистичная, реалистичная, пессимистичная оценка). Это позволяет осознанно управлять неопределённостью и сохранять качество даже при меняющихся требованиях.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49858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2192000" cy="61555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3400" b="1" cap="none" spc="0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Метрики качества и эффективности тестирования</a:t>
            </a:r>
            <a:endParaRPr lang="ru-RU" sz="34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0" y="615553"/>
            <a:ext cx="12192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Плотность дефектов показывает, сколько ошибок приходится на единицу размера продукта (например, на 1000 строк кода или на модуль). Она помогает сравнивать модули между собой, оценивать качество версий и обосновывать ресурсы на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рефакторинг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и дополнительные тесты.</a:t>
            </a:r>
          </a:p>
          <a:p>
            <a:pPr algn="just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Процент исправленных дефектов отражает пропускную способность команды: какую долю дефектов удалось закрыть за период. Полезно считать отдельно по серьёзности (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Critical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High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vs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Medium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Minor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и дополнять показателем повторных открытий (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Reopen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Rate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algn="just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Среднее время исправления (MTTR) показывает скорость реакции на дефекты. Его считают отдельно по серьёзности и типам задач (логика, окружение, интеграции, миграции БД), чтобы видеть, где процесс «тормозит» и что можно улучшить.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 descr="https://habrastorage.org/r/w1560/getpro/habr/upload_files/10b/77d/292/10b77d292a4d740ff35b27a096e0ce9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7320" y="2929205"/>
            <a:ext cx="6964680" cy="39287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Picture backgroun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048000"/>
            <a:ext cx="50800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251310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2192000" cy="61555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3400" b="1" cap="none" spc="0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Отчётность: </a:t>
            </a:r>
            <a:r>
              <a:rPr lang="ru-RU" sz="3400" b="1" cap="none" spc="0" dirty="0" err="1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дашборды</a:t>
            </a:r>
            <a:r>
              <a:rPr lang="ru-RU" sz="3400" b="1" cap="none" spc="0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, еженедельные отчёты, презентации</a:t>
            </a:r>
            <a:endParaRPr lang="ru-RU" sz="34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0" y="615553"/>
            <a:ext cx="12192000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Дашборды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дают оперативную картину: ключевые метрики отображаются в реальном времени и обновляются автоматически. Визуализация (графики, «светофоры») сразу показывает, где ситуация стабильна, а где есть риски.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Дашборды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делают разными под роли: для технических специалистов — детальные срезы, для менеджеров — 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верхнеуровневые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показатели.</a:t>
            </a:r>
          </a:p>
          <a:p>
            <a:pPr algn="just"/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Еженедельные отчёты фиксируют прогресс, объясняют динамику метрик и описывают принятые меры. В них включают краткий обзор, динамику ключевых показателей, список открытых дефектов по приоритетам, статус рисков и план действий. Для проектов с автоматизацией добавляют статистику прогонов тестов и блок «Что улучшили».</a:t>
            </a:r>
          </a:p>
          <a:p>
            <a:pPr algn="just"/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Презентации для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стейкхолдеров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адаптируют под бизнес‑аудиторию: каждый слайд содержит один главный вывод и подтверждающую визуализацию. Важно показывать не только проблемы, но и прогресс, а выводы формулировать как рекомендации с необходимыми ресурсами и сроками.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20648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2192000" cy="61555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3400" b="1" cap="none" spc="0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Ретроспективы и цикл </a:t>
            </a:r>
            <a:r>
              <a:rPr lang="en-US" sz="3400" b="1" cap="none" spc="0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PDCA</a:t>
            </a:r>
            <a:endParaRPr lang="ru-RU" sz="34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0" y="615553"/>
            <a:ext cx="12192000" cy="27238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Ретроспективы помогают выявить проблемы процесса через структурированные техники («Что было хорошо / Что мешало / Идеи», «5 почему», диаграмма связей). Фокус делают на 1–3 самых критичных пунктах, чтобы не перегружать команду изменениями.</a:t>
            </a:r>
          </a:p>
          <a:p>
            <a:pPr algn="just"/>
            <a:r>
              <a:rPr lang="ru-RU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Внедрение улучшений требует чётких задач с результатом, ответственными и сроками: не «сделать тесты стабильнее», а «добавить очистку временных файлов в скрипт прогона </a:t>
            </a:r>
            <a:r>
              <a:rPr lang="ru-RU" sz="19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автотестов</a:t>
            </a:r>
            <a:r>
              <a:rPr lang="ru-RU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и проверить на трёх окружениях до конца недели». Улучшения фиксируют в </a:t>
            </a:r>
            <a:r>
              <a:rPr lang="ru-RU" sz="19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трекере</a:t>
            </a:r>
            <a:r>
              <a:rPr lang="ru-RU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и связывают с релизами.</a:t>
            </a:r>
          </a:p>
          <a:p>
            <a:pPr algn="just"/>
            <a:r>
              <a:rPr lang="ru-RU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Цикл PDCA придаёт </a:t>
            </a:r>
            <a:r>
              <a:rPr lang="ru-RU" sz="19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ретроспективам</a:t>
            </a:r>
            <a:r>
              <a:rPr lang="ru-RU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системность: </a:t>
            </a:r>
            <a:r>
              <a:rPr lang="ru-RU" sz="19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Plan</a:t>
            </a:r>
            <a:r>
              <a:rPr lang="ru-RU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(формулируем гипотезу), </a:t>
            </a:r>
            <a:r>
              <a:rPr lang="ru-RU" sz="19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Do</a:t>
            </a:r>
            <a:r>
              <a:rPr lang="ru-RU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(внедряем), </a:t>
            </a:r>
            <a:r>
              <a:rPr lang="ru-RU" sz="19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Check</a:t>
            </a:r>
            <a:r>
              <a:rPr lang="ru-RU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(проверяем по метрикам), </a:t>
            </a:r>
            <a:r>
              <a:rPr lang="ru-RU" sz="19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Act</a:t>
            </a:r>
            <a:r>
              <a:rPr lang="ru-RU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(закрепляем или корректируем). Так команда учится на собственном опыте, снижает риски и повышает предсказуемость результатов.</a:t>
            </a:r>
          </a:p>
        </p:txBody>
      </p:sp>
      <p:pic>
        <p:nvPicPr>
          <p:cNvPr id="3076" name="Picture 4" descr="Picture background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275"/>
          <a:stretch/>
        </p:blipFill>
        <p:spPr bwMode="auto">
          <a:xfrm>
            <a:off x="2651760" y="3300694"/>
            <a:ext cx="6888480" cy="3495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563968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582</Words>
  <Application>Microsoft Office PowerPoint</Application>
  <PresentationFormat>Широкоэкранный</PresentationFormat>
  <Paragraphs>41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Times New Roman</vt:lpstr>
      <vt:lpstr>Тема Office</vt:lpstr>
      <vt:lpstr>Менеджмент качества: управление дефектами и процессом тестирования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Менеджмент качества: управление дефектами и процессом тестирования</dc:title>
  <dc:creator>user</dc:creator>
  <cp:lastModifiedBy>user</cp:lastModifiedBy>
  <cp:revision>3</cp:revision>
  <dcterms:created xsi:type="dcterms:W3CDTF">2026-10-14T12:45:02Z</dcterms:created>
  <dcterms:modified xsi:type="dcterms:W3CDTF">2026-10-14T12:55:41Z</dcterms:modified>
</cp:coreProperties>
</file>