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Override PartName="/ppt/diagrams/quickStyle1.xml" ContentType="application/vnd.openxmlformats-officedocument.drawingml.diagramStyle+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diagrams/layout1.xml" ContentType="application/vnd.openxmlformats-officedocument.drawingml.diagram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diagrams/data1.xml" ContentType="application/vnd.openxmlformats-officedocument.drawingml.diagramData+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273" r:id="rId3"/>
    <p:sldId id="262" r:id="rId4"/>
    <p:sldId id="257" r:id="rId5"/>
    <p:sldId id="258" r:id="rId6"/>
    <p:sldId id="259" r:id="rId7"/>
    <p:sldId id="260" r:id="rId8"/>
    <p:sldId id="261" r:id="rId9"/>
    <p:sldId id="263" r:id="rId10"/>
    <p:sldId id="268" r:id="rId11"/>
    <p:sldId id="265" r:id="rId12"/>
    <p:sldId id="266" r:id="rId13"/>
    <p:sldId id="267" r:id="rId14"/>
    <p:sldId id="272" r:id="rId15"/>
    <p:sldId id="269" r:id="rId16"/>
    <p:sldId id="270" r:id="rId17"/>
    <p:sldId id="271" r:id="rId18"/>
    <p:sldId id="274" r:id="rId19"/>
    <p:sldId id="275" r:id="rId20"/>
    <p:sldId id="276" r:id="rId21"/>
    <p:sldId id="277" r:id="rId22"/>
    <p:sldId id="278" r:id="rId23"/>
    <p:sldId id="279" r:id="rId24"/>
    <p:sldId id="280" r:id="rId25"/>
    <p:sldId id="281" r:id="rId26"/>
    <p:sldId id="282" r:id="rId27"/>
    <p:sldId id="283" r:id="rId28"/>
    <p:sldId id="284" r:id="rId29"/>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0867" autoAdjust="0"/>
    <p:restoredTop sz="94660"/>
  </p:normalViewPr>
  <p:slideViewPr>
    <p:cSldViewPr>
      <p:cViewPr>
        <p:scale>
          <a:sx n="75" d="100"/>
          <a:sy n="75" d="100"/>
        </p:scale>
        <p:origin x="-2826" y="-93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F28A634-6B70-4230-9F1B-608D55513318}" type="doc">
      <dgm:prSet loTypeId="urn:microsoft.com/office/officeart/2005/8/layout/hList3" loCatId="list" qsTypeId="urn:microsoft.com/office/officeart/2005/8/quickstyle/simple1" qsCatId="simple" csTypeId="urn:microsoft.com/office/officeart/2005/8/colors/accent1_2" csCatId="accent1" phldr="1"/>
      <dgm:spPr/>
      <dgm:t>
        <a:bodyPr/>
        <a:lstStyle/>
        <a:p>
          <a:endParaRPr lang="ru-RU"/>
        </a:p>
      </dgm:t>
    </dgm:pt>
    <dgm:pt modelId="{D804488A-637E-435D-8DE1-D9CF85DEC848}">
      <dgm:prSet phldrT="[Текст]"/>
      <dgm:spPr>
        <a:solidFill>
          <a:schemeClr val="bg2"/>
        </a:solidFill>
      </dgm:spPr>
      <dgm:t>
        <a:bodyPr/>
        <a:lstStyle/>
        <a:p>
          <a:pPr algn="just"/>
          <a:r>
            <a:rPr lang="ru-RU" b="1" dirty="0" err="1" smtClean="0">
              <a:solidFill>
                <a:schemeClr val="tx1">
                  <a:lumMod val="95000"/>
                  <a:lumOff val="5000"/>
                </a:schemeClr>
              </a:solidFill>
              <a:latin typeface="Times New Roman" pitchFamily="18" charset="0"/>
              <a:cs typeface="Times New Roman" pitchFamily="18" charset="0"/>
            </a:rPr>
            <a:t>Интернет-конструкторы</a:t>
          </a:r>
          <a:r>
            <a:rPr lang="ru-RU" dirty="0" smtClean="0">
              <a:solidFill>
                <a:schemeClr val="tx1">
                  <a:lumMod val="95000"/>
                  <a:lumOff val="5000"/>
                </a:schemeClr>
              </a:solidFill>
              <a:latin typeface="Times New Roman" pitchFamily="18" charset="0"/>
              <a:cs typeface="Times New Roman" pitchFamily="18" charset="0"/>
            </a:rPr>
            <a:t> рекламной полиграфии представляют собой </a:t>
          </a:r>
          <a:r>
            <a:rPr lang="ru-RU" b="1" dirty="0" err="1" smtClean="0">
              <a:solidFill>
                <a:schemeClr val="tx1">
                  <a:lumMod val="95000"/>
                  <a:lumOff val="5000"/>
                </a:schemeClr>
              </a:solidFill>
              <a:latin typeface="Times New Roman" pitchFamily="18" charset="0"/>
              <a:cs typeface="Times New Roman" pitchFamily="18" charset="0"/>
            </a:rPr>
            <a:t>онлайн-платформы</a:t>
          </a:r>
          <a:r>
            <a:rPr lang="ru-RU" dirty="0" smtClean="0">
              <a:solidFill>
                <a:schemeClr val="tx1">
                  <a:lumMod val="95000"/>
                  <a:lumOff val="5000"/>
                </a:schemeClr>
              </a:solidFill>
              <a:latin typeface="Times New Roman" pitchFamily="18" charset="0"/>
              <a:cs typeface="Times New Roman" pitchFamily="18" charset="0"/>
            </a:rPr>
            <a:t>, предназначенные для создания и дизайна печатной продукции. Эти сервисы предлагают пользователям широкий спектр инструментов и шаблонов, позволяющих быстро и эффективно разрабатывать различные виды рекламной продукции. Основные функции и возможности таких конструкторов включают:</a:t>
          </a:r>
          <a:endParaRPr lang="ru-RU" dirty="0">
            <a:solidFill>
              <a:schemeClr val="tx1">
                <a:lumMod val="95000"/>
                <a:lumOff val="5000"/>
              </a:schemeClr>
            </a:solidFill>
          </a:endParaRPr>
        </a:p>
      </dgm:t>
    </dgm:pt>
    <dgm:pt modelId="{15660D59-E74C-48A3-A467-A7A6A795CB93}" type="parTrans" cxnId="{83BF68DB-21E5-489E-99AC-36D84801EB4F}">
      <dgm:prSet/>
      <dgm:spPr/>
      <dgm:t>
        <a:bodyPr/>
        <a:lstStyle/>
        <a:p>
          <a:endParaRPr lang="ru-RU"/>
        </a:p>
      </dgm:t>
    </dgm:pt>
    <dgm:pt modelId="{06F5A301-5428-46A2-828E-178BF856BF4D}" type="sibTrans" cxnId="{83BF68DB-21E5-489E-99AC-36D84801EB4F}">
      <dgm:prSet/>
      <dgm:spPr/>
      <dgm:t>
        <a:bodyPr/>
        <a:lstStyle/>
        <a:p>
          <a:endParaRPr lang="ru-RU"/>
        </a:p>
      </dgm:t>
    </dgm:pt>
    <dgm:pt modelId="{6BF1529A-4CAD-49FB-A3AF-8B46F7B9E42C}">
      <dgm:prSet phldrT="[Текст]"/>
      <dgm:spPr>
        <a:solidFill>
          <a:schemeClr val="accent3">
            <a:lumMod val="20000"/>
            <a:lumOff val="80000"/>
          </a:schemeClr>
        </a:solidFill>
      </dgm:spPr>
      <dgm:t>
        <a:bodyPr/>
        <a:lstStyle/>
        <a:p>
          <a:r>
            <a:rPr lang="ru-RU" b="1" dirty="0" smtClean="0">
              <a:solidFill>
                <a:schemeClr val="tx1">
                  <a:lumMod val="95000"/>
                  <a:lumOff val="5000"/>
                </a:schemeClr>
              </a:solidFill>
              <a:latin typeface="Times New Roman" pitchFamily="18" charset="0"/>
              <a:cs typeface="Times New Roman" pitchFamily="18" charset="0"/>
            </a:rPr>
            <a:t>Создание дизайна</a:t>
          </a:r>
          <a:r>
            <a:rPr lang="ru-RU" dirty="0" smtClean="0">
              <a:solidFill>
                <a:schemeClr val="tx1">
                  <a:lumMod val="95000"/>
                  <a:lumOff val="5000"/>
                </a:schemeClr>
              </a:solidFill>
              <a:latin typeface="Times New Roman" pitchFamily="18" charset="0"/>
              <a:cs typeface="Times New Roman" pitchFamily="18" charset="0"/>
            </a:rPr>
            <a:t>:</a:t>
          </a:r>
          <a:endParaRPr lang="en-US" dirty="0" smtClean="0">
            <a:solidFill>
              <a:schemeClr val="tx1">
                <a:lumMod val="95000"/>
                <a:lumOff val="5000"/>
              </a:schemeClr>
            </a:solidFill>
            <a:latin typeface="Times New Roman" pitchFamily="18" charset="0"/>
            <a:cs typeface="Times New Roman" pitchFamily="18" charset="0"/>
          </a:endParaRPr>
        </a:p>
        <a:p>
          <a:r>
            <a:rPr lang="ru-RU" dirty="0" smtClean="0">
              <a:solidFill>
                <a:schemeClr val="tx1">
                  <a:lumMod val="95000"/>
                  <a:lumOff val="5000"/>
                </a:schemeClr>
              </a:solidFill>
              <a:latin typeface="Times New Roman" pitchFamily="18" charset="0"/>
              <a:cs typeface="Times New Roman" pitchFamily="18" charset="0"/>
            </a:rPr>
            <a:t> Пользователи могут выбрать из множества готовых шаблонов или начать с чистого листа, используя разнообразные элементы оформления, шрифты, цветовые схемы и графические объекты.</a:t>
          </a:r>
          <a:endParaRPr lang="ru-RU" dirty="0">
            <a:solidFill>
              <a:schemeClr val="tx1">
                <a:lumMod val="95000"/>
                <a:lumOff val="5000"/>
              </a:schemeClr>
            </a:solidFill>
          </a:endParaRPr>
        </a:p>
      </dgm:t>
    </dgm:pt>
    <dgm:pt modelId="{1B601064-402D-49F7-B900-038E142DF5A1}" type="parTrans" cxnId="{22E72699-414C-406F-906B-0AEFE582BE8F}">
      <dgm:prSet/>
      <dgm:spPr/>
      <dgm:t>
        <a:bodyPr/>
        <a:lstStyle/>
        <a:p>
          <a:endParaRPr lang="ru-RU"/>
        </a:p>
      </dgm:t>
    </dgm:pt>
    <dgm:pt modelId="{68B33851-26A2-485A-B4DB-17EE2CC55210}" type="sibTrans" cxnId="{22E72699-414C-406F-906B-0AEFE582BE8F}">
      <dgm:prSet/>
      <dgm:spPr/>
      <dgm:t>
        <a:bodyPr/>
        <a:lstStyle/>
        <a:p>
          <a:endParaRPr lang="ru-RU"/>
        </a:p>
      </dgm:t>
    </dgm:pt>
    <dgm:pt modelId="{E1842424-6FFA-4326-A78E-75406E27BAE7}">
      <dgm:prSet phldrT="[Текст]"/>
      <dgm:spPr>
        <a:solidFill>
          <a:srgbClr val="EFE4CC"/>
        </a:solidFill>
      </dgm:spPr>
      <dgm:t>
        <a:bodyPr/>
        <a:lstStyle/>
        <a:p>
          <a:r>
            <a:rPr lang="ru-RU" b="1" dirty="0" smtClean="0">
              <a:solidFill>
                <a:schemeClr val="tx1">
                  <a:lumMod val="95000"/>
                  <a:lumOff val="5000"/>
                </a:schemeClr>
              </a:solidFill>
              <a:latin typeface="Times New Roman" pitchFamily="18" charset="0"/>
              <a:cs typeface="Times New Roman" pitchFamily="18" charset="0"/>
            </a:rPr>
            <a:t>Редактирование текста</a:t>
          </a:r>
          <a:r>
            <a:rPr lang="ru-RU" dirty="0" smtClean="0">
              <a:solidFill>
                <a:schemeClr val="tx1">
                  <a:lumMod val="95000"/>
                  <a:lumOff val="5000"/>
                </a:schemeClr>
              </a:solidFill>
              <a:latin typeface="Times New Roman" pitchFamily="18" charset="0"/>
              <a:cs typeface="Times New Roman" pitchFamily="18" charset="0"/>
            </a:rPr>
            <a:t>: </a:t>
          </a:r>
          <a:endParaRPr lang="en-US" dirty="0" smtClean="0">
            <a:solidFill>
              <a:schemeClr val="tx1">
                <a:lumMod val="95000"/>
                <a:lumOff val="5000"/>
              </a:schemeClr>
            </a:solidFill>
            <a:latin typeface="Times New Roman" pitchFamily="18" charset="0"/>
            <a:cs typeface="Times New Roman" pitchFamily="18" charset="0"/>
          </a:endParaRPr>
        </a:p>
        <a:p>
          <a:r>
            <a:rPr lang="ru-RU" dirty="0" smtClean="0">
              <a:solidFill>
                <a:schemeClr val="tx1">
                  <a:lumMod val="95000"/>
                  <a:lumOff val="5000"/>
                </a:schemeClr>
              </a:solidFill>
              <a:latin typeface="Times New Roman" pitchFamily="18" charset="0"/>
              <a:cs typeface="Times New Roman" pitchFamily="18" charset="0"/>
            </a:rPr>
            <a:t>Возможность добавления и изменения текста, форматирования, подбора подходящих шрифтов и корректировки размера </a:t>
          </a:r>
          <a:endParaRPr lang="ru-RU" dirty="0">
            <a:solidFill>
              <a:schemeClr val="tx1">
                <a:lumMod val="95000"/>
                <a:lumOff val="5000"/>
              </a:schemeClr>
            </a:solidFill>
          </a:endParaRPr>
        </a:p>
      </dgm:t>
    </dgm:pt>
    <dgm:pt modelId="{C9EACDC3-A55C-4720-8150-B3DB96FB2343}" type="parTrans" cxnId="{5593AF6F-1A6A-42FB-9997-7F2331D1BE91}">
      <dgm:prSet/>
      <dgm:spPr/>
      <dgm:t>
        <a:bodyPr/>
        <a:lstStyle/>
        <a:p>
          <a:endParaRPr lang="ru-RU"/>
        </a:p>
      </dgm:t>
    </dgm:pt>
    <dgm:pt modelId="{309535F1-8938-4BE0-9E07-56B308506373}" type="sibTrans" cxnId="{5593AF6F-1A6A-42FB-9997-7F2331D1BE91}">
      <dgm:prSet/>
      <dgm:spPr/>
      <dgm:t>
        <a:bodyPr/>
        <a:lstStyle/>
        <a:p>
          <a:endParaRPr lang="ru-RU"/>
        </a:p>
      </dgm:t>
    </dgm:pt>
    <dgm:pt modelId="{28FAB14A-E5BA-4C8B-B227-348AC83339A6}">
      <dgm:prSet phldrT="[Текст]"/>
      <dgm:spPr>
        <a:solidFill>
          <a:schemeClr val="accent3">
            <a:lumMod val="20000"/>
            <a:lumOff val="80000"/>
          </a:schemeClr>
        </a:solidFill>
      </dgm:spPr>
      <dgm:t>
        <a:bodyPr/>
        <a:lstStyle/>
        <a:p>
          <a:r>
            <a:rPr lang="ru-RU" b="1" dirty="0" smtClean="0">
              <a:solidFill>
                <a:schemeClr val="tx1">
                  <a:lumMod val="95000"/>
                  <a:lumOff val="5000"/>
                </a:schemeClr>
              </a:solidFill>
              <a:latin typeface="Times New Roman" pitchFamily="18" charset="0"/>
              <a:cs typeface="Times New Roman" pitchFamily="18" charset="0"/>
            </a:rPr>
            <a:t>Работа с изображениями</a:t>
          </a:r>
          <a:r>
            <a:rPr lang="ru-RU" dirty="0" smtClean="0">
              <a:solidFill>
                <a:schemeClr val="tx1">
                  <a:lumMod val="95000"/>
                  <a:lumOff val="5000"/>
                </a:schemeClr>
              </a:solidFill>
              <a:latin typeface="Times New Roman" pitchFamily="18" charset="0"/>
              <a:cs typeface="Times New Roman" pitchFamily="18" charset="0"/>
            </a:rPr>
            <a:t>: </a:t>
          </a:r>
          <a:endParaRPr lang="en-US" dirty="0" smtClean="0">
            <a:solidFill>
              <a:schemeClr val="tx1">
                <a:lumMod val="95000"/>
                <a:lumOff val="5000"/>
              </a:schemeClr>
            </a:solidFill>
            <a:latin typeface="Times New Roman" pitchFamily="18" charset="0"/>
            <a:cs typeface="Times New Roman" pitchFamily="18" charset="0"/>
          </a:endParaRPr>
        </a:p>
        <a:p>
          <a:r>
            <a:rPr lang="ru-RU" dirty="0" smtClean="0">
              <a:solidFill>
                <a:schemeClr val="tx1">
                  <a:lumMod val="95000"/>
                  <a:lumOff val="5000"/>
                </a:schemeClr>
              </a:solidFill>
              <a:latin typeface="Times New Roman" pitchFamily="18" charset="0"/>
              <a:cs typeface="Times New Roman" pitchFamily="18" charset="0"/>
            </a:rPr>
            <a:t>Загрузка собственных фотографий и иллюстраций, их обработка (изменение размеров, обрезка, коррекция цвета).</a:t>
          </a:r>
          <a:endParaRPr lang="ru-RU" dirty="0">
            <a:solidFill>
              <a:schemeClr val="tx1">
                <a:lumMod val="95000"/>
                <a:lumOff val="5000"/>
              </a:schemeClr>
            </a:solidFill>
          </a:endParaRPr>
        </a:p>
      </dgm:t>
    </dgm:pt>
    <dgm:pt modelId="{81FEB646-0D22-4D7E-99B2-163D475110B7}" type="parTrans" cxnId="{DBB6D4E0-0991-47BA-A837-1AA4E035F5FD}">
      <dgm:prSet/>
      <dgm:spPr/>
      <dgm:t>
        <a:bodyPr/>
        <a:lstStyle/>
        <a:p>
          <a:endParaRPr lang="ru-RU"/>
        </a:p>
      </dgm:t>
    </dgm:pt>
    <dgm:pt modelId="{671AF665-087A-4D61-9807-43E3D349F08B}" type="sibTrans" cxnId="{DBB6D4E0-0991-47BA-A837-1AA4E035F5FD}">
      <dgm:prSet/>
      <dgm:spPr/>
      <dgm:t>
        <a:bodyPr/>
        <a:lstStyle/>
        <a:p>
          <a:endParaRPr lang="ru-RU"/>
        </a:p>
      </dgm:t>
    </dgm:pt>
    <dgm:pt modelId="{F5D9814D-E73E-4AF7-9076-CF64234C5FFF}" type="pres">
      <dgm:prSet presAssocID="{AF28A634-6B70-4230-9F1B-608D55513318}" presName="composite" presStyleCnt="0">
        <dgm:presLayoutVars>
          <dgm:chMax val="1"/>
          <dgm:dir/>
          <dgm:resizeHandles val="exact"/>
        </dgm:presLayoutVars>
      </dgm:prSet>
      <dgm:spPr/>
      <dgm:t>
        <a:bodyPr/>
        <a:lstStyle/>
        <a:p>
          <a:endParaRPr lang="ru-RU"/>
        </a:p>
      </dgm:t>
    </dgm:pt>
    <dgm:pt modelId="{C50B6470-62EB-461C-8637-C72172FF1156}" type="pres">
      <dgm:prSet presAssocID="{D804488A-637E-435D-8DE1-D9CF85DEC848}" presName="roof" presStyleLbl="dkBgShp" presStyleIdx="0" presStyleCnt="2"/>
      <dgm:spPr/>
      <dgm:t>
        <a:bodyPr/>
        <a:lstStyle/>
        <a:p>
          <a:endParaRPr lang="ru-RU"/>
        </a:p>
      </dgm:t>
    </dgm:pt>
    <dgm:pt modelId="{2906F9E6-6014-4569-9630-515240AC94CD}" type="pres">
      <dgm:prSet presAssocID="{D804488A-637E-435D-8DE1-D9CF85DEC848}" presName="pillars" presStyleCnt="0"/>
      <dgm:spPr/>
    </dgm:pt>
    <dgm:pt modelId="{DA050ADF-555A-4D9F-9B36-32156762AF57}" type="pres">
      <dgm:prSet presAssocID="{D804488A-637E-435D-8DE1-D9CF85DEC848}" presName="pillar1" presStyleLbl="node1" presStyleIdx="0" presStyleCnt="3">
        <dgm:presLayoutVars>
          <dgm:bulletEnabled val="1"/>
        </dgm:presLayoutVars>
      </dgm:prSet>
      <dgm:spPr/>
      <dgm:t>
        <a:bodyPr/>
        <a:lstStyle/>
        <a:p>
          <a:endParaRPr lang="ru-RU"/>
        </a:p>
      </dgm:t>
    </dgm:pt>
    <dgm:pt modelId="{720A4E0D-4063-4E51-8D42-4F0C6A74F9AE}" type="pres">
      <dgm:prSet presAssocID="{E1842424-6FFA-4326-A78E-75406E27BAE7}" presName="pillarX" presStyleLbl="node1" presStyleIdx="1" presStyleCnt="3">
        <dgm:presLayoutVars>
          <dgm:bulletEnabled val="1"/>
        </dgm:presLayoutVars>
      </dgm:prSet>
      <dgm:spPr/>
      <dgm:t>
        <a:bodyPr/>
        <a:lstStyle/>
        <a:p>
          <a:endParaRPr lang="ru-RU"/>
        </a:p>
      </dgm:t>
    </dgm:pt>
    <dgm:pt modelId="{823D4A73-ED6A-4AA4-9A5D-9EDE3F778FF9}" type="pres">
      <dgm:prSet presAssocID="{28FAB14A-E5BA-4C8B-B227-348AC83339A6}" presName="pillarX" presStyleLbl="node1" presStyleIdx="2" presStyleCnt="3">
        <dgm:presLayoutVars>
          <dgm:bulletEnabled val="1"/>
        </dgm:presLayoutVars>
      </dgm:prSet>
      <dgm:spPr/>
      <dgm:t>
        <a:bodyPr/>
        <a:lstStyle/>
        <a:p>
          <a:endParaRPr lang="ru-RU"/>
        </a:p>
      </dgm:t>
    </dgm:pt>
    <dgm:pt modelId="{B5C4EE99-61FA-47BC-8619-8911709BC4D2}" type="pres">
      <dgm:prSet presAssocID="{D804488A-637E-435D-8DE1-D9CF85DEC848}" presName="base" presStyleLbl="dkBgShp" presStyleIdx="1" presStyleCnt="2"/>
      <dgm:spPr/>
    </dgm:pt>
  </dgm:ptLst>
  <dgm:cxnLst>
    <dgm:cxn modelId="{ED4592C9-15C4-46FF-AF12-D809AF582DEE}" type="presOf" srcId="{E1842424-6FFA-4326-A78E-75406E27BAE7}" destId="{720A4E0D-4063-4E51-8D42-4F0C6A74F9AE}" srcOrd="0" destOrd="0" presId="urn:microsoft.com/office/officeart/2005/8/layout/hList3"/>
    <dgm:cxn modelId="{784586C7-85BC-4BF2-9617-9C5E9DDEAA40}" type="presOf" srcId="{6BF1529A-4CAD-49FB-A3AF-8B46F7B9E42C}" destId="{DA050ADF-555A-4D9F-9B36-32156762AF57}" srcOrd="0" destOrd="0" presId="urn:microsoft.com/office/officeart/2005/8/layout/hList3"/>
    <dgm:cxn modelId="{83BF68DB-21E5-489E-99AC-36D84801EB4F}" srcId="{AF28A634-6B70-4230-9F1B-608D55513318}" destId="{D804488A-637E-435D-8DE1-D9CF85DEC848}" srcOrd="0" destOrd="0" parTransId="{15660D59-E74C-48A3-A467-A7A6A795CB93}" sibTransId="{06F5A301-5428-46A2-828E-178BF856BF4D}"/>
    <dgm:cxn modelId="{DBB6D4E0-0991-47BA-A837-1AA4E035F5FD}" srcId="{D804488A-637E-435D-8DE1-D9CF85DEC848}" destId="{28FAB14A-E5BA-4C8B-B227-348AC83339A6}" srcOrd="2" destOrd="0" parTransId="{81FEB646-0D22-4D7E-99B2-163D475110B7}" sibTransId="{671AF665-087A-4D61-9807-43E3D349F08B}"/>
    <dgm:cxn modelId="{4C66BD88-506B-4FA6-95DC-03468F96C5FC}" type="presOf" srcId="{D804488A-637E-435D-8DE1-D9CF85DEC848}" destId="{C50B6470-62EB-461C-8637-C72172FF1156}" srcOrd="0" destOrd="0" presId="urn:microsoft.com/office/officeart/2005/8/layout/hList3"/>
    <dgm:cxn modelId="{96A49F84-772C-4886-8CEF-980D812E13BF}" type="presOf" srcId="{AF28A634-6B70-4230-9F1B-608D55513318}" destId="{F5D9814D-E73E-4AF7-9076-CF64234C5FFF}" srcOrd="0" destOrd="0" presId="urn:microsoft.com/office/officeart/2005/8/layout/hList3"/>
    <dgm:cxn modelId="{730C3E74-2828-4D37-9D66-7A8477A99932}" type="presOf" srcId="{28FAB14A-E5BA-4C8B-B227-348AC83339A6}" destId="{823D4A73-ED6A-4AA4-9A5D-9EDE3F778FF9}" srcOrd="0" destOrd="0" presId="urn:microsoft.com/office/officeart/2005/8/layout/hList3"/>
    <dgm:cxn modelId="{22E72699-414C-406F-906B-0AEFE582BE8F}" srcId="{D804488A-637E-435D-8DE1-D9CF85DEC848}" destId="{6BF1529A-4CAD-49FB-A3AF-8B46F7B9E42C}" srcOrd="0" destOrd="0" parTransId="{1B601064-402D-49F7-B900-038E142DF5A1}" sibTransId="{68B33851-26A2-485A-B4DB-17EE2CC55210}"/>
    <dgm:cxn modelId="{5593AF6F-1A6A-42FB-9997-7F2331D1BE91}" srcId="{D804488A-637E-435D-8DE1-D9CF85DEC848}" destId="{E1842424-6FFA-4326-A78E-75406E27BAE7}" srcOrd="1" destOrd="0" parTransId="{C9EACDC3-A55C-4720-8150-B3DB96FB2343}" sibTransId="{309535F1-8938-4BE0-9E07-56B308506373}"/>
    <dgm:cxn modelId="{CEB25608-6C80-47CD-9B60-E39D2A229B77}" type="presParOf" srcId="{F5D9814D-E73E-4AF7-9076-CF64234C5FFF}" destId="{C50B6470-62EB-461C-8637-C72172FF1156}" srcOrd="0" destOrd="0" presId="urn:microsoft.com/office/officeart/2005/8/layout/hList3"/>
    <dgm:cxn modelId="{21D114B4-230B-490D-A7FA-5173EF9B8FBE}" type="presParOf" srcId="{F5D9814D-E73E-4AF7-9076-CF64234C5FFF}" destId="{2906F9E6-6014-4569-9630-515240AC94CD}" srcOrd="1" destOrd="0" presId="urn:microsoft.com/office/officeart/2005/8/layout/hList3"/>
    <dgm:cxn modelId="{179C861D-3CAC-43A1-A39A-2846C6F6B0EA}" type="presParOf" srcId="{2906F9E6-6014-4569-9630-515240AC94CD}" destId="{DA050ADF-555A-4D9F-9B36-32156762AF57}" srcOrd="0" destOrd="0" presId="urn:microsoft.com/office/officeart/2005/8/layout/hList3"/>
    <dgm:cxn modelId="{94DD7451-4024-4895-B540-339B3835A33F}" type="presParOf" srcId="{2906F9E6-6014-4569-9630-515240AC94CD}" destId="{720A4E0D-4063-4E51-8D42-4F0C6A74F9AE}" srcOrd="1" destOrd="0" presId="urn:microsoft.com/office/officeart/2005/8/layout/hList3"/>
    <dgm:cxn modelId="{87C811AD-3274-41B2-BA69-E9A1F3C90884}" type="presParOf" srcId="{2906F9E6-6014-4569-9630-515240AC94CD}" destId="{823D4A73-ED6A-4AA4-9A5D-9EDE3F778FF9}" srcOrd="2" destOrd="0" presId="urn:microsoft.com/office/officeart/2005/8/layout/hList3"/>
    <dgm:cxn modelId="{A73F0FEF-FA0A-4773-A7D6-C41DD4519EF6}" type="presParOf" srcId="{F5D9814D-E73E-4AF7-9076-CF64234C5FFF}" destId="{B5C4EE99-61FA-47BC-8619-8911709BC4D2}" srcOrd="2" destOrd="0" presId="urn:microsoft.com/office/officeart/2005/8/layout/hList3"/>
  </dgm:cxnLst>
  <dgm:bg/>
  <dgm:whole/>
</dgm:dataModel>
</file>

<file path=ppt/diagrams/layout1.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03E9C84-96A2-4A6D-88E9-2EAE0577E666}" type="datetimeFigureOut">
              <a:rPr lang="ru-RU" smtClean="0"/>
              <a:pPr/>
              <a:t>07.02.2026</a:t>
            </a:fld>
            <a:endParaRPr lang="ru-RU"/>
          </a:p>
        </p:txBody>
      </p:sp>
      <p:sp>
        <p:nvSpPr>
          <p:cNvPr id="4" name="Образ слайда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6" name="Нижний колонтитул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0BEFDE4-AC2E-46FB-B667-7B05F93B8E62}" type="slidenum">
              <a:rPr lang="ru-RU" smtClean="0"/>
              <a:pPr/>
              <a:t>‹#›</a:t>
            </a:fld>
            <a:endParaRPr lang="ru-RU"/>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smtClean="0"/>
              <a:t>Образец заголовка</a:t>
            </a:r>
            <a:endParaRPr lang="ru-RU"/>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0FF7147C-2AAC-473E-AD87-1A0FFEE67DAA}" type="datetimeFigureOut">
              <a:rPr lang="ru-RU" smtClean="0"/>
              <a:pPr/>
              <a:t>07.02.2026</a:t>
            </a:fld>
            <a:endParaRPr lang="ru-RU" dirty="0"/>
          </a:p>
        </p:txBody>
      </p:sp>
      <p:sp>
        <p:nvSpPr>
          <p:cNvPr id="5" name="Нижний колонтитул 4"/>
          <p:cNvSpPr>
            <a:spLocks noGrp="1"/>
          </p:cNvSpPr>
          <p:nvPr>
            <p:ph type="ftr" sz="quarter" idx="11"/>
          </p:nvPr>
        </p:nvSpPr>
        <p:spPr/>
        <p:txBody>
          <a:bodyPr/>
          <a:lstStyle/>
          <a:p>
            <a:endParaRPr lang="ru-RU" dirty="0"/>
          </a:p>
        </p:txBody>
      </p:sp>
      <p:sp>
        <p:nvSpPr>
          <p:cNvPr id="6" name="Номер слайда 5"/>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0FF7147C-2AAC-473E-AD87-1A0FFEE67DAA}" type="datetimeFigureOut">
              <a:rPr lang="ru-RU" smtClean="0"/>
              <a:pPr/>
              <a:t>07.02.2026</a:t>
            </a:fld>
            <a:endParaRPr lang="ru-RU" dirty="0"/>
          </a:p>
        </p:txBody>
      </p:sp>
      <p:sp>
        <p:nvSpPr>
          <p:cNvPr id="5" name="Нижний колонтитул 4"/>
          <p:cNvSpPr>
            <a:spLocks noGrp="1"/>
          </p:cNvSpPr>
          <p:nvPr>
            <p:ph type="ftr" sz="quarter" idx="11"/>
          </p:nvPr>
        </p:nvSpPr>
        <p:spPr/>
        <p:txBody>
          <a:bodyPr/>
          <a:lstStyle/>
          <a:p>
            <a:endParaRPr lang="ru-RU" dirty="0"/>
          </a:p>
        </p:txBody>
      </p:sp>
      <p:sp>
        <p:nvSpPr>
          <p:cNvPr id="6" name="Номер слайда 5"/>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0FF7147C-2AAC-473E-AD87-1A0FFEE67DAA}" type="datetimeFigureOut">
              <a:rPr lang="ru-RU" smtClean="0"/>
              <a:pPr/>
              <a:t>07.02.2026</a:t>
            </a:fld>
            <a:endParaRPr lang="ru-RU" dirty="0"/>
          </a:p>
        </p:txBody>
      </p:sp>
      <p:sp>
        <p:nvSpPr>
          <p:cNvPr id="5" name="Нижний колонтитул 4"/>
          <p:cNvSpPr>
            <a:spLocks noGrp="1"/>
          </p:cNvSpPr>
          <p:nvPr>
            <p:ph type="ftr" sz="quarter" idx="11"/>
          </p:nvPr>
        </p:nvSpPr>
        <p:spPr/>
        <p:txBody>
          <a:bodyPr/>
          <a:lstStyle/>
          <a:p>
            <a:endParaRPr lang="ru-RU" dirty="0"/>
          </a:p>
        </p:txBody>
      </p:sp>
      <p:sp>
        <p:nvSpPr>
          <p:cNvPr id="6" name="Номер слайда 5"/>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Содержимое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0FF7147C-2AAC-473E-AD87-1A0FFEE67DAA}" type="datetimeFigureOut">
              <a:rPr lang="ru-RU" smtClean="0"/>
              <a:pPr/>
              <a:t>07.02.2026</a:t>
            </a:fld>
            <a:endParaRPr lang="ru-RU" dirty="0"/>
          </a:p>
        </p:txBody>
      </p:sp>
      <p:sp>
        <p:nvSpPr>
          <p:cNvPr id="6" name="Нижний колонтитул 5"/>
          <p:cNvSpPr>
            <a:spLocks noGrp="1"/>
          </p:cNvSpPr>
          <p:nvPr>
            <p:ph type="ftr" sz="quarter" idx="11"/>
          </p:nvPr>
        </p:nvSpPr>
        <p:spPr/>
        <p:txBody>
          <a:bodyPr/>
          <a:lstStyle/>
          <a:p>
            <a:endParaRPr lang="ru-RU" dirty="0"/>
          </a:p>
        </p:txBody>
      </p:sp>
      <p:sp>
        <p:nvSpPr>
          <p:cNvPr id="7" name="Номер слайда 6"/>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Содержимое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Содержимое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0FF7147C-2AAC-473E-AD87-1A0FFEE67DAA}" type="datetimeFigureOut">
              <a:rPr lang="ru-RU" smtClean="0"/>
              <a:pPr/>
              <a:t>07.02.2026</a:t>
            </a:fld>
            <a:endParaRPr lang="ru-RU" dirty="0"/>
          </a:p>
        </p:txBody>
      </p:sp>
      <p:sp>
        <p:nvSpPr>
          <p:cNvPr id="8" name="Нижний колонтитул 7"/>
          <p:cNvSpPr>
            <a:spLocks noGrp="1"/>
          </p:cNvSpPr>
          <p:nvPr>
            <p:ph type="ftr" sz="quarter" idx="11"/>
          </p:nvPr>
        </p:nvSpPr>
        <p:spPr/>
        <p:txBody>
          <a:bodyPr/>
          <a:lstStyle/>
          <a:p>
            <a:endParaRPr lang="ru-RU" dirty="0"/>
          </a:p>
        </p:txBody>
      </p:sp>
      <p:sp>
        <p:nvSpPr>
          <p:cNvPr id="9" name="Номер слайда 8"/>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0FF7147C-2AAC-473E-AD87-1A0FFEE67DAA}" type="datetimeFigureOut">
              <a:rPr lang="ru-RU" smtClean="0"/>
              <a:pPr/>
              <a:t>07.02.2026</a:t>
            </a:fld>
            <a:endParaRPr lang="ru-RU" dirty="0"/>
          </a:p>
        </p:txBody>
      </p:sp>
      <p:sp>
        <p:nvSpPr>
          <p:cNvPr id="4" name="Нижний колонтитул 3"/>
          <p:cNvSpPr>
            <a:spLocks noGrp="1"/>
          </p:cNvSpPr>
          <p:nvPr>
            <p:ph type="ftr" sz="quarter" idx="11"/>
          </p:nvPr>
        </p:nvSpPr>
        <p:spPr/>
        <p:txBody>
          <a:bodyPr/>
          <a:lstStyle/>
          <a:p>
            <a:endParaRPr lang="ru-RU" dirty="0"/>
          </a:p>
        </p:txBody>
      </p:sp>
      <p:sp>
        <p:nvSpPr>
          <p:cNvPr id="5" name="Номер слайда 4"/>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0FF7147C-2AAC-473E-AD87-1A0FFEE67DAA}" type="datetimeFigureOut">
              <a:rPr lang="ru-RU" smtClean="0"/>
              <a:pPr/>
              <a:t>07.02.2026</a:t>
            </a:fld>
            <a:endParaRPr lang="ru-RU" dirty="0"/>
          </a:p>
        </p:txBody>
      </p:sp>
      <p:sp>
        <p:nvSpPr>
          <p:cNvPr id="3" name="Нижний колонтитул 2"/>
          <p:cNvSpPr>
            <a:spLocks noGrp="1"/>
          </p:cNvSpPr>
          <p:nvPr>
            <p:ph type="ftr" sz="quarter" idx="11"/>
          </p:nvPr>
        </p:nvSpPr>
        <p:spPr/>
        <p:txBody>
          <a:bodyPr/>
          <a:lstStyle/>
          <a:p>
            <a:endParaRPr lang="ru-RU" dirty="0"/>
          </a:p>
        </p:txBody>
      </p:sp>
      <p:sp>
        <p:nvSpPr>
          <p:cNvPr id="4" name="Номер слайда 3"/>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smtClean="0"/>
              <a:t>Образец заголовка</a:t>
            </a:r>
            <a:endParaRPr lang="ru-RU"/>
          </a:p>
        </p:txBody>
      </p:sp>
      <p:sp>
        <p:nvSpPr>
          <p:cNvPr id="3" name="Содержимое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0FF7147C-2AAC-473E-AD87-1A0FFEE67DAA}" type="datetimeFigureOut">
              <a:rPr lang="ru-RU" smtClean="0"/>
              <a:pPr/>
              <a:t>07.02.2026</a:t>
            </a:fld>
            <a:endParaRPr lang="ru-RU" dirty="0"/>
          </a:p>
        </p:txBody>
      </p:sp>
      <p:sp>
        <p:nvSpPr>
          <p:cNvPr id="6" name="Нижний колонтитул 5"/>
          <p:cNvSpPr>
            <a:spLocks noGrp="1"/>
          </p:cNvSpPr>
          <p:nvPr>
            <p:ph type="ftr" sz="quarter" idx="11"/>
          </p:nvPr>
        </p:nvSpPr>
        <p:spPr/>
        <p:txBody>
          <a:bodyPr/>
          <a:lstStyle/>
          <a:p>
            <a:endParaRPr lang="ru-RU" dirty="0"/>
          </a:p>
        </p:txBody>
      </p:sp>
      <p:sp>
        <p:nvSpPr>
          <p:cNvPr id="7" name="Номер слайда 6"/>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dirty="0"/>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0FF7147C-2AAC-473E-AD87-1A0FFEE67DAA}" type="datetimeFigureOut">
              <a:rPr lang="ru-RU" smtClean="0"/>
              <a:pPr/>
              <a:t>07.02.2026</a:t>
            </a:fld>
            <a:endParaRPr lang="ru-RU" dirty="0"/>
          </a:p>
        </p:txBody>
      </p:sp>
      <p:sp>
        <p:nvSpPr>
          <p:cNvPr id="6" name="Нижний колонтитул 5"/>
          <p:cNvSpPr>
            <a:spLocks noGrp="1"/>
          </p:cNvSpPr>
          <p:nvPr>
            <p:ph type="ftr" sz="quarter" idx="11"/>
          </p:nvPr>
        </p:nvSpPr>
        <p:spPr/>
        <p:txBody>
          <a:bodyPr/>
          <a:lstStyle/>
          <a:p>
            <a:endParaRPr lang="ru-RU" dirty="0"/>
          </a:p>
        </p:txBody>
      </p:sp>
      <p:sp>
        <p:nvSpPr>
          <p:cNvPr id="7" name="Номер слайда 6"/>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0FF7147C-2AAC-473E-AD87-1A0FFEE67DAA}" type="datetimeFigureOut">
              <a:rPr lang="ru-RU" smtClean="0"/>
              <a:pPr/>
              <a:t>07.02.2026</a:t>
            </a:fld>
            <a:endParaRPr lang="ru-RU" dirty="0"/>
          </a:p>
        </p:txBody>
      </p:sp>
      <p:sp>
        <p:nvSpPr>
          <p:cNvPr id="5" name="Нижний колонтитул 4"/>
          <p:cNvSpPr>
            <a:spLocks noGrp="1"/>
          </p:cNvSpPr>
          <p:nvPr>
            <p:ph type="ftr" sz="quarter" idx="11"/>
          </p:nvPr>
        </p:nvSpPr>
        <p:spPr/>
        <p:txBody>
          <a:bodyPr/>
          <a:lstStyle/>
          <a:p>
            <a:endParaRPr lang="ru-RU" dirty="0"/>
          </a:p>
        </p:txBody>
      </p:sp>
      <p:sp>
        <p:nvSpPr>
          <p:cNvPr id="6" name="Номер слайда 5"/>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0FF7147C-2AAC-473E-AD87-1A0FFEE67DAA}" type="datetimeFigureOut">
              <a:rPr lang="ru-RU" smtClean="0"/>
              <a:pPr/>
              <a:t>07.02.2026</a:t>
            </a:fld>
            <a:endParaRPr lang="ru-RU" dirty="0"/>
          </a:p>
        </p:txBody>
      </p:sp>
      <p:sp>
        <p:nvSpPr>
          <p:cNvPr id="5" name="Нижний колонтитул 4"/>
          <p:cNvSpPr>
            <a:spLocks noGrp="1"/>
          </p:cNvSpPr>
          <p:nvPr>
            <p:ph type="ftr" sz="quarter" idx="11"/>
          </p:nvPr>
        </p:nvSpPr>
        <p:spPr/>
        <p:txBody>
          <a:bodyPr/>
          <a:lstStyle/>
          <a:p>
            <a:endParaRPr lang="ru-RU" dirty="0"/>
          </a:p>
        </p:txBody>
      </p:sp>
      <p:sp>
        <p:nvSpPr>
          <p:cNvPr id="6" name="Номер слайда 5"/>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F7147C-2AAC-473E-AD87-1A0FFEE67DAA}" type="datetimeFigureOut">
              <a:rPr lang="ru-RU" smtClean="0"/>
              <a:pPr/>
              <a:t>07.02.2026</a:t>
            </a:fld>
            <a:endParaRPr lang="ru-RU" dirty="0"/>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dirty="0"/>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A7951B-177F-4FB1-B83B-CDA154B005A9}" type="slidenum">
              <a:rPr lang="ru-RU" smtClean="0"/>
              <a:pPr/>
              <a:t>‹#›</a:t>
            </a:fld>
            <a:endParaRPr lang="ru-RU"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hyperlink" Target="https://vc.ru/services/264162-kakoi-konstruktor-vizitok-vybrat-moi-reiting-prilozhenii-i-onlain-servisov-dlya-sozdaniya-bumazhnyh-i-elektronnyh-vizitok" TargetMode="External"/><Relationship Id="rId2" Type="http://schemas.openxmlformats.org/officeDocument/2006/relationships/hyperlink" Target="https://pechatnik.moscow/klientam/vizitki-listovki-i-buklety-zachem-nuzhny-i-dlya-kakih-czelej-luchshe-ispolzovat/?ysclid=m0zfrjfbjq23657322" TargetMode="Externa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6.xml"/><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6.xml.rels><?xml version="1.0" encoding="UTF-8" standalone="yes"?>
<Relationships xmlns="http://schemas.openxmlformats.org/package/2006/relationships"><Relationship Id="rId3" Type="http://schemas.openxmlformats.org/officeDocument/2006/relationships/hyperlink" Target="https://habr.com/ru/companies/click/articles/541658/" TargetMode="External"/><Relationship Id="rId2" Type="http://schemas.openxmlformats.org/officeDocument/2006/relationships/hyperlink" Target="https://vc.ru/marketing/146047-15-prichin-ispolzovat-video-dlya-prodvizheniya-tovarov-i-uslug?ysclid=m23ai2qpgh74652647" TargetMode="External"/><Relationship Id="rId1" Type="http://schemas.openxmlformats.org/officeDocument/2006/relationships/slideLayout" Target="../slideLayouts/slideLayout6.xml"/><Relationship Id="rId4" Type="http://schemas.openxmlformats.org/officeDocument/2006/relationships/hyperlink" Target="https://vc.ru/services/901628-18-luchshih-ii-generatorov-video-kak-sdelat-video-bez-bolshih-usilii?ysclid=m23apiyuh1187059062"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normAutofit/>
          </a:bodyPr>
          <a:lstStyle/>
          <a:p>
            <a:r>
              <a:rPr lang="ru-RU" b="1" dirty="0" smtClean="0"/>
              <a:t>Создание сайта с обратной связью</a:t>
            </a:r>
            <a:endParaRPr lang="ru-RU"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214290"/>
            <a:ext cx="9144000" cy="5509200"/>
          </a:xfrm>
          <a:prstGeom prst="rect">
            <a:avLst/>
          </a:prstGeom>
        </p:spPr>
        <p:txBody>
          <a:bodyPr wrap="square">
            <a:spAutoFit/>
          </a:bodyPr>
          <a:lstStyle/>
          <a:p>
            <a:pPr algn="just"/>
            <a:r>
              <a:rPr lang="ru-RU" sz="2200" dirty="0" smtClean="0">
                <a:latin typeface="Times New Roman" pitchFamily="18" charset="0"/>
                <a:cs typeface="Times New Roman" pitchFamily="18" charset="0"/>
              </a:rPr>
              <a:t>Создание личного сайта для экономиста имеет важное значение и может быть полезно по нескольким причинам:</a:t>
            </a:r>
          </a:p>
          <a:p>
            <a:pPr algn="just"/>
            <a:endParaRPr lang="ru-RU" sz="2200" dirty="0" smtClean="0">
              <a:latin typeface="Times New Roman" pitchFamily="18" charset="0"/>
              <a:cs typeface="Times New Roman" pitchFamily="18" charset="0"/>
            </a:endParaRPr>
          </a:p>
          <a:p>
            <a:pPr algn="just"/>
            <a:r>
              <a:rPr lang="ru-RU" sz="2200" b="1" dirty="0" smtClean="0">
                <a:latin typeface="Times New Roman" pitchFamily="18" charset="0"/>
                <a:cs typeface="Times New Roman" pitchFamily="18" charset="0"/>
              </a:rPr>
              <a:t>Личный бренд — </a:t>
            </a:r>
            <a:r>
              <a:rPr lang="ru-RU" sz="2200" dirty="0" smtClean="0">
                <a:latin typeface="Times New Roman" pitchFamily="18" charset="0"/>
                <a:cs typeface="Times New Roman" pitchFamily="18" charset="0"/>
              </a:rPr>
              <a:t>это первое, что вы получаете, создавая собственный сайт. Он становится вашей визитной карточкой в цифровом пространстве, где вы можете представить свои достижения, опыт и компетенции.</a:t>
            </a:r>
            <a:endParaRPr lang="en-US" sz="2200" dirty="0" smtClean="0">
              <a:latin typeface="Times New Roman" pitchFamily="18" charset="0"/>
              <a:cs typeface="Times New Roman" pitchFamily="18" charset="0"/>
            </a:endParaRPr>
          </a:p>
          <a:p>
            <a:pPr algn="just"/>
            <a:r>
              <a:rPr lang="ru-RU" sz="2200" b="1" dirty="0" err="1" smtClean="0">
                <a:latin typeface="Times New Roman" pitchFamily="18" charset="0"/>
                <a:cs typeface="Times New Roman" pitchFamily="18" charset="0"/>
              </a:rPr>
              <a:t>Онлайн-присутствие</a:t>
            </a:r>
            <a:r>
              <a:rPr lang="ru-RU" sz="2200" b="1" dirty="0" smtClean="0">
                <a:latin typeface="Times New Roman" pitchFamily="18" charset="0"/>
                <a:cs typeface="Times New Roman" pitchFamily="18" charset="0"/>
              </a:rPr>
              <a:t> </a:t>
            </a:r>
            <a:r>
              <a:rPr lang="ru-RU" sz="2200" dirty="0" smtClean="0">
                <a:latin typeface="Times New Roman" pitchFamily="18" charset="0"/>
                <a:cs typeface="Times New Roman" pitchFamily="18" charset="0"/>
              </a:rPr>
              <a:t>позволяет привлекать новых клиентов 24/7. Ваш сайт работает на вас даже в ваше отсутствие, предоставляя потенциальным клиентам всю необходимую информацию о ваших услугах.</a:t>
            </a:r>
          </a:p>
          <a:p>
            <a:pPr algn="just"/>
            <a:r>
              <a:rPr lang="ru-RU" sz="2200" b="1" dirty="0" smtClean="0">
                <a:latin typeface="Times New Roman" pitchFamily="18" charset="0"/>
                <a:cs typeface="Times New Roman" pitchFamily="18" charset="0"/>
              </a:rPr>
              <a:t>Возможность обратной связи. </a:t>
            </a:r>
            <a:r>
              <a:rPr lang="ru-RU" sz="2200" dirty="0" smtClean="0">
                <a:latin typeface="Times New Roman" pitchFamily="18" charset="0"/>
                <a:cs typeface="Times New Roman" pitchFamily="18" charset="0"/>
              </a:rPr>
              <a:t>Сайт даёт людям оставлять отзывы и предложения. Это важный канал связи, который помогает бизнесу лучше понимать потребности и проблемы людей. Обратная связь позволяет оперативно реагировать на возникающие вопросы, улучшать качество предоставляемых услуг и внедрять новые инициативы, ориентируясь на реальные потребности общества.</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normAutofit/>
          </a:bodyPr>
          <a:lstStyle/>
          <a:p>
            <a:r>
              <a:rPr lang="en-US" b="1" dirty="0" smtClean="0"/>
              <a:t>Google Site</a:t>
            </a:r>
            <a:endParaRPr lang="ru-RU"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a:srcRect/>
          <a:stretch>
            <a:fillRect/>
          </a:stretch>
        </p:blipFill>
        <p:spPr bwMode="auto">
          <a:xfrm>
            <a:off x="0" y="571480"/>
            <a:ext cx="9144000" cy="1836072"/>
          </a:xfrm>
          <a:prstGeom prst="rect">
            <a:avLst/>
          </a:prstGeom>
          <a:noFill/>
          <a:ln w="9525">
            <a:noFill/>
            <a:miter lim="800000"/>
            <a:headEnd/>
            <a:tailEnd/>
          </a:ln>
          <a:effectLst/>
        </p:spPr>
      </p:pic>
      <p:cxnSp>
        <p:nvCxnSpPr>
          <p:cNvPr id="6" name="Прямая со стрелкой 5"/>
          <p:cNvCxnSpPr/>
          <p:nvPr/>
        </p:nvCxnSpPr>
        <p:spPr>
          <a:xfrm rot="10800000" flipV="1">
            <a:off x="3000364" y="428604"/>
            <a:ext cx="2357454" cy="1143008"/>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 name="Прямая со стрелкой 7"/>
          <p:cNvCxnSpPr/>
          <p:nvPr/>
        </p:nvCxnSpPr>
        <p:spPr>
          <a:xfrm rot="10800000" flipV="1">
            <a:off x="4071934" y="428604"/>
            <a:ext cx="1285884" cy="1143008"/>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 name="Прямая со стрелкой 10"/>
          <p:cNvCxnSpPr/>
          <p:nvPr/>
        </p:nvCxnSpPr>
        <p:spPr>
          <a:xfrm rot="16200000" flipH="1">
            <a:off x="5036347" y="750075"/>
            <a:ext cx="1214446" cy="571504"/>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p:cNvCxnSpPr/>
          <p:nvPr/>
        </p:nvCxnSpPr>
        <p:spPr>
          <a:xfrm>
            <a:off x="5357818" y="428604"/>
            <a:ext cx="1143008"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5143504" y="0"/>
            <a:ext cx="3704540" cy="400110"/>
          </a:xfrm>
          <a:prstGeom prst="rect">
            <a:avLst/>
          </a:prstGeom>
          <a:noFill/>
        </p:spPr>
        <p:txBody>
          <a:bodyPr wrap="none" rtlCol="0">
            <a:spAutoFit/>
          </a:bodyPr>
          <a:lstStyle/>
          <a:p>
            <a:pPr algn="just"/>
            <a:r>
              <a:rPr lang="ru-RU" sz="2000" b="1" dirty="0" smtClean="0">
                <a:latin typeface="Times New Roman" pitchFamily="18" charset="0"/>
                <a:cs typeface="Times New Roman" pitchFamily="18" charset="0"/>
              </a:rPr>
              <a:t>Создание из готового шаблона</a:t>
            </a:r>
            <a:endParaRPr lang="ru-RU" sz="2000" b="1" dirty="0">
              <a:latin typeface="Times New Roman" pitchFamily="18" charset="0"/>
              <a:cs typeface="Times New Roman" pitchFamily="18" charset="0"/>
            </a:endParaRPr>
          </a:p>
        </p:txBody>
      </p:sp>
      <p:pic>
        <p:nvPicPr>
          <p:cNvPr id="1029" name="Picture 5"/>
          <p:cNvPicPr>
            <a:picLocks noChangeAspect="1" noChangeArrowheads="1"/>
          </p:cNvPicPr>
          <p:nvPr/>
        </p:nvPicPr>
        <p:blipFill>
          <a:blip r:embed="rId3"/>
          <a:srcRect/>
          <a:stretch>
            <a:fillRect/>
          </a:stretch>
        </p:blipFill>
        <p:spPr bwMode="auto">
          <a:xfrm>
            <a:off x="0" y="4214818"/>
            <a:ext cx="9151528" cy="2428868"/>
          </a:xfrm>
          <a:prstGeom prst="rect">
            <a:avLst/>
          </a:prstGeom>
          <a:noFill/>
          <a:ln w="9525">
            <a:noFill/>
            <a:miter lim="800000"/>
            <a:headEnd/>
            <a:tailEnd/>
          </a:ln>
          <a:effectLst/>
        </p:spPr>
      </p:pic>
      <p:cxnSp>
        <p:nvCxnSpPr>
          <p:cNvPr id="19" name="Прямая со стрелкой 18"/>
          <p:cNvCxnSpPr/>
          <p:nvPr/>
        </p:nvCxnSpPr>
        <p:spPr>
          <a:xfrm rot="16200000" flipH="1">
            <a:off x="7572396" y="3786190"/>
            <a:ext cx="785818" cy="35719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0" name="Прямая соединительная линия 19"/>
          <p:cNvCxnSpPr/>
          <p:nvPr/>
        </p:nvCxnSpPr>
        <p:spPr>
          <a:xfrm>
            <a:off x="6643702" y="3571876"/>
            <a:ext cx="1143008"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6000760" y="2925545"/>
            <a:ext cx="2786082" cy="646331"/>
          </a:xfrm>
          <a:prstGeom prst="rect">
            <a:avLst/>
          </a:prstGeom>
          <a:noFill/>
        </p:spPr>
        <p:txBody>
          <a:bodyPr wrap="square" rtlCol="0">
            <a:spAutoFit/>
          </a:bodyPr>
          <a:lstStyle/>
          <a:p>
            <a:pPr algn="just"/>
            <a:r>
              <a:rPr lang="ru-RU" b="1" dirty="0" smtClean="0">
                <a:latin typeface="Times New Roman" pitchFamily="18" charset="0"/>
                <a:cs typeface="Times New Roman" pitchFamily="18" charset="0"/>
              </a:rPr>
              <a:t>Просмотр готового сайта на разных устройствах</a:t>
            </a:r>
            <a:endParaRPr lang="ru-RU" b="1" dirty="0">
              <a:latin typeface="Times New Roman" pitchFamily="18" charset="0"/>
              <a:cs typeface="Times New Roman" pitchFamily="18" charset="0"/>
            </a:endParaRPr>
          </a:p>
        </p:txBody>
      </p:sp>
      <p:cxnSp>
        <p:nvCxnSpPr>
          <p:cNvPr id="23" name="Прямая со стрелкой 22"/>
          <p:cNvCxnSpPr/>
          <p:nvPr/>
        </p:nvCxnSpPr>
        <p:spPr>
          <a:xfrm>
            <a:off x="4929190" y="3786190"/>
            <a:ext cx="3714776" cy="2643206"/>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2857488" y="2928934"/>
            <a:ext cx="2143140" cy="923330"/>
          </a:xfrm>
          <a:prstGeom prst="rect">
            <a:avLst/>
          </a:prstGeom>
          <a:noFill/>
        </p:spPr>
        <p:txBody>
          <a:bodyPr wrap="square" rtlCol="0">
            <a:spAutoFit/>
          </a:bodyPr>
          <a:lstStyle/>
          <a:p>
            <a:pPr algn="just"/>
            <a:r>
              <a:rPr lang="ru-RU" b="1" dirty="0" smtClean="0">
                <a:latin typeface="Times New Roman" pitchFamily="18" charset="0"/>
                <a:cs typeface="Times New Roman" pitchFamily="18" charset="0"/>
              </a:rPr>
              <a:t>Настройки темы и внешнего вида конкретного блока</a:t>
            </a:r>
            <a:endParaRPr lang="ru-RU" b="1" dirty="0">
              <a:latin typeface="Times New Roman" pitchFamily="18" charset="0"/>
              <a:cs typeface="Times New Roman" pitchFamily="18" charset="0"/>
            </a:endParaRPr>
          </a:p>
        </p:txBody>
      </p:sp>
      <p:cxnSp>
        <p:nvCxnSpPr>
          <p:cNvPr id="26" name="Прямая со стрелкой 25"/>
          <p:cNvCxnSpPr/>
          <p:nvPr/>
        </p:nvCxnSpPr>
        <p:spPr>
          <a:xfrm rot="10800000" flipV="1">
            <a:off x="1142976" y="3786190"/>
            <a:ext cx="3786214" cy="250033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4"/>
          <p:cNvPicPr>
            <a:picLocks noChangeAspect="1" noChangeArrowheads="1"/>
          </p:cNvPicPr>
          <p:nvPr/>
        </p:nvPicPr>
        <p:blipFill>
          <a:blip r:embed="rId2"/>
          <a:srcRect/>
          <a:stretch>
            <a:fillRect/>
          </a:stretch>
        </p:blipFill>
        <p:spPr bwMode="auto">
          <a:xfrm>
            <a:off x="714348" y="0"/>
            <a:ext cx="1912981" cy="6429396"/>
          </a:xfrm>
          <a:prstGeom prst="rect">
            <a:avLst/>
          </a:prstGeom>
          <a:noFill/>
          <a:ln w="9525">
            <a:noFill/>
            <a:miter lim="800000"/>
            <a:headEnd/>
            <a:tailEnd/>
          </a:ln>
          <a:effectLst/>
        </p:spPr>
      </p:pic>
      <p:sp>
        <p:nvSpPr>
          <p:cNvPr id="13" name="TextBox 12"/>
          <p:cNvSpPr txBox="1"/>
          <p:nvPr/>
        </p:nvSpPr>
        <p:spPr>
          <a:xfrm>
            <a:off x="0" y="6396335"/>
            <a:ext cx="3249608" cy="400110"/>
          </a:xfrm>
          <a:prstGeom prst="rect">
            <a:avLst/>
          </a:prstGeom>
          <a:noFill/>
        </p:spPr>
        <p:txBody>
          <a:bodyPr wrap="none" rtlCol="0">
            <a:spAutoFit/>
          </a:bodyPr>
          <a:lstStyle/>
          <a:p>
            <a:pPr algn="just"/>
            <a:r>
              <a:rPr lang="ru-RU" sz="2000" b="1" dirty="0" smtClean="0">
                <a:latin typeface="Times New Roman" pitchFamily="18" charset="0"/>
                <a:cs typeface="Times New Roman" pitchFamily="18" charset="0"/>
              </a:rPr>
              <a:t>Правая панель </a:t>
            </a:r>
            <a:r>
              <a:rPr lang="en-US" sz="2000" b="1" dirty="0" smtClean="0">
                <a:latin typeface="Times New Roman" pitchFamily="18" charset="0"/>
                <a:cs typeface="Times New Roman" pitchFamily="18" charset="0"/>
              </a:rPr>
              <a:t>Google Site</a:t>
            </a:r>
            <a:endParaRPr lang="ru-RU" sz="2000" b="1" dirty="0">
              <a:latin typeface="Times New Roman" pitchFamily="18" charset="0"/>
              <a:cs typeface="Times New Roman" pitchFamily="18" charset="0"/>
            </a:endParaRPr>
          </a:p>
        </p:txBody>
      </p:sp>
      <p:sp>
        <p:nvSpPr>
          <p:cNvPr id="17" name="Прямоугольник 16"/>
          <p:cNvSpPr/>
          <p:nvPr/>
        </p:nvSpPr>
        <p:spPr>
          <a:xfrm>
            <a:off x="3786182" y="357166"/>
            <a:ext cx="5357818" cy="2246769"/>
          </a:xfrm>
          <a:prstGeom prst="rect">
            <a:avLst/>
          </a:prstGeom>
          <a:solidFill>
            <a:schemeClr val="bg2"/>
          </a:solidFill>
        </p:spPr>
        <p:txBody>
          <a:bodyPr wrap="square">
            <a:spAutoFit/>
          </a:bodyPr>
          <a:lstStyle/>
          <a:p>
            <a:pPr algn="just"/>
            <a:r>
              <a:rPr lang="ru-RU" sz="2000" b="1" dirty="0" smtClean="0">
                <a:latin typeface="Times New Roman" pitchFamily="18" charset="0"/>
                <a:cs typeface="Times New Roman" pitchFamily="18" charset="0"/>
              </a:rPr>
              <a:t>Вкладка «Вставка»</a:t>
            </a:r>
            <a:r>
              <a:rPr lang="ru-RU" sz="2000" dirty="0" smtClean="0">
                <a:latin typeface="Times New Roman" pitchFamily="18" charset="0"/>
                <a:cs typeface="Times New Roman" pitchFamily="18" charset="0"/>
              </a:rPr>
              <a:t> содержит инструменты и </a:t>
            </a:r>
            <a:r>
              <a:rPr lang="ru-RU" sz="2000" dirty="0" err="1" smtClean="0">
                <a:latin typeface="Times New Roman" pitchFamily="18" charset="0"/>
                <a:cs typeface="Times New Roman" pitchFamily="18" charset="0"/>
              </a:rPr>
              <a:t>виджеты</a:t>
            </a:r>
            <a:r>
              <a:rPr lang="ru-RU" sz="2000" dirty="0" smtClean="0">
                <a:latin typeface="Times New Roman" pitchFamily="18" charset="0"/>
                <a:cs typeface="Times New Roman" pitchFamily="18" charset="0"/>
              </a:rPr>
              <a:t>, которые помогают создать сайт. Среди них: кнопки, изображения, видео, оглавление и текстовое поле для ручного ввода содержимого. Также есть кнопки для добавления слайдов, листов, форм, диаграмм и других документов с </a:t>
            </a:r>
            <a:r>
              <a:rPr lang="ru-RU" sz="2000" dirty="0" err="1" smtClean="0">
                <a:latin typeface="Times New Roman" pitchFamily="18" charset="0"/>
                <a:cs typeface="Times New Roman" pitchFamily="18" charset="0"/>
              </a:rPr>
              <a:t>Google</a:t>
            </a:r>
            <a:r>
              <a:rPr lang="ru-RU" sz="2000" dirty="0" smtClean="0">
                <a:latin typeface="Times New Roman" pitchFamily="18" charset="0"/>
                <a:cs typeface="Times New Roman" pitchFamily="18" charset="0"/>
              </a:rPr>
              <a:t> Диска.</a:t>
            </a:r>
            <a:endParaRPr lang="ru-RU" sz="2000" dirty="0">
              <a:latin typeface="Times New Roman" pitchFamily="18" charset="0"/>
              <a:cs typeface="Times New Roman" pitchFamily="18" charset="0"/>
            </a:endParaRPr>
          </a:p>
        </p:txBody>
      </p:sp>
      <p:sp>
        <p:nvSpPr>
          <p:cNvPr id="18" name="Прямоугольник 17"/>
          <p:cNvSpPr/>
          <p:nvPr/>
        </p:nvSpPr>
        <p:spPr>
          <a:xfrm>
            <a:off x="3857620" y="2857496"/>
            <a:ext cx="5286380" cy="707886"/>
          </a:xfrm>
          <a:prstGeom prst="rect">
            <a:avLst/>
          </a:prstGeom>
          <a:solidFill>
            <a:schemeClr val="bg2"/>
          </a:solidFill>
        </p:spPr>
        <p:txBody>
          <a:bodyPr wrap="square">
            <a:spAutoFit/>
          </a:bodyPr>
          <a:lstStyle/>
          <a:p>
            <a:pPr algn="just"/>
            <a:r>
              <a:rPr lang="ru-RU" sz="2000" b="1" dirty="0" smtClean="0">
                <a:latin typeface="Times New Roman" pitchFamily="18" charset="0"/>
                <a:cs typeface="Times New Roman" pitchFamily="18" charset="0"/>
              </a:rPr>
              <a:t>Во вкладке «Страницы»</a:t>
            </a:r>
            <a:r>
              <a:rPr lang="ru-RU" sz="2000" dirty="0" smtClean="0">
                <a:latin typeface="Times New Roman" pitchFamily="18" charset="0"/>
                <a:cs typeface="Times New Roman" pitchFamily="18" charset="0"/>
              </a:rPr>
              <a:t> можно создавать новые страницы и управлять ими.</a:t>
            </a:r>
            <a:endParaRPr lang="ru-RU" sz="2000" dirty="0">
              <a:latin typeface="Times New Roman" pitchFamily="18" charset="0"/>
              <a:cs typeface="Times New Roman" pitchFamily="18" charset="0"/>
            </a:endParaRPr>
          </a:p>
        </p:txBody>
      </p:sp>
      <p:sp>
        <p:nvSpPr>
          <p:cNvPr id="19" name="Прямоугольник 18"/>
          <p:cNvSpPr/>
          <p:nvPr/>
        </p:nvSpPr>
        <p:spPr>
          <a:xfrm>
            <a:off x="3857620" y="4000504"/>
            <a:ext cx="5286380" cy="1015663"/>
          </a:xfrm>
          <a:prstGeom prst="rect">
            <a:avLst/>
          </a:prstGeom>
          <a:solidFill>
            <a:schemeClr val="bg2"/>
          </a:solidFill>
        </p:spPr>
        <p:txBody>
          <a:bodyPr wrap="square">
            <a:spAutoFit/>
          </a:bodyPr>
          <a:lstStyle/>
          <a:p>
            <a:pPr algn="just"/>
            <a:r>
              <a:rPr lang="ru-RU" sz="2000" b="1" dirty="0" smtClean="0">
                <a:latin typeface="Times New Roman" pitchFamily="18" charset="0"/>
                <a:cs typeface="Times New Roman" pitchFamily="18" charset="0"/>
              </a:rPr>
              <a:t>Вкладка «Темы»</a:t>
            </a:r>
            <a:r>
              <a:rPr lang="ru-RU" sz="2000" dirty="0" smtClean="0">
                <a:latin typeface="Times New Roman" pitchFamily="18" charset="0"/>
                <a:cs typeface="Times New Roman" pitchFamily="18" charset="0"/>
              </a:rPr>
              <a:t> предлагает на выбор несколько тем для оформления сайта. Можно изменить цвета существующих тем</a:t>
            </a:r>
            <a:endParaRPr lang="ru-RU" sz="2000" dirty="0">
              <a:latin typeface="Times New Roman" pitchFamily="18" charset="0"/>
              <a:cs typeface="Times New Roman" pitchFamily="18" charset="0"/>
            </a:endParaRPr>
          </a:p>
        </p:txBody>
      </p:sp>
      <p:cxnSp>
        <p:nvCxnSpPr>
          <p:cNvPr id="20" name="Прямая со стрелкой 19"/>
          <p:cNvCxnSpPr/>
          <p:nvPr/>
        </p:nvCxnSpPr>
        <p:spPr>
          <a:xfrm rot="16200000" flipH="1">
            <a:off x="1250133" y="750075"/>
            <a:ext cx="2857520" cy="1928826"/>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3" name="Скругленный прямоугольник 22"/>
          <p:cNvSpPr/>
          <p:nvPr/>
        </p:nvSpPr>
        <p:spPr>
          <a:xfrm>
            <a:off x="642910" y="0"/>
            <a:ext cx="2071702" cy="285728"/>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5" name="Прямоугольник 24"/>
          <p:cNvSpPr/>
          <p:nvPr/>
        </p:nvSpPr>
        <p:spPr>
          <a:xfrm>
            <a:off x="3714744" y="285728"/>
            <a:ext cx="5429256" cy="478634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0" y="3143248"/>
            <a:ext cx="9055255" cy="2119315"/>
          </a:xfrm>
          <a:prstGeom prst="rect">
            <a:avLst/>
          </a:prstGeom>
          <a:noFill/>
          <a:ln w="9525">
            <a:noFill/>
            <a:miter lim="800000"/>
            <a:headEnd/>
            <a:tailEnd/>
          </a:ln>
          <a:effectLst/>
        </p:spPr>
      </p:pic>
      <p:cxnSp>
        <p:nvCxnSpPr>
          <p:cNvPr id="11" name="Прямая со стрелкой 10"/>
          <p:cNvCxnSpPr/>
          <p:nvPr/>
        </p:nvCxnSpPr>
        <p:spPr>
          <a:xfrm rot="16200000" flipH="1">
            <a:off x="7500958" y="2428868"/>
            <a:ext cx="1143008" cy="1000132"/>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4" name="Прямоугольник 13"/>
          <p:cNvSpPr/>
          <p:nvPr/>
        </p:nvSpPr>
        <p:spPr>
          <a:xfrm>
            <a:off x="6929454" y="1500174"/>
            <a:ext cx="535723" cy="923330"/>
          </a:xfrm>
          <a:prstGeom prst="rect">
            <a:avLst/>
          </a:prstGeom>
          <a:noFill/>
        </p:spPr>
        <p:txBody>
          <a:bodyPr wrap="none" lIns="91440" tIns="45720" rIns="91440" bIns="45720">
            <a:spAutoFit/>
          </a:bodyPr>
          <a:lstStyle/>
          <a:p>
            <a:pPr algn="ctr"/>
            <a:r>
              <a:rPr lang="en-US" sz="5400" b="1" cap="none" spc="0"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1</a:t>
            </a:r>
            <a:endParaRPr lang="ru-RU" sz="5400" b="1" cap="none" spc="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
        <p:nvSpPr>
          <p:cNvPr id="15" name="TextBox 14"/>
          <p:cNvSpPr txBox="1"/>
          <p:nvPr/>
        </p:nvSpPr>
        <p:spPr>
          <a:xfrm>
            <a:off x="7429520" y="1428736"/>
            <a:ext cx="2143140" cy="923330"/>
          </a:xfrm>
          <a:prstGeom prst="rect">
            <a:avLst/>
          </a:prstGeom>
          <a:noFill/>
        </p:spPr>
        <p:txBody>
          <a:bodyPr wrap="square" rtlCol="0">
            <a:spAutoFit/>
          </a:bodyPr>
          <a:lstStyle/>
          <a:p>
            <a:pPr algn="just"/>
            <a:r>
              <a:rPr lang="ru-RU" b="1" dirty="0" smtClean="0">
                <a:latin typeface="Times New Roman" pitchFamily="18" charset="0"/>
                <a:cs typeface="Times New Roman" pitchFamily="18" charset="0"/>
              </a:rPr>
              <a:t>Выбрать интересующий блок</a:t>
            </a:r>
            <a:endParaRPr lang="ru-RU" b="1" dirty="0">
              <a:latin typeface="Times New Roman" pitchFamily="18" charset="0"/>
              <a:cs typeface="Times New Roman" pitchFamily="18" charset="0"/>
            </a:endParaRPr>
          </a:p>
        </p:txBody>
      </p:sp>
      <p:cxnSp>
        <p:nvCxnSpPr>
          <p:cNvPr id="16" name="Прямая со стрелкой 15"/>
          <p:cNvCxnSpPr/>
          <p:nvPr/>
        </p:nvCxnSpPr>
        <p:spPr>
          <a:xfrm rot="5400000">
            <a:off x="1464447" y="2464587"/>
            <a:ext cx="2286016" cy="1500198"/>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4" name="Прямая со стрелкой 23"/>
          <p:cNvCxnSpPr/>
          <p:nvPr/>
        </p:nvCxnSpPr>
        <p:spPr>
          <a:xfrm rot="16200000" flipH="1">
            <a:off x="2893207" y="2536025"/>
            <a:ext cx="1785950" cy="857256"/>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8" name="Прямоугольник 27"/>
          <p:cNvSpPr/>
          <p:nvPr/>
        </p:nvSpPr>
        <p:spPr>
          <a:xfrm>
            <a:off x="1928794" y="1285860"/>
            <a:ext cx="535723" cy="923330"/>
          </a:xfrm>
          <a:prstGeom prst="rect">
            <a:avLst/>
          </a:prstGeom>
          <a:noFill/>
        </p:spPr>
        <p:txBody>
          <a:bodyPr wrap="none" lIns="91440" tIns="45720" rIns="91440" bIns="45720">
            <a:spAutoFit/>
          </a:bodyPr>
          <a:lstStyle/>
          <a:p>
            <a:pPr algn="ctr"/>
            <a:r>
              <a:rPr lang="ru-RU" sz="5400" b="1" cap="none" spc="0"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2</a:t>
            </a:r>
            <a:endParaRPr lang="ru-RU" sz="5400" b="1" cap="none" spc="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
        <p:nvSpPr>
          <p:cNvPr id="29" name="TextBox 28"/>
          <p:cNvSpPr txBox="1"/>
          <p:nvPr/>
        </p:nvSpPr>
        <p:spPr>
          <a:xfrm>
            <a:off x="2428860" y="1500174"/>
            <a:ext cx="2143140" cy="646331"/>
          </a:xfrm>
          <a:prstGeom prst="rect">
            <a:avLst/>
          </a:prstGeom>
          <a:noFill/>
        </p:spPr>
        <p:txBody>
          <a:bodyPr wrap="square" rtlCol="0">
            <a:spAutoFit/>
          </a:bodyPr>
          <a:lstStyle/>
          <a:p>
            <a:pPr algn="just"/>
            <a:r>
              <a:rPr lang="ru-RU" b="1" dirty="0" smtClean="0">
                <a:latin typeface="Times New Roman" pitchFamily="18" charset="0"/>
                <a:cs typeface="Times New Roman" pitchFamily="18" charset="0"/>
              </a:rPr>
              <a:t>Наполнить его информацией</a:t>
            </a:r>
            <a:endParaRPr lang="ru-RU" b="1" dirty="0">
              <a:latin typeface="Times New Roman" pitchFamily="18" charset="0"/>
              <a:cs typeface="Times New Roman" pitchFamily="18" charset="0"/>
            </a:endParaRPr>
          </a:p>
        </p:txBody>
      </p:sp>
      <p:sp>
        <p:nvSpPr>
          <p:cNvPr id="30" name="TextBox 29"/>
          <p:cNvSpPr txBox="1"/>
          <p:nvPr/>
        </p:nvSpPr>
        <p:spPr>
          <a:xfrm>
            <a:off x="642910" y="0"/>
            <a:ext cx="8076442" cy="646331"/>
          </a:xfrm>
          <a:prstGeom prst="rect">
            <a:avLst/>
          </a:prstGeom>
          <a:noFill/>
        </p:spPr>
        <p:txBody>
          <a:bodyPr wrap="none" rtlCol="0">
            <a:spAutoFit/>
          </a:bodyPr>
          <a:lstStyle/>
          <a:p>
            <a:pPr algn="just"/>
            <a:r>
              <a:rPr lang="ru-RU" sz="3600" b="1" dirty="0" smtClean="0"/>
              <a:t>Алгоритм добавления элементов сайта</a:t>
            </a:r>
            <a:endParaRPr lang="ru-RU" sz="3600"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extBox 29"/>
          <p:cNvSpPr txBox="1"/>
          <p:nvPr/>
        </p:nvSpPr>
        <p:spPr>
          <a:xfrm>
            <a:off x="1357290" y="0"/>
            <a:ext cx="6351482" cy="646331"/>
          </a:xfrm>
          <a:prstGeom prst="rect">
            <a:avLst/>
          </a:prstGeom>
          <a:noFill/>
        </p:spPr>
        <p:txBody>
          <a:bodyPr wrap="none" rtlCol="0">
            <a:spAutoFit/>
          </a:bodyPr>
          <a:lstStyle/>
          <a:p>
            <a:pPr algn="just"/>
            <a:r>
              <a:rPr lang="ru-RU" sz="3600" b="1" dirty="0" smtClean="0"/>
              <a:t>Публикация сайта в Интернете</a:t>
            </a:r>
            <a:endParaRPr lang="ru-RU" sz="3600" b="1" dirty="0"/>
          </a:p>
        </p:txBody>
      </p:sp>
      <p:pic>
        <p:nvPicPr>
          <p:cNvPr id="3074" name="Picture 2"/>
          <p:cNvPicPr>
            <a:picLocks noChangeAspect="1" noChangeArrowheads="1"/>
          </p:cNvPicPr>
          <p:nvPr/>
        </p:nvPicPr>
        <p:blipFill>
          <a:blip r:embed="rId2"/>
          <a:srcRect/>
          <a:stretch>
            <a:fillRect/>
          </a:stretch>
        </p:blipFill>
        <p:spPr bwMode="auto">
          <a:xfrm>
            <a:off x="0" y="3571876"/>
            <a:ext cx="5315591" cy="3286124"/>
          </a:xfrm>
          <a:prstGeom prst="rect">
            <a:avLst/>
          </a:prstGeom>
          <a:noFill/>
          <a:ln w="9525">
            <a:noFill/>
            <a:miter lim="800000"/>
            <a:headEnd/>
            <a:tailEnd/>
          </a:ln>
          <a:effectLst/>
        </p:spPr>
      </p:pic>
      <p:pic>
        <p:nvPicPr>
          <p:cNvPr id="3075" name="Picture 3"/>
          <p:cNvPicPr>
            <a:picLocks noChangeAspect="1" noChangeArrowheads="1"/>
          </p:cNvPicPr>
          <p:nvPr/>
        </p:nvPicPr>
        <p:blipFill>
          <a:blip r:embed="rId3"/>
          <a:srcRect/>
          <a:stretch>
            <a:fillRect/>
          </a:stretch>
        </p:blipFill>
        <p:spPr bwMode="auto">
          <a:xfrm>
            <a:off x="1438275" y="785794"/>
            <a:ext cx="7705725" cy="2009775"/>
          </a:xfrm>
          <a:prstGeom prst="rect">
            <a:avLst/>
          </a:prstGeom>
          <a:noFill/>
          <a:ln w="9525">
            <a:noFill/>
            <a:miter lim="800000"/>
            <a:headEnd/>
            <a:tailEnd/>
          </a:ln>
          <a:effectLst/>
        </p:spPr>
      </p:pic>
      <p:cxnSp>
        <p:nvCxnSpPr>
          <p:cNvPr id="13" name="Прямая со стрелкой 12"/>
          <p:cNvCxnSpPr>
            <a:endCxn id="32" idx="2"/>
          </p:cNvCxnSpPr>
          <p:nvPr/>
        </p:nvCxnSpPr>
        <p:spPr>
          <a:xfrm flipV="1">
            <a:off x="6715140" y="1285860"/>
            <a:ext cx="1071570" cy="642942"/>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8" name="Прямая со стрелкой 17"/>
          <p:cNvCxnSpPr/>
          <p:nvPr/>
        </p:nvCxnSpPr>
        <p:spPr>
          <a:xfrm rot="10800000" flipV="1">
            <a:off x="285720" y="5214950"/>
            <a:ext cx="5715040" cy="928694"/>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1" name="Прямая со стрелкой 20"/>
          <p:cNvCxnSpPr/>
          <p:nvPr/>
        </p:nvCxnSpPr>
        <p:spPr>
          <a:xfrm rot="10800000" flipV="1">
            <a:off x="857224" y="3500438"/>
            <a:ext cx="2143140" cy="71438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5" name="Прямоугольник 24"/>
          <p:cNvSpPr/>
          <p:nvPr/>
        </p:nvSpPr>
        <p:spPr>
          <a:xfrm>
            <a:off x="6000760" y="4549676"/>
            <a:ext cx="3143240" cy="1754326"/>
          </a:xfrm>
          <a:prstGeom prst="rect">
            <a:avLst/>
          </a:prstGeom>
        </p:spPr>
        <p:txBody>
          <a:bodyPr wrap="square">
            <a:spAutoFit/>
          </a:bodyPr>
          <a:lstStyle/>
          <a:p>
            <a:pPr algn="just"/>
            <a:r>
              <a:rPr lang="ru-RU" dirty="0" smtClean="0">
                <a:latin typeface="Times New Roman" pitchFamily="18" charset="0"/>
                <a:cs typeface="Times New Roman" pitchFamily="18" charset="0"/>
              </a:rPr>
              <a:t>Если работа над сайтом будет продолжаться или сайт предназначен для определенного круга лиц, можете активировать эту настройку.</a:t>
            </a:r>
            <a:endParaRPr lang="ru-RU" dirty="0">
              <a:latin typeface="Times New Roman" pitchFamily="18" charset="0"/>
              <a:cs typeface="Times New Roman" pitchFamily="18" charset="0"/>
            </a:endParaRPr>
          </a:p>
        </p:txBody>
      </p:sp>
      <p:sp>
        <p:nvSpPr>
          <p:cNvPr id="31" name="Прямоугольник 30"/>
          <p:cNvSpPr/>
          <p:nvPr/>
        </p:nvSpPr>
        <p:spPr>
          <a:xfrm>
            <a:off x="2928926" y="3000372"/>
            <a:ext cx="3143240" cy="923330"/>
          </a:xfrm>
          <a:prstGeom prst="rect">
            <a:avLst/>
          </a:prstGeom>
        </p:spPr>
        <p:txBody>
          <a:bodyPr wrap="square">
            <a:spAutoFit/>
          </a:bodyPr>
          <a:lstStyle/>
          <a:p>
            <a:pPr algn="just"/>
            <a:r>
              <a:rPr lang="ru-RU" dirty="0" smtClean="0">
                <a:latin typeface="Times New Roman" pitchFamily="18" charset="0"/>
                <a:cs typeface="Times New Roman" pitchFamily="18" charset="0"/>
              </a:rPr>
              <a:t>Нужно придумать уникальное название сайта в сети Интернет</a:t>
            </a:r>
            <a:endParaRPr lang="ru-RU" dirty="0">
              <a:latin typeface="Times New Roman" pitchFamily="18" charset="0"/>
              <a:cs typeface="Times New Roman" pitchFamily="18" charset="0"/>
            </a:endParaRPr>
          </a:p>
        </p:txBody>
      </p:sp>
      <p:sp>
        <p:nvSpPr>
          <p:cNvPr id="32" name="Скругленный прямоугольник 31"/>
          <p:cNvSpPr/>
          <p:nvPr/>
        </p:nvSpPr>
        <p:spPr>
          <a:xfrm>
            <a:off x="7215206" y="1000108"/>
            <a:ext cx="1143008" cy="285752"/>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extBox 29"/>
          <p:cNvSpPr txBox="1"/>
          <p:nvPr/>
        </p:nvSpPr>
        <p:spPr>
          <a:xfrm>
            <a:off x="642910" y="0"/>
            <a:ext cx="7934352" cy="646331"/>
          </a:xfrm>
          <a:prstGeom prst="rect">
            <a:avLst/>
          </a:prstGeom>
          <a:noFill/>
        </p:spPr>
        <p:txBody>
          <a:bodyPr wrap="none" rtlCol="0">
            <a:spAutoFit/>
          </a:bodyPr>
          <a:lstStyle/>
          <a:p>
            <a:pPr algn="just"/>
            <a:r>
              <a:rPr lang="ru-RU" sz="3600" b="1" dirty="0" smtClean="0"/>
              <a:t>Добавление формы с опросом на сайт</a:t>
            </a:r>
            <a:endParaRPr lang="ru-RU" sz="3600" b="1" dirty="0"/>
          </a:p>
        </p:txBody>
      </p:sp>
      <p:pic>
        <p:nvPicPr>
          <p:cNvPr id="4098" name="Picture 2"/>
          <p:cNvPicPr>
            <a:picLocks noChangeAspect="1" noChangeArrowheads="1"/>
          </p:cNvPicPr>
          <p:nvPr/>
        </p:nvPicPr>
        <p:blipFill>
          <a:blip r:embed="rId2"/>
          <a:srcRect/>
          <a:stretch>
            <a:fillRect/>
          </a:stretch>
        </p:blipFill>
        <p:spPr bwMode="auto">
          <a:xfrm>
            <a:off x="214282" y="785794"/>
            <a:ext cx="1520277" cy="5748343"/>
          </a:xfrm>
          <a:prstGeom prst="rect">
            <a:avLst/>
          </a:prstGeom>
          <a:noFill/>
          <a:ln w="9525">
            <a:noFill/>
            <a:miter lim="800000"/>
            <a:headEnd/>
            <a:tailEnd/>
          </a:ln>
          <a:effectLst/>
        </p:spPr>
      </p:pic>
      <p:pic>
        <p:nvPicPr>
          <p:cNvPr id="4099" name="Picture 3"/>
          <p:cNvPicPr>
            <a:picLocks noChangeAspect="1" noChangeArrowheads="1"/>
          </p:cNvPicPr>
          <p:nvPr/>
        </p:nvPicPr>
        <p:blipFill>
          <a:blip r:embed="rId3"/>
          <a:srcRect/>
          <a:stretch>
            <a:fillRect/>
          </a:stretch>
        </p:blipFill>
        <p:spPr bwMode="auto">
          <a:xfrm>
            <a:off x="4071934" y="1071546"/>
            <a:ext cx="3990975" cy="4924425"/>
          </a:xfrm>
          <a:prstGeom prst="rect">
            <a:avLst/>
          </a:prstGeom>
          <a:noFill/>
          <a:ln w="9525">
            <a:noFill/>
            <a:miter lim="800000"/>
            <a:headEnd/>
            <a:tailEnd/>
          </a:ln>
          <a:effectLst/>
        </p:spPr>
      </p:pic>
      <p:cxnSp>
        <p:nvCxnSpPr>
          <p:cNvPr id="14" name="Прямая со стрелкой 13"/>
          <p:cNvCxnSpPr/>
          <p:nvPr/>
        </p:nvCxnSpPr>
        <p:spPr>
          <a:xfrm rot="10800000" flipV="1">
            <a:off x="857224" y="4714884"/>
            <a:ext cx="1643074" cy="142876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7" name="Прямая со стрелкой 16"/>
          <p:cNvCxnSpPr/>
          <p:nvPr/>
        </p:nvCxnSpPr>
        <p:spPr>
          <a:xfrm flipV="1">
            <a:off x="2500298" y="4143380"/>
            <a:ext cx="1571636" cy="571504"/>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normAutofit/>
          </a:bodyPr>
          <a:lstStyle/>
          <a:p>
            <a:r>
              <a:rPr lang="en-US" b="1" dirty="0" err="1" smtClean="0"/>
              <a:t>Tilda</a:t>
            </a:r>
            <a:endParaRPr lang="ru-RU"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00034" y="-357214"/>
            <a:ext cx="8229600" cy="1143000"/>
          </a:xfrm>
        </p:spPr>
        <p:txBody>
          <a:bodyPr>
            <a:normAutofit/>
          </a:bodyPr>
          <a:lstStyle/>
          <a:p>
            <a:r>
              <a:rPr lang="ru-RU" sz="4000" b="1" dirty="0" smtClean="0"/>
              <a:t>Алгоритм создания</a:t>
            </a:r>
            <a:endParaRPr lang="ru-RU" sz="4000" b="1" dirty="0"/>
          </a:p>
        </p:txBody>
      </p:sp>
      <p:sp>
        <p:nvSpPr>
          <p:cNvPr id="6" name="Прямоугольник 5"/>
          <p:cNvSpPr/>
          <p:nvPr/>
        </p:nvSpPr>
        <p:spPr>
          <a:xfrm>
            <a:off x="0" y="571480"/>
            <a:ext cx="9144000" cy="5940088"/>
          </a:xfrm>
          <a:prstGeom prst="rect">
            <a:avLst/>
          </a:prstGeom>
          <a:solidFill>
            <a:schemeClr val="accent1">
              <a:lumMod val="20000"/>
              <a:lumOff val="80000"/>
            </a:schemeClr>
          </a:solidFill>
          <a:ln>
            <a:solidFill>
              <a:schemeClr val="accent1"/>
            </a:solidFill>
          </a:ln>
        </p:spPr>
        <p:txBody>
          <a:bodyPr wrap="square">
            <a:spAutoFit/>
          </a:bodyPr>
          <a:lstStyle/>
          <a:p>
            <a:pPr algn="just"/>
            <a:r>
              <a:rPr lang="ru-RU" sz="2000" b="1" dirty="0" smtClean="0">
                <a:latin typeface="Times New Roman" pitchFamily="18" charset="0"/>
                <a:cs typeface="Times New Roman" pitchFamily="18" charset="0"/>
              </a:rPr>
              <a:t>Для создания сайта в </a:t>
            </a:r>
            <a:r>
              <a:rPr lang="ru-RU" sz="2000" b="1" dirty="0" err="1" smtClean="0">
                <a:latin typeface="Times New Roman" pitchFamily="18" charset="0"/>
                <a:cs typeface="Times New Roman" pitchFamily="18" charset="0"/>
              </a:rPr>
              <a:t>Tilda</a:t>
            </a:r>
            <a:r>
              <a:rPr lang="ru-RU" sz="2000" b="1" dirty="0" smtClean="0">
                <a:latin typeface="Times New Roman" pitchFamily="18" charset="0"/>
                <a:cs typeface="Times New Roman" pitchFamily="18" charset="0"/>
              </a:rPr>
              <a:t> рекомендуется следующее пошаговое руководство</a:t>
            </a:r>
            <a:r>
              <a:rPr lang="ru-RU" sz="2000" dirty="0" smtClean="0">
                <a:latin typeface="Times New Roman" pitchFamily="18" charset="0"/>
                <a:cs typeface="Times New Roman" pitchFamily="18" charset="0"/>
              </a:rPr>
              <a:t>:</a:t>
            </a:r>
          </a:p>
          <a:p>
            <a:pPr algn="just"/>
            <a:r>
              <a:rPr lang="ru-RU" sz="2000" b="1" dirty="0" smtClean="0">
                <a:latin typeface="Times New Roman" pitchFamily="18" charset="0"/>
                <a:cs typeface="Times New Roman" pitchFamily="18" charset="0"/>
              </a:rPr>
              <a:t>Зарегистрироваться на платформе</a:t>
            </a:r>
            <a:r>
              <a:rPr lang="ru-RU" sz="2000" dirty="0" smtClean="0">
                <a:latin typeface="Times New Roman" pitchFamily="18" charset="0"/>
                <a:cs typeface="Times New Roman" pitchFamily="18" charset="0"/>
              </a:rPr>
              <a:t>. Перейдите в раздел «Тарифы» и выберите тариф </a:t>
            </a:r>
            <a:r>
              <a:rPr lang="ru-RU" sz="2000" dirty="0" err="1" smtClean="0">
                <a:latin typeface="Times New Roman" pitchFamily="18" charset="0"/>
                <a:cs typeface="Times New Roman" pitchFamily="18" charset="0"/>
              </a:rPr>
              <a:t>Personal</a:t>
            </a:r>
            <a:r>
              <a:rPr lang="ru-RU" sz="2000" dirty="0" smtClean="0">
                <a:latin typeface="Times New Roman" pitchFamily="18" charset="0"/>
                <a:cs typeface="Times New Roman" pitchFamily="18" charset="0"/>
              </a:rPr>
              <a:t> — для новых пользователей действует бесплатный пробный период. </a:t>
            </a:r>
          </a:p>
          <a:p>
            <a:pPr algn="just"/>
            <a:r>
              <a:rPr lang="ru-RU" sz="2000" b="1" dirty="0" smtClean="0">
                <a:latin typeface="Times New Roman" pitchFamily="18" charset="0"/>
                <a:cs typeface="Times New Roman" pitchFamily="18" charset="0"/>
              </a:rPr>
              <a:t>Создайте новый сайт</a:t>
            </a:r>
            <a:r>
              <a:rPr lang="ru-RU" sz="2000" dirty="0" smtClean="0">
                <a:latin typeface="Times New Roman" pitchFamily="18" charset="0"/>
                <a:cs typeface="Times New Roman" pitchFamily="18" charset="0"/>
              </a:rPr>
              <a:t> в разделе «Мои сайты». Там же укажите название проекта.</a:t>
            </a:r>
          </a:p>
          <a:p>
            <a:pPr algn="just"/>
            <a:r>
              <a:rPr lang="ru-RU" sz="2000" b="1" dirty="0" smtClean="0">
                <a:latin typeface="Times New Roman" pitchFamily="18" charset="0"/>
                <a:cs typeface="Times New Roman" pitchFamily="18" charset="0"/>
              </a:rPr>
              <a:t>Перейдите в панель управления сайта и нажмите кнопку «Создать страницу»</a:t>
            </a:r>
            <a:r>
              <a:rPr lang="ru-RU" sz="2000" dirty="0" smtClean="0">
                <a:latin typeface="Times New Roman" pitchFamily="18" charset="0"/>
                <a:cs typeface="Times New Roman" pitchFamily="18" charset="0"/>
              </a:rPr>
              <a:t>. На этом этапе можно выбрать готовый шаблон или создать пустую страницу.</a:t>
            </a:r>
          </a:p>
          <a:p>
            <a:pPr algn="just"/>
            <a:r>
              <a:rPr lang="ru-RU" sz="2000" b="1" dirty="0" smtClean="0">
                <a:latin typeface="Times New Roman" pitchFamily="18" charset="0"/>
                <a:cs typeface="Times New Roman" pitchFamily="18" charset="0"/>
              </a:rPr>
              <a:t>Выберите подходящий шаблон</a:t>
            </a:r>
            <a:r>
              <a:rPr lang="ru-RU" sz="2000" dirty="0" smtClean="0">
                <a:latin typeface="Times New Roman" pitchFamily="18" charset="0"/>
                <a:cs typeface="Times New Roman" pitchFamily="18" charset="0"/>
              </a:rPr>
              <a:t>. Для этого можно посмотреть рубрики, которые предлагает </a:t>
            </a:r>
            <a:r>
              <a:rPr lang="ru-RU" sz="2000" dirty="0" err="1" smtClean="0">
                <a:latin typeface="Times New Roman" pitchFamily="18" charset="0"/>
                <a:cs typeface="Times New Roman" pitchFamily="18" charset="0"/>
              </a:rPr>
              <a:t>Tilda</a:t>
            </a:r>
            <a:r>
              <a:rPr lang="ru-RU" sz="2000" dirty="0" smtClean="0">
                <a:latin typeface="Times New Roman" pitchFamily="18" charset="0"/>
                <a:cs typeface="Times New Roman" pitchFamily="18" charset="0"/>
              </a:rPr>
              <a:t>, или поискать нужный шаблон по ключевому слову.</a:t>
            </a:r>
          </a:p>
          <a:p>
            <a:pPr algn="just"/>
            <a:r>
              <a:rPr lang="ru-RU" sz="2000" b="1" dirty="0" smtClean="0">
                <a:latin typeface="Times New Roman" pitchFamily="18" charset="0"/>
                <a:cs typeface="Times New Roman" pitchFamily="18" charset="0"/>
              </a:rPr>
              <a:t>Выбрав шаблон, можно заменить на нём изображения и текст</a:t>
            </a:r>
            <a:r>
              <a:rPr lang="ru-RU" sz="2000" dirty="0" smtClean="0">
                <a:latin typeface="Times New Roman" pitchFamily="18" charset="0"/>
                <a:cs typeface="Times New Roman" pitchFamily="18" charset="0"/>
              </a:rPr>
              <a:t>, сохранив порядок и количество блоков. Для этого лучше использовать вкладку «</a:t>
            </a:r>
            <a:r>
              <a:rPr lang="ru-RU" sz="2000" dirty="0" err="1" smtClean="0">
                <a:latin typeface="Times New Roman" pitchFamily="18" charset="0"/>
                <a:cs typeface="Times New Roman" pitchFamily="18" charset="0"/>
              </a:rPr>
              <a:t>Контент</a:t>
            </a:r>
            <a:r>
              <a:rPr lang="ru-RU" sz="2000" dirty="0" smtClean="0">
                <a:latin typeface="Times New Roman" pitchFamily="18" charset="0"/>
                <a:cs typeface="Times New Roman" pitchFamily="18" charset="0"/>
              </a:rPr>
              <a:t>» в левом верхнем углу.</a:t>
            </a:r>
          </a:p>
          <a:p>
            <a:pPr algn="just"/>
            <a:r>
              <a:rPr lang="ru-RU" sz="2000" b="1" dirty="0" smtClean="0">
                <a:latin typeface="Times New Roman" pitchFamily="18" charset="0"/>
                <a:cs typeface="Times New Roman" pitchFamily="18" charset="0"/>
              </a:rPr>
              <a:t>Если нужно добавить новый блок</a:t>
            </a:r>
            <a:r>
              <a:rPr lang="ru-RU" sz="2000" dirty="0" smtClean="0">
                <a:latin typeface="Times New Roman" pitchFamily="18" charset="0"/>
                <a:cs typeface="Times New Roman" pitchFamily="18" charset="0"/>
              </a:rPr>
              <a:t>, нужно нажать на знак «плюс» на границе блоков, затем выбрать в библиотеке блоков нужный раздел и кликнуть на понравившийся блок.</a:t>
            </a:r>
          </a:p>
          <a:p>
            <a:pPr algn="just"/>
            <a:r>
              <a:rPr lang="ru-RU" sz="2000" b="1" dirty="0" smtClean="0">
                <a:latin typeface="Times New Roman" pitchFamily="18" charset="0"/>
                <a:cs typeface="Times New Roman" pitchFamily="18" charset="0"/>
              </a:rPr>
              <a:t>Когда редактирование страницы завершено, нужно задать название и адрес страницы</a:t>
            </a:r>
            <a:r>
              <a:rPr lang="ru-RU" sz="2000" dirty="0" smtClean="0">
                <a:latin typeface="Times New Roman" pitchFamily="18" charset="0"/>
                <a:cs typeface="Times New Roman" pitchFamily="18" charset="0"/>
              </a:rPr>
              <a:t> в разделе «Настройки» в верхнем меню страницы.</a:t>
            </a:r>
            <a:endParaRPr lang="ru-RU" sz="2000" dirty="0">
              <a:latin typeface="Times New Roman" pitchFamily="18" charset="0"/>
              <a:cs typeface="Times New Roman"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srcRect/>
          <a:stretch>
            <a:fillRect/>
          </a:stretch>
        </p:blipFill>
        <p:spPr bwMode="auto">
          <a:xfrm>
            <a:off x="0" y="357166"/>
            <a:ext cx="9144000" cy="2815972"/>
          </a:xfrm>
          <a:prstGeom prst="rect">
            <a:avLst/>
          </a:prstGeom>
          <a:noFill/>
          <a:ln w="9525">
            <a:noFill/>
            <a:miter lim="800000"/>
            <a:headEnd/>
            <a:tailEnd/>
          </a:ln>
          <a:effectLst/>
        </p:spPr>
      </p:pic>
      <p:cxnSp>
        <p:nvCxnSpPr>
          <p:cNvPr id="5" name="Прямая со стрелкой 4"/>
          <p:cNvCxnSpPr/>
          <p:nvPr/>
        </p:nvCxnSpPr>
        <p:spPr>
          <a:xfrm flipV="1">
            <a:off x="6072198" y="1214422"/>
            <a:ext cx="1571636" cy="571504"/>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6" name="Прямая со стрелкой 5"/>
          <p:cNvCxnSpPr/>
          <p:nvPr/>
        </p:nvCxnSpPr>
        <p:spPr>
          <a:xfrm rot="10800000" flipV="1">
            <a:off x="2928926" y="1785926"/>
            <a:ext cx="3143272" cy="1000132"/>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pic>
        <p:nvPicPr>
          <p:cNvPr id="5123" name="Picture 3"/>
          <p:cNvPicPr>
            <a:picLocks noChangeAspect="1" noChangeArrowheads="1"/>
          </p:cNvPicPr>
          <p:nvPr/>
        </p:nvPicPr>
        <p:blipFill>
          <a:blip r:embed="rId3"/>
          <a:srcRect/>
          <a:stretch>
            <a:fillRect/>
          </a:stretch>
        </p:blipFill>
        <p:spPr bwMode="auto">
          <a:xfrm>
            <a:off x="1928794" y="3714752"/>
            <a:ext cx="7215206" cy="2571744"/>
          </a:xfrm>
          <a:prstGeom prst="rect">
            <a:avLst/>
          </a:prstGeom>
          <a:noFill/>
          <a:ln w="9525">
            <a:noFill/>
            <a:miter lim="800000"/>
            <a:headEnd/>
            <a:tailEnd/>
          </a:ln>
          <a:effectLst/>
        </p:spPr>
      </p:pic>
      <p:cxnSp>
        <p:nvCxnSpPr>
          <p:cNvPr id="12" name="Прямая со стрелкой 11"/>
          <p:cNvCxnSpPr/>
          <p:nvPr/>
        </p:nvCxnSpPr>
        <p:spPr>
          <a:xfrm>
            <a:off x="6143636" y="3214686"/>
            <a:ext cx="1571636" cy="785818"/>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7" name="Прямоугольник 6"/>
          <p:cNvSpPr/>
          <p:nvPr/>
        </p:nvSpPr>
        <p:spPr>
          <a:xfrm>
            <a:off x="0" y="4429132"/>
            <a:ext cx="1857356" cy="1477328"/>
          </a:xfrm>
          <a:prstGeom prst="rect">
            <a:avLst/>
          </a:prstGeom>
        </p:spPr>
        <p:txBody>
          <a:bodyPr wrap="square">
            <a:spAutoFit/>
          </a:bodyPr>
          <a:lstStyle/>
          <a:p>
            <a:pPr algn="ctr"/>
            <a:r>
              <a:rPr lang="ru-RU" b="1" dirty="0" smtClean="0">
                <a:latin typeface="Times New Roman" pitchFamily="18" charset="0"/>
                <a:cs typeface="Times New Roman" pitchFamily="18" charset="0"/>
              </a:rPr>
              <a:t>Можете создать универсальный шаблон после нажатия на эту кнопку</a:t>
            </a:r>
            <a:endParaRPr lang="ru-RU" b="1" dirty="0">
              <a:latin typeface="Times New Roman" pitchFamily="18" charset="0"/>
              <a:cs typeface="Times New Roman" pitchFamily="18" charset="0"/>
            </a:endParaRPr>
          </a:p>
        </p:txBody>
      </p:sp>
      <p:cxnSp>
        <p:nvCxnSpPr>
          <p:cNvPr id="8" name="Прямая со стрелкой 7"/>
          <p:cNvCxnSpPr>
            <a:endCxn id="7" idx="0"/>
          </p:cNvCxnSpPr>
          <p:nvPr/>
        </p:nvCxnSpPr>
        <p:spPr>
          <a:xfrm rot="10800000" flipV="1">
            <a:off x="928678" y="3214686"/>
            <a:ext cx="5214958" cy="1214446"/>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7" name="Picture 3"/>
          <p:cNvPicPr>
            <a:picLocks noChangeAspect="1" noChangeArrowheads="1"/>
          </p:cNvPicPr>
          <p:nvPr/>
        </p:nvPicPr>
        <p:blipFill>
          <a:blip r:embed="rId2"/>
          <a:srcRect/>
          <a:stretch>
            <a:fillRect/>
          </a:stretch>
        </p:blipFill>
        <p:spPr bwMode="auto">
          <a:xfrm>
            <a:off x="1171575" y="3781425"/>
            <a:ext cx="7972425" cy="3076575"/>
          </a:xfrm>
          <a:prstGeom prst="rect">
            <a:avLst/>
          </a:prstGeom>
          <a:noFill/>
          <a:ln w="9525">
            <a:noFill/>
            <a:miter lim="800000"/>
            <a:headEnd/>
            <a:tailEnd/>
          </a:ln>
          <a:effectLst/>
        </p:spPr>
      </p:pic>
      <p:pic>
        <p:nvPicPr>
          <p:cNvPr id="6148" name="Picture 4"/>
          <p:cNvPicPr>
            <a:picLocks noChangeAspect="1" noChangeArrowheads="1"/>
          </p:cNvPicPr>
          <p:nvPr/>
        </p:nvPicPr>
        <p:blipFill>
          <a:blip r:embed="rId3"/>
          <a:srcRect/>
          <a:stretch>
            <a:fillRect/>
          </a:stretch>
        </p:blipFill>
        <p:spPr bwMode="auto">
          <a:xfrm>
            <a:off x="0" y="0"/>
            <a:ext cx="5457825" cy="4276725"/>
          </a:xfrm>
          <a:prstGeom prst="rect">
            <a:avLst/>
          </a:prstGeom>
          <a:noFill/>
          <a:ln w="9525">
            <a:noFill/>
            <a:miter lim="800000"/>
            <a:headEnd/>
            <a:tailEnd/>
          </a:ln>
          <a:effectLst/>
        </p:spPr>
      </p:pic>
      <p:cxnSp>
        <p:nvCxnSpPr>
          <p:cNvPr id="13" name="Прямая со стрелкой 12"/>
          <p:cNvCxnSpPr/>
          <p:nvPr/>
        </p:nvCxnSpPr>
        <p:spPr>
          <a:xfrm rot="5400000">
            <a:off x="5393537" y="3178967"/>
            <a:ext cx="1785950" cy="142876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5" name="Прямая со стрелкой 14"/>
          <p:cNvCxnSpPr/>
          <p:nvPr/>
        </p:nvCxnSpPr>
        <p:spPr>
          <a:xfrm rot="10800000">
            <a:off x="1643042" y="2071678"/>
            <a:ext cx="5357850" cy="928694"/>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8" name="Прямоугольник 17"/>
          <p:cNvSpPr/>
          <p:nvPr/>
        </p:nvSpPr>
        <p:spPr>
          <a:xfrm>
            <a:off x="6572264" y="2071678"/>
            <a:ext cx="1857356" cy="923330"/>
          </a:xfrm>
          <a:prstGeom prst="rect">
            <a:avLst/>
          </a:prstGeom>
        </p:spPr>
        <p:txBody>
          <a:bodyPr wrap="square">
            <a:spAutoFit/>
          </a:bodyPr>
          <a:lstStyle/>
          <a:p>
            <a:pPr algn="ctr"/>
            <a:r>
              <a:rPr lang="ru-RU" b="1" dirty="0" smtClean="0">
                <a:latin typeface="Times New Roman" pitchFamily="18" charset="0"/>
                <a:cs typeface="Times New Roman" pitchFamily="18" charset="0"/>
              </a:rPr>
              <a:t>Вот так добавляются блоки на сайт</a:t>
            </a:r>
            <a:endParaRPr lang="ru-RU" b="1" dirty="0">
              <a:latin typeface="Times New Roman" pitchFamily="18" charset="0"/>
              <a:cs typeface="Times New Roman"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extBox 29"/>
          <p:cNvSpPr txBox="1"/>
          <p:nvPr/>
        </p:nvSpPr>
        <p:spPr>
          <a:xfrm>
            <a:off x="642910" y="0"/>
            <a:ext cx="7934352" cy="646331"/>
          </a:xfrm>
          <a:prstGeom prst="rect">
            <a:avLst/>
          </a:prstGeom>
          <a:noFill/>
        </p:spPr>
        <p:txBody>
          <a:bodyPr wrap="none" rtlCol="0">
            <a:spAutoFit/>
          </a:bodyPr>
          <a:lstStyle/>
          <a:p>
            <a:pPr algn="just"/>
            <a:r>
              <a:rPr lang="ru-RU" sz="3600" b="1" dirty="0" smtClean="0"/>
              <a:t>Добавление формы с опросом на сайт</a:t>
            </a:r>
            <a:endParaRPr lang="ru-RU" sz="3600" b="1" dirty="0"/>
          </a:p>
        </p:txBody>
      </p:sp>
      <p:pic>
        <p:nvPicPr>
          <p:cNvPr id="7170" name="Picture 2"/>
          <p:cNvPicPr>
            <a:picLocks noChangeAspect="1" noChangeArrowheads="1"/>
          </p:cNvPicPr>
          <p:nvPr/>
        </p:nvPicPr>
        <p:blipFill>
          <a:blip r:embed="rId2"/>
          <a:srcRect/>
          <a:stretch>
            <a:fillRect/>
          </a:stretch>
        </p:blipFill>
        <p:spPr bwMode="auto">
          <a:xfrm>
            <a:off x="0" y="1142984"/>
            <a:ext cx="5705475" cy="4162425"/>
          </a:xfrm>
          <a:prstGeom prst="rect">
            <a:avLst/>
          </a:prstGeom>
          <a:noFill/>
          <a:ln w="9525">
            <a:noFill/>
            <a:miter lim="800000"/>
            <a:headEnd/>
            <a:tailEnd/>
          </a:ln>
          <a:effectLst/>
        </p:spPr>
      </p:pic>
      <p:pic>
        <p:nvPicPr>
          <p:cNvPr id="7171" name="Picture 3"/>
          <p:cNvPicPr>
            <a:picLocks noChangeAspect="1" noChangeArrowheads="1"/>
          </p:cNvPicPr>
          <p:nvPr/>
        </p:nvPicPr>
        <p:blipFill>
          <a:blip r:embed="rId3"/>
          <a:srcRect/>
          <a:stretch>
            <a:fillRect/>
          </a:stretch>
        </p:blipFill>
        <p:spPr bwMode="auto">
          <a:xfrm>
            <a:off x="6010275" y="3152775"/>
            <a:ext cx="3133725" cy="3705225"/>
          </a:xfrm>
          <a:prstGeom prst="rect">
            <a:avLst/>
          </a:prstGeom>
          <a:noFill/>
          <a:ln w="9525">
            <a:noFill/>
            <a:miter lim="800000"/>
            <a:headEnd/>
            <a:tailEnd/>
          </a:ln>
          <a:effectLst/>
        </p:spPr>
      </p:pic>
      <p:cxnSp>
        <p:nvCxnSpPr>
          <p:cNvPr id="9" name="Прямая со стрелкой 8"/>
          <p:cNvCxnSpPr/>
          <p:nvPr/>
        </p:nvCxnSpPr>
        <p:spPr>
          <a:xfrm rot="10800000">
            <a:off x="4286248" y="1928802"/>
            <a:ext cx="2000264" cy="214314"/>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 name="Прямая со стрелкой 11"/>
          <p:cNvCxnSpPr/>
          <p:nvPr/>
        </p:nvCxnSpPr>
        <p:spPr>
          <a:xfrm rot="16200000" flipH="1">
            <a:off x="6107917" y="2321711"/>
            <a:ext cx="1643074" cy="1285884"/>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6" name="Прямоугольник 15"/>
          <p:cNvSpPr/>
          <p:nvPr/>
        </p:nvSpPr>
        <p:spPr>
          <a:xfrm>
            <a:off x="6000760" y="1000108"/>
            <a:ext cx="1857356" cy="1200329"/>
          </a:xfrm>
          <a:prstGeom prst="rect">
            <a:avLst/>
          </a:prstGeom>
        </p:spPr>
        <p:txBody>
          <a:bodyPr wrap="square">
            <a:spAutoFit/>
          </a:bodyPr>
          <a:lstStyle/>
          <a:p>
            <a:pPr algn="ctr"/>
            <a:r>
              <a:rPr lang="ru-RU" b="1" dirty="0" smtClean="0">
                <a:latin typeface="Times New Roman" pitchFamily="18" charset="0"/>
                <a:cs typeface="Times New Roman" pitchFamily="18" charset="0"/>
              </a:rPr>
              <a:t>Добавьте кнопку на сайт и разместите по ней опрос</a:t>
            </a:r>
            <a:endParaRPr lang="ru-RU" b="1" dirty="0">
              <a:latin typeface="Times New Roman" pitchFamily="18" charset="0"/>
              <a:cs typeface="Times New Roman"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normAutofit/>
          </a:bodyPr>
          <a:lstStyle/>
          <a:p>
            <a:r>
              <a:rPr lang="ru-RU" b="1" dirty="0" smtClean="0"/>
              <a:t>Обратная связь на сайтах</a:t>
            </a:r>
            <a:endParaRPr lang="ru-RU"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Прямоугольник 8"/>
          <p:cNvSpPr/>
          <p:nvPr/>
        </p:nvSpPr>
        <p:spPr>
          <a:xfrm>
            <a:off x="0" y="3929066"/>
            <a:ext cx="9144000" cy="292893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Прямоугольник 7"/>
          <p:cNvSpPr/>
          <p:nvPr/>
        </p:nvSpPr>
        <p:spPr>
          <a:xfrm>
            <a:off x="0" y="0"/>
            <a:ext cx="9144000" cy="378619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3074" name="Picture 2"/>
          <p:cNvPicPr>
            <a:picLocks noChangeAspect="1" noChangeArrowheads="1"/>
          </p:cNvPicPr>
          <p:nvPr/>
        </p:nvPicPr>
        <p:blipFill>
          <a:blip r:embed="rId2" cstate="print"/>
          <a:srcRect/>
          <a:stretch>
            <a:fillRect/>
          </a:stretch>
        </p:blipFill>
        <p:spPr bwMode="auto">
          <a:xfrm>
            <a:off x="5541821" y="0"/>
            <a:ext cx="3602179" cy="2143140"/>
          </a:xfrm>
          <a:prstGeom prst="rect">
            <a:avLst/>
          </a:prstGeom>
          <a:noFill/>
          <a:ln w="9525">
            <a:noFill/>
            <a:miter lim="800000"/>
            <a:headEnd/>
            <a:tailEnd/>
          </a:ln>
          <a:effectLst/>
        </p:spPr>
      </p:pic>
      <p:sp>
        <p:nvSpPr>
          <p:cNvPr id="4" name="TextBox 3"/>
          <p:cNvSpPr txBox="1"/>
          <p:nvPr/>
        </p:nvSpPr>
        <p:spPr>
          <a:xfrm>
            <a:off x="500034" y="785794"/>
            <a:ext cx="4500594" cy="830997"/>
          </a:xfrm>
          <a:prstGeom prst="rect">
            <a:avLst/>
          </a:prstGeom>
          <a:noFill/>
        </p:spPr>
        <p:txBody>
          <a:bodyPr wrap="square" rtlCol="0">
            <a:spAutoFit/>
          </a:bodyPr>
          <a:lstStyle/>
          <a:p>
            <a:r>
              <a:rPr lang="ru-RU" sz="2400" dirty="0" smtClean="0">
                <a:latin typeface="Times New Roman" pitchFamily="18" charset="0"/>
                <a:cs typeface="Times New Roman" pitchFamily="18" charset="0"/>
              </a:rPr>
              <a:t>Так выглядит новая форма: Настройки, ответы, вопросы</a:t>
            </a:r>
            <a:endParaRPr lang="ru-RU" sz="2400" dirty="0">
              <a:latin typeface="Times New Roman" pitchFamily="18" charset="0"/>
              <a:cs typeface="Times New Roman" pitchFamily="18" charset="0"/>
            </a:endParaRPr>
          </a:p>
        </p:txBody>
      </p:sp>
      <p:sp>
        <p:nvSpPr>
          <p:cNvPr id="5" name="Прямоугольник 4"/>
          <p:cNvSpPr/>
          <p:nvPr/>
        </p:nvSpPr>
        <p:spPr>
          <a:xfrm>
            <a:off x="0" y="3857628"/>
            <a:ext cx="9144000" cy="2862322"/>
          </a:xfrm>
          <a:prstGeom prst="rect">
            <a:avLst/>
          </a:prstGeom>
        </p:spPr>
        <p:txBody>
          <a:bodyPr wrap="square">
            <a:spAutoFit/>
          </a:bodyPr>
          <a:lstStyle/>
          <a:p>
            <a:pPr marL="45720" lvl="0" indent="0" algn="just">
              <a:buNone/>
            </a:pPr>
            <a:r>
              <a:rPr lang="ru-RU" dirty="0" smtClean="0">
                <a:latin typeface="Times New Roman" pitchFamily="18" charset="0"/>
                <a:cs typeface="Times New Roman" pitchFamily="18" charset="0"/>
              </a:rPr>
              <a:t>Каждый из вариантов ответа по-своему интересен и обладает своими возможностями:</a:t>
            </a:r>
          </a:p>
          <a:p>
            <a:pPr lvl="0" algn="just"/>
            <a:r>
              <a:rPr lang="ru-RU" dirty="0" err="1" smtClean="0">
                <a:latin typeface="Times New Roman" pitchFamily="18" charset="0"/>
                <a:cs typeface="Times New Roman" pitchFamily="18" charset="0"/>
              </a:rPr>
              <a:t>Teкст</a:t>
            </a:r>
            <a:r>
              <a:rPr lang="ru-RU" dirty="0" smtClean="0">
                <a:latin typeface="Times New Roman" pitchFamily="18" charset="0"/>
                <a:cs typeface="Times New Roman" pitchFamily="18" charset="0"/>
              </a:rPr>
              <a:t> (строка): короткий текстовый ответ, который поместится в одну строчку. Удобно использовать для ФИО ученика, указания школы и класса, </a:t>
            </a:r>
            <a:r>
              <a:rPr lang="ru-RU" dirty="0" err="1" smtClean="0">
                <a:latin typeface="Times New Roman" pitchFamily="18" charset="0"/>
                <a:cs typeface="Times New Roman" pitchFamily="18" charset="0"/>
              </a:rPr>
              <a:t>e-mail</a:t>
            </a:r>
            <a:r>
              <a:rPr lang="ru-RU" dirty="0" smtClean="0">
                <a:latin typeface="Times New Roman" pitchFamily="18" charset="0"/>
                <a:cs typeface="Times New Roman" pitchFamily="18" charset="0"/>
              </a:rPr>
              <a:t>. </a:t>
            </a:r>
          </a:p>
          <a:p>
            <a:pPr lvl="0" algn="just"/>
            <a:r>
              <a:rPr lang="ru-RU" dirty="0" smtClean="0">
                <a:latin typeface="Times New Roman" pitchFamily="18" charset="0"/>
                <a:cs typeface="Times New Roman" pitchFamily="18" charset="0"/>
              </a:rPr>
              <a:t>Текст (абзац): длинный текстовый ответ, может состоять из нескольких предложений. </a:t>
            </a:r>
          </a:p>
          <a:p>
            <a:pPr lvl="0" algn="just"/>
            <a:r>
              <a:rPr lang="ru-RU" dirty="0" smtClean="0">
                <a:latin typeface="Times New Roman" pitchFamily="18" charset="0"/>
                <a:cs typeface="Times New Roman" pitchFamily="18" charset="0"/>
              </a:rPr>
              <a:t>Один из списка: выбор одного правильного ответа из нескольких вариантов.</a:t>
            </a:r>
          </a:p>
          <a:p>
            <a:pPr lvl="0" algn="just"/>
            <a:r>
              <a:rPr lang="ru-RU" dirty="0" smtClean="0">
                <a:latin typeface="Times New Roman" pitchFamily="18" charset="0"/>
                <a:cs typeface="Times New Roman" pitchFamily="18" charset="0"/>
              </a:rPr>
              <a:t>Несколько из списка: выбор  нескольких правильных ответов, которые нужно отметить галочкой.</a:t>
            </a:r>
          </a:p>
          <a:p>
            <a:pPr lvl="0" algn="just"/>
            <a:r>
              <a:rPr lang="ru-RU" dirty="0" smtClean="0">
                <a:latin typeface="Times New Roman" pitchFamily="18" charset="0"/>
                <a:cs typeface="Times New Roman" pitchFamily="18" charset="0"/>
              </a:rPr>
              <a:t>Раскрывающийся список: выбор одного правильного ответа из раскрывающегося списка.</a:t>
            </a:r>
          </a:p>
          <a:p>
            <a:pPr algn="just"/>
            <a:r>
              <a:rPr lang="ru-RU" dirty="0" smtClean="0">
                <a:latin typeface="Times New Roman" pitchFamily="18" charset="0"/>
                <a:cs typeface="Times New Roman" pitchFamily="18" charset="0"/>
              </a:rPr>
              <a:t>Шкала: позволяет определить, насколько ученик согласен или не согласен с текстом или для оценки чего-то (выставления оценки по заданной шкале, например от 1 до 5)</a:t>
            </a:r>
          </a:p>
        </p:txBody>
      </p:sp>
      <p:pic>
        <p:nvPicPr>
          <p:cNvPr id="3075" name="Picture 3"/>
          <p:cNvPicPr>
            <a:picLocks noChangeAspect="1" noChangeArrowheads="1"/>
          </p:cNvPicPr>
          <p:nvPr/>
        </p:nvPicPr>
        <p:blipFill>
          <a:blip r:embed="rId3"/>
          <a:srcRect/>
          <a:stretch>
            <a:fillRect/>
          </a:stretch>
        </p:blipFill>
        <p:spPr bwMode="auto">
          <a:xfrm>
            <a:off x="4071934" y="2143116"/>
            <a:ext cx="5072066" cy="1261502"/>
          </a:xfrm>
          <a:prstGeom prst="rect">
            <a:avLst/>
          </a:prstGeom>
          <a:noFill/>
          <a:ln w="9525">
            <a:noFill/>
            <a:miter lim="800000"/>
            <a:headEnd/>
            <a:tailEnd/>
          </a:ln>
          <a:effectLst/>
        </p:spPr>
      </p:pic>
      <p:sp>
        <p:nvSpPr>
          <p:cNvPr id="7" name="TextBox 6"/>
          <p:cNvSpPr txBox="1"/>
          <p:nvPr/>
        </p:nvSpPr>
        <p:spPr>
          <a:xfrm>
            <a:off x="0" y="1928802"/>
            <a:ext cx="4000496" cy="1569660"/>
          </a:xfrm>
          <a:prstGeom prst="rect">
            <a:avLst/>
          </a:prstGeom>
          <a:noFill/>
        </p:spPr>
        <p:txBody>
          <a:bodyPr wrap="square" rtlCol="0">
            <a:spAutoFit/>
          </a:bodyPr>
          <a:lstStyle/>
          <a:p>
            <a:pPr algn="just"/>
            <a:r>
              <a:rPr lang="ru-RU" sz="2400" dirty="0" smtClean="0">
                <a:latin typeface="Times New Roman" pitchFamily="18" charset="0"/>
                <a:cs typeface="Times New Roman" pitchFamily="18" charset="0"/>
              </a:rPr>
              <a:t>Начинаем с вопроса: можно изменить шрифт, жирность, наклон и даже отметить ссылку в вопросе</a:t>
            </a:r>
            <a:endParaRPr lang="ru-RU"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Прямоугольник 9"/>
          <p:cNvSpPr/>
          <p:nvPr/>
        </p:nvSpPr>
        <p:spPr>
          <a:xfrm>
            <a:off x="0" y="0"/>
            <a:ext cx="9144000" cy="6858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4098" name="Picture 2"/>
          <p:cNvPicPr>
            <a:picLocks noChangeAspect="1" noChangeArrowheads="1"/>
          </p:cNvPicPr>
          <p:nvPr/>
        </p:nvPicPr>
        <p:blipFill>
          <a:blip r:embed="rId2"/>
          <a:srcRect/>
          <a:stretch>
            <a:fillRect/>
          </a:stretch>
        </p:blipFill>
        <p:spPr bwMode="auto">
          <a:xfrm>
            <a:off x="4000496" y="1285860"/>
            <a:ext cx="5143504" cy="885825"/>
          </a:xfrm>
          <a:prstGeom prst="rect">
            <a:avLst/>
          </a:prstGeom>
          <a:noFill/>
          <a:ln w="9525">
            <a:noFill/>
            <a:miter lim="800000"/>
            <a:headEnd/>
            <a:tailEnd/>
          </a:ln>
          <a:effectLst/>
        </p:spPr>
      </p:pic>
      <p:sp>
        <p:nvSpPr>
          <p:cNvPr id="12" name="TextBox 11"/>
          <p:cNvSpPr txBox="1"/>
          <p:nvPr/>
        </p:nvSpPr>
        <p:spPr>
          <a:xfrm>
            <a:off x="0" y="857232"/>
            <a:ext cx="3857620" cy="1938992"/>
          </a:xfrm>
          <a:prstGeom prst="rect">
            <a:avLst/>
          </a:prstGeom>
          <a:noFill/>
        </p:spPr>
        <p:txBody>
          <a:bodyPr wrap="square" rtlCol="0">
            <a:spAutoFit/>
          </a:bodyPr>
          <a:lstStyle/>
          <a:p>
            <a:pPr algn="just"/>
            <a:r>
              <a:rPr lang="ru-RU" sz="2400" dirty="0" smtClean="0">
                <a:latin typeface="Times New Roman" pitchFamily="18" charset="0"/>
                <a:cs typeface="Times New Roman" pitchFamily="18" charset="0"/>
              </a:rPr>
              <a:t>Если  передвинуть ползунок, вопрос станет обязательным: без ответа на него нельзя будет отправить форму</a:t>
            </a:r>
            <a:endParaRPr lang="ru-RU" sz="2400" dirty="0">
              <a:latin typeface="Times New Roman" pitchFamily="18" charset="0"/>
              <a:cs typeface="Times New Roman" pitchFamily="18" charset="0"/>
            </a:endParaRPr>
          </a:p>
        </p:txBody>
      </p:sp>
      <p:pic>
        <p:nvPicPr>
          <p:cNvPr id="4099" name="Picture 3"/>
          <p:cNvPicPr>
            <a:picLocks noChangeAspect="1" noChangeArrowheads="1"/>
          </p:cNvPicPr>
          <p:nvPr/>
        </p:nvPicPr>
        <p:blipFill>
          <a:blip r:embed="rId3"/>
          <a:srcRect/>
          <a:stretch>
            <a:fillRect/>
          </a:stretch>
        </p:blipFill>
        <p:spPr bwMode="auto">
          <a:xfrm>
            <a:off x="3929058" y="2714620"/>
            <a:ext cx="2314575" cy="3876675"/>
          </a:xfrm>
          <a:prstGeom prst="rect">
            <a:avLst/>
          </a:prstGeom>
          <a:noFill/>
          <a:ln w="9525">
            <a:noFill/>
            <a:miter lim="800000"/>
            <a:headEnd/>
            <a:tailEnd/>
          </a:ln>
          <a:effectLst/>
        </p:spPr>
      </p:pic>
      <p:sp>
        <p:nvSpPr>
          <p:cNvPr id="16" name="TextBox 15"/>
          <p:cNvSpPr txBox="1"/>
          <p:nvPr/>
        </p:nvSpPr>
        <p:spPr>
          <a:xfrm>
            <a:off x="0" y="3786190"/>
            <a:ext cx="3857620" cy="1569660"/>
          </a:xfrm>
          <a:prstGeom prst="rect">
            <a:avLst/>
          </a:prstGeom>
          <a:noFill/>
        </p:spPr>
        <p:txBody>
          <a:bodyPr wrap="square" rtlCol="0">
            <a:spAutoFit/>
          </a:bodyPr>
          <a:lstStyle/>
          <a:p>
            <a:pPr algn="just"/>
            <a:r>
              <a:rPr lang="ru-RU" sz="2400" dirty="0" smtClean="0">
                <a:latin typeface="Times New Roman" pitchFamily="18" charset="0"/>
                <a:cs typeface="Times New Roman" pitchFamily="18" charset="0"/>
              </a:rPr>
              <a:t>Здесь можно добавить новые вопросы, присоединить видео и картинки</a:t>
            </a:r>
            <a:endParaRPr lang="ru-RU"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a:srcRect/>
          <a:stretch>
            <a:fillRect/>
          </a:stretch>
        </p:blipFill>
        <p:spPr bwMode="auto">
          <a:xfrm>
            <a:off x="357158" y="142852"/>
            <a:ext cx="8372475" cy="1323975"/>
          </a:xfrm>
          <a:prstGeom prst="rect">
            <a:avLst/>
          </a:prstGeom>
          <a:noFill/>
          <a:ln w="9525">
            <a:noFill/>
            <a:miter lim="800000"/>
            <a:headEnd/>
            <a:tailEnd/>
          </a:ln>
          <a:effectLst/>
        </p:spPr>
      </p:pic>
      <p:cxnSp>
        <p:nvCxnSpPr>
          <p:cNvPr id="6" name="Прямая со стрелкой 5"/>
          <p:cNvCxnSpPr/>
          <p:nvPr/>
        </p:nvCxnSpPr>
        <p:spPr>
          <a:xfrm rot="5400000" flipH="1" flipV="1">
            <a:off x="4321967" y="964389"/>
            <a:ext cx="2000264" cy="1500198"/>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 name="Прямая со стрелкой 6"/>
          <p:cNvCxnSpPr/>
          <p:nvPr/>
        </p:nvCxnSpPr>
        <p:spPr>
          <a:xfrm rot="16200000" flipV="1">
            <a:off x="3107521" y="1250141"/>
            <a:ext cx="2143140" cy="785818"/>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2643174" y="2643182"/>
            <a:ext cx="4572032" cy="1569660"/>
          </a:xfrm>
          <a:prstGeom prst="rect">
            <a:avLst/>
          </a:prstGeom>
          <a:noFill/>
        </p:spPr>
        <p:txBody>
          <a:bodyPr wrap="square" rtlCol="0">
            <a:spAutoFit/>
          </a:bodyPr>
          <a:lstStyle/>
          <a:p>
            <a:pPr algn="just"/>
            <a:r>
              <a:rPr lang="ru-RU" sz="2400" dirty="0" smtClean="0">
                <a:latin typeface="Times New Roman" pitchFamily="18" charset="0"/>
                <a:cs typeface="Times New Roman" pitchFamily="18" charset="0"/>
              </a:rPr>
              <a:t>После заполнения необходимо опубликовать опрос и получить ссылку для отправки респондентам</a:t>
            </a:r>
            <a:endParaRPr lang="ru-RU"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normAutofit/>
          </a:bodyPr>
          <a:lstStyle/>
          <a:p>
            <a:r>
              <a:rPr lang="ru-RU" b="1" dirty="0" smtClean="0"/>
              <a:t>Роль полиграфии</a:t>
            </a:r>
            <a:r>
              <a:rPr lang="ru-RU" dirty="0"/>
              <a:t/>
            </a:r>
            <a:br>
              <a:rPr lang="ru-RU" dirty="0"/>
            </a:br>
            <a:endParaRPr lang="ru-RU"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00034" y="0"/>
            <a:ext cx="8229600" cy="1143000"/>
          </a:xfrm>
        </p:spPr>
        <p:txBody>
          <a:bodyPr/>
          <a:lstStyle/>
          <a:p>
            <a:r>
              <a:rPr lang="ru-RU" b="1" dirty="0" smtClean="0"/>
              <a:t>Дополнительные материалы</a:t>
            </a:r>
            <a:endParaRPr lang="ru-RU" b="1" dirty="0"/>
          </a:p>
        </p:txBody>
      </p:sp>
      <p:sp>
        <p:nvSpPr>
          <p:cNvPr id="4" name="Прямоугольник 3"/>
          <p:cNvSpPr/>
          <p:nvPr/>
        </p:nvSpPr>
        <p:spPr>
          <a:xfrm>
            <a:off x="0" y="1059966"/>
            <a:ext cx="9144000" cy="4154984"/>
          </a:xfrm>
          <a:prstGeom prst="rect">
            <a:avLst/>
          </a:prstGeom>
          <a:ln>
            <a:noFill/>
          </a:ln>
        </p:spPr>
        <p:txBody>
          <a:bodyPr wrap="square">
            <a:spAutoFit/>
          </a:bodyPr>
          <a:lstStyle/>
          <a:p>
            <a:pPr algn="just"/>
            <a:r>
              <a:rPr lang="ru-RU" sz="2400" i="1" dirty="0" smtClean="0">
                <a:latin typeface="Cambria" pitchFamily="18" charset="0"/>
              </a:rPr>
              <a:t>Визитки, листовки и буклеты – зачем нужны и для каких целей лучше использовать</a:t>
            </a:r>
            <a:endParaRPr lang="en-US" sz="2400" i="1" dirty="0" smtClean="0">
              <a:latin typeface="Cambria" pitchFamily="18" charset="0"/>
            </a:endParaRPr>
          </a:p>
          <a:p>
            <a:pPr algn="just"/>
            <a:r>
              <a:rPr lang="en-US" sz="2400" b="1" dirty="0" smtClean="0">
                <a:latin typeface="Cambria" pitchFamily="18" charset="0"/>
                <a:hlinkClick r:id="rId2"/>
              </a:rPr>
              <a:t>https://pechatnik.moscow/klientam/vizitki-listovki-i-buklety-zachem-nuzhny-i-dlya-kakih-czelej-luchshe-ispolzovat/?ysclid=m0zfrjfbjq23657322</a:t>
            </a:r>
          </a:p>
          <a:p>
            <a:pPr algn="just"/>
            <a:endParaRPr lang="en-US" sz="2400" b="1" dirty="0" smtClean="0">
              <a:latin typeface="Cambria" pitchFamily="18" charset="0"/>
              <a:hlinkClick r:id="rId2"/>
            </a:endParaRPr>
          </a:p>
          <a:p>
            <a:pPr algn="just"/>
            <a:r>
              <a:rPr lang="ru-RU" sz="2400" i="1" dirty="0" smtClean="0">
                <a:latin typeface="Cambria" pitchFamily="18" charset="0"/>
              </a:rPr>
              <a:t>Какой конструктор визиток выбрать?</a:t>
            </a:r>
          </a:p>
          <a:p>
            <a:pPr algn="just"/>
            <a:r>
              <a:rPr lang="en-US" sz="2400" b="1" dirty="0" smtClean="0">
                <a:latin typeface="Cambria" pitchFamily="18" charset="0"/>
                <a:hlinkClick r:id="rId3"/>
              </a:rPr>
              <a:t>https://vc.ru/services/264162-kakoi-konstruktor-vizitok-vybrat-moi-reiting-prilozhenii-i-onlain-servisov-dlya-sozdaniya-bumazhnyh-i-elektronnyh-vizitok</a:t>
            </a:r>
            <a:endParaRPr lang="en-US" sz="2400" b="1" dirty="0" smtClean="0">
              <a:latin typeface="Cambria" pitchFamily="18" charset="0"/>
            </a:endParaRPr>
          </a:p>
          <a:p>
            <a:pPr algn="just"/>
            <a:endParaRPr lang="en-US" sz="2400" b="1" dirty="0" smtClean="0">
              <a:latin typeface="Cambria"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Дизайн полиграфической продукции</a:t>
            </a:r>
            <a:endParaRPr lang="ru-RU" dirty="0"/>
          </a:p>
        </p:txBody>
      </p:sp>
      <p:sp>
        <p:nvSpPr>
          <p:cNvPr id="3" name="Прямоугольник 2"/>
          <p:cNvSpPr/>
          <p:nvPr/>
        </p:nvSpPr>
        <p:spPr>
          <a:xfrm>
            <a:off x="0" y="1785926"/>
            <a:ext cx="9144000" cy="4091889"/>
          </a:xfrm>
          <a:prstGeom prst="rect">
            <a:avLst/>
          </a:prstGeom>
        </p:spPr>
        <p:txBody>
          <a:bodyPr wrap="square">
            <a:spAutoFit/>
          </a:bodyPr>
          <a:lstStyle/>
          <a:p>
            <a:pPr algn="just">
              <a:lnSpc>
                <a:spcPct val="90000"/>
              </a:lnSpc>
            </a:pPr>
            <a:r>
              <a:rPr lang="ru-RU" sz="2300" b="1" dirty="0" smtClean="0">
                <a:latin typeface="Times New Roman" pitchFamily="18" charset="0"/>
                <a:cs typeface="Times New Roman" pitchFamily="18" charset="0"/>
              </a:rPr>
              <a:t>Дизайн полиграфической продукции</a:t>
            </a:r>
            <a:r>
              <a:rPr lang="ru-RU" sz="2300" dirty="0" smtClean="0">
                <a:latin typeface="Times New Roman" pitchFamily="18" charset="0"/>
                <a:cs typeface="Times New Roman" pitchFamily="18" charset="0"/>
              </a:rPr>
              <a:t> —</a:t>
            </a:r>
            <a:r>
              <a:rPr lang="en-US" sz="2300" dirty="0" smtClean="0">
                <a:latin typeface="Times New Roman" pitchFamily="18" charset="0"/>
                <a:cs typeface="Times New Roman" pitchFamily="18" charset="0"/>
              </a:rPr>
              <a:t> </a:t>
            </a:r>
            <a:r>
              <a:rPr lang="ru-RU" sz="2300" dirty="0" smtClean="0">
                <a:latin typeface="Times New Roman" pitchFamily="18" charset="0"/>
                <a:cs typeface="Times New Roman" pitchFamily="18" charset="0"/>
              </a:rPr>
              <a:t>разновидность графического дизайна, в задачи которого входит</a:t>
            </a:r>
            <a:r>
              <a:rPr lang="en-US" sz="2300" dirty="0" smtClean="0">
                <a:latin typeface="Times New Roman" pitchFamily="18" charset="0"/>
                <a:cs typeface="Times New Roman" pitchFamily="18" charset="0"/>
              </a:rPr>
              <a:t> </a:t>
            </a:r>
            <a:r>
              <a:rPr lang="ru-RU" sz="2300" dirty="0" smtClean="0">
                <a:latin typeface="Times New Roman" pitchFamily="18" charset="0"/>
                <a:cs typeface="Times New Roman" pitchFamily="18" charset="0"/>
              </a:rPr>
              <a:t>разработка материалов под печатную продукцию. Чаще всего</a:t>
            </a:r>
            <a:r>
              <a:rPr lang="en-US" sz="2300" dirty="0" smtClean="0">
                <a:latin typeface="Times New Roman" pitchFamily="18" charset="0"/>
                <a:cs typeface="Times New Roman" pitchFamily="18" charset="0"/>
              </a:rPr>
              <a:t> </a:t>
            </a:r>
            <a:r>
              <a:rPr lang="ru-RU" sz="2300" dirty="0" smtClean="0">
                <a:latin typeface="Times New Roman" pitchFamily="18" charset="0"/>
                <a:cs typeface="Times New Roman" pitchFamily="18" charset="0"/>
              </a:rPr>
              <a:t>готовым продуктом является бумажный носитель. Под разработкой дизайна в полиграфии понимается графическое оформление макета согласно пожеланиям заказчика и в соответствии техническим требованиям для реализации данной продукции. </a:t>
            </a:r>
          </a:p>
          <a:p>
            <a:pPr algn="just"/>
            <a:r>
              <a:rPr lang="ru-RU" sz="2300" dirty="0" smtClean="0">
                <a:latin typeface="Times New Roman" pitchFamily="18" charset="0"/>
                <a:cs typeface="Times New Roman" pitchFamily="18" charset="0"/>
              </a:rPr>
              <a:t/>
            </a:r>
            <a:br>
              <a:rPr lang="ru-RU" sz="2300" dirty="0" smtClean="0">
                <a:latin typeface="Times New Roman" pitchFamily="18" charset="0"/>
                <a:cs typeface="Times New Roman" pitchFamily="18" charset="0"/>
              </a:rPr>
            </a:br>
            <a:r>
              <a:rPr lang="ru-RU" sz="2300" dirty="0" smtClean="0">
                <a:latin typeface="Times New Roman" pitchFamily="18" charset="0"/>
                <a:cs typeface="Times New Roman" pitchFamily="18" charset="0"/>
              </a:rPr>
              <a:t/>
            </a:r>
            <a:br>
              <a:rPr lang="ru-RU" sz="2300" dirty="0" smtClean="0">
                <a:latin typeface="Times New Roman" pitchFamily="18" charset="0"/>
                <a:cs typeface="Times New Roman" pitchFamily="18" charset="0"/>
              </a:rPr>
            </a:br>
            <a:r>
              <a:rPr lang="ru-RU" sz="2300" dirty="0" smtClean="0">
                <a:latin typeface="Times New Roman" pitchFamily="18" charset="0"/>
                <a:cs typeface="Times New Roman" pitchFamily="18" charset="0"/>
              </a:rPr>
              <a:t>Бурное развитие цифровых технологий в настоящее время привело к тому, что верстальщики для работы стали использовать компьютеры и работать в специальных верстальных программах.</a:t>
            </a:r>
            <a:endParaRPr lang="ru-RU" sz="2300" dirty="0">
              <a:latin typeface="Times New Roman" pitchFamily="18" charset="0"/>
              <a:cs typeface="Times New Roman"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Прямоугольник 7"/>
          <p:cNvSpPr/>
          <p:nvPr/>
        </p:nvSpPr>
        <p:spPr>
          <a:xfrm>
            <a:off x="2285984" y="0"/>
            <a:ext cx="4260332" cy="584775"/>
          </a:xfrm>
          <a:prstGeom prst="rect">
            <a:avLst/>
          </a:prstGeom>
        </p:spPr>
        <p:txBody>
          <a:bodyPr wrap="none">
            <a:spAutoFit/>
          </a:bodyPr>
          <a:lstStyle/>
          <a:p>
            <a:pPr lvl="0" algn="ctr">
              <a:spcBef>
                <a:spcPct val="0"/>
              </a:spcBef>
              <a:defRPr/>
            </a:pPr>
            <a:r>
              <a:rPr lang="ru-RU" sz="3200" b="1" dirty="0" smtClean="0">
                <a:solidFill>
                  <a:schemeClr val="tx1">
                    <a:lumMod val="95000"/>
                    <a:lumOff val="5000"/>
                  </a:schemeClr>
                </a:solidFill>
              </a:rPr>
              <a:t>К полиграфии относят:</a:t>
            </a:r>
            <a:endParaRPr lang="ru-RU" sz="3200" b="1" dirty="0">
              <a:solidFill>
                <a:schemeClr val="tx1">
                  <a:lumMod val="95000"/>
                  <a:lumOff val="5000"/>
                </a:schemeClr>
              </a:solidFill>
            </a:endParaRPr>
          </a:p>
        </p:txBody>
      </p:sp>
      <p:sp>
        <p:nvSpPr>
          <p:cNvPr id="9" name="Прямоугольник 8"/>
          <p:cNvSpPr/>
          <p:nvPr/>
        </p:nvSpPr>
        <p:spPr>
          <a:xfrm>
            <a:off x="142844" y="4684675"/>
            <a:ext cx="4857784" cy="1643527"/>
          </a:xfrm>
          <a:prstGeom prst="rect">
            <a:avLst/>
          </a:prstGeom>
          <a:solidFill>
            <a:schemeClr val="bg2"/>
          </a:solidFill>
          <a:ln>
            <a:solidFill>
              <a:schemeClr val="tx1"/>
            </a:solidFill>
          </a:ln>
        </p:spPr>
        <p:txBody>
          <a:bodyPr wrap="square">
            <a:spAutoFit/>
          </a:bodyPr>
          <a:lstStyle/>
          <a:p>
            <a:pPr algn="just">
              <a:lnSpc>
                <a:spcPct val="90000"/>
              </a:lnSpc>
            </a:pPr>
            <a:r>
              <a:rPr lang="ru-RU" sz="2800" b="1" dirty="0" err="1" smtClean="0">
                <a:latin typeface="Times New Roman" pitchFamily="18" charset="0"/>
                <a:cs typeface="Times New Roman" pitchFamily="18" charset="0"/>
              </a:rPr>
              <a:t>Листо́вка</a:t>
            </a:r>
            <a:r>
              <a:rPr lang="ru-RU" sz="2800" dirty="0" smtClean="0">
                <a:latin typeface="Times New Roman" pitchFamily="18" charset="0"/>
                <a:cs typeface="Times New Roman" pitchFamily="18" charset="0"/>
              </a:rPr>
              <a:t> — вид печатной полиграфической продукции, одностраничный лист бумаги с текстом и иллюстрациями. </a:t>
            </a:r>
            <a:endParaRPr lang="ru-RU" sz="2800" dirty="0" err="1" smtClean="0">
              <a:latin typeface="Times New Roman" pitchFamily="18" charset="0"/>
              <a:cs typeface="Times New Roman" pitchFamily="18" charset="0"/>
            </a:endParaRPr>
          </a:p>
        </p:txBody>
      </p:sp>
      <p:sp>
        <p:nvSpPr>
          <p:cNvPr id="10" name="Прямоугольник 9"/>
          <p:cNvSpPr/>
          <p:nvPr/>
        </p:nvSpPr>
        <p:spPr>
          <a:xfrm>
            <a:off x="214282" y="612709"/>
            <a:ext cx="4572000" cy="1815882"/>
          </a:xfrm>
          <a:prstGeom prst="rect">
            <a:avLst/>
          </a:prstGeom>
          <a:solidFill>
            <a:schemeClr val="bg2"/>
          </a:solidFill>
          <a:ln>
            <a:solidFill>
              <a:schemeClr val="tx1"/>
            </a:solidFill>
          </a:ln>
        </p:spPr>
        <p:txBody>
          <a:bodyPr>
            <a:spAutoFit/>
          </a:bodyPr>
          <a:lstStyle/>
          <a:p>
            <a:pPr algn="just"/>
            <a:r>
              <a:rPr lang="ru-RU" sz="2800" b="1" dirty="0" smtClean="0">
                <a:latin typeface="Times New Roman" pitchFamily="18" charset="0"/>
                <a:cs typeface="Times New Roman" pitchFamily="18" charset="0"/>
              </a:rPr>
              <a:t>Буклет</a:t>
            </a:r>
            <a:r>
              <a:rPr lang="ru-RU" sz="2800" dirty="0" smtClean="0">
                <a:latin typeface="Times New Roman" pitchFamily="18" charset="0"/>
                <a:cs typeface="Times New Roman" pitchFamily="18" charset="0"/>
              </a:rPr>
              <a:t> – это двухсторонняя листовка, сложенная для удобства в 2-3 раза ( 2-3 фальца).</a:t>
            </a:r>
          </a:p>
        </p:txBody>
      </p:sp>
      <p:sp>
        <p:nvSpPr>
          <p:cNvPr id="11" name="Прямоугольник 10"/>
          <p:cNvSpPr/>
          <p:nvPr/>
        </p:nvSpPr>
        <p:spPr>
          <a:xfrm>
            <a:off x="4429124" y="2898725"/>
            <a:ext cx="4572000" cy="954107"/>
          </a:xfrm>
          <a:prstGeom prst="rect">
            <a:avLst/>
          </a:prstGeom>
          <a:solidFill>
            <a:schemeClr val="bg2"/>
          </a:solidFill>
          <a:ln>
            <a:solidFill>
              <a:schemeClr val="tx1"/>
            </a:solidFill>
          </a:ln>
        </p:spPr>
        <p:txBody>
          <a:bodyPr>
            <a:spAutoFit/>
          </a:bodyPr>
          <a:lstStyle/>
          <a:p>
            <a:pPr algn="just"/>
            <a:r>
              <a:rPr lang="ru-RU" sz="2800" b="1" dirty="0" err="1" smtClean="0">
                <a:latin typeface="Times New Roman" pitchFamily="18" charset="0"/>
                <a:cs typeface="Times New Roman" pitchFamily="18" charset="0"/>
              </a:rPr>
              <a:t>Флаер</a:t>
            </a:r>
            <a:r>
              <a:rPr lang="ru-RU" sz="2800" dirty="0" smtClean="0">
                <a:latin typeface="Times New Roman" pitchFamily="18" charset="0"/>
                <a:cs typeface="Times New Roman" pitchFamily="18" charset="0"/>
              </a:rPr>
              <a:t> - маленькая листовка формата А</a:t>
            </a:r>
            <a:r>
              <a:rPr lang="en-US" sz="2800" dirty="0" smtClean="0">
                <a:latin typeface="Times New Roman" pitchFamily="18" charset="0"/>
                <a:cs typeface="Times New Roman" pitchFamily="18" charset="0"/>
              </a:rPr>
              <a:t>7</a:t>
            </a:r>
            <a:r>
              <a:rPr lang="ru-RU" sz="2800" dirty="0" smtClean="0">
                <a:latin typeface="Times New Roman" pitchFamily="18" charset="0"/>
                <a:cs typeface="Times New Roman" pitchFamily="18" charset="0"/>
              </a:rPr>
              <a:t> или А6.</a:t>
            </a:r>
          </a:p>
        </p:txBody>
      </p:sp>
      <p:pic>
        <p:nvPicPr>
          <p:cNvPr id="12" name="Picture 5" descr="371796"/>
          <p:cNvPicPr>
            <a:picLocks noChangeAspect="1" noChangeArrowheads="1"/>
          </p:cNvPicPr>
          <p:nvPr/>
        </p:nvPicPr>
        <p:blipFill>
          <a:blip r:embed="rId2"/>
          <a:srcRect/>
          <a:stretch>
            <a:fillRect/>
          </a:stretch>
        </p:blipFill>
        <p:spPr bwMode="auto">
          <a:xfrm>
            <a:off x="5000628" y="500042"/>
            <a:ext cx="2714644" cy="2057056"/>
          </a:xfrm>
          <a:prstGeom prst="rect">
            <a:avLst/>
          </a:prstGeom>
          <a:noFill/>
        </p:spPr>
      </p:pic>
      <p:pic>
        <p:nvPicPr>
          <p:cNvPr id="13" name="Picture 2" descr="Флаеры"/>
          <p:cNvPicPr>
            <a:picLocks noChangeAspect="1" noChangeArrowheads="1"/>
          </p:cNvPicPr>
          <p:nvPr/>
        </p:nvPicPr>
        <p:blipFill>
          <a:blip r:embed="rId3"/>
          <a:srcRect/>
          <a:stretch>
            <a:fillRect/>
          </a:stretch>
        </p:blipFill>
        <p:spPr bwMode="auto">
          <a:xfrm>
            <a:off x="5143504" y="3970295"/>
            <a:ext cx="3857652" cy="2887729"/>
          </a:xfrm>
          <a:prstGeom prst="rect">
            <a:avLst/>
          </a:prstGeom>
          <a:noFill/>
        </p:spPr>
      </p:pic>
      <p:pic>
        <p:nvPicPr>
          <p:cNvPr id="14" name="Picture 4" descr="Флаер"/>
          <p:cNvPicPr>
            <a:picLocks noChangeAspect="1" noChangeArrowheads="1"/>
          </p:cNvPicPr>
          <p:nvPr/>
        </p:nvPicPr>
        <p:blipFill>
          <a:blip r:embed="rId4"/>
          <a:srcRect/>
          <a:stretch>
            <a:fillRect/>
          </a:stretch>
        </p:blipFill>
        <p:spPr bwMode="auto">
          <a:xfrm>
            <a:off x="1357290" y="2541535"/>
            <a:ext cx="2837856" cy="2006347"/>
          </a:xfrm>
          <a:prstGeom prst="rect">
            <a:avLst/>
          </a:prstGeom>
          <a:noFill/>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71462"/>
            <a:ext cx="9144000" cy="3877985"/>
          </a:xfrm>
          <a:prstGeom prst="rect">
            <a:avLst/>
          </a:prstGeom>
        </p:spPr>
        <p:txBody>
          <a:bodyPr wrap="square">
            <a:spAutoFit/>
          </a:bodyPr>
          <a:lstStyle/>
          <a:p>
            <a:pPr algn="just">
              <a:buFontTx/>
              <a:buNone/>
            </a:pPr>
            <a:r>
              <a:rPr lang="ru-RU" sz="3000" b="1" dirty="0" smtClean="0">
                <a:latin typeface="Times New Roman" pitchFamily="18" charset="0"/>
                <a:cs typeface="Times New Roman" pitchFamily="18" charset="0"/>
              </a:rPr>
              <a:t>Для удобства прочтения полиграфии</a:t>
            </a:r>
            <a:r>
              <a:rPr lang="en-US" sz="3000" b="1" dirty="0" smtClean="0">
                <a:latin typeface="Times New Roman" pitchFamily="18" charset="0"/>
                <a:cs typeface="Times New Roman" pitchFamily="18" charset="0"/>
              </a:rPr>
              <a:t> </a:t>
            </a:r>
            <a:r>
              <a:rPr lang="ru-RU" sz="3000" b="1" dirty="0" smtClean="0">
                <a:latin typeface="Times New Roman" pitchFamily="18" charset="0"/>
                <a:cs typeface="Times New Roman" pitchFamily="18" charset="0"/>
              </a:rPr>
              <a:t>необходимо:</a:t>
            </a:r>
            <a:endParaRPr lang="en-US" sz="3000" b="1" dirty="0" smtClean="0">
              <a:latin typeface="Times New Roman" pitchFamily="18" charset="0"/>
              <a:cs typeface="Times New Roman" pitchFamily="18" charset="0"/>
            </a:endParaRPr>
          </a:p>
          <a:p>
            <a:pPr marL="609600" indent="-609600" algn="just">
              <a:lnSpc>
                <a:spcPct val="90000"/>
              </a:lnSpc>
              <a:buFontTx/>
              <a:buNone/>
            </a:pPr>
            <a:endParaRPr lang="ru-RU" sz="3000" b="1" dirty="0" smtClean="0">
              <a:latin typeface="Times New Roman" pitchFamily="18" charset="0"/>
              <a:cs typeface="Times New Roman" pitchFamily="18" charset="0"/>
            </a:endParaRPr>
          </a:p>
          <a:p>
            <a:pPr marL="609600" indent="-609600" algn="just">
              <a:lnSpc>
                <a:spcPct val="90000"/>
              </a:lnSpc>
              <a:buFontTx/>
              <a:buAutoNum type="arabicPeriod"/>
            </a:pPr>
            <a:r>
              <a:rPr lang="ru-RU" sz="3000" dirty="0" smtClean="0">
                <a:latin typeface="Times New Roman" pitchFamily="18" charset="0"/>
                <a:cs typeface="Times New Roman" pitchFamily="18" charset="0"/>
              </a:rPr>
              <a:t>Выделение главной рекламной цели (или задачи)</a:t>
            </a:r>
          </a:p>
          <a:p>
            <a:pPr marL="609600" indent="-609600" algn="just">
              <a:lnSpc>
                <a:spcPct val="90000"/>
              </a:lnSpc>
              <a:buFontTx/>
              <a:buAutoNum type="arabicPeriod"/>
            </a:pPr>
            <a:r>
              <a:rPr lang="ru-RU" sz="3000" dirty="0" smtClean="0">
                <a:latin typeface="Times New Roman" pitchFamily="18" charset="0"/>
                <a:cs typeface="Times New Roman" pitchFamily="18" charset="0"/>
              </a:rPr>
              <a:t>Ранжирование информации</a:t>
            </a:r>
          </a:p>
          <a:p>
            <a:pPr marL="609600" indent="-609600" algn="just">
              <a:lnSpc>
                <a:spcPct val="90000"/>
              </a:lnSpc>
              <a:buFontTx/>
              <a:buAutoNum type="arabicPeriod"/>
            </a:pPr>
            <a:r>
              <a:rPr lang="ru-RU" sz="3000" dirty="0" smtClean="0">
                <a:latin typeface="Times New Roman" pitchFamily="18" charset="0"/>
                <a:cs typeface="Times New Roman" pitchFamily="18" charset="0"/>
              </a:rPr>
              <a:t>Разработка и вычленение заголовка, подзаголовка и основного текста</a:t>
            </a:r>
          </a:p>
          <a:p>
            <a:pPr marL="609600" indent="-609600" algn="just">
              <a:lnSpc>
                <a:spcPct val="90000"/>
              </a:lnSpc>
              <a:buFontTx/>
              <a:buAutoNum type="arabicPeriod"/>
            </a:pPr>
            <a:r>
              <a:rPr lang="ru-RU" sz="3000" dirty="0" smtClean="0">
                <a:latin typeface="Times New Roman" pitchFamily="18" charset="0"/>
                <a:cs typeface="Times New Roman" pitchFamily="18" charset="0"/>
              </a:rPr>
              <a:t>Разработка </a:t>
            </a:r>
            <a:r>
              <a:rPr lang="ru-RU" sz="3000" dirty="0" err="1" smtClean="0">
                <a:latin typeface="Times New Roman" pitchFamily="18" charset="0"/>
                <a:cs typeface="Times New Roman" pitchFamily="18" charset="0"/>
              </a:rPr>
              <a:t>слогана</a:t>
            </a:r>
            <a:endParaRPr lang="ru-RU" sz="3000" dirty="0" smtClean="0">
              <a:latin typeface="Times New Roman" pitchFamily="18" charset="0"/>
              <a:cs typeface="Times New Roman" pitchFamily="18" charset="0"/>
            </a:endParaRPr>
          </a:p>
          <a:p>
            <a:pPr marL="609600" indent="-609600" algn="just">
              <a:lnSpc>
                <a:spcPct val="90000"/>
              </a:lnSpc>
              <a:buFontTx/>
              <a:buAutoNum type="arabicPeriod"/>
            </a:pPr>
            <a:r>
              <a:rPr lang="ru-RU" sz="3000" dirty="0" smtClean="0">
                <a:latin typeface="Times New Roman" pitchFamily="18" charset="0"/>
                <a:cs typeface="Times New Roman" pitchFamily="18" charset="0"/>
              </a:rPr>
              <a:t>Выбор и композиционно верное расположение иллюстрации</a:t>
            </a:r>
            <a:endParaRPr lang="ru-RU" sz="3000" dirty="0">
              <a:latin typeface="Times New Roman" pitchFamily="18" charset="0"/>
              <a:cs typeface="Times New Roman" pitchFamily="18" charset="0"/>
            </a:endParaRPr>
          </a:p>
        </p:txBody>
      </p:sp>
      <p:pic>
        <p:nvPicPr>
          <p:cNvPr id="3" name="Picture 2" descr="http://www.azconsult.ru/wp-content/uploads/2014/04/%D0%A1%D0%BD%D0%B8%D0%BC%D0%BE%D0%BA-%D1%8D%D0%BA%D1%80%D0%B0%D0%BD%D0%B0-2014-04-29-%D0%B2-11.16.41.png"/>
          <p:cNvPicPr>
            <a:picLocks noChangeAspect="1" noChangeArrowheads="1"/>
          </p:cNvPicPr>
          <p:nvPr/>
        </p:nvPicPr>
        <p:blipFill>
          <a:blip r:embed="rId2"/>
          <a:srcRect t="3391" b="3391"/>
          <a:stretch>
            <a:fillRect/>
          </a:stretch>
        </p:blipFill>
        <p:spPr bwMode="auto">
          <a:xfrm>
            <a:off x="1850904" y="4143380"/>
            <a:ext cx="5184877" cy="2643182"/>
          </a:xfrm>
          <a:prstGeom prst="rect">
            <a:avLst/>
          </a:prstGeom>
          <a:noFill/>
          <a:ln>
            <a:solidFill>
              <a:schemeClr val="tx1"/>
            </a:solidFill>
          </a:ln>
        </p:spPr>
      </p:pic>
      <p:sp>
        <p:nvSpPr>
          <p:cNvPr id="4" name="Прямоугольник 3"/>
          <p:cNvSpPr/>
          <p:nvPr/>
        </p:nvSpPr>
        <p:spPr>
          <a:xfrm>
            <a:off x="5357818" y="4143380"/>
            <a:ext cx="1643074" cy="1428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Прямоугольник 7"/>
          <p:cNvSpPr/>
          <p:nvPr/>
        </p:nvSpPr>
        <p:spPr>
          <a:xfrm>
            <a:off x="0" y="1500174"/>
            <a:ext cx="9144000" cy="1714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 name="Прямоугольник 8"/>
          <p:cNvSpPr/>
          <p:nvPr/>
        </p:nvSpPr>
        <p:spPr>
          <a:xfrm>
            <a:off x="0" y="3357562"/>
            <a:ext cx="9144000" cy="1714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Прямоугольник 9"/>
          <p:cNvSpPr/>
          <p:nvPr/>
        </p:nvSpPr>
        <p:spPr>
          <a:xfrm>
            <a:off x="0" y="5214950"/>
            <a:ext cx="9144000" cy="142873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5"/>
          <p:cNvSpPr/>
          <p:nvPr/>
        </p:nvSpPr>
        <p:spPr>
          <a:xfrm>
            <a:off x="0" y="0"/>
            <a:ext cx="9144000" cy="6863417"/>
          </a:xfrm>
          <a:prstGeom prst="rect">
            <a:avLst/>
          </a:prstGeom>
        </p:spPr>
        <p:txBody>
          <a:bodyPr wrap="square">
            <a:spAutoFit/>
          </a:bodyPr>
          <a:lstStyle/>
          <a:p>
            <a:pPr algn="just"/>
            <a:r>
              <a:rPr lang="ru-RU" sz="2000" b="1" dirty="0" err="1" smtClean="0">
                <a:latin typeface="Times New Roman" pitchFamily="18" charset="0"/>
                <a:cs typeface="Times New Roman" pitchFamily="18" charset="0"/>
              </a:rPr>
              <a:t>Интернет-технологии</a:t>
            </a:r>
            <a:r>
              <a:rPr lang="ru-RU" sz="2000" dirty="0" smtClean="0">
                <a:latin typeface="Times New Roman" pitchFamily="18" charset="0"/>
                <a:cs typeface="Times New Roman" pitchFamily="18" charset="0"/>
              </a:rPr>
              <a:t> для создания рекламной полиграфии включают использование программ и </a:t>
            </a:r>
            <a:r>
              <a:rPr lang="ru-RU" sz="2000" dirty="0" err="1" smtClean="0">
                <a:latin typeface="Times New Roman" pitchFamily="18" charset="0"/>
                <a:cs typeface="Times New Roman" pitchFamily="18" charset="0"/>
              </a:rPr>
              <a:t>онлайн-сервисов</a:t>
            </a:r>
            <a:r>
              <a:rPr lang="ru-RU" sz="2000" dirty="0" smtClean="0">
                <a:latin typeface="Times New Roman" pitchFamily="18" charset="0"/>
                <a:cs typeface="Times New Roman" pitchFamily="18" charset="0"/>
              </a:rPr>
              <a:t> для создания и редактирования макетов буклетов, листовок, визиток и другой рекламной продукции. Вот некоторые из них:</a:t>
            </a:r>
            <a:endParaRPr lang="en-US" sz="2000" dirty="0" smtClean="0">
              <a:latin typeface="Times New Roman" pitchFamily="18" charset="0"/>
              <a:cs typeface="Times New Roman" pitchFamily="18" charset="0"/>
            </a:endParaRPr>
          </a:p>
          <a:p>
            <a:pPr algn="just"/>
            <a:endParaRPr lang="en-US" sz="2000" dirty="0" smtClean="0">
              <a:latin typeface="Times New Roman" pitchFamily="18" charset="0"/>
              <a:cs typeface="Times New Roman" pitchFamily="18" charset="0"/>
            </a:endParaRPr>
          </a:p>
          <a:p>
            <a:pPr algn="just"/>
            <a:r>
              <a:rPr lang="ru-RU" sz="2000" b="1" dirty="0" err="1" smtClean="0">
                <a:latin typeface="Times New Roman" pitchFamily="18" charset="0"/>
                <a:cs typeface="Times New Roman" pitchFamily="18" charset="0"/>
              </a:rPr>
              <a:t>Wilda</a:t>
            </a:r>
            <a:r>
              <a:rPr lang="ru-RU" sz="2000" dirty="0" smtClean="0">
                <a:latin typeface="Times New Roman" pitchFamily="18" charset="0"/>
                <a:cs typeface="Times New Roman" pitchFamily="18" charset="0"/>
              </a:rPr>
              <a:t> — </a:t>
            </a:r>
            <a:r>
              <a:rPr lang="ru-RU" sz="2000" dirty="0" err="1" smtClean="0">
                <a:latin typeface="Times New Roman" pitchFamily="18" charset="0"/>
                <a:cs typeface="Times New Roman" pitchFamily="18" charset="0"/>
              </a:rPr>
              <a:t>онлайн-сервис</a:t>
            </a:r>
            <a:r>
              <a:rPr lang="ru-RU" sz="2000" dirty="0" smtClean="0">
                <a:latin typeface="Times New Roman" pitchFamily="18" charset="0"/>
                <a:cs typeface="Times New Roman" pitchFamily="18" charset="0"/>
              </a:rPr>
              <a:t> для создания полиграфической продукции с возможностью использования собственных изображений и текста.</a:t>
            </a:r>
            <a:r>
              <a:rPr lang="en-US" sz="2000" dirty="0" smtClean="0">
                <a:latin typeface="Times New Roman" pitchFamily="18" charset="0"/>
                <a:cs typeface="Times New Roman" pitchFamily="18" charset="0"/>
              </a:rPr>
              <a:t> </a:t>
            </a:r>
            <a:r>
              <a:rPr lang="ru-RU" sz="2000" dirty="0" smtClean="0">
                <a:latin typeface="Times New Roman" pitchFamily="18" charset="0"/>
                <a:cs typeface="Times New Roman" pitchFamily="18" charset="0"/>
              </a:rPr>
              <a:t>С помощью </a:t>
            </a:r>
            <a:r>
              <a:rPr lang="ru-RU" sz="2000" dirty="0" err="1" smtClean="0">
                <a:latin typeface="Times New Roman" pitchFamily="18" charset="0"/>
                <a:cs typeface="Times New Roman" pitchFamily="18" charset="0"/>
              </a:rPr>
              <a:t>Wilda</a:t>
            </a:r>
            <a:r>
              <a:rPr lang="ru-RU" sz="2000" dirty="0" smtClean="0">
                <a:latin typeface="Times New Roman" pitchFamily="18" charset="0"/>
                <a:cs typeface="Times New Roman" pitchFamily="18" charset="0"/>
              </a:rPr>
              <a:t> можно создавать различные документы, такие как коммерческие предложения, буклеты, визитки, презентации, баннеры и другие, используя готовые тематические образцы и шаблоны.</a:t>
            </a:r>
          </a:p>
          <a:p>
            <a:pPr algn="just"/>
            <a:endParaRPr lang="ru-RU" sz="2000" dirty="0" smtClean="0">
              <a:latin typeface="Times New Roman" pitchFamily="18" charset="0"/>
              <a:cs typeface="Times New Roman" pitchFamily="18" charset="0"/>
            </a:endParaRPr>
          </a:p>
          <a:p>
            <a:pPr algn="just"/>
            <a:r>
              <a:rPr lang="ru-RU" sz="2000" b="1" dirty="0" err="1" smtClean="0">
                <a:latin typeface="Times New Roman" pitchFamily="18" charset="0"/>
                <a:cs typeface="Times New Roman" pitchFamily="18" charset="0"/>
              </a:rPr>
              <a:t>Printomat</a:t>
            </a:r>
            <a:r>
              <a:rPr lang="ru-RU" sz="2000" dirty="0" smtClean="0">
                <a:latin typeface="Times New Roman" pitchFamily="18" charset="0"/>
                <a:cs typeface="Times New Roman" pitchFamily="18" charset="0"/>
              </a:rPr>
              <a:t> —  это современный высококлассный сервис по изготовлению и печати визиток, листовок, созданных через </a:t>
            </a:r>
            <a:r>
              <a:rPr lang="ru-RU" sz="2000" dirty="0" err="1" smtClean="0">
                <a:latin typeface="Times New Roman" pitchFamily="18" charset="0"/>
                <a:cs typeface="Times New Roman" pitchFamily="18" charset="0"/>
              </a:rPr>
              <a:t>онлайн-конструктор</a:t>
            </a:r>
            <a:r>
              <a:rPr lang="ru-RU" sz="2000" dirty="0" smtClean="0">
                <a:latin typeface="Times New Roman" pitchFamily="18" charset="0"/>
                <a:cs typeface="Times New Roman" pitchFamily="18" charset="0"/>
              </a:rPr>
              <a:t>.</a:t>
            </a:r>
            <a:r>
              <a:rPr lang="en-US" sz="2000" dirty="0" smtClean="0">
                <a:latin typeface="Times New Roman" pitchFamily="18" charset="0"/>
                <a:cs typeface="Times New Roman" pitchFamily="18" charset="0"/>
              </a:rPr>
              <a:t> </a:t>
            </a:r>
            <a:r>
              <a:rPr lang="ru-RU" sz="2000" dirty="0" smtClean="0">
                <a:latin typeface="Times New Roman" pitchFamily="18" charset="0"/>
                <a:cs typeface="Times New Roman" pitchFamily="18" charset="0"/>
              </a:rPr>
              <a:t>Он использует библиотеку шаблонов, меняет их дизайн, содержание, размер и расположение элементов. Также </a:t>
            </a:r>
            <a:r>
              <a:rPr lang="ru-RU" sz="2000" dirty="0" err="1" smtClean="0">
                <a:latin typeface="Times New Roman" pitchFamily="18" charset="0"/>
                <a:cs typeface="Times New Roman" pitchFamily="18" charset="0"/>
              </a:rPr>
              <a:t>Printomat</a:t>
            </a:r>
            <a:r>
              <a:rPr lang="ru-RU" sz="2000" dirty="0" smtClean="0">
                <a:latin typeface="Times New Roman" pitchFamily="18" charset="0"/>
                <a:cs typeface="Times New Roman" pitchFamily="18" charset="0"/>
              </a:rPr>
              <a:t> позволяет создавать дизайн для бланков, </a:t>
            </a:r>
            <a:r>
              <a:rPr lang="ru-RU" sz="2000" dirty="0" err="1" smtClean="0">
                <a:latin typeface="Times New Roman" pitchFamily="18" charset="0"/>
                <a:cs typeface="Times New Roman" pitchFamily="18" charset="0"/>
              </a:rPr>
              <a:t>флаеров</a:t>
            </a:r>
            <a:r>
              <a:rPr lang="ru-RU" sz="2000" dirty="0" smtClean="0">
                <a:latin typeface="Times New Roman" pitchFamily="18" charset="0"/>
                <a:cs typeface="Times New Roman" pitchFamily="18" charset="0"/>
              </a:rPr>
              <a:t>, пригласительных, </a:t>
            </a:r>
            <a:r>
              <a:rPr lang="ru-RU" sz="2000" dirty="0" err="1" smtClean="0">
                <a:latin typeface="Times New Roman" pitchFamily="18" charset="0"/>
                <a:cs typeface="Times New Roman" pitchFamily="18" charset="0"/>
              </a:rPr>
              <a:t>постеров</a:t>
            </a:r>
            <a:r>
              <a:rPr lang="ru-RU" sz="2000" dirty="0" smtClean="0">
                <a:latin typeface="Times New Roman" pitchFamily="18" charset="0"/>
                <a:cs typeface="Times New Roman" pitchFamily="18" charset="0"/>
              </a:rPr>
              <a:t>, календарей и этикеток.</a:t>
            </a:r>
          </a:p>
          <a:p>
            <a:pPr algn="just"/>
            <a:endParaRPr lang="ru-RU" sz="2000" dirty="0" smtClean="0">
              <a:latin typeface="Times New Roman" pitchFamily="18" charset="0"/>
              <a:cs typeface="Times New Roman" pitchFamily="18" charset="0"/>
            </a:endParaRPr>
          </a:p>
          <a:p>
            <a:pPr algn="just"/>
            <a:r>
              <a:rPr lang="ru-RU" sz="2000" b="1" dirty="0" err="1" smtClean="0">
                <a:latin typeface="Times New Roman" pitchFamily="18" charset="0"/>
                <a:cs typeface="Times New Roman" pitchFamily="18" charset="0"/>
              </a:rPr>
              <a:t>Fotor</a:t>
            </a:r>
            <a:r>
              <a:rPr lang="ru-RU" sz="2000" dirty="0" smtClean="0">
                <a:latin typeface="Times New Roman" pitchFamily="18" charset="0"/>
                <a:cs typeface="Times New Roman" pitchFamily="18" charset="0"/>
              </a:rPr>
              <a:t> — это конструктор визиток, который предлагает готовые шаблоны и дружелюбный редактор для изменения базового дизайна или создания нового. В </a:t>
            </a:r>
            <a:r>
              <a:rPr lang="ru-RU" sz="2000" dirty="0" err="1" smtClean="0">
                <a:latin typeface="Times New Roman" pitchFamily="18" charset="0"/>
                <a:cs typeface="Times New Roman" pitchFamily="18" charset="0"/>
              </a:rPr>
              <a:t>Fotor</a:t>
            </a:r>
            <a:r>
              <a:rPr lang="ru-RU" sz="2000" dirty="0" smtClean="0">
                <a:latin typeface="Times New Roman" pitchFamily="18" charset="0"/>
                <a:cs typeface="Times New Roman" pitchFamily="18" charset="0"/>
              </a:rPr>
              <a:t> можно управлять шрифтами, добавлять фирменные элементы, настраивать текст и фон.</a:t>
            </a:r>
          </a:p>
          <a:p>
            <a:pPr algn="just"/>
            <a:endParaRPr lang="ru-RU" sz="2000" dirty="0">
              <a:latin typeface="Times New Roman" pitchFamily="18" charset="0"/>
              <a:cs typeface="Times New Roman"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28596" y="0"/>
            <a:ext cx="8229600" cy="1143000"/>
          </a:xfrm>
        </p:spPr>
        <p:txBody>
          <a:bodyPr>
            <a:normAutofit fontScale="90000"/>
          </a:bodyPr>
          <a:lstStyle/>
          <a:p>
            <a:r>
              <a:rPr lang="ru-RU" dirty="0" err="1" smtClean="0"/>
              <a:t>Интернет-технологии</a:t>
            </a:r>
            <a:r>
              <a:rPr lang="ru-RU" dirty="0" smtClean="0"/>
              <a:t> для создания рекламной полиграфии</a:t>
            </a:r>
            <a:endParaRPr lang="ru-RU" dirty="0"/>
          </a:p>
        </p:txBody>
      </p:sp>
      <p:pic>
        <p:nvPicPr>
          <p:cNvPr id="18434" name="Picture 2"/>
          <p:cNvPicPr>
            <a:picLocks noChangeAspect="1" noChangeArrowheads="1"/>
          </p:cNvPicPr>
          <p:nvPr/>
        </p:nvPicPr>
        <p:blipFill>
          <a:blip r:embed="rId2"/>
          <a:srcRect/>
          <a:stretch>
            <a:fillRect/>
          </a:stretch>
        </p:blipFill>
        <p:spPr bwMode="auto">
          <a:xfrm>
            <a:off x="0" y="2062489"/>
            <a:ext cx="4552953" cy="4366907"/>
          </a:xfrm>
          <a:prstGeom prst="rect">
            <a:avLst/>
          </a:prstGeom>
          <a:noFill/>
          <a:ln w="9525">
            <a:solidFill>
              <a:schemeClr val="tx1"/>
            </a:solidFill>
            <a:miter lim="800000"/>
            <a:headEnd/>
            <a:tailEnd/>
          </a:ln>
          <a:effectLst/>
        </p:spPr>
      </p:pic>
      <p:pic>
        <p:nvPicPr>
          <p:cNvPr id="18435" name="Picture 3"/>
          <p:cNvPicPr>
            <a:picLocks noChangeAspect="1" noChangeArrowheads="1"/>
          </p:cNvPicPr>
          <p:nvPr/>
        </p:nvPicPr>
        <p:blipFill>
          <a:blip r:embed="rId3"/>
          <a:srcRect/>
          <a:stretch>
            <a:fillRect/>
          </a:stretch>
        </p:blipFill>
        <p:spPr bwMode="auto">
          <a:xfrm>
            <a:off x="2285984" y="1214422"/>
            <a:ext cx="6353191" cy="2843949"/>
          </a:xfrm>
          <a:prstGeom prst="rect">
            <a:avLst/>
          </a:prstGeom>
          <a:noFill/>
          <a:ln w="9525">
            <a:noFill/>
            <a:miter lim="800000"/>
            <a:headEnd/>
            <a:tailEnd/>
          </a:ln>
          <a:effectLst/>
        </p:spPr>
      </p:pic>
      <p:pic>
        <p:nvPicPr>
          <p:cNvPr id="18436" name="Picture 4"/>
          <p:cNvPicPr>
            <a:picLocks noChangeAspect="1" noChangeArrowheads="1"/>
          </p:cNvPicPr>
          <p:nvPr/>
        </p:nvPicPr>
        <p:blipFill>
          <a:blip r:embed="rId4"/>
          <a:srcRect/>
          <a:stretch>
            <a:fillRect/>
          </a:stretch>
        </p:blipFill>
        <p:spPr bwMode="auto">
          <a:xfrm>
            <a:off x="5435024" y="3071810"/>
            <a:ext cx="3566132" cy="3357586"/>
          </a:xfrm>
          <a:prstGeom prst="rect">
            <a:avLst/>
          </a:prstGeom>
          <a:noFill/>
          <a:ln w="9525">
            <a:noFill/>
            <a:miter lim="800000"/>
            <a:headEnd/>
            <a:tailEnd/>
          </a:ln>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00034" y="142852"/>
            <a:ext cx="8229600" cy="1143000"/>
          </a:xfrm>
        </p:spPr>
        <p:txBody>
          <a:bodyPr/>
          <a:lstStyle/>
          <a:p>
            <a:r>
              <a:rPr lang="ru-RU" dirty="0" smtClean="0"/>
              <a:t>Заключение: полиграфия</a:t>
            </a:r>
            <a:endParaRPr lang="ru-RU" dirty="0"/>
          </a:p>
        </p:txBody>
      </p:sp>
      <p:graphicFrame>
        <p:nvGraphicFramePr>
          <p:cNvPr id="5" name="Схема 4"/>
          <p:cNvGraphicFramePr/>
          <p:nvPr/>
        </p:nvGraphicFramePr>
        <p:xfrm>
          <a:off x="0" y="1214422"/>
          <a:ext cx="9144000" cy="61436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00034" y="0"/>
            <a:ext cx="8229600" cy="1143000"/>
          </a:xfrm>
        </p:spPr>
        <p:txBody>
          <a:bodyPr>
            <a:normAutofit fontScale="90000"/>
          </a:bodyPr>
          <a:lstStyle/>
          <a:p>
            <a:r>
              <a:rPr lang="ru-RU" b="1" dirty="0" smtClean="0"/>
              <a:t>Дополнительные </a:t>
            </a:r>
            <a:r>
              <a:rPr lang="ru-RU" b="1" dirty="0" smtClean="0"/>
              <a:t>материалы: видео</a:t>
            </a:r>
            <a:endParaRPr lang="ru-RU" b="1" dirty="0"/>
          </a:p>
        </p:txBody>
      </p:sp>
      <p:sp>
        <p:nvSpPr>
          <p:cNvPr id="4" name="Прямоугольник 3"/>
          <p:cNvSpPr/>
          <p:nvPr/>
        </p:nvSpPr>
        <p:spPr>
          <a:xfrm>
            <a:off x="0" y="928670"/>
            <a:ext cx="9144000" cy="6740307"/>
          </a:xfrm>
          <a:prstGeom prst="rect">
            <a:avLst/>
          </a:prstGeom>
          <a:ln>
            <a:noFill/>
          </a:ln>
        </p:spPr>
        <p:txBody>
          <a:bodyPr wrap="square">
            <a:spAutoFit/>
          </a:bodyPr>
          <a:lstStyle/>
          <a:p>
            <a:pPr algn="just"/>
            <a:endParaRPr lang="ru-RU" sz="2400" b="1" dirty="0" smtClean="0">
              <a:latin typeface="Cambria" pitchFamily="18" charset="0"/>
            </a:endParaRPr>
          </a:p>
          <a:p>
            <a:pPr algn="just" fontAlgn="base"/>
            <a:r>
              <a:rPr lang="ru-RU" sz="2400" i="1" dirty="0" smtClean="0">
                <a:latin typeface="Cambria" pitchFamily="18" charset="0"/>
              </a:rPr>
              <a:t>15 причин использовать видео для продвижения товаров и услуг</a:t>
            </a:r>
          </a:p>
          <a:p>
            <a:pPr algn="just"/>
            <a:r>
              <a:rPr lang="en-US" sz="2400" b="1" dirty="0" smtClean="0">
                <a:latin typeface="Cambria" pitchFamily="18" charset="0"/>
                <a:hlinkClick r:id="rId2"/>
              </a:rPr>
              <a:t>https://vc.ru/marketing/146047-15-prichin-ispolzovat-video-dlya-prodvizheniya-tovarov-i-uslug?ysclid=m23ai2qpgh74652647</a:t>
            </a:r>
            <a:endParaRPr lang="ru-RU" sz="2400" b="1" dirty="0" smtClean="0">
              <a:latin typeface="Cambria" pitchFamily="18" charset="0"/>
            </a:endParaRPr>
          </a:p>
          <a:p>
            <a:pPr algn="just"/>
            <a:endParaRPr lang="ru-RU" sz="2400" b="1" dirty="0" smtClean="0">
              <a:latin typeface="Cambria" pitchFamily="18" charset="0"/>
            </a:endParaRPr>
          </a:p>
          <a:p>
            <a:pPr algn="just"/>
            <a:r>
              <a:rPr lang="ru-RU" sz="2400" i="1" dirty="0" smtClean="0">
                <a:latin typeface="Cambria" pitchFamily="18" charset="0"/>
              </a:rPr>
              <a:t>7 простых инструментов, которые помогут сделать видео для рекламы</a:t>
            </a:r>
          </a:p>
          <a:p>
            <a:pPr algn="just"/>
            <a:r>
              <a:rPr lang="en-US" sz="2400" b="1" dirty="0" smtClean="0">
                <a:hlinkClick r:id="rId3"/>
              </a:rPr>
              <a:t>https://habr.com/ru/companies/click/articles/541658/</a:t>
            </a:r>
            <a:endParaRPr lang="ru-RU" sz="2400" b="1" dirty="0" smtClean="0"/>
          </a:p>
          <a:p>
            <a:pPr algn="just"/>
            <a:endParaRPr lang="en-US" sz="2400" b="1" i="1" dirty="0" smtClean="0">
              <a:latin typeface="Cambria" pitchFamily="18" charset="0"/>
            </a:endParaRPr>
          </a:p>
          <a:p>
            <a:pPr algn="just"/>
            <a:r>
              <a:rPr lang="ru-RU" sz="2400" i="1" dirty="0" smtClean="0">
                <a:latin typeface="Cambria" pitchFamily="18" charset="0"/>
              </a:rPr>
              <a:t>18 лучших </a:t>
            </a:r>
            <a:r>
              <a:rPr lang="ru-RU" sz="2400" i="1" dirty="0" err="1" smtClean="0">
                <a:latin typeface="Cambria" pitchFamily="18" charset="0"/>
              </a:rPr>
              <a:t>ИИ-генераторов</a:t>
            </a:r>
            <a:r>
              <a:rPr lang="ru-RU" sz="2400" i="1" dirty="0" smtClean="0">
                <a:latin typeface="Cambria" pitchFamily="18" charset="0"/>
              </a:rPr>
              <a:t> видео: как сделать видео без больших усилий</a:t>
            </a:r>
          </a:p>
          <a:p>
            <a:pPr algn="just"/>
            <a:r>
              <a:rPr lang="en-US" sz="2400" b="1" dirty="0" smtClean="0">
                <a:latin typeface="Cambria" pitchFamily="18" charset="0"/>
                <a:hlinkClick r:id="rId4"/>
              </a:rPr>
              <a:t>https://vc.ru/services/901628-18-luchshih-ii-generatorov-video-kak-sdelat-video-bez-bolshih-usilii?ysclid=m23apiyuh1187059062</a:t>
            </a:r>
            <a:endParaRPr lang="en-US" sz="2400" b="1" dirty="0" smtClean="0">
              <a:latin typeface="Cambria" pitchFamily="18" charset="0"/>
            </a:endParaRPr>
          </a:p>
          <a:p>
            <a:pPr algn="just"/>
            <a:endParaRPr lang="en-US" sz="2400" i="1" dirty="0" smtClean="0">
              <a:latin typeface="Cambria" pitchFamily="18" charset="0"/>
            </a:endParaRPr>
          </a:p>
          <a:p>
            <a:pPr algn="just"/>
            <a:endParaRPr lang="ru-RU" sz="2400" b="1" dirty="0" smtClean="0"/>
          </a:p>
          <a:p>
            <a:pPr algn="just"/>
            <a:endParaRPr lang="en-US" sz="2400" dirty="0" smtClean="0">
              <a:latin typeface="Cambria"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00034" y="0"/>
            <a:ext cx="8229600" cy="1143000"/>
          </a:xfrm>
        </p:spPr>
        <p:txBody>
          <a:bodyPr>
            <a:normAutofit/>
          </a:bodyPr>
          <a:lstStyle/>
          <a:p>
            <a:r>
              <a:rPr lang="ru-RU" b="1" dirty="0" err="1" smtClean="0"/>
              <a:t>Видеореклама</a:t>
            </a:r>
            <a:endParaRPr lang="ru-RU" b="1" dirty="0"/>
          </a:p>
        </p:txBody>
      </p:sp>
      <p:sp>
        <p:nvSpPr>
          <p:cNvPr id="5" name="Прямоугольник 4"/>
          <p:cNvSpPr/>
          <p:nvPr/>
        </p:nvSpPr>
        <p:spPr>
          <a:xfrm>
            <a:off x="0" y="1000108"/>
            <a:ext cx="9144000" cy="1107996"/>
          </a:xfrm>
          <a:prstGeom prst="rect">
            <a:avLst/>
          </a:prstGeom>
        </p:spPr>
        <p:txBody>
          <a:bodyPr wrap="square">
            <a:spAutoFit/>
          </a:bodyPr>
          <a:lstStyle/>
          <a:p>
            <a:pPr algn="just"/>
            <a:r>
              <a:rPr lang="ru-RU" sz="2200" b="1" dirty="0" err="1" smtClean="0">
                <a:latin typeface="Times New Roman" pitchFamily="18" charset="0"/>
                <a:cs typeface="Times New Roman" pitchFamily="18" charset="0"/>
              </a:rPr>
              <a:t>Видеореклама</a:t>
            </a:r>
            <a:r>
              <a:rPr lang="ru-RU" sz="2200" dirty="0" smtClean="0">
                <a:latin typeface="Times New Roman" pitchFamily="18" charset="0"/>
                <a:cs typeface="Times New Roman" pitchFamily="18" charset="0"/>
              </a:rPr>
              <a:t> — форма рекламы, размещаемой в интернете, направленная на создание имиджа компании, продвижение услуг или товаров, предоставление информации с целью повышения продаж.</a:t>
            </a:r>
            <a:endParaRPr lang="ru-RU" sz="2200" dirty="0">
              <a:latin typeface="Times New Roman" pitchFamily="18" charset="0"/>
              <a:cs typeface="Times New Roman" pitchFamily="18" charset="0"/>
            </a:endParaRPr>
          </a:p>
        </p:txBody>
      </p:sp>
      <p:sp>
        <p:nvSpPr>
          <p:cNvPr id="6" name="Прямоугольник 5"/>
          <p:cNvSpPr/>
          <p:nvPr/>
        </p:nvSpPr>
        <p:spPr>
          <a:xfrm>
            <a:off x="71438" y="2285992"/>
            <a:ext cx="4572000" cy="2062103"/>
          </a:xfrm>
          <a:prstGeom prst="rect">
            <a:avLst/>
          </a:prstGeom>
          <a:solidFill>
            <a:schemeClr val="bg2"/>
          </a:solidFill>
          <a:ln>
            <a:solidFill>
              <a:schemeClr val="tx1"/>
            </a:solidFill>
          </a:ln>
        </p:spPr>
        <p:txBody>
          <a:bodyPr>
            <a:spAutoFit/>
          </a:bodyPr>
          <a:lstStyle/>
          <a:p>
            <a:pPr algn="just"/>
            <a:r>
              <a:rPr lang="ru-RU" sz="1600" b="1" dirty="0" smtClean="0">
                <a:latin typeface="Times New Roman" pitchFamily="18" charset="0"/>
                <a:cs typeface="Times New Roman" pitchFamily="18" charset="0"/>
              </a:rPr>
              <a:t>Анимационные ролики</a:t>
            </a:r>
            <a:r>
              <a:rPr lang="ru-RU" sz="1600" dirty="0" smtClean="0">
                <a:latin typeface="Times New Roman" pitchFamily="18" charset="0"/>
                <a:cs typeface="Times New Roman" pitchFamily="18" charset="0"/>
              </a:rPr>
              <a:t>. Последовательная демонстрация графических изображений. Графическими инструментами можно создать вымышленных, фантастических персонажей, мультипликационных героев, показать реальные объекты снаружи и изнутри, отразить сложные технические и биологические процессы с помощью виртуальной камеры.</a:t>
            </a:r>
            <a:endParaRPr lang="ru-RU" sz="1600" dirty="0">
              <a:latin typeface="Times New Roman" pitchFamily="18" charset="0"/>
              <a:cs typeface="Times New Roman" pitchFamily="18" charset="0"/>
            </a:endParaRPr>
          </a:p>
        </p:txBody>
      </p:sp>
      <p:sp>
        <p:nvSpPr>
          <p:cNvPr id="7" name="Прямоугольник 6"/>
          <p:cNvSpPr/>
          <p:nvPr/>
        </p:nvSpPr>
        <p:spPr>
          <a:xfrm>
            <a:off x="71438" y="4429132"/>
            <a:ext cx="4572000" cy="2062103"/>
          </a:xfrm>
          <a:prstGeom prst="rect">
            <a:avLst/>
          </a:prstGeom>
          <a:solidFill>
            <a:schemeClr val="bg2"/>
          </a:solidFill>
          <a:ln>
            <a:solidFill>
              <a:schemeClr val="tx1"/>
            </a:solidFill>
          </a:ln>
        </p:spPr>
        <p:txBody>
          <a:bodyPr>
            <a:spAutoFit/>
          </a:bodyPr>
          <a:lstStyle/>
          <a:p>
            <a:pPr algn="just"/>
            <a:r>
              <a:rPr lang="ru-RU" sz="1600" b="1" dirty="0" err="1" smtClean="0">
                <a:latin typeface="Times New Roman" pitchFamily="18" charset="0"/>
                <a:cs typeface="Times New Roman" pitchFamily="18" charset="0"/>
              </a:rPr>
              <a:t>Имиджевое</a:t>
            </a:r>
            <a:r>
              <a:rPr lang="ru-RU" sz="1600" b="1" dirty="0" smtClean="0">
                <a:latin typeface="Times New Roman" pitchFamily="18" charset="0"/>
                <a:cs typeface="Times New Roman" pitchFamily="18" charset="0"/>
              </a:rPr>
              <a:t> видео</a:t>
            </a:r>
            <a:r>
              <a:rPr lang="ru-RU" sz="1600" dirty="0" smtClean="0">
                <a:latin typeface="Times New Roman" pitchFamily="18" charset="0"/>
                <a:cs typeface="Times New Roman" pitchFamily="18" charset="0"/>
              </a:rPr>
              <a:t>. Нацелено на предоставление той или иной информации, однако основной задачей роликов этого жанра является формирование репутации компании. Главной задачей такого видео является отражение наиболее выгодных, исключительных сторон компании, которые могут послужить повышению лояльности клиентов.</a:t>
            </a:r>
            <a:endParaRPr lang="ru-RU" sz="1600" dirty="0">
              <a:latin typeface="Times New Roman" pitchFamily="18" charset="0"/>
              <a:cs typeface="Times New Roman" pitchFamily="18" charset="0"/>
            </a:endParaRPr>
          </a:p>
        </p:txBody>
      </p:sp>
      <p:sp>
        <p:nvSpPr>
          <p:cNvPr id="8" name="Прямоугольник 7"/>
          <p:cNvSpPr/>
          <p:nvPr/>
        </p:nvSpPr>
        <p:spPr>
          <a:xfrm>
            <a:off x="4714908" y="4429132"/>
            <a:ext cx="4286248" cy="2062103"/>
          </a:xfrm>
          <a:prstGeom prst="rect">
            <a:avLst/>
          </a:prstGeom>
          <a:solidFill>
            <a:schemeClr val="bg2"/>
          </a:solidFill>
          <a:ln>
            <a:solidFill>
              <a:schemeClr val="tx1"/>
            </a:solidFill>
          </a:ln>
        </p:spPr>
        <p:txBody>
          <a:bodyPr wrap="square">
            <a:spAutoFit/>
          </a:bodyPr>
          <a:lstStyle/>
          <a:p>
            <a:pPr algn="just"/>
            <a:r>
              <a:rPr lang="ru-RU" sz="1600" b="1" dirty="0" smtClean="0">
                <a:latin typeface="Times New Roman" pitchFamily="18" charset="0"/>
                <a:cs typeface="Times New Roman" pitchFamily="18" charset="0"/>
              </a:rPr>
              <a:t>Постановочные видео</a:t>
            </a:r>
            <a:r>
              <a:rPr lang="ru-RU" sz="1600" dirty="0" smtClean="0">
                <a:latin typeface="Times New Roman" pitchFamily="18" charset="0"/>
                <a:cs typeface="Times New Roman" pitchFamily="18" charset="0"/>
              </a:rPr>
              <a:t>. Оптимальный выбор для рекламы товаров и услуг, которые привлекают своим внешним образом, очевидной практической пользой. В постановочном видео актёры разыгрывают историю, близкую потенциальному клиенту в повседневной жизни, тем самым устанавливая с ним эмоциональную связь.</a:t>
            </a:r>
            <a:endParaRPr lang="ru-RU" sz="1600" dirty="0">
              <a:latin typeface="Times New Roman" pitchFamily="18" charset="0"/>
              <a:cs typeface="Times New Roman" pitchFamily="18" charset="0"/>
            </a:endParaRPr>
          </a:p>
        </p:txBody>
      </p:sp>
      <p:sp>
        <p:nvSpPr>
          <p:cNvPr id="9" name="Прямоугольник 8"/>
          <p:cNvSpPr/>
          <p:nvPr/>
        </p:nvSpPr>
        <p:spPr>
          <a:xfrm>
            <a:off x="4714876" y="2285992"/>
            <a:ext cx="4286280" cy="2031325"/>
          </a:xfrm>
          <a:prstGeom prst="rect">
            <a:avLst/>
          </a:prstGeom>
          <a:solidFill>
            <a:schemeClr val="bg2"/>
          </a:solidFill>
          <a:ln>
            <a:solidFill>
              <a:schemeClr val="tx1"/>
            </a:solidFill>
          </a:ln>
        </p:spPr>
        <p:txBody>
          <a:bodyPr wrap="square">
            <a:spAutoFit/>
          </a:bodyPr>
          <a:lstStyle/>
          <a:p>
            <a:pPr algn="just"/>
            <a:endParaRPr lang="en-US" b="1" dirty="0" smtClean="0">
              <a:latin typeface="Times New Roman" pitchFamily="18" charset="0"/>
              <a:cs typeface="Times New Roman" pitchFamily="18" charset="0"/>
            </a:endParaRPr>
          </a:p>
          <a:p>
            <a:pPr algn="just"/>
            <a:r>
              <a:rPr lang="ru-RU" b="1" dirty="0" smtClean="0">
                <a:latin typeface="Times New Roman" pitchFamily="18" charset="0"/>
                <a:cs typeface="Times New Roman" pitchFamily="18" charset="0"/>
              </a:rPr>
              <a:t>Эксплейнеры</a:t>
            </a:r>
            <a:r>
              <a:rPr lang="ru-RU" dirty="0" smtClean="0">
                <a:latin typeface="Times New Roman" pitchFamily="18" charset="0"/>
                <a:cs typeface="Times New Roman" pitchFamily="18" charset="0"/>
              </a:rPr>
              <a:t>. Короткое объясняющее видео о компании, продукции или принципе работы нового сервиса, приложения.</a:t>
            </a:r>
            <a:endParaRPr lang="en-US" dirty="0" smtClean="0">
              <a:latin typeface="Times New Roman" pitchFamily="18" charset="0"/>
              <a:cs typeface="Times New Roman" pitchFamily="18" charset="0"/>
            </a:endParaRPr>
          </a:p>
          <a:p>
            <a:pPr algn="just"/>
            <a:endParaRPr lang="en-US" dirty="0" smtClean="0">
              <a:latin typeface="Times New Roman" pitchFamily="18" charset="0"/>
              <a:cs typeface="Times New Roman" pitchFamily="18" charset="0"/>
            </a:endParaRPr>
          </a:p>
          <a:p>
            <a:pPr algn="just"/>
            <a:endParaRPr lang="ru-RU" dirty="0">
              <a:latin typeface="Times New Roman" pitchFamily="18" charset="0"/>
              <a:cs typeface="Times New Roman"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00034" y="0"/>
            <a:ext cx="8229600" cy="1143000"/>
          </a:xfrm>
        </p:spPr>
        <p:txBody>
          <a:bodyPr>
            <a:normAutofit/>
          </a:bodyPr>
          <a:lstStyle/>
          <a:p>
            <a:r>
              <a:rPr lang="ru-RU" b="1" dirty="0" smtClean="0"/>
              <a:t>Роль видеоматериалов</a:t>
            </a:r>
            <a:endParaRPr lang="ru-RU" b="1" dirty="0"/>
          </a:p>
        </p:txBody>
      </p:sp>
      <p:sp>
        <p:nvSpPr>
          <p:cNvPr id="5" name="Прямоугольник 4"/>
          <p:cNvSpPr/>
          <p:nvPr/>
        </p:nvSpPr>
        <p:spPr>
          <a:xfrm>
            <a:off x="0" y="857232"/>
            <a:ext cx="9144000" cy="5847755"/>
          </a:xfrm>
          <a:prstGeom prst="rect">
            <a:avLst/>
          </a:prstGeom>
        </p:spPr>
        <p:txBody>
          <a:bodyPr wrap="square">
            <a:spAutoFit/>
          </a:bodyPr>
          <a:lstStyle/>
          <a:p>
            <a:pPr algn="just"/>
            <a:r>
              <a:rPr lang="ru-RU" sz="2200" b="1" dirty="0" smtClean="0">
                <a:latin typeface="Times New Roman" pitchFamily="18" charset="0"/>
                <a:cs typeface="Times New Roman" pitchFamily="18" charset="0"/>
              </a:rPr>
              <a:t>Показать уникальность продукта</a:t>
            </a:r>
            <a:r>
              <a:rPr lang="ru-RU" sz="2200" dirty="0" smtClean="0">
                <a:latin typeface="Times New Roman" pitchFamily="18" charset="0"/>
                <a:cs typeface="Times New Roman" pitchFamily="18" charset="0"/>
              </a:rPr>
              <a:t>. </a:t>
            </a:r>
            <a:r>
              <a:rPr lang="ru-RU" sz="2200" dirty="0" err="1" smtClean="0">
                <a:latin typeface="Times New Roman" pitchFamily="18" charset="0"/>
                <a:cs typeface="Times New Roman" pitchFamily="18" charset="0"/>
              </a:rPr>
              <a:t>Видеореклама</a:t>
            </a:r>
            <a:r>
              <a:rPr lang="ru-RU" sz="2200" dirty="0" smtClean="0">
                <a:latin typeface="Times New Roman" pitchFamily="18" charset="0"/>
                <a:cs typeface="Times New Roman" pitchFamily="18" charset="0"/>
              </a:rPr>
              <a:t> создаёт позитивные, тёплые ассоциации и вызывает интерес к компании.</a:t>
            </a:r>
            <a:endParaRPr lang="en-US" sz="2200" dirty="0" smtClean="0">
              <a:latin typeface="Times New Roman" pitchFamily="18" charset="0"/>
              <a:cs typeface="Times New Roman" pitchFamily="18" charset="0"/>
            </a:endParaRPr>
          </a:p>
          <a:p>
            <a:pPr algn="just"/>
            <a:endParaRPr lang="ru-RU" sz="2200" dirty="0" smtClean="0">
              <a:latin typeface="Times New Roman" pitchFamily="18" charset="0"/>
              <a:cs typeface="Times New Roman" pitchFamily="18" charset="0"/>
            </a:endParaRPr>
          </a:p>
          <a:p>
            <a:pPr algn="just"/>
            <a:r>
              <a:rPr lang="ru-RU" sz="2200" b="1" dirty="0" smtClean="0">
                <a:latin typeface="Times New Roman" pitchFamily="18" charset="0"/>
                <a:cs typeface="Times New Roman" pitchFamily="18" charset="0"/>
              </a:rPr>
              <a:t>Передать информацию</a:t>
            </a:r>
            <a:r>
              <a:rPr lang="ru-RU" sz="2200" dirty="0" smtClean="0">
                <a:latin typeface="Times New Roman" pitchFamily="18" charset="0"/>
                <a:cs typeface="Times New Roman" pitchFamily="18" charset="0"/>
              </a:rPr>
              <a:t> </a:t>
            </a:r>
            <a:r>
              <a:rPr lang="ru-RU" sz="2200" b="1" dirty="0" smtClean="0">
                <a:latin typeface="Times New Roman" pitchFamily="18" charset="0"/>
                <a:cs typeface="Times New Roman" pitchFamily="18" charset="0"/>
              </a:rPr>
              <a:t>о свойствах товара</a:t>
            </a:r>
            <a:r>
              <a:rPr lang="ru-RU" sz="2200" dirty="0" smtClean="0">
                <a:latin typeface="Times New Roman" pitchFamily="18" charset="0"/>
                <a:cs typeface="Times New Roman" pitchFamily="18" charset="0"/>
              </a:rPr>
              <a:t>. Видеоролик позволяет рассказать о свойствах товара, максимально приблизив их к реальным, показать продукты в различной обстановке, продемонстрировать, каким образом они производятся и функционируют в процессе использования.</a:t>
            </a:r>
            <a:endParaRPr lang="en-US" sz="2200" dirty="0" smtClean="0">
              <a:latin typeface="Times New Roman" pitchFamily="18" charset="0"/>
              <a:cs typeface="Times New Roman" pitchFamily="18" charset="0"/>
            </a:endParaRPr>
          </a:p>
          <a:p>
            <a:pPr algn="just"/>
            <a:endParaRPr lang="ru-RU" sz="2200" dirty="0" smtClean="0">
              <a:latin typeface="Times New Roman" pitchFamily="18" charset="0"/>
              <a:cs typeface="Times New Roman" pitchFamily="18" charset="0"/>
            </a:endParaRPr>
          </a:p>
          <a:p>
            <a:pPr algn="just"/>
            <a:r>
              <a:rPr lang="ru-RU" sz="2200" b="1" dirty="0" smtClean="0">
                <a:latin typeface="Times New Roman" pitchFamily="18" charset="0"/>
                <a:cs typeface="Times New Roman" pitchFamily="18" charset="0"/>
              </a:rPr>
              <a:t>Сформировать положительный образ компании</a:t>
            </a:r>
            <a:r>
              <a:rPr lang="ru-RU" sz="2200" dirty="0" smtClean="0">
                <a:latin typeface="Times New Roman" pitchFamily="18" charset="0"/>
                <a:cs typeface="Times New Roman" pitchFamily="18" charset="0"/>
              </a:rPr>
              <a:t>. Благоприятный имидж способствует повышению лояльности клиентов, ускорению принятия решения о покупке в случае первого обращения и повышению вероятности повторного контакта пользователя с компанией.</a:t>
            </a:r>
            <a:endParaRPr lang="en-US" sz="2200" dirty="0" smtClean="0">
              <a:latin typeface="Times New Roman" pitchFamily="18" charset="0"/>
              <a:cs typeface="Times New Roman" pitchFamily="18" charset="0"/>
            </a:endParaRPr>
          </a:p>
          <a:p>
            <a:pPr algn="just"/>
            <a:endParaRPr lang="ru-RU" sz="2200" dirty="0" smtClean="0">
              <a:latin typeface="Times New Roman" pitchFamily="18" charset="0"/>
              <a:cs typeface="Times New Roman" pitchFamily="18" charset="0"/>
            </a:endParaRPr>
          </a:p>
          <a:p>
            <a:pPr algn="just"/>
            <a:r>
              <a:rPr lang="ru-RU" sz="2200" dirty="0" smtClean="0">
                <a:latin typeface="Times New Roman" pitchFamily="18" charset="0"/>
                <a:cs typeface="Times New Roman" pitchFamily="18" charset="0"/>
              </a:rPr>
              <a:t>Кроме того, </a:t>
            </a:r>
            <a:r>
              <a:rPr lang="ru-RU" sz="2200" dirty="0" err="1" smtClean="0">
                <a:latin typeface="Times New Roman" pitchFamily="18" charset="0"/>
                <a:cs typeface="Times New Roman" pitchFamily="18" charset="0"/>
              </a:rPr>
              <a:t>видеореклама</a:t>
            </a:r>
            <a:r>
              <a:rPr lang="ru-RU" sz="2200" dirty="0" smtClean="0">
                <a:latin typeface="Times New Roman" pitchFamily="18" charset="0"/>
                <a:cs typeface="Times New Roman" pitchFamily="18" charset="0"/>
              </a:rPr>
              <a:t> в интернете даёт возможность </a:t>
            </a:r>
            <a:r>
              <a:rPr lang="ru-RU" sz="2200" b="1" dirty="0" smtClean="0">
                <a:latin typeface="Times New Roman" pitchFamily="18" charset="0"/>
                <a:cs typeface="Times New Roman" pitchFamily="18" charset="0"/>
              </a:rPr>
              <a:t>точечного </a:t>
            </a:r>
            <a:r>
              <a:rPr lang="ru-RU" sz="2200" b="1" dirty="0" err="1" smtClean="0">
                <a:latin typeface="Times New Roman" pitchFamily="18" charset="0"/>
                <a:cs typeface="Times New Roman" pitchFamily="18" charset="0"/>
              </a:rPr>
              <a:t>таргетирования</a:t>
            </a:r>
            <a:r>
              <a:rPr lang="ru-RU" sz="2200" b="1" dirty="0" smtClean="0">
                <a:latin typeface="Times New Roman" pitchFamily="18" charset="0"/>
                <a:cs typeface="Times New Roman" pitchFamily="18" charset="0"/>
              </a:rPr>
              <a:t> на определённую аудиторию</a:t>
            </a:r>
            <a:r>
              <a:rPr lang="ru-RU" sz="2200" dirty="0" smtClean="0">
                <a:latin typeface="Times New Roman" pitchFamily="18" charset="0"/>
                <a:cs typeface="Times New Roman" pitchFamily="18" charset="0"/>
              </a:rPr>
              <a:t>. Рекламодатели могут настроить рекламу на определённый возраст, пол, местоположение, интересы и поведенческие факторы.</a:t>
            </a:r>
            <a:endParaRPr lang="ru-RU" sz="2200" dirty="0">
              <a:latin typeface="Times New Roman" pitchFamily="18" charset="0"/>
              <a:cs typeface="Times New Roman" pitchFamily="18" charset="0"/>
            </a:endParaRPr>
          </a:p>
        </p:txBody>
      </p:sp>
    </p:spTree>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382</TotalTime>
  <Words>863</Words>
  <Application>Microsoft Office PowerPoint</Application>
  <PresentationFormat>Экран (4:3)</PresentationFormat>
  <Paragraphs>113</Paragraphs>
  <Slides>28</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28</vt:i4>
      </vt:variant>
    </vt:vector>
  </HeadingPairs>
  <TitlesOfParts>
    <vt:vector size="29" baseType="lpstr">
      <vt:lpstr>Тема Office</vt:lpstr>
      <vt:lpstr>Создание сайта с обратной связью</vt:lpstr>
      <vt:lpstr>Слайд 2</vt:lpstr>
      <vt:lpstr>Google Site</vt:lpstr>
      <vt:lpstr>Слайд 4</vt:lpstr>
      <vt:lpstr>Слайд 5</vt:lpstr>
      <vt:lpstr>Слайд 6</vt:lpstr>
      <vt:lpstr>Слайд 7</vt:lpstr>
      <vt:lpstr>Слайд 8</vt:lpstr>
      <vt:lpstr>Tilda</vt:lpstr>
      <vt:lpstr>Алгоритм создания</vt:lpstr>
      <vt:lpstr>Слайд 11</vt:lpstr>
      <vt:lpstr>Слайд 12</vt:lpstr>
      <vt:lpstr>Слайд 13</vt:lpstr>
      <vt:lpstr>Обратная связь на сайтах</vt:lpstr>
      <vt:lpstr>Слайд 15</vt:lpstr>
      <vt:lpstr>Слайд 16</vt:lpstr>
      <vt:lpstr>Слайд 17</vt:lpstr>
      <vt:lpstr>Роль полиграфии </vt:lpstr>
      <vt:lpstr>Дополнительные материалы</vt:lpstr>
      <vt:lpstr>Дизайн полиграфической продукции</vt:lpstr>
      <vt:lpstr>Слайд 21</vt:lpstr>
      <vt:lpstr>Слайд 22</vt:lpstr>
      <vt:lpstr>Слайд 23</vt:lpstr>
      <vt:lpstr>Интернет-технологии для создания рекламной полиграфии</vt:lpstr>
      <vt:lpstr>Заключение: полиграфия</vt:lpstr>
      <vt:lpstr>Дополнительные материалы: видео</vt:lpstr>
      <vt:lpstr>Видеореклама</vt:lpstr>
      <vt:lpstr>Роль видеоматериалов</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 Создание сайта на tilda</dc:title>
  <dc:creator>user</dc:creator>
  <cp:lastModifiedBy>user</cp:lastModifiedBy>
  <cp:revision>60</cp:revision>
  <dcterms:created xsi:type="dcterms:W3CDTF">2024-02-01T09:49:19Z</dcterms:created>
  <dcterms:modified xsi:type="dcterms:W3CDTF">2026-02-07T09:33:13Z</dcterms:modified>
</cp:coreProperties>
</file>