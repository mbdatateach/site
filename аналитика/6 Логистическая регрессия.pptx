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0" r:id="rId4"/>
    <p:sldId id="266" r:id="rId5"/>
    <p:sldId id="267" r:id="rId6"/>
    <p:sldId id="268" r:id="rId7"/>
    <p:sldId id="269" r:id="rId8"/>
    <p:sldId id="270" r:id="rId9"/>
    <p:sldId id="271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944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19.10.2024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zen.ru/a/X-I_VnhXd2eap171?ysclid=m2g5tm2e7l550415727" TargetMode="External"/><Relationship Id="rId2" Type="http://schemas.openxmlformats.org/officeDocument/2006/relationships/hyperlink" Target="https://lifewithdata.com/2023/06/07/how-to-interpret-the-classification-report-in-sklearn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cikit-learn.org/stable/modules/generated/sklearn.linear_model.LogisticRegression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Логистическая</a:t>
            </a:r>
            <a:r>
              <a:rPr lang="en-US" b="1" dirty="0" smtClean="0"/>
              <a:t> </a:t>
            </a:r>
            <a:r>
              <a:rPr lang="ru-RU" b="1" dirty="0" smtClean="0"/>
              <a:t>регрессия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6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571612"/>
            <a:ext cx="9144000" cy="56323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i="1" dirty="0" smtClean="0">
                <a:latin typeface="Cambria" pitchFamily="18" charset="0"/>
              </a:rPr>
              <a:t>How to Interpret the Classification Report in </a:t>
            </a:r>
            <a:r>
              <a:rPr lang="en-US" sz="2400" i="1" dirty="0" err="1" smtClean="0">
                <a:latin typeface="Cambria" pitchFamily="18" charset="0"/>
              </a:rPr>
              <a:t>sklearn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https://lifewithdata.com/2023/06/07/how-to-interpret-the-classification-report-in-sklearn</a:t>
            </a:r>
            <a:r>
              <a:rPr lang="en-US" sz="2400" b="1" dirty="0" smtClean="0">
                <a:latin typeface="Cambria" pitchFamily="18" charset="0"/>
                <a:hlinkClick r:id="rId2"/>
              </a:rPr>
              <a:t>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ru-RU" sz="2400" i="1" dirty="0" err="1" smtClean="0">
                <a:latin typeface="Cambria" pitchFamily="18" charset="0"/>
              </a:rPr>
              <a:t>Confusion</a:t>
            </a:r>
            <a:r>
              <a:rPr lang="ru-RU" sz="2400" i="1" dirty="0" smtClean="0">
                <a:latin typeface="Cambria" pitchFamily="18" charset="0"/>
              </a:rPr>
              <a:t> </a:t>
            </a:r>
            <a:r>
              <a:rPr lang="ru-RU" sz="2400" i="1" dirty="0" err="1" smtClean="0">
                <a:latin typeface="Cambria" pitchFamily="18" charset="0"/>
              </a:rPr>
              <a:t>Matrix</a:t>
            </a:r>
            <a:r>
              <a:rPr lang="ru-RU" sz="2400" i="1" dirty="0" smtClean="0">
                <a:latin typeface="Cambria" pitchFamily="18" charset="0"/>
              </a:rPr>
              <a:t> в Машинном обучении простыми словами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Cambria" pitchFamily="18" charset="0"/>
                <a:hlinkClick r:id="rId3"/>
              </a:rPr>
              <a:t>dzen.ru/a/X-I_VnhXd2eap171?ysclid=m2g5tm2e7l550415727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err="1" smtClean="0">
                <a:latin typeface="Cambria" pitchFamily="18" charset="0"/>
              </a:rPr>
              <a:t>LogisticRegression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</a:t>
            </a:r>
            <a:r>
              <a:rPr lang="en-US" sz="2400" b="1" dirty="0" smtClean="0">
                <a:latin typeface="Cambria" pitchFamily="18" charset="0"/>
                <a:hlinkClick r:id="rId4"/>
              </a:rPr>
              <a:t>scikit-learn.org/stable/modules/generated/sklearn.linear_model.LogisticRegression.html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4286256"/>
            <a:ext cx="9144000" cy="25717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0" y="1071546"/>
            <a:ext cx="9144000" cy="32147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48" y="3429000"/>
            <a:ext cx="2857488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Объединение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датасэта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 столбцам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72100" y="3429000"/>
            <a:ext cx="285748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Преобразование в столбец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00174"/>
            <a:ext cx="70770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5400000" flipH="1" flipV="1">
            <a:off x="2678861" y="2678901"/>
            <a:ext cx="121444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20" idx="0"/>
          </p:cNvCxnSpPr>
          <p:nvPr/>
        </p:nvCxnSpPr>
        <p:spPr>
          <a:xfrm rot="16200000" flipV="1">
            <a:off x="6143596" y="2571752"/>
            <a:ext cx="1143008" cy="5714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28794" y="1000108"/>
            <a:ext cx="5416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Чтение данных, встроенных в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pandas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0" y="5572140"/>
            <a:ext cx="4320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sns.pairplot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(data,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vars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=[...])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4143372" y="4718953"/>
            <a:ext cx="5000628" cy="213904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900" b="1" dirty="0" smtClean="0">
                <a:latin typeface="Times New Roman" pitchFamily="18" charset="0"/>
                <a:cs typeface="Times New Roman" pitchFamily="18" charset="0"/>
              </a:rPr>
              <a:t>Pairplot в </a:t>
            </a:r>
            <a:r>
              <a:rPr lang="ru-RU" sz="1900" b="1" dirty="0" err="1" smtClean="0">
                <a:latin typeface="Times New Roman" pitchFamily="18" charset="0"/>
                <a:cs typeface="Times New Roman" pitchFamily="18" charset="0"/>
              </a:rPr>
              <a:t>Seaborn</a:t>
            </a:r>
            <a:r>
              <a:rPr lang="ru-RU" sz="1900" b="1" dirty="0" smtClean="0">
                <a:latin typeface="Times New Roman" pitchFamily="18" charset="0"/>
                <a:cs typeface="Times New Roman" pitchFamily="18" charset="0"/>
              </a:rPr>
              <a:t> — это инструмент визуализации данных, который создаёт матрицу диаграмм рассеяния, показывающую </a:t>
            </a:r>
            <a:r>
              <a:rPr lang="ru-RU" sz="1900" b="1" dirty="0" err="1" smtClean="0">
                <a:latin typeface="Times New Roman" pitchFamily="18" charset="0"/>
                <a:cs typeface="Times New Roman" pitchFamily="18" charset="0"/>
              </a:rPr>
              <a:t>попарные</a:t>
            </a:r>
            <a:r>
              <a:rPr lang="ru-RU" sz="1900" b="1" dirty="0" smtClean="0">
                <a:latin typeface="Times New Roman" pitchFamily="18" charset="0"/>
                <a:cs typeface="Times New Roman" pitchFamily="18" charset="0"/>
              </a:rPr>
              <a:t> взаимосвязи между переменными в наборе данных.</a:t>
            </a:r>
            <a:endParaRPr lang="ru-RU" sz="19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Этот инструмент помогает визуализировать корреляции и распределения. </a:t>
            </a:r>
            <a:endParaRPr lang="ru-RU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00298" y="4214818"/>
            <a:ext cx="4104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Визуализация взаимосвязей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1: Модель</a:t>
            </a:r>
            <a:endParaRPr lang="ru-RU" b="1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4108340" cy="2597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4286248" y="1214422"/>
            <a:ext cx="4857752" cy="29700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Класс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make_pipeline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является упрощенной версией класса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Pipeline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Он создаёт объект-контейнер, в который можно поместить необходимые инструменты. </a:t>
            </a: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Функция принимает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преобразователи и оценщики и делает свою работу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Конвейеры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созданные с помощью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make_pipeline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 объединяют все этапы предварительной обработки и моделирования в единый оценщик, предотвращают утечку данных и позволяют писать краткий, воспроизводимый, модульный код.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286248" y="5072074"/>
            <a:ext cx="4857752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(точность)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доля правильно предсказанных классов ко всем предсказаниям. Она проста в понимании, но может быть неинформативной при несбалансированных классах.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 rot="10800000" flipV="1">
            <a:off x="1928794" y="1571612"/>
            <a:ext cx="2357454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7" idx="1"/>
          </p:cNvCxnSpPr>
          <p:nvPr/>
        </p:nvCxnSpPr>
        <p:spPr>
          <a:xfrm rot="10800000">
            <a:off x="1142976" y="4500570"/>
            <a:ext cx="3143272" cy="131016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1: Визуализация</a:t>
            </a:r>
            <a:endParaRPr lang="ru-RU" b="1" dirty="0" smtClean="0"/>
          </a:p>
        </p:txBody>
      </p:sp>
      <p:sp>
        <p:nvSpPr>
          <p:cNvPr id="16" name="Прямоугольник 15"/>
          <p:cNvSpPr/>
          <p:nvPr/>
        </p:nvSpPr>
        <p:spPr>
          <a:xfrm>
            <a:off x="4286248" y="1214422"/>
            <a:ext cx="4857752" cy="6155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Визуализация исходных данных. Левая часть графика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286248" y="5072074"/>
            <a:ext cx="485775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Визуализация предсказания. Правая часть графика.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540067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>
            <a:stCxn id="17" idx="1"/>
          </p:cNvCxnSpPr>
          <p:nvPr/>
        </p:nvCxnSpPr>
        <p:spPr>
          <a:xfrm rot="10800000">
            <a:off x="3714744" y="4071942"/>
            <a:ext cx="571504" cy="13232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5400000">
            <a:off x="2928926" y="2428868"/>
            <a:ext cx="2214578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2: Визуализация</a:t>
            </a:r>
            <a:endParaRPr lang="ru-RU" b="1" dirty="0" smtClean="0"/>
          </a:p>
        </p:txBody>
      </p:sp>
      <p:sp>
        <p:nvSpPr>
          <p:cNvPr id="8" name="Прямоугольник 7"/>
          <p:cNvSpPr/>
          <p:nvPr/>
        </p:nvSpPr>
        <p:spPr>
          <a:xfrm>
            <a:off x="928662" y="2714620"/>
            <a:ext cx="728667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sns.kdeplot(data[column], legend=True, label=column)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1000108"/>
            <a:ext cx="92868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sns.kdeplot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позволяет визуализировать распределение данных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График показывает плотность непрерывной вероятности, что помогает понять распределение, форму и центральную тенденцию данных.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../_images/kdeplot_13_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352660"/>
            <a:ext cx="4643436" cy="35053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928934"/>
            <a:ext cx="9144000" cy="32147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2: </a:t>
            </a:r>
            <a:r>
              <a:rPr lang="en-US" b="1" dirty="0" err="1" smtClean="0"/>
              <a:t>classification_report</a:t>
            </a:r>
            <a:endParaRPr lang="ru-RU" b="1" dirty="0" smtClean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857232"/>
            <a:ext cx="92868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Classification_report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 инструмент для оценки производительности алгоритмов классификации в машинном обучении. Он предоставляет подробное резюме различных метрик классификации, которые помогают понять, насколько хорошо модель работает с разными классами или категориями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Простыми словами, это как отчёт, который показывает точность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модели машинного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обучения в правильном предсказании результата.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857496"/>
            <a:ext cx="9143968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Precision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(точность)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показывает, какая доля предсказанных положительных примеров действительно являются положительными.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важно в задачах, где ложноположительные ошибки могут быть дорогостоящими, например, в медицинской диагностике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Recall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(полнота)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измеряет, какую долю реальных положительных примеров модель смогла правильно предсказать. Это важно в задачах, где пропуск положительных примеров может быть критичным, например, в обнаружении мошенничества.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Таким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образом, 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recall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демонстрирует способность алгоритма обнаруживать данный класс вообще, а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precision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— способность отличать этот класс от других классов.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3</a:t>
            </a:r>
            <a:endParaRPr lang="ru-RU" b="1" dirty="0" smtClean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71612"/>
            <a:ext cx="91440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857224" y="1071546"/>
            <a:ext cx="7208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Корреляция между всеми числовыми признаками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3143248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LabelEncoder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работает следующим образом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каждой уникальной категории присваивается уникальное целое число. Например, если есть метки «красный», «зелёный» и «синий»,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LabelEncoder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может назначить им 0, 1 и 2 соответственно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позволяет упростить обработку данных алгоритмам машинного обучения, так как они работают с числовыми данными, а многие алгоритмы не могут напрямую обрабатывать категориальные метки.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00430" y="2714620"/>
            <a:ext cx="2047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LabelEncoder</a:t>
            </a:r>
            <a:endParaRPr 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5572140"/>
            <a:ext cx="47244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2214554"/>
            <a:ext cx="9144000" cy="42148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3</a:t>
            </a:r>
            <a:r>
              <a:rPr lang="en-US" b="1" dirty="0" smtClean="0"/>
              <a:t>: confusion matrix</a:t>
            </a:r>
            <a:endParaRPr lang="ru-RU" b="1" dirty="0" smtClean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6390" y="962002"/>
            <a:ext cx="6048338" cy="103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0" y="4714884"/>
            <a:ext cx="9144000" cy="1785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2214554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Confusion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matrix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(матрица ошибок) работает следующим образом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это таблица с 4 различными комбинациями прогнозируемых и фактических значений. Прогнозируемые значения описываются как положительные и отрицательные, а фактические — как истинные и ложные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Простыми словами, матрица ошибок позволяет сопоставить предсказания и реальность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 оценить точность модели в задачах классификации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Например, с её помощью можно увидеть, какие прогнозы неверны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допустим, модель предсказывает, купят ли некие люди слона. Результаты такого исследования можно разбить на четыре группы: 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Positive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(TP)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Модель сказала, что человек купит слона, и он купил слона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Negative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(FN)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Модель сказала, что человек не купит слона, а он взял и купил слона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Positive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(FP)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Модель сказала, что человек купит слона, но он не купил его, когда ему предложили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Negative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(TN)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Модель сказала, что человек не купит слона, и он действительно его не купил.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292</Words>
  <Application>Microsoft Office PowerPoint</Application>
  <PresentationFormat>Экран (4:3)</PresentationFormat>
  <Paragraphs>52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Логистическая регрессия </vt:lpstr>
      <vt:lpstr>Дополнительные материалы</vt:lpstr>
      <vt:lpstr>Задание 1</vt:lpstr>
      <vt:lpstr>Задание 1: Модель</vt:lpstr>
      <vt:lpstr>Задание 1: Визуализация</vt:lpstr>
      <vt:lpstr>Задание 2: Визуализация</vt:lpstr>
      <vt:lpstr>Задание 2: classification_report</vt:lpstr>
      <vt:lpstr>Задание 3</vt:lpstr>
      <vt:lpstr>Задание 3: confusion matrix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61</cp:revision>
  <dcterms:created xsi:type="dcterms:W3CDTF">2024-02-01T09:49:19Z</dcterms:created>
  <dcterms:modified xsi:type="dcterms:W3CDTF">2024-10-19T12:56:40Z</dcterms:modified>
</cp:coreProperties>
</file>