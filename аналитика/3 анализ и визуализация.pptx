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62" r:id="rId6"/>
    <p:sldId id="263" r:id="rId7"/>
    <p:sldId id="266" r:id="rId8"/>
    <p:sldId id="264" r:id="rId9"/>
    <p:sldId id="265" r:id="rId10"/>
    <p:sldId id="257" r:id="rId11"/>
    <p:sldId id="258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766B6-160F-4403-93BF-1F647BE3A7BC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D800A-C31B-424E-9E31-5008E79BC1DA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2EE16-72AD-4258-AEC3-F0A118BDA44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4D097-2AA3-477E-84BC-42B1DEEC320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amp.ru/blog/pandas-groupby-aggregate-multiple-columns/" TargetMode="External"/><Relationship Id="rId2" Type="http://schemas.openxmlformats.org/officeDocument/2006/relationships/hyperlink" Target="https://sky.pro/wiki/python/gruppirovka-i-agregaciya-dannyh-v-pandas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habr.com/ru/companies/vk/articles/445834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generated/seaborn.lmplot.html" TargetMode="External"/><Relationship Id="rId2" Type="http://schemas.openxmlformats.org/officeDocument/2006/relationships/hyperlink" Target="https://seaborn.pydata.org/generated/seaborn.scatterplot.html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Анализ и визуализация данных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489364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i="1" dirty="0" smtClean="0">
                <a:latin typeface="Cambria" pitchFamily="18" charset="0"/>
              </a:rPr>
              <a:t>Группировка и агрегация данных в </a:t>
            </a:r>
            <a:r>
              <a:rPr lang="ru-RU" sz="2400" i="1" dirty="0" err="1" smtClean="0">
                <a:latin typeface="Cambria" pitchFamily="18" charset="0"/>
              </a:rPr>
              <a:t>pandas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https://sky.pro/wiki/python/gruppirovka-i-agregaciya-dannyh-v-pandas/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dirty="0" smtClean="0"/>
          </a:p>
          <a:p>
            <a:r>
              <a:rPr lang="ru-RU" sz="2400" i="1" dirty="0" err="1" smtClean="0">
                <a:latin typeface="Cambria" pitchFamily="18" charset="0"/>
              </a:rPr>
              <a:t>Pandas</a:t>
            </a:r>
            <a:r>
              <a:rPr lang="ru-RU" sz="2400" i="1" dirty="0" smtClean="0">
                <a:latin typeface="Cambria" pitchFamily="18" charset="0"/>
              </a:rPr>
              <a:t>: как группировать и агрегировать по нескольким столбцам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https://www.codecamp.ru/blog/pandas-groupby-aggregate-multiple-columns/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Прорабатываем навык использования группировки и визуализации данных в </a:t>
            </a:r>
            <a:r>
              <a:rPr lang="ru-RU" sz="2400" i="1" dirty="0" err="1" smtClean="0">
                <a:latin typeface="Cambria" pitchFamily="18" charset="0"/>
              </a:rPr>
              <a:t>Python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https://habr.com/ru/companies/vk/articles/445834/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Группировка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857232"/>
            <a:ext cx="91440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Часто используемый приём для вычисления чего-либо по данным. Осуществляется с помощью метода </a:t>
            </a:r>
            <a:r>
              <a:rPr lang="ru-RU" sz="22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groupby</a:t>
            </a: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– группирует данные в </a:t>
            </a:r>
            <a:r>
              <a:rPr lang="ru-RU" sz="22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датафрэйме</a:t>
            </a: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по указанным колонкам: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28802"/>
            <a:ext cx="801371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2714620"/>
            <a:ext cx="914400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Применение одного метода </a:t>
            </a: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groupby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не даёт видимого эффекта, хотя на самом деле все строки были объединены в группы по значению в колонке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company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 с одним значением в одну группу, с другим – в другую.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groupby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обычно используется не сам по себе, а в связке с </a:t>
            </a: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agg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или другим методом. Можно использовать несколько колонок для группировки, передав их в виде списка.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4786322"/>
            <a:ext cx="4352925" cy="1933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Агрегация</a:t>
            </a:r>
            <a:endParaRPr lang="ru-RU" b="1" dirty="0"/>
          </a:p>
        </p:txBody>
      </p:sp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0" y="571480"/>
            <a:ext cx="91440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После группировки данных, вы можете применять различные агрегатные функции, такие как 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sum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 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mean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 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count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и другие, используя метод 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agg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 Это позволяет вам получить сводную информацию о каждой группе.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 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agg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указывается, на каких колонках какие действия необходимо произвести: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5214942" cy="26432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5357818" y="2143116"/>
            <a:ext cx="378618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Примеры агрегатных функций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sum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Сумма значений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mean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Среднее значение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count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Количество элементов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min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Минимальное значение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max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Максимальное значение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Применение агрегатных функций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642918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Вы можете комбинировать несколько агрегатных функций для получения более детализированной информации о группах. Это позволяет вам одновременно получить несколько метрик для каждой группы.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785926"/>
            <a:ext cx="5314086" cy="1643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3500438"/>
            <a:ext cx="91440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Метод </a:t>
            </a: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apply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предоставляет большую гибкость в анализе данных. Например, вы можете использовать его для вычисления сложных метрик, которые не могут быть легко выражены с помощью стандартных агрегатных функций.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5072074"/>
            <a:ext cx="6086169" cy="15001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Переименование колонок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71435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идеале названия колонок осмысленны, актуальны, не содержат пробелов и на английском языке. Конечно, для каких-то задач, они могут быть и с пробелами, и на другом языке. В любом случае, если вы хотите их переименовать, для этого есть метод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rename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Один из способов переименования – передать словарь, в котором ключами являются старые названия, а значениями – новые. </a:t>
            </a: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00372"/>
            <a:ext cx="8557706" cy="1076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4357694"/>
            <a:ext cx="9144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А вот пример переименования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лэйблов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строк из </a:t>
            </a:r>
            <a:r>
              <a:rPr lang="ru-RU" sz="2200" i="1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200" i="1" dirty="0" err="1" smtClean="0">
                <a:latin typeface="Times New Roman" pitchFamily="18" charset="0"/>
                <a:cs typeface="Times New Roman" pitchFamily="18" charset="0"/>
              </a:rPr>
              <a:t>Ivanov</a:t>
            </a:r>
            <a:r>
              <a:rPr lang="ru-RU" sz="2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 из </a:t>
            </a:r>
            <a:r>
              <a:rPr lang="ru-RU" sz="2200" i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200" i="1" dirty="0" err="1" smtClean="0">
                <a:latin typeface="Times New Roman" pitchFamily="18" charset="0"/>
                <a:cs typeface="Times New Roman" pitchFamily="18" charset="0"/>
              </a:rPr>
              <a:t>Vasilev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068" y="4857760"/>
            <a:ext cx="8385460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График для корреляции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https://seaborn.pydata.org/generated/seaborn.scatterplot.html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Регрессионная прямая на графике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https://seaborn.pydata.org/generated/seaborn.lmplot.html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4272677"/>
            <a:ext cx="88582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# Создаем базовый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lmplot</a:t>
            </a:r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sns.lmplot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x='math score',        #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ось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X -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баллы по математике</a:t>
            </a:r>
          </a:p>
          <a:p>
            <a:pPr algn="just"/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y='reading score',     #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ось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Y -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баллы по чтению</a:t>
            </a:r>
          </a:p>
          <a:p>
            <a:pPr algn="just"/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data=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df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,              # 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датафрейм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с данными</a:t>
            </a:r>
          </a:p>
          <a:p>
            <a:pPr algn="just"/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height=6,             #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высота графика</a:t>
            </a:r>
          </a:p>
          <a:p>
            <a:pPr algn="just"/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aspect=1.5            #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соотношение сторон</a:t>
            </a:r>
          </a:p>
          <a:p>
            <a:pPr algn="just"/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/>
            <a:endParaRPr lang="ru-RU" sz="12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# Добавляем заголовок</a:t>
            </a:r>
          </a:p>
          <a:p>
            <a:pPr algn="just"/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plt.title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('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Зависимость баллов по чтению от баллов по математике')</a:t>
            </a:r>
          </a:p>
          <a:p>
            <a:pPr algn="just"/>
            <a:endParaRPr lang="ru-RU" sz="12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# Показываем график</a:t>
            </a:r>
          </a:p>
          <a:p>
            <a:pPr algn="just"/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plt.show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()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357298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# Создаем простой </a:t>
            </a:r>
            <a:r>
              <a:rPr lang="en-US" sz="800" dirty="0" err="1" smtClean="0">
                <a:latin typeface="Courier New" pitchFamily="49" charset="0"/>
                <a:cs typeface="Courier New" pitchFamily="49" charset="0"/>
              </a:rPr>
              <a:t>scatterplot</a:t>
            </a:r>
            <a:endParaRPr lang="en-US" sz="8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800" dirty="0" err="1" smtClean="0">
                <a:latin typeface="Courier New" pitchFamily="49" charset="0"/>
                <a:cs typeface="Courier New" pitchFamily="49" charset="0"/>
              </a:rPr>
              <a:t>plt.figure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800" dirty="0" err="1" smtClean="0">
                <a:latin typeface="Courier New" pitchFamily="49" charset="0"/>
                <a:cs typeface="Courier New" pitchFamily="49" charset="0"/>
              </a:rPr>
              <a:t>figsize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=(10, 6))  # 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задаем размер графика</a:t>
            </a:r>
          </a:p>
          <a:p>
            <a:pPr algn="just"/>
            <a:r>
              <a:rPr lang="en-US" sz="800" dirty="0" err="1" smtClean="0">
                <a:latin typeface="Courier New" pitchFamily="49" charset="0"/>
                <a:cs typeface="Courier New" pitchFamily="49" charset="0"/>
              </a:rPr>
              <a:t>sns.scatterplot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/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    data=</a:t>
            </a:r>
            <a:r>
              <a:rPr lang="en-US" sz="800" dirty="0" err="1" smtClean="0">
                <a:latin typeface="Courier New" pitchFamily="49" charset="0"/>
                <a:cs typeface="Courier New" pitchFamily="49" charset="0"/>
              </a:rPr>
              <a:t>df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,                # </a:t>
            </a:r>
            <a:r>
              <a:rPr lang="ru-RU" sz="800" dirty="0" err="1" smtClean="0">
                <a:latin typeface="Courier New" pitchFamily="49" charset="0"/>
                <a:cs typeface="Courier New" pitchFamily="49" charset="0"/>
              </a:rPr>
              <a:t>датафрейм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 с данными</a:t>
            </a:r>
          </a:p>
          <a:p>
            <a:pPr algn="just"/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x='math score',         # 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ось 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X - 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баллы по математике</a:t>
            </a:r>
          </a:p>
          <a:p>
            <a:pPr algn="just"/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y='reading score',      # 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ось 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Y - 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баллы по чтению</a:t>
            </a:r>
          </a:p>
          <a:p>
            <a:pPr algn="just"/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alpha=0.7              # 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прозрачность точек</a:t>
            </a:r>
          </a:p>
          <a:p>
            <a:pPr algn="just"/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/>
            <a:endParaRPr lang="ru-RU" sz="8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# Добавляем оформление</a:t>
            </a:r>
          </a:p>
          <a:p>
            <a:pPr algn="just"/>
            <a:r>
              <a:rPr lang="en-US" sz="800" dirty="0" err="1" smtClean="0">
                <a:latin typeface="Courier New" pitchFamily="49" charset="0"/>
                <a:cs typeface="Courier New" pitchFamily="49" charset="0"/>
              </a:rPr>
              <a:t>plt.title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('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Сравнение баллов по математике и чтению')  # заголовок</a:t>
            </a:r>
          </a:p>
          <a:p>
            <a:pPr algn="just"/>
            <a:r>
              <a:rPr lang="en-US" sz="800" dirty="0" err="1" smtClean="0">
                <a:latin typeface="Courier New" pitchFamily="49" charset="0"/>
                <a:cs typeface="Courier New" pitchFamily="49" charset="0"/>
              </a:rPr>
              <a:t>plt.xlabel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('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Баллы по математике')                     # подпись оси 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X</a:t>
            </a:r>
          </a:p>
          <a:p>
            <a:pPr algn="just"/>
            <a:r>
              <a:rPr lang="en-US" sz="800" dirty="0" err="1" smtClean="0">
                <a:latin typeface="Courier New" pitchFamily="49" charset="0"/>
                <a:cs typeface="Courier New" pitchFamily="49" charset="0"/>
              </a:rPr>
              <a:t>plt.ylabel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('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Баллы по чтению')                         # подпись оси 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Y</a:t>
            </a:r>
          </a:p>
          <a:p>
            <a:pPr algn="just"/>
            <a:endParaRPr lang="en-US" sz="8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ru-RU" sz="800" dirty="0" smtClean="0">
                <a:latin typeface="Courier New" pitchFamily="49" charset="0"/>
                <a:cs typeface="Courier New" pitchFamily="49" charset="0"/>
              </a:rPr>
              <a:t>Показываем график</a:t>
            </a:r>
          </a:p>
          <a:p>
            <a:pPr algn="just"/>
            <a:r>
              <a:rPr lang="en-US" sz="800" dirty="0" err="1" smtClean="0">
                <a:latin typeface="Courier New" pitchFamily="49" charset="0"/>
                <a:cs typeface="Courier New" pitchFamily="49" charset="0"/>
              </a:rPr>
              <a:t>plt.show</a:t>
            </a: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()</a:t>
            </a:r>
            <a:endParaRPr lang="en-US" sz="8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Визуализация сгруппированных данных</a:t>
            </a:r>
            <a:endParaRPr lang="ru-RU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1928802"/>
            <a:ext cx="9144000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fig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ax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 =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plt.subplots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fig.set_size_inches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(25,15)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/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index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 =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np.arange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len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years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))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stolb1 =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ax.bar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index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births_men_list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, 0.4,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color='c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',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label='Мужчины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')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stolb2 =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ax.bar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index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 + 0.4,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births_women_list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, 0.4, alpha=0.8,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color='r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',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label='Женщины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')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/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ax.set_title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('Рождаемость по полу и годам')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ax.set_xlabel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('Года')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ax.set_ylabel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('Рождаемость')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ax.set_xticklabels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years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ax.set_xticks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index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 + 0.4)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ax.legend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(loc=9)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/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fig.tight_layout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()</a:t>
            </a:r>
            <a:b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plt.show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itchFamily="49" charset="0"/>
                <a:cs typeface="Courier New" pitchFamily="49" charset="0"/>
              </a:rPr>
              <a:t>()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1142984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Визуализация сгруппированных по полу и году данных (динамика рождаемости)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124" y="3902500"/>
            <a:ext cx="4714876" cy="2955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6105525"/>
            <a:ext cx="4786314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71406" y="1285860"/>
            <a:ext cx="9024118" cy="14287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2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Быстрая визуализация данных</a:t>
            </a:r>
            <a:r>
              <a:rPr lang="en-US" b="1" dirty="0" smtClean="0"/>
              <a:t>: </a:t>
            </a:r>
            <a:r>
              <a:rPr lang="ru-RU" b="1" dirty="0" smtClean="0"/>
              <a:t>круговая диаграмма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1500174"/>
            <a:ext cx="93583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data.groupby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('...').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agg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({...}).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plot(kind='pie', y='total',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autopct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='%1.0f%%')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plt.show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43165" y="2928934"/>
            <a:ext cx="4371975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Анонимные функции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714356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Обычно используются, когда нужно куда-то быстро поместить нечасто используемый функционал. Если вы планируете использовать анонимную функцию больше одного раза, лучше напишите обычную функцию :)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34" y="1928802"/>
            <a:ext cx="9124866" cy="2771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4857760"/>
            <a:ext cx="928684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Один из примеров использования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лямбда-функции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– переименование колонок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датафрэйме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Здесь мы делаем их заглавными и заменяем дефисы на нижние подчёркивания.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06" y="5929330"/>
            <a:ext cx="6334125" cy="695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Lambda-</a:t>
            </a:r>
            <a:r>
              <a:rPr lang="ru-RU" b="1" dirty="0" smtClean="0"/>
              <a:t>функции для визуализации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05375" y="1928802"/>
            <a:ext cx="4238625" cy="3076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1285860"/>
            <a:ext cx="500062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fig, ax =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plt.subplots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figsize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=(6, 3),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subplot_kw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dict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(aspect="equal"))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16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ax.pie(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data.Class.value_counts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(), labels=["</a:t>
            </a: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Здоров","Болен"],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autopct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lambda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p : '{:.2f}%  ({:,.0f})'.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format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p,p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 sum(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data.Class.value_counts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())/100), colors=["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green","red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"])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16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ax.legend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(["</a:t>
            </a: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Здоров","Болен"],</a:t>
            </a:r>
          </a:p>
          <a:p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         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title="</a:t>
            </a: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Класс",</a:t>
            </a:r>
          </a:p>
          <a:p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         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loc="center left",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         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bbox_to_anchor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=(1, 0, 0.5, 1))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16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ax.set_title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Болен человек диабетом?")</a:t>
            </a:r>
          </a:p>
          <a:p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ru-RU" sz="16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plt.show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477</Words>
  <Application>Microsoft Office PowerPoint</Application>
  <PresentationFormat>Экран (4:3)</PresentationFormat>
  <Paragraphs>88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Анализ и визуализация данных</vt:lpstr>
      <vt:lpstr>Дополнительные материалы</vt:lpstr>
      <vt:lpstr>Группировка</vt:lpstr>
      <vt:lpstr>Агрегация</vt:lpstr>
      <vt:lpstr>Применение агрегатных функций</vt:lpstr>
      <vt:lpstr>Переименование колонок</vt:lpstr>
      <vt:lpstr>Задание 2</vt:lpstr>
      <vt:lpstr>Визуализация сгруппированных данных</vt:lpstr>
      <vt:lpstr>Быстрая визуализация данных: круговая диаграмма</vt:lpstr>
      <vt:lpstr>Анонимные функции</vt:lpstr>
      <vt:lpstr>Lambda-функции для визуализации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 визуализация данных</dc:title>
  <dc:creator>user</dc:creator>
  <cp:lastModifiedBy>user</cp:lastModifiedBy>
  <cp:revision>4</cp:revision>
  <dcterms:created xsi:type="dcterms:W3CDTF">2026-03-27T17:03:18Z</dcterms:created>
  <dcterms:modified xsi:type="dcterms:W3CDTF">2026-03-27T17:39:47Z</dcterms:modified>
</cp:coreProperties>
</file>