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DBA-B230-4C33-981F-D4045F4DF3AE}" type="datetimeFigureOut">
              <a:rPr lang="ru-RU" smtClean="0"/>
              <a:pPr/>
              <a:t>28.02.2026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260C9-58CB-4B51-8EE4-D82D9AAA88B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DBA-B230-4C33-981F-D4045F4DF3AE}" type="datetimeFigureOut">
              <a:rPr lang="ru-RU" smtClean="0"/>
              <a:pPr/>
              <a:t>28.02.2026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260C9-58CB-4B51-8EE4-D82D9AAA88B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DBA-B230-4C33-981F-D4045F4DF3AE}" type="datetimeFigureOut">
              <a:rPr lang="ru-RU" smtClean="0"/>
              <a:pPr/>
              <a:t>28.02.2026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260C9-58CB-4B51-8EE4-D82D9AAA88B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DBA-B230-4C33-981F-D4045F4DF3AE}" type="datetimeFigureOut">
              <a:rPr lang="ru-RU" smtClean="0"/>
              <a:pPr/>
              <a:t>28.02.2026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260C9-58CB-4B51-8EE4-D82D9AAA88B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DBA-B230-4C33-981F-D4045F4DF3AE}" type="datetimeFigureOut">
              <a:rPr lang="ru-RU" smtClean="0"/>
              <a:pPr/>
              <a:t>28.02.2026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260C9-58CB-4B51-8EE4-D82D9AAA88B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DBA-B230-4C33-981F-D4045F4DF3AE}" type="datetimeFigureOut">
              <a:rPr lang="ru-RU" smtClean="0"/>
              <a:pPr/>
              <a:t>28.02.2026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260C9-58CB-4B51-8EE4-D82D9AAA88B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DBA-B230-4C33-981F-D4045F4DF3AE}" type="datetimeFigureOut">
              <a:rPr lang="ru-RU" smtClean="0"/>
              <a:pPr/>
              <a:t>28.02.2026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260C9-58CB-4B51-8EE4-D82D9AAA88B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DBA-B230-4C33-981F-D4045F4DF3AE}" type="datetimeFigureOut">
              <a:rPr lang="ru-RU" smtClean="0"/>
              <a:pPr/>
              <a:t>28.02.2026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260C9-58CB-4B51-8EE4-D82D9AAA88B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DBA-B230-4C33-981F-D4045F4DF3AE}" type="datetimeFigureOut">
              <a:rPr lang="ru-RU" smtClean="0"/>
              <a:pPr/>
              <a:t>28.02.2026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260C9-58CB-4B51-8EE4-D82D9AAA88B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DBA-B230-4C33-981F-D4045F4DF3AE}" type="datetimeFigureOut">
              <a:rPr lang="ru-RU" smtClean="0"/>
              <a:pPr/>
              <a:t>28.02.2026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260C9-58CB-4B51-8EE4-D82D9AAA88B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DBA-B230-4C33-981F-D4045F4DF3AE}" type="datetimeFigureOut">
              <a:rPr lang="ru-RU" smtClean="0"/>
              <a:pPr/>
              <a:t>28.02.2026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260C9-58CB-4B51-8EE4-D82D9AAA88B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BDDBA-B230-4C33-981F-D4045F4DF3AE}" type="datetimeFigureOut">
              <a:rPr lang="ru-RU" smtClean="0"/>
              <a:pPr/>
              <a:t>28.02.2026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260C9-58CB-4B51-8EE4-D82D9AAA88B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468295/?ysclid=mm6c2pvir8374290382" TargetMode="External"/><Relationship Id="rId2" Type="http://schemas.openxmlformats.org/officeDocument/2006/relationships/hyperlink" Target="https://thecode.media/biblioteka-matplotlib/?ysclid=mm6bq0hme9591579043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ython-school.ru/blog/analiz-dannyh/data-vizualization-basic-pandas/?ysclid=mm6bt3g1rn97266548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isk.360.yandex.ru/d/tTCzvVwccBw5lQ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360.yandex.ru/d/MX1QoFVv6R0JXg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Визуализация данных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214422"/>
            <a:ext cx="9144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: полное руководство по визуализации данных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://thecode.media/biblioteka-matplotlib/?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ysclid=mm6bq0hme9591579043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https://habr.com/ru/articles/468295/?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3"/>
              </a:rPr>
              <a:t>ysclid=mm6c2pvir8374290382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графиков для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Science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, которые можно построить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3 способами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https://python-school.ru/blog/analiz-dannyh/data-vizualization-basic-pandas/?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ysclid=mm6bt3g1rn972665485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Дополнительные материалы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357166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Сначала задают общий стиль — это экономит время и делает графики единообразными.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есть готовые темы (стили)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Стили — это предопределённые наборы эстетических решений, которые изменяют цвета, стили линий, шрифты, линии сетки и другие визуальные свойства.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['Solarize_Light2', '_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classic_test_patch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'_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mpl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-gallery', '_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mpl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-gallery-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nogrid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bmh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'classic',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dark_background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'fast',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fivethirtyeight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ggplot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'grayscale‘ …]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43248"/>
            <a:ext cx="255270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2643182"/>
            <a:ext cx="3542623" cy="30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786454"/>
            <a:ext cx="37861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нужно применить стиль только для одного графика, используйте контекстный менеджер: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3438" y="6072206"/>
            <a:ext cx="417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6286512" y="2643182"/>
            <a:ext cx="285748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также вручную задать: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размер фигуры: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plt.figure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figsize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=(10, 6))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ширина 10 дюймов, высота 6);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разрешение: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plt.figure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(dpi=100);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цвет фона: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plt.gca().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set_facecolor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('#f0f0f0').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-71462"/>
            <a:ext cx="91440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2. Подписи осей и заголовка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самое важное для понимания графика. Без подписей зритель не поймёт, что значит ось X или Y.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Заголовок графика: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plt.title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('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Продажи по месяцам',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=16,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fontweight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='bold', pad=20)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размер шрифта,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fontweight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начертание,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pad —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отступ от графика.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Подпись оси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X:</a:t>
            </a:r>
          </a:p>
          <a:p>
            <a:pPr algn="just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plt.xlabel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('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Месяц',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=12,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labelpad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=10)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Подпись оси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Y:</a:t>
            </a:r>
          </a:p>
          <a:p>
            <a:pPr algn="just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plt.ylabel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('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Выручка, тыс. руб.',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=12,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labelpad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=10)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Параметры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labelpad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задают отступ подписи от оси. Можно также менять цвет, шрифт, выравнивание — всё через дополнительные аргументы.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3. Легенда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Легенда поясняет, что означают цвета/маркеры на графике (например, разные линии — «Продукт А», «Продукт Б»).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Чтобы легенда появилась, при построении линий укажите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label:</a:t>
            </a:r>
          </a:p>
          <a:p>
            <a:pPr algn="just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plt.plot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(x, y1, label='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Продукт А')</a:t>
            </a:r>
          </a:p>
          <a:p>
            <a:pPr algn="just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plt.plot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(x, y2, label='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Продукт Б')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Затем вызовите:</a:t>
            </a:r>
          </a:p>
          <a:p>
            <a:pPr algn="just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plt.legend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(loc='upper left',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=11,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frameon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=True,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framealpha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=0.9,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edgecolor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='gray')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loc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местоположение ('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upper right', 'lower center'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т. п.);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размер шрифта;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frameon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показать рамку вокруг легенды;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framealpha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прозрачность рамки;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edgecolor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цвет границы рамки.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-71462"/>
            <a:ext cx="91440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4. Деления и подписи на осях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Иногда нужно вручную задать, какие значения показывать на осях и как их подписывать.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Изменить шаг делений: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plt.xticks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np.arange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(0, 101, 10))  # от 0 до 100 с шагом 10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plt.yticks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np.arange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(0, 1001, 100))  # от 0 до 1000 с шагом 100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Повернуть подписи (если они длинные и налезают друг на друга):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plt.xticks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(rotation=45)  # повернуть на 45 градусов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Задать свои подписи: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plt.xticks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([1, 2, 3], ['Январь', 'Февраль', 'Март'])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5. Сетка и фоновые элементы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Сетка помогает глазу «привязываться» к значениям.</a:t>
            </a:r>
          </a:p>
          <a:p>
            <a:pPr algn="just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plt.grid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(True,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linestyle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='--', alpha=0.7, color='gray')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True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включить сетку;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linestyle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стиль линии ('--' — пунктир, '-' — сплошная);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alpha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прозрачность (от 0 до 1);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color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цвет.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включать сетку только по одной оси:</a:t>
            </a:r>
          </a:p>
          <a:p>
            <a:pPr algn="just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plt.grid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(axis='y', ...)  #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только по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6. Цвета и маркеры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построении линий/столбиков можно явно задать: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цвет: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color='red'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или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color='#FF5733' (HEX‑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код);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тип линии: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linestyle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='-'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сплошная), '--' (пунктир), ':' (точка);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маркер точек: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marker='o'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круг), '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s'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квадрат), '^' (треугольник);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размер маркера: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markersize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=6.</a:t>
            </a:r>
          </a:p>
          <a:p>
            <a:pPr algn="just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plt.plot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(x, y, color='blue',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linestyle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='--', marker='o',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markersize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=5, label='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Данные')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7. Размеры и отступы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Чтобы всё уместилось и не обрезалось: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Задайте размер фигуры заранее (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figsize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Настройте отступы:</a:t>
            </a:r>
          </a:p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plt.tight_layout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()  #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автоматически подбирает отступы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Или вручную:</a:t>
            </a:r>
          </a:p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plt.subplots_adjust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(left=0.1, right=0.9, top=0.9, bottom=0.1)</a:t>
            </a:r>
          </a:p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. Сохранение графика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Чтобы сохранить в файл:</a:t>
            </a:r>
          </a:p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plt.savefig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('my_plot.png', dpi=300,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bbox_inches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='tight',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facecolor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='white')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dpi —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разрешение (300 — для печати);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bbox_inches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='tight' —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уберет лишние отступы;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facecolor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цвет фона изображения.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3357562"/>
            <a:ext cx="6962775" cy="35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8995514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02943" y="4714888"/>
            <a:ext cx="3341057" cy="2143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5929330"/>
            <a:ext cx="46153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4"/>
              </a:rPr>
              <a:t>disk.360.yandex.ru/d/tTCzvVwccBw5lQ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Этот код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062397" cy="431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1571604" y="4643446"/>
            <a:ext cx="62865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plt.subplots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(2, 1) — сетка из 2 строк и 1 столбца.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axs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[0] — верхняя панель,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axs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[1] — нижняя.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На каждой панели свой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plot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(), свои подписи и заголовок.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tight_layout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автоматически подстраивает отступы.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"/>
            <a:ext cx="9144000" cy="528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2000232" y="535782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Здесь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axs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двумерный массив: первая цифра — строка,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вторая — столбец.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28860" y="0"/>
            <a:ext cx="4515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Как начать работать с </a:t>
            </a:r>
            <a:r>
              <a:rPr lang="ru-RU" b="1" dirty="0" err="1" smtClean="0"/>
              <a:t>Plotly</a:t>
            </a:r>
            <a:r>
              <a:rPr lang="ru-RU" b="1" dirty="0" smtClean="0"/>
              <a:t> в </a:t>
            </a:r>
            <a:r>
              <a:rPr lang="ru-RU" b="1" dirty="0" err="1" smtClean="0"/>
              <a:t>Colab</a:t>
            </a:r>
            <a:r>
              <a:rPr lang="ru-RU" b="1" dirty="0" smtClean="0"/>
              <a:t>/</a:t>
            </a:r>
            <a:r>
              <a:rPr lang="ru-RU" b="1" dirty="0" err="1" smtClean="0"/>
              <a:t>Jupyter</a:t>
            </a:r>
            <a:endParaRPr lang="ru-RU" b="1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512" y="1000108"/>
            <a:ext cx="3594224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1714512" y="571480"/>
            <a:ext cx="5715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Установите библиотеку</a:t>
            </a:r>
            <a:r>
              <a:rPr lang="ru-RU" dirty="0" smtClean="0"/>
              <a:t> (если ещё не установлена):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714512" y="1714488"/>
            <a:ext cx="2531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Импортируйте модули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512" y="2000240"/>
            <a:ext cx="22764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512" y="3143248"/>
            <a:ext cx="40481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1714512" y="2786058"/>
            <a:ext cx="4520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Включите режим отображения в </a:t>
            </a:r>
            <a:r>
              <a:rPr lang="ru-RU" b="1" dirty="0" err="1" smtClean="0"/>
              <a:t>notebook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286256"/>
            <a:ext cx="52959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5357818" y="4429132"/>
            <a:ext cx="37861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Наведите курсор — появится подсказка с точным значением.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Увеличьте участок, выделив его мышкой.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Нажмите на легенду, чтобы скрыть/показать линию.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0"/>
            <a:ext cx="719137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2143108" y="200024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Цвет точек показывает город.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наведении — все значения записи.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фильтровать по цвету через легенду.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478157" y="3244334"/>
            <a:ext cx="4187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Гистограмма с интерактивной легендой</a:t>
            </a:r>
            <a:endParaRPr lang="ru-RU" b="1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714752"/>
            <a:ext cx="7467600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539115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9100" y="2357430"/>
            <a:ext cx="5324899" cy="4500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3071810"/>
            <a:ext cx="37861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Вращайте график, зажав левую кнопку мыши.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Приближайте/отдаляйте колёсиком.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214422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085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Бесплатные сервисы для дизайна графиков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indent="450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https://fontjoy.com/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Если вы хотите использовать </a:t>
            </a:r>
            <a:r>
              <a:rPr lang="ru-RU" sz="28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 графике 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два стильных шрифта, но есть трудности с подбором, </a:t>
            </a:r>
            <a:r>
              <a:rPr lang="ru-RU" sz="28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данный сервис поможет вам подобрать парный шрифт.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indent="450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https://mycolor.space/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Выдает градиенты и палитру по нужному цвету.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indent="450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https://picular.co/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</a:t>
            </a: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Интересная разработка, позволяющая подбирать цвета по ассоциациям.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t="3417"/>
          <a:stretch>
            <a:fillRect/>
          </a:stretch>
        </p:blipFill>
        <p:spPr bwMode="auto">
          <a:xfrm>
            <a:off x="0" y="142852"/>
            <a:ext cx="3714744" cy="3181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3714744" y="142852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# Данные: продажи за 4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квартала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quarters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= ['Q1', 'Q2', 'Q3', 'Q4']</a:t>
            </a:r>
          </a:p>
          <a:p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sales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= [100, 103, 107, 110]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ax2.bar(quarters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, sales)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ax2.set_ylim(95, 120)  #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Обрезка!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ax2.set_title('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Искажённо: ось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Y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от 95')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ax2.set_ylabel('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Продажи (тыс. руб.)')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786182" y="3318570"/>
            <a:ext cx="4572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dates =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pd.to_datetime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(['2024-01-01', '2024-03-01', '2024-09-01', '2024-12-01'])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users = [100, 150, 160, 200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]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ax2.plot([1, 2, 3, 4], users, marker='o')  # 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Номера точек вместо дат!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ax2.set_xticks([1, 2, 3, 4])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ax2.set_xticklabels(['1 </a:t>
            </a:r>
            <a:r>
              <a:rPr lang="ru-RU" sz="1400" dirty="0" err="1" smtClean="0">
                <a:latin typeface="Courier New" pitchFamily="49" charset="0"/>
                <a:cs typeface="Courier New" pitchFamily="49" charset="0"/>
              </a:rPr>
              <a:t>янв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', '1 </a:t>
            </a:r>
            <a:r>
              <a:rPr lang="ru-RU" sz="1400" dirty="0" err="1" smtClean="0">
                <a:latin typeface="Courier New" pitchFamily="49" charset="0"/>
                <a:cs typeface="Courier New" pitchFamily="49" charset="0"/>
              </a:rPr>
              <a:t>мар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', '1 сен', '1 дек'])  # Подписи для видимости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ax2.set_title('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Искажённо: ось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X — 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равномерные интервалы')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ax2.set_xlabel('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Измерения (фиктивные)')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ax2.set_ylabel('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Число пользователей')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ax2.grid(True,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linestyle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='--', alpha=0.7)</a:t>
            </a:r>
          </a:p>
          <a:p>
            <a:pPr algn="just"/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plt.show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()</a:t>
            </a:r>
            <a:endParaRPr lang="ru-RU" sz="14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3571876"/>
            <a:ext cx="3536076" cy="3286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643438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4572000" y="0"/>
            <a:ext cx="4572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# Данные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days = ['</a:t>
            </a:r>
            <a:r>
              <a:rPr lang="ru-RU" sz="1000" dirty="0" err="1" smtClean="0">
                <a:latin typeface="Courier New" pitchFamily="49" charset="0"/>
                <a:cs typeface="Courier New" pitchFamily="49" charset="0"/>
              </a:rPr>
              <a:t>Пн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', 'Вт', 'Ср', '</a:t>
            </a:r>
            <a:r>
              <a:rPr lang="ru-RU" sz="1000" dirty="0" err="1" smtClean="0">
                <a:latin typeface="Courier New" pitchFamily="49" charset="0"/>
                <a:cs typeface="Courier New" pitchFamily="49" charset="0"/>
              </a:rPr>
              <a:t>Чт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', '</a:t>
            </a:r>
            <a:r>
              <a:rPr lang="ru-RU" sz="1000" dirty="0" err="1" smtClean="0">
                <a:latin typeface="Courier New" pitchFamily="49" charset="0"/>
                <a:cs typeface="Courier New" pitchFamily="49" charset="0"/>
              </a:rPr>
              <a:t>Пт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']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coffee = [2, 3, 4, 5, 6]      #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Чашек кофе в день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tasks = [10, 15, 20, 25, 30]  #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Выполненных задач</a:t>
            </a:r>
          </a:p>
          <a:p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# Создаём график с двумя осями 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Y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fig, ax1 = 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plt.subplots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figsize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=(8, 5))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#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Левая ось (кофе)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ax1.set_xlabel('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День недели')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ax1.set_ylabel('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Чашек кофе', 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color='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tab:blue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')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ax1.plot(days, coffee, color='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tab:blue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', marker='o', label='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Кофе')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ax1.tick_params(axis='y', 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labelcolor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='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tab:blue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')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#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Правая ось (задачи)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ax2 = ax1.twinx()  #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Создаём вторую ось 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Y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ax2.set_ylabel('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Выполнено задач', 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color='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tab:orange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')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ax2.plot(days, tasks, color='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tab:orange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', marker='s', label='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Задачи')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ax2.tick_params(axis='y', 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labelcolor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='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tab:orange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')</a:t>
            </a:r>
          </a:p>
          <a:p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#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Заголовок и легенда</a:t>
            </a:r>
          </a:p>
          <a:p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plt.title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('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Двойная ось 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Y: </a:t>
            </a:r>
            <a:r>
              <a:rPr lang="ru-RU" sz="1000" dirty="0" smtClean="0">
                <a:latin typeface="Courier New" pitchFamily="49" charset="0"/>
                <a:cs typeface="Courier New" pitchFamily="49" charset="0"/>
              </a:rPr>
              <a:t>иллюзия связи')</a:t>
            </a:r>
          </a:p>
          <a:p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fig.legend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(loc='upper left', 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bbox_to_anchor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=(0.1, 0.9))</a:t>
            </a:r>
          </a:p>
          <a:p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plt.show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()</a:t>
            </a:r>
            <a:endParaRPr lang="ru-RU" sz="10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 t="1724"/>
          <a:stretch>
            <a:fillRect/>
          </a:stretch>
        </p:blipFill>
        <p:spPr bwMode="auto">
          <a:xfrm>
            <a:off x="0" y="3626311"/>
            <a:ext cx="3571868" cy="3231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3857620" y="3441680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# Месяцы и данные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months = ['</a:t>
            </a:r>
            <a:r>
              <a:rPr lang="ru-RU" sz="1200" dirty="0" err="1" smtClean="0">
                <a:latin typeface="Courier New" pitchFamily="49" charset="0"/>
                <a:cs typeface="Courier New" pitchFamily="49" charset="0"/>
              </a:rPr>
              <a:t>Янв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', '</a:t>
            </a:r>
            <a:r>
              <a:rPr lang="ru-RU" sz="1200" dirty="0" err="1" smtClean="0">
                <a:latin typeface="Courier New" pitchFamily="49" charset="0"/>
                <a:cs typeface="Courier New" pitchFamily="49" charset="0"/>
              </a:rPr>
              <a:t>Фев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', '</a:t>
            </a:r>
            <a:r>
              <a:rPr lang="ru-RU" sz="1200" dirty="0" err="1" smtClean="0">
                <a:latin typeface="Courier New" pitchFamily="49" charset="0"/>
                <a:cs typeface="Courier New" pitchFamily="49" charset="0"/>
              </a:rPr>
              <a:t>Мар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', '</a:t>
            </a:r>
            <a:r>
              <a:rPr lang="ru-RU" sz="1200" dirty="0" err="1" smtClean="0">
                <a:latin typeface="Courier New" pitchFamily="49" charset="0"/>
                <a:cs typeface="Courier New" pitchFamily="49" charset="0"/>
              </a:rPr>
              <a:t>Апр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']</a:t>
            </a:r>
          </a:p>
          <a:p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blogger_A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= [10, 100, 1000, 10000]  #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Экспоненциальный рост</a:t>
            </a:r>
          </a:p>
          <a:p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blogger_B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= [10, 20, 30, 40]       #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Линейный рост</a:t>
            </a: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# ПРАВЫЙ ГРАФИК: логарифмическая шкала БЕЗ подписи (обман)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ax2.plot(months,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blogger_A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, marker='o', label='</a:t>
            </a:r>
            <a:r>
              <a:rPr lang="ru-RU" sz="1200" dirty="0" err="1" smtClean="0">
                <a:latin typeface="Courier New" pitchFamily="49" charset="0"/>
                <a:cs typeface="Courier New" pitchFamily="49" charset="0"/>
              </a:rPr>
              <a:t>Блогер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A')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ax2.plot(months,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blogger_B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, marker='s', label='</a:t>
            </a:r>
            <a:r>
              <a:rPr lang="ru-RU" sz="1200" dirty="0" err="1" smtClean="0">
                <a:latin typeface="Courier New" pitchFamily="49" charset="0"/>
                <a:cs typeface="Courier New" pitchFamily="49" charset="0"/>
              </a:rPr>
              <a:t>Блогер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B')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ax2.set_yscale('log')  #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Включаем логарифм!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ax2.set_title('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Логарифмическая шкала (без пояснения)')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ax2.set_ylabel('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Подписчики (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log)')  #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Вот здесь должна быть подпись!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ax2.legend()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5500702"/>
            <a:ext cx="9144000" cy="12144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4214818"/>
            <a:ext cx="9144000" cy="12144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35719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0" y="42860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Представьте, что у вас есть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датафрэйм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income.csv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запишите его в переменную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хранящий данные о зарплате за месяц, со всего 1-ой колонкой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income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Укажите верные способы, как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отрисовать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простой график зависимости зарплаты от даты (то, как отображается дата сейчас не важно, главное сам график)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0364" y="1714488"/>
            <a:ext cx="3267075" cy="2157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5500702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Скачайте датасэт с данными о героях из игры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dota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2 и посмотрите на распределение их возможных ролей в игре (колонка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roles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Постройте гистограмму, отражающую скольким героям сколько ролей приписывается (по мнению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Valve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конечно) и напишите какое число ролей у большинства героев.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4357694"/>
            <a:ext cx="91439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Вам дан датасэт с 2-мя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фичами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(колонками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dataset_1.txt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Постройте график распределения точек (наблюдений) в пространстве этих 2-ух переменных (одна из них будет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а другая -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 напишите число кластеров, формируемых наблюдениями.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0"/>
            <a:ext cx="92868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3"/>
              </a:rPr>
              <a:t>disk.360.yandex.ru/d/MX1QoFVv6R0JXg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1285</Words>
  <Application>Microsoft Office PowerPoint</Application>
  <PresentationFormat>Экран (4:3)</PresentationFormat>
  <Paragraphs>153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Визуализация данных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18</cp:revision>
  <dcterms:created xsi:type="dcterms:W3CDTF">2026-02-11T08:33:27Z</dcterms:created>
  <dcterms:modified xsi:type="dcterms:W3CDTF">2026-02-28T14:10:27Z</dcterms:modified>
</cp:coreProperties>
</file>