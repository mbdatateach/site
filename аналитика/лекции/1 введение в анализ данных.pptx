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diagrams/colors1.xml" ContentType="application/vnd.openxmlformats-officedocument.drawingml.diagramColors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Override PartName="/ppt/diagrams/quickStyle1.xml" ContentType="application/vnd.openxmlformats-officedocument.drawingml.diagramStyl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diagrams/layout1.xml" ContentType="application/vnd.openxmlformats-officedocument.drawingml.diagram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diagrams/data1.xml" ContentType="application/vnd.openxmlformats-officedocument.drawingml.diagramData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2" r:id="rId15"/>
    <p:sldId id="271" r:id="rId16"/>
    <p:sldId id="270" r:id="rId17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E5DF"/>
  </p:clrMru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 varScale="1">
        <p:scale>
          <a:sx n="107" d="100"/>
          <a:sy n="107" d="100"/>
        </p:scale>
        <p:origin x="-1650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4A0E8AE-D35C-4E8A-90D8-6C49B16C7682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012B3ACC-3D76-427E-9F27-7F5DF94D8322}">
      <dgm:prSet phldrT="[Текст]"/>
      <dgm:spPr/>
      <dgm:t>
        <a:bodyPr/>
        <a:lstStyle/>
        <a:p>
          <a:r>
            <a:rPr lang="ru-RU" b="1" dirty="0" smtClean="0"/>
            <a:t>Бизнес и </a:t>
          </a:r>
          <a:r>
            <a:rPr lang="ru-RU" b="1" dirty="0" err="1" smtClean="0"/>
            <a:t>ритейл</a:t>
          </a:r>
          <a:endParaRPr lang="ru-RU" dirty="0" smtClean="0"/>
        </a:p>
        <a:p>
          <a:r>
            <a:rPr lang="ru-RU" dirty="0" smtClean="0"/>
            <a:t>сегментация аудитории; </a:t>
          </a:r>
          <a:r>
            <a:rPr lang="ru-RU" dirty="0" err="1" smtClean="0"/>
            <a:t>персонализация</a:t>
          </a:r>
          <a:r>
            <a:rPr lang="ru-RU" dirty="0" smtClean="0"/>
            <a:t> предложений; оптимизация запасов и цепочек поставок; анализ клиентского опыта.</a:t>
          </a:r>
          <a:endParaRPr lang="ru-RU" dirty="0"/>
        </a:p>
      </dgm:t>
    </dgm:pt>
    <dgm:pt modelId="{6ED9B9D5-2B9F-4E32-A565-6DDF8E4786CE}" type="parTrans" cxnId="{42706EAF-8712-4A94-912C-08B1008474AA}">
      <dgm:prSet/>
      <dgm:spPr/>
      <dgm:t>
        <a:bodyPr/>
        <a:lstStyle/>
        <a:p>
          <a:endParaRPr lang="ru-RU"/>
        </a:p>
      </dgm:t>
    </dgm:pt>
    <dgm:pt modelId="{7666D70C-1B42-4E5A-B3AC-E38A3710F267}" type="sibTrans" cxnId="{42706EAF-8712-4A94-912C-08B1008474AA}">
      <dgm:prSet/>
      <dgm:spPr/>
      <dgm:t>
        <a:bodyPr/>
        <a:lstStyle/>
        <a:p>
          <a:endParaRPr lang="ru-RU"/>
        </a:p>
      </dgm:t>
    </dgm:pt>
    <dgm:pt modelId="{9127FF8C-EB95-46A9-A85A-C092E783675D}">
      <dgm:prSet phldrT="[Текст]"/>
      <dgm:spPr/>
      <dgm:t>
        <a:bodyPr/>
        <a:lstStyle/>
        <a:p>
          <a:r>
            <a:rPr lang="ru-RU" b="1" dirty="0" smtClean="0"/>
            <a:t>Здравоохранение</a:t>
          </a:r>
          <a:endParaRPr lang="ru-RU" dirty="0" smtClean="0"/>
        </a:p>
        <a:p>
          <a:r>
            <a:rPr lang="ru-RU" dirty="0" smtClean="0"/>
            <a:t>ранняя диагностика заболеваний; персонализированная медицина; прогнозирование эпидемий; оптимизация работы медучреждений.</a:t>
          </a:r>
          <a:endParaRPr lang="ru-RU" dirty="0"/>
        </a:p>
      </dgm:t>
    </dgm:pt>
    <dgm:pt modelId="{42681F4D-ABA2-400D-81D6-2E04FB1F3E86}" type="parTrans" cxnId="{4CBEFDCD-3A1E-4217-B1AC-7E60ABFE5CD7}">
      <dgm:prSet/>
      <dgm:spPr/>
      <dgm:t>
        <a:bodyPr/>
        <a:lstStyle/>
        <a:p>
          <a:endParaRPr lang="ru-RU"/>
        </a:p>
      </dgm:t>
    </dgm:pt>
    <dgm:pt modelId="{B03224F2-D942-4AE9-BFF8-6B5461DCE90F}" type="sibTrans" cxnId="{4CBEFDCD-3A1E-4217-B1AC-7E60ABFE5CD7}">
      <dgm:prSet/>
      <dgm:spPr/>
      <dgm:t>
        <a:bodyPr/>
        <a:lstStyle/>
        <a:p>
          <a:endParaRPr lang="ru-RU"/>
        </a:p>
      </dgm:t>
    </dgm:pt>
    <dgm:pt modelId="{2B349A0C-03BD-4516-91BC-1202C939951A}">
      <dgm:prSet phldrT="[Текст]"/>
      <dgm:spPr/>
      <dgm:t>
        <a:bodyPr/>
        <a:lstStyle/>
        <a:p>
          <a:r>
            <a:rPr lang="ru-RU" b="1" dirty="0" smtClean="0"/>
            <a:t>Государственное управление</a:t>
          </a:r>
          <a:endParaRPr lang="ru-RU" dirty="0" smtClean="0"/>
        </a:p>
        <a:p>
          <a:r>
            <a:rPr lang="ru-RU" dirty="0" smtClean="0"/>
            <a:t>борьба с коррупцией (анализ </a:t>
          </a:r>
          <a:r>
            <a:rPr lang="ru-RU" dirty="0" err="1" smtClean="0"/>
            <a:t>госзакупок</a:t>
          </a:r>
          <a:r>
            <a:rPr lang="ru-RU" dirty="0" smtClean="0"/>
            <a:t>); улучшение </a:t>
          </a:r>
          <a:r>
            <a:rPr lang="ru-RU" dirty="0" err="1" smtClean="0"/>
            <a:t>госуслуг</a:t>
          </a:r>
          <a:r>
            <a:rPr lang="ru-RU" dirty="0" smtClean="0"/>
            <a:t> (анализ обращений); планирование инфраструктурных проектов.</a:t>
          </a:r>
          <a:endParaRPr lang="ru-RU" dirty="0"/>
        </a:p>
      </dgm:t>
    </dgm:pt>
    <dgm:pt modelId="{0B593EE6-1952-43F6-9886-51255C163C39}" type="parTrans" cxnId="{AA018269-05D3-46AA-8687-81C280FB0644}">
      <dgm:prSet/>
      <dgm:spPr/>
      <dgm:t>
        <a:bodyPr/>
        <a:lstStyle/>
        <a:p>
          <a:endParaRPr lang="ru-RU"/>
        </a:p>
      </dgm:t>
    </dgm:pt>
    <dgm:pt modelId="{62938046-0892-46DB-957E-0585A7BDC422}" type="sibTrans" cxnId="{AA018269-05D3-46AA-8687-81C280FB0644}">
      <dgm:prSet/>
      <dgm:spPr/>
      <dgm:t>
        <a:bodyPr/>
        <a:lstStyle/>
        <a:p>
          <a:endParaRPr lang="ru-RU"/>
        </a:p>
      </dgm:t>
    </dgm:pt>
    <dgm:pt modelId="{64ED416B-9D40-460C-9300-189D690DFC03}">
      <dgm:prSet phldrT="[Текст]"/>
      <dgm:spPr/>
      <dgm:t>
        <a:bodyPr/>
        <a:lstStyle/>
        <a:p>
          <a:r>
            <a:rPr lang="ru-RU" b="1" dirty="0" smtClean="0"/>
            <a:t>Телеком и IT</a:t>
          </a:r>
          <a:endParaRPr lang="ru-RU" dirty="0" smtClean="0"/>
        </a:p>
        <a:p>
          <a:r>
            <a:rPr lang="ru-RU" dirty="0" smtClean="0"/>
            <a:t>прогнозирование оттока абонентов; оптимизация сетевых ресурсов; анализ пользовательского поведения в приложениях.</a:t>
          </a:r>
          <a:endParaRPr lang="ru-RU" dirty="0"/>
        </a:p>
      </dgm:t>
    </dgm:pt>
    <dgm:pt modelId="{813F29E6-B6B4-4FCF-9346-D47EF260CA42}" type="parTrans" cxnId="{72CF376C-44C4-4C4A-9E54-EE971BAEFFA5}">
      <dgm:prSet/>
      <dgm:spPr/>
      <dgm:t>
        <a:bodyPr/>
        <a:lstStyle/>
        <a:p>
          <a:endParaRPr lang="ru-RU"/>
        </a:p>
      </dgm:t>
    </dgm:pt>
    <dgm:pt modelId="{0A233043-C5EE-4483-A049-F367CEE6DCA7}" type="sibTrans" cxnId="{72CF376C-44C4-4C4A-9E54-EE971BAEFFA5}">
      <dgm:prSet/>
      <dgm:spPr/>
      <dgm:t>
        <a:bodyPr/>
        <a:lstStyle/>
        <a:p>
          <a:endParaRPr lang="ru-RU"/>
        </a:p>
      </dgm:t>
    </dgm:pt>
    <dgm:pt modelId="{133F6773-E61D-421B-8D8F-0A3388EAF06F}" type="pres">
      <dgm:prSet presAssocID="{64A0E8AE-D35C-4E8A-90D8-6C49B16C7682}" presName="diagram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CF27874C-A946-4841-BD16-69AD5F34CEBE}" type="pres">
      <dgm:prSet presAssocID="{012B3ACC-3D76-427E-9F27-7F5DF94D8322}" presName="node" presStyleLbl="node1" presStyleIdx="0" presStyleCnt="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60CABB4-EA5E-44F5-AAF8-062934D1A67B}" type="pres">
      <dgm:prSet presAssocID="{7666D70C-1B42-4E5A-B3AC-E38A3710F267}" presName="sibTrans" presStyleCnt="0"/>
      <dgm:spPr/>
    </dgm:pt>
    <dgm:pt modelId="{0805AD1B-A617-4A0C-AB91-AD03AD97F9B3}" type="pres">
      <dgm:prSet presAssocID="{9127FF8C-EB95-46A9-A85A-C092E783675D}" presName="node" presStyleLbl="node1" presStyleIdx="1" presStyleCnt="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06092D3F-5906-4EEF-9CCD-79462A30A345}" type="pres">
      <dgm:prSet presAssocID="{B03224F2-D942-4AE9-BFF8-6B5461DCE90F}" presName="sibTrans" presStyleCnt="0"/>
      <dgm:spPr/>
    </dgm:pt>
    <dgm:pt modelId="{58AD9004-2F8A-4730-BA41-006A8CA49CF8}" type="pres">
      <dgm:prSet presAssocID="{2B349A0C-03BD-4516-91BC-1202C939951A}" presName="node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9B9E6842-2DD9-444E-B015-1B5B46A9E8FB}" type="pres">
      <dgm:prSet presAssocID="{62938046-0892-46DB-957E-0585A7BDC422}" presName="sibTrans" presStyleCnt="0"/>
      <dgm:spPr/>
    </dgm:pt>
    <dgm:pt modelId="{82B70C88-80F3-427B-9890-10EE443998EA}" type="pres">
      <dgm:prSet presAssocID="{64ED416B-9D40-460C-9300-189D690DFC03}" presName="node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9DEB4B1-99C6-45DF-9B56-05E03B0E32D9}" type="presOf" srcId="{012B3ACC-3D76-427E-9F27-7F5DF94D8322}" destId="{CF27874C-A946-4841-BD16-69AD5F34CEBE}" srcOrd="0" destOrd="0" presId="urn:microsoft.com/office/officeart/2005/8/layout/default"/>
    <dgm:cxn modelId="{42706EAF-8712-4A94-912C-08B1008474AA}" srcId="{64A0E8AE-D35C-4E8A-90D8-6C49B16C7682}" destId="{012B3ACC-3D76-427E-9F27-7F5DF94D8322}" srcOrd="0" destOrd="0" parTransId="{6ED9B9D5-2B9F-4E32-A565-6DDF8E4786CE}" sibTransId="{7666D70C-1B42-4E5A-B3AC-E38A3710F267}"/>
    <dgm:cxn modelId="{F46AE12F-F6CA-441B-81CC-541A6A4F7AC8}" type="presOf" srcId="{64ED416B-9D40-460C-9300-189D690DFC03}" destId="{82B70C88-80F3-427B-9890-10EE443998EA}" srcOrd="0" destOrd="0" presId="urn:microsoft.com/office/officeart/2005/8/layout/default"/>
    <dgm:cxn modelId="{4CBEFDCD-3A1E-4217-B1AC-7E60ABFE5CD7}" srcId="{64A0E8AE-D35C-4E8A-90D8-6C49B16C7682}" destId="{9127FF8C-EB95-46A9-A85A-C092E783675D}" srcOrd="1" destOrd="0" parTransId="{42681F4D-ABA2-400D-81D6-2E04FB1F3E86}" sibTransId="{B03224F2-D942-4AE9-BFF8-6B5461DCE90F}"/>
    <dgm:cxn modelId="{AA018269-05D3-46AA-8687-81C280FB0644}" srcId="{64A0E8AE-D35C-4E8A-90D8-6C49B16C7682}" destId="{2B349A0C-03BD-4516-91BC-1202C939951A}" srcOrd="2" destOrd="0" parTransId="{0B593EE6-1952-43F6-9886-51255C163C39}" sibTransId="{62938046-0892-46DB-957E-0585A7BDC422}"/>
    <dgm:cxn modelId="{218E0C6B-A1FF-4A0E-AD9C-79DA0DBA717C}" type="presOf" srcId="{9127FF8C-EB95-46A9-A85A-C092E783675D}" destId="{0805AD1B-A617-4A0C-AB91-AD03AD97F9B3}" srcOrd="0" destOrd="0" presId="urn:microsoft.com/office/officeart/2005/8/layout/default"/>
    <dgm:cxn modelId="{90D5DEEA-0084-4861-B990-C8524B24D2F1}" type="presOf" srcId="{2B349A0C-03BD-4516-91BC-1202C939951A}" destId="{58AD9004-2F8A-4730-BA41-006A8CA49CF8}" srcOrd="0" destOrd="0" presId="urn:microsoft.com/office/officeart/2005/8/layout/default"/>
    <dgm:cxn modelId="{72CF376C-44C4-4C4A-9E54-EE971BAEFFA5}" srcId="{64A0E8AE-D35C-4E8A-90D8-6C49B16C7682}" destId="{64ED416B-9D40-460C-9300-189D690DFC03}" srcOrd="3" destOrd="0" parTransId="{813F29E6-B6B4-4FCF-9346-D47EF260CA42}" sibTransId="{0A233043-C5EE-4483-A049-F367CEE6DCA7}"/>
    <dgm:cxn modelId="{DA7872D2-7A1C-4F7E-B8AA-B62294FCD9F3}" type="presOf" srcId="{64A0E8AE-D35C-4E8A-90D8-6C49B16C7682}" destId="{133F6773-E61D-421B-8D8F-0A3388EAF06F}" srcOrd="0" destOrd="0" presId="urn:microsoft.com/office/officeart/2005/8/layout/default"/>
    <dgm:cxn modelId="{443D462E-0EAB-44C2-9D75-57FB7B00EF98}" type="presParOf" srcId="{133F6773-E61D-421B-8D8F-0A3388EAF06F}" destId="{CF27874C-A946-4841-BD16-69AD5F34CEBE}" srcOrd="0" destOrd="0" presId="urn:microsoft.com/office/officeart/2005/8/layout/default"/>
    <dgm:cxn modelId="{11EFB65A-5D5E-44BF-B8BA-5D72473CBBBB}" type="presParOf" srcId="{133F6773-E61D-421B-8D8F-0A3388EAF06F}" destId="{660CABB4-EA5E-44F5-AAF8-062934D1A67B}" srcOrd="1" destOrd="0" presId="urn:microsoft.com/office/officeart/2005/8/layout/default"/>
    <dgm:cxn modelId="{AD56791C-1374-4203-8382-E99AAAA9CB98}" type="presParOf" srcId="{133F6773-E61D-421B-8D8F-0A3388EAF06F}" destId="{0805AD1B-A617-4A0C-AB91-AD03AD97F9B3}" srcOrd="2" destOrd="0" presId="urn:microsoft.com/office/officeart/2005/8/layout/default"/>
    <dgm:cxn modelId="{3423EAB8-579B-4805-A3E7-43170FB83602}" type="presParOf" srcId="{133F6773-E61D-421B-8D8F-0A3388EAF06F}" destId="{06092D3F-5906-4EEF-9CCD-79462A30A345}" srcOrd="3" destOrd="0" presId="urn:microsoft.com/office/officeart/2005/8/layout/default"/>
    <dgm:cxn modelId="{91BECD50-100F-4F4F-9303-9312F0ED7004}" type="presParOf" srcId="{133F6773-E61D-421B-8D8F-0A3388EAF06F}" destId="{58AD9004-2F8A-4730-BA41-006A8CA49CF8}" srcOrd="4" destOrd="0" presId="urn:microsoft.com/office/officeart/2005/8/layout/default"/>
    <dgm:cxn modelId="{529F99A0-E824-446B-AA47-668967AF959F}" type="presParOf" srcId="{133F6773-E61D-421B-8D8F-0A3388EAF06F}" destId="{9B9E6842-2DD9-444E-B015-1B5B46A9E8FB}" srcOrd="5" destOrd="0" presId="urn:microsoft.com/office/officeart/2005/8/layout/default"/>
    <dgm:cxn modelId="{F1E0C2E0-14A8-4407-BFD0-96431ACB1A71}" type="presParOf" srcId="{133F6773-E61D-421B-8D8F-0A3388EAF06F}" destId="{82B70C88-80F3-427B-9890-10EE443998EA}" srcOrd="6" destOrd="0" presId="urn:microsoft.com/office/officeart/2005/8/layout/default"/>
  </dgm:cxnLst>
  <dgm:bg/>
  <dgm:whole/>
</dgm:dataModel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1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BAD79-22D6-4737-BCD4-FCB60EB6EBE8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91494-60C6-42C4-8239-E90D7F7530DC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BAD79-22D6-4737-BCD4-FCB60EB6EBE8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91494-60C6-42C4-8239-E90D7F7530DC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BAD79-22D6-4737-BCD4-FCB60EB6EBE8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91494-60C6-42C4-8239-E90D7F7530DC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BAD79-22D6-4737-BCD4-FCB60EB6EBE8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91494-60C6-42C4-8239-E90D7F7530DC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BAD79-22D6-4737-BCD4-FCB60EB6EBE8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91494-60C6-42C4-8239-E90D7F7530DC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BAD79-22D6-4737-BCD4-FCB60EB6EBE8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91494-60C6-42C4-8239-E90D7F7530DC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BAD79-22D6-4737-BCD4-FCB60EB6EBE8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91494-60C6-42C4-8239-E90D7F7530DC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BAD79-22D6-4737-BCD4-FCB60EB6EBE8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91494-60C6-42C4-8239-E90D7F7530DC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BAD79-22D6-4737-BCD4-FCB60EB6EBE8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91494-60C6-42C4-8239-E90D7F7530DC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BAD79-22D6-4737-BCD4-FCB60EB6EBE8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91494-60C6-42C4-8239-E90D7F7530DC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BAD79-22D6-4737-BCD4-FCB60EB6EBE8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91494-60C6-42C4-8239-E90D7F7530DC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8BAD79-22D6-4737-BCD4-FCB60EB6EBE8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A91494-60C6-42C4-8239-E90D7F7530DC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github.com/AbuTaher003/Jupyter-Notebook-Markdown-complete-guide?ysclid=mlgfl39t8b235951541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notebooks/markdown_guide.ipynb" TargetMode="External"/><Relationship Id="rId2" Type="http://schemas.openxmlformats.org/officeDocument/2006/relationships/hyperlink" Target="https://colab.research.google.com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10" Type="http://schemas.openxmlformats.org/officeDocument/2006/relationships/hyperlink" Target="https://habr.com/ru/articles/469355/?ysclid=mlm9qtmn8927596431" TargetMode="External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Введение в анализ данных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cture background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2844" y="285728"/>
            <a:ext cx="8867775" cy="6305551"/>
          </a:xfrm>
          <a:prstGeom prst="rect">
            <a:avLst/>
          </a:prstGeom>
          <a:noFill/>
        </p:spPr>
      </p:pic>
      <p:sp>
        <p:nvSpPr>
          <p:cNvPr id="3" name="Прямоугольник 2"/>
          <p:cNvSpPr/>
          <p:nvPr/>
        </p:nvSpPr>
        <p:spPr>
          <a:xfrm>
            <a:off x="3445284" y="5429264"/>
            <a:ext cx="22697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/>
              <a:t>(извлечение данных)</a:t>
            </a:r>
            <a:endParaRPr lang="ru-R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1000108"/>
            <a:ext cx="9167515" cy="4829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357214"/>
            <a:ext cx="8229600" cy="1143000"/>
          </a:xfrm>
        </p:spPr>
        <p:txBody>
          <a:bodyPr/>
          <a:lstStyle/>
          <a:p>
            <a:r>
              <a:rPr lang="ru-RU" dirty="0" smtClean="0"/>
              <a:t>Области применения</a:t>
            </a:r>
            <a:endParaRPr lang="ru-RU" dirty="0"/>
          </a:p>
        </p:txBody>
      </p:sp>
      <p:graphicFrame>
        <p:nvGraphicFramePr>
          <p:cNvPr id="4" name="Схема 3"/>
          <p:cNvGraphicFramePr/>
          <p:nvPr/>
        </p:nvGraphicFramePr>
        <p:xfrm>
          <a:off x="0" y="571456"/>
          <a:ext cx="9144000" cy="6286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214290"/>
            <a:ext cx="9144000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b="1" dirty="0">
                <a:latin typeface="Times New Roman" pitchFamily="18" charset="0"/>
                <a:cs typeface="Times New Roman" pitchFamily="18" charset="0"/>
              </a:rPr>
              <a:t>Ключевая цель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анализа заключается </a:t>
            </a:r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в извлечении полезной информации из «сырых» данных — преобразовании неструктурированной или </a:t>
            </a:r>
            <a:r>
              <a:rPr lang="ru-RU" sz="2400" dirty="0" err="1">
                <a:latin typeface="Times New Roman" pitchFamily="18" charset="0"/>
                <a:cs typeface="Times New Roman" pitchFamily="18" charset="0"/>
              </a:rPr>
              <a:t>полуструктурированной</a:t>
            </a:r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 информации в понятные </a:t>
            </a:r>
            <a:r>
              <a:rPr lang="ru-RU" sz="2400" dirty="0" err="1">
                <a:latin typeface="Times New Roman" pitchFamily="18" charset="0"/>
                <a:cs typeface="Times New Roman" pitchFamily="18" charset="0"/>
              </a:rPr>
              <a:t>инсайты</a:t>
            </a:r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, выявлении скрытых закономерностей и формировании надёжной базы для управленческих решений на всех уровнях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algn="just"/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Задачи:</a:t>
            </a:r>
            <a:endParaRPr lang="ru-RU" sz="2400" b="1" dirty="0">
              <a:latin typeface="Times New Roman" pitchFamily="18" charset="0"/>
              <a:cs typeface="Times New Roman" pitchFamily="18" charset="0"/>
            </a:endParaRPr>
          </a:p>
          <a:p>
            <a:pPr algn="just">
              <a:buFont typeface="Arial" pitchFamily="34" charset="0"/>
              <a:buChar char="•"/>
            </a:pPr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Сбор и подготовка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данных</a:t>
            </a:r>
          </a:p>
          <a:p>
            <a:pPr algn="just">
              <a:buFont typeface="Arial" pitchFamily="34" charset="0"/>
              <a:buChar char="•"/>
            </a:pPr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Обработка и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преобразование</a:t>
            </a:r>
          </a:p>
          <a:p>
            <a:pPr algn="just">
              <a:buFont typeface="Arial" pitchFamily="34" charset="0"/>
              <a:buChar char="•"/>
            </a:pPr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Анализ и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моделирование</a:t>
            </a:r>
          </a:p>
          <a:p>
            <a:pPr algn="just">
              <a:buFont typeface="Arial" pitchFamily="34" charset="0"/>
              <a:buChar char="•"/>
            </a:pPr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Визуализация и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отчётность</a:t>
            </a:r>
          </a:p>
          <a:p>
            <a:pPr algn="just">
              <a:buFont typeface="Arial" pitchFamily="34" charset="0"/>
              <a:buChar char="•"/>
            </a:pPr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Внедрение и мониторинг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4"/>
            <a:ext cx="8229600" cy="1143000"/>
          </a:xfrm>
        </p:spPr>
        <p:txBody>
          <a:bodyPr/>
          <a:lstStyle/>
          <a:p>
            <a:r>
              <a:rPr lang="ru-RU" dirty="0" smtClean="0"/>
              <a:t>Инструментарий аналитика: </a:t>
            </a:r>
            <a:r>
              <a:rPr lang="en-US" dirty="0" smtClean="0"/>
              <a:t>IDLE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1285860"/>
            <a:ext cx="9144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b="1" dirty="0">
                <a:latin typeface="Times New Roman" pitchFamily="18" charset="0"/>
                <a:cs typeface="Times New Roman" pitchFamily="18" charset="0"/>
              </a:rPr>
              <a:t>IDLE (</a:t>
            </a:r>
            <a:r>
              <a:rPr lang="ru-RU" b="1" dirty="0" err="1">
                <a:latin typeface="Times New Roman" pitchFamily="18" charset="0"/>
                <a:cs typeface="Times New Roman" pitchFamily="18" charset="0"/>
              </a:rPr>
              <a:t>Integrated</a:t>
            </a:r>
            <a:r>
              <a:rPr lang="ru-RU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b="1" dirty="0" err="1">
                <a:latin typeface="Times New Roman" pitchFamily="18" charset="0"/>
                <a:cs typeface="Times New Roman" pitchFamily="18" charset="0"/>
              </a:rPr>
              <a:t>Development</a:t>
            </a:r>
            <a:r>
              <a:rPr lang="ru-RU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b="1" dirty="0" err="1">
                <a:latin typeface="Times New Roman" pitchFamily="18" charset="0"/>
                <a:cs typeface="Times New Roman" pitchFamily="18" charset="0"/>
              </a:rPr>
              <a:t>and</a:t>
            </a:r>
            <a:r>
              <a:rPr lang="ru-RU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b="1" dirty="0" err="1">
                <a:latin typeface="Times New Roman" pitchFamily="18" charset="0"/>
                <a:cs typeface="Times New Roman" pitchFamily="18" charset="0"/>
              </a:rPr>
              <a:t>Learning</a:t>
            </a:r>
            <a:r>
              <a:rPr lang="ru-RU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b="1" dirty="0" err="1">
                <a:latin typeface="Times New Roman" pitchFamily="18" charset="0"/>
                <a:cs typeface="Times New Roman" pitchFamily="18" charset="0"/>
              </a:rPr>
              <a:t>Environment</a:t>
            </a:r>
            <a:r>
              <a:rPr lang="ru-RU" b="1" dirty="0">
                <a:latin typeface="Times New Roman" pitchFamily="18" charset="0"/>
                <a:cs typeface="Times New Roman" pitchFamily="18" charset="0"/>
              </a:rPr>
              <a:t>) — встроенная среда разработки (IDE) для </a:t>
            </a:r>
            <a:r>
              <a:rPr lang="ru-RU" b="1" dirty="0" err="1">
                <a:latin typeface="Times New Roman" pitchFamily="18" charset="0"/>
                <a:cs typeface="Times New Roman" pitchFamily="18" charset="0"/>
              </a:rPr>
              <a:t>Python</a:t>
            </a:r>
            <a:r>
              <a:rPr lang="ru-RU" b="1" dirty="0">
                <a:latin typeface="Times New Roman" pitchFamily="18" charset="0"/>
                <a:cs typeface="Times New Roman" pitchFamily="18" charset="0"/>
              </a:rPr>
              <a:t>, которая подходит для работы с языком в качестве инструмента аналитика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. Она поставляется вместе с самим языком и не требует отдельной установки.</a:t>
            </a:r>
          </a:p>
        </p:txBody>
      </p:sp>
      <p:pic>
        <p:nvPicPr>
          <p:cNvPr id="1638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14282" y="2571744"/>
            <a:ext cx="2847975" cy="3705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6388" name="Picture 4" descr="Picture background"/>
          <p:cNvPicPr>
            <a:picLocks noChangeAspect="1" noChangeArrowheads="1"/>
          </p:cNvPicPr>
          <p:nvPr/>
        </p:nvPicPr>
        <p:blipFill>
          <a:blip r:embed="rId3"/>
          <a:srcRect l="6927" r="3424" b="16597"/>
          <a:stretch>
            <a:fillRect/>
          </a:stretch>
        </p:blipFill>
        <p:spPr bwMode="auto">
          <a:xfrm>
            <a:off x="3286084" y="3071810"/>
            <a:ext cx="5857916" cy="3065490"/>
          </a:xfrm>
          <a:prstGeom prst="rect">
            <a:avLst/>
          </a:prstGeom>
          <a:noFill/>
        </p:spPr>
      </p:pic>
      <p:sp>
        <p:nvSpPr>
          <p:cNvPr id="6" name="Прямоугольник 5"/>
          <p:cNvSpPr/>
          <p:nvPr/>
        </p:nvSpPr>
        <p:spPr>
          <a:xfrm>
            <a:off x="0" y="2428868"/>
            <a:ext cx="3143240" cy="10001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4"/>
            <a:ext cx="8229600" cy="1143000"/>
          </a:xfrm>
        </p:spPr>
        <p:txBody>
          <a:bodyPr/>
          <a:lstStyle/>
          <a:p>
            <a:r>
              <a:rPr lang="ru-RU" dirty="0" smtClean="0"/>
              <a:t>Настройки </a:t>
            </a:r>
            <a:r>
              <a:rPr lang="en-US" dirty="0" smtClean="0"/>
              <a:t>IDLE</a:t>
            </a:r>
            <a:endParaRPr lang="ru-RU" dirty="0"/>
          </a:p>
        </p:txBody>
      </p:sp>
      <p:pic>
        <p:nvPicPr>
          <p:cNvPr id="1945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00100" y="3857628"/>
            <a:ext cx="2457450" cy="933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9459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357686" y="2439002"/>
            <a:ext cx="3714744" cy="44189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Прямоугольник 9"/>
          <p:cNvSpPr/>
          <p:nvPr/>
        </p:nvSpPr>
        <p:spPr>
          <a:xfrm>
            <a:off x="0" y="1071546"/>
            <a:ext cx="9144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При проведении анализа данных в IDLE (интегрированной среде разработки для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Python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) целесообразно оформлять итоговые результаты в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Microsoft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Word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или аналогичном текстовом редакторе.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Инструментарий аналитика: </a:t>
            </a:r>
            <a:r>
              <a:rPr lang="en-US" dirty="0" err="1" smtClean="0"/>
              <a:t>Jupyter</a:t>
            </a:r>
            <a:r>
              <a:rPr lang="en-US" dirty="0" smtClean="0"/>
              <a:t> Notebook 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1428736"/>
            <a:ext cx="91440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err="1">
                <a:latin typeface="Times New Roman" pitchFamily="18" charset="0"/>
                <a:cs typeface="Times New Roman" pitchFamily="18" charset="0"/>
              </a:rPr>
              <a:t>Jupyter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err="1">
                <a:latin typeface="Times New Roman" pitchFamily="18" charset="0"/>
                <a:cs typeface="Times New Roman" pitchFamily="18" charset="0"/>
              </a:rPr>
              <a:t>Notebook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 можно запускать локально на своём компьютере или в облаке.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C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пособ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подойдёт, если вы планируете работать с «ноутбуками» в одиночку. Для взаимодействия с коллегами удобнее использовать облачную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версию (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google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collab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описанный далее).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048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142976" y="2571744"/>
            <a:ext cx="6810375" cy="2085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48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4924426"/>
            <a:ext cx="9144000" cy="13883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4"/>
            <a:ext cx="8229600" cy="1143000"/>
          </a:xfrm>
        </p:spPr>
        <p:txBody>
          <a:bodyPr/>
          <a:lstStyle/>
          <a:p>
            <a:r>
              <a:rPr lang="ru-RU" dirty="0" smtClean="0"/>
              <a:t>Работа с </a:t>
            </a:r>
            <a:r>
              <a:rPr lang="en-US" dirty="0" err="1" smtClean="0"/>
              <a:t>Jupyter</a:t>
            </a:r>
            <a:r>
              <a:rPr lang="en-US" dirty="0" smtClean="0"/>
              <a:t> Notebook 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928670"/>
            <a:ext cx="91440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В этом режиме можно вводить код или текст в ячейку, внутри ячейки появляется мигающий текстовый курсор. Некоторые быстрые клавиши для работы в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Edit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Mode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  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Shift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+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Enter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— запускает ячейку и переходит на следующую.</a:t>
            </a:r>
          </a:p>
          <a:p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  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Ctrl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+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Enter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— запускает ячейку, но сохраняет фокус на той же ячейке.</a:t>
            </a:r>
          </a:p>
          <a:p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  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Alt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+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Enter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— запускает ячейку и вставляет новую ниже.</a:t>
            </a:r>
          </a:p>
          <a:p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  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Ctrl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+ ] — выравнивает выбранные строки,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Ctrl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+ [ — разворачивает их.</a:t>
            </a:r>
          </a:p>
          <a:p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  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Ctrl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+ / — переключает комментарии для выбранных строк кода.</a:t>
            </a:r>
          </a:p>
          <a:p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  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Ctrl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+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Shift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+ - — разделяет текущую ячейку на две в месте курсора.</a:t>
            </a:r>
          </a:p>
          <a:p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   </a:t>
            </a:r>
            <a:endParaRPr lang="ru-RU" sz="16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150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2844" y="4071942"/>
            <a:ext cx="2886075" cy="2295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150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143240" y="3966384"/>
            <a:ext cx="2214578" cy="2891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Прямоугольник 5"/>
          <p:cNvSpPr/>
          <p:nvPr/>
        </p:nvSpPr>
        <p:spPr>
          <a:xfrm>
            <a:off x="0" y="3071810"/>
            <a:ext cx="91440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b="1" dirty="0" err="1">
                <a:latin typeface="Times New Roman" pitchFamily="18" charset="0"/>
                <a:cs typeface="Times New Roman" pitchFamily="18" charset="0"/>
              </a:rPr>
              <a:t>Markdown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 — язык разметки, который позволяет создавать форматированный текст, не требуя специальных инструментов или знаний HTML. В </a:t>
            </a:r>
            <a:r>
              <a:rPr lang="ru-RU" dirty="0" err="1">
                <a:latin typeface="Times New Roman" pitchFamily="18" charset="0"/>
                <a:cs typeface="Times New Roman" pitchFamily="18" charset="0"/>
              </a:rPr>
              <a:t>Jupyter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err="1">
                <a:latin typeface="Times New Roman" pitchFamily="18" charset="0"/>
                <a:cs typeface="Times New Roman" pitchFamily="18" charset="0"/>
              </a:rPr>
              <a:t>Notebook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err="1">
                <a:latin typeface="Times New Roman" pitchFamily="18" charset="0"/>
                <a:cs typeface="Times New Roman" pitchFamily="18" charset="0"/>
              </a:rPr>
              <a:t>Markdown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 поддерживается в </a:t>
            </a:r>
            <a:r>
              <a:rPr lang="ru-RU" b="1" dirty="0">
                <a:latin typeface="Times New Roman" pitchFamily="18" charset="0"/>
                <a:cs typeface="Times New Roman" pitchFamily="18" charset="0"/>
              </a:rPr>
              <a:t>текстовых ячейках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(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запускается комбинацией клавиш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Esc+M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)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5572132" y="4357694"/>
            <a:ext cx="3571868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Остальные комбинации можете прочитать по ссылке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en-US" dirty="0" smtClean="0">
                <a:latin typeface="Times New Roman" pitchFamily="18" charset="0"/>
                <a:cs typeface="Times New Roman" pitchFamily="18" charset="0"/>
                <a:hlinkClick r:id="rId4"/>
              </a:rPr>
              <a:t>https://github.com/AbuTaher003/Jupyter-Notebook-Markdown-complete-guide?ysclid=mlgfl39t8b235951541</a:t>
            </a:r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-1214478" y="-428652"/>
            <a:ext cx="11572956" cy="1143000"/>
          </a:xfrm>
        </p:spPr>
        <p:txBody>
          <a:bodyPr>
            <a:normAutofit/>
          </a:bodyPr>
          <a:lstStyle/>
          <a:p>
            <a:r>
              <a:rPr lang="ru-RU" sz="3600" dirty="0" smtClean="0"/>
              <a:t>Инструментарий аналитика: </a:t>
            </a:r>
            <a:r>
              <a:rPr lang="en-US" sz="3600" dirty="0" smtClean="0"/>
              <a:t>Google </a:t>
            </a:r>
            <a:r>
              <a:rPr lang="en-US" sz="3600" dirty="0" err="1" smtClean="0"/>
              <a:t>Collab</a:t>
            </a:r>
            <a:endParaRPr lang="ru-RU" sz="3600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1071546"/>
            <a:ext cx="91440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err="1">
                <a:latin typeface="Times New Roman" pitchFamily="18" charset="0"/>
                <a:cs typeface="Times New Roman" pitchFamily="18" charset="0"/>
              </a:rPr>
              <a:t>Google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err="1">
                <a:latin typeface="Times New Roman" pitchFamily="18" charset="0"/>
                <a:cs typeface="Times New Roman" pitchFamily="18" charset="0"/>
              </a:rPr>
              <a:t>Colab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 — это бесплатная среда для разработки и выполнения программного кода в облаке. Она предоставляет возможность писать и запускать код на языке </a:t>
            </a:r>
            <a:r>
              <a:rPr lang="ru-RU" dirty="0" err="1">
                <a:latin typeface="Times New Roman" pitchFamily="18" charset="0"/>
                <a:cs typeface="Times New Roman" pitchFamily="18" charset="0"/>
              </a:rPr>
              <a:t>Python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, используя только браузер, без установки специальных программ на компьютер.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0" y="1976519"/>
            <a:ext cx="9144000" cy="452431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sz="1600" dirty="0">
                <a:latin typeface="Times New Roman" pitchFamily="18" charset="0"/>
                <a:cs typeface="Times New Roman" pitchFamily="18" charset="0"/>
              </a:rPr>
              <a:t>С </a:t>
            </a:r>
            <a:r>
              <a:rPr lang="ru-RU" sz="1600" dirty="0" err="1">
                <a:latin typeface="Times New Roman" pitchFamily="18" charset="0"/>
                <a:cs typeface="Times New Roman" pitchFamily="18" charset="0"/>
              </a:rPr>
              <a:t>Google</a:t>
            </a:r>
            <a:r>
              <a:rPr lang="ru-RU" sz="1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dirty="0" err="1">
                <a:latin typeface="Times New Roman" pitchFamily="18" charset="0"/>
                <a:cs typeface="Times New Roman" pitchFamily="18" charset="0"/>
              </a:rPr>
              <a:t>Colab</a:t>
            </a:r>
            <a:r>
              <a:rPr lang="ru-RU" sz="1600" dirty="0">
                <a:latin typeface="Times New Roman" pitchFamily="18" charset="0"/>
                <a:cs typeface="Times New Roman" pitchFamily="18" charset="0"/>
              </a:rPr>
              <a:t> работают через </a:t>
            </a:r>
            <a:r>
              <a:rPr lang="ru-RU" sz="1600" dirty="0" err="1">
                <a:latin typeface="Times New Roman" pitchFamily="18" charset="0"/>
                <a:cs typeface="Times New Roman" pitchFamily="18" charset="0"/>
              </a:rPr>
              <a:t>Google</a:t>
            </a:r>
            <a:r>
              <a:rPr lang="ru-RU" sz="1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dirty="0" err="1">
                <a:latin typeface="Times New Roman" pitchFamily="18" charset="0"/>
                <a:cs typeface="Times New Roman" pitchFamily="18" charset="0"/>
              </a:rPr>
              <a:t>Colab</a:t>
            </a:r>
            <a:r>
              <a:rPr lang="ru-RU" sz="1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dirty="0" err="1">
                <a:latin typeface="Times New Roman" pitchFamily="18" charset="0"/>
                <a:cs typeface="Times New Roman" pitchFamily="18" charset="0"/>
              </a:rPr>
              <a:t>notebooks</a:t>
            </a:r>
            <a:r>
              <a:rPr lang="ru-RU" sz="1600" dirty="0">
                <a:latin typeface="Times New Roman" pitchFamily="18" charset="0"/>
                <a:cs typeface="Times New Roman" pitchFamily="18" charset="0"/>
              </a:rPr>
              <a:t> (блокноты). Вот пошаговое руководство, как начать работу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:</a:t>
            </a:r>
            <a:endParaRPr lang="ru-RU" sz="1600" dirty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1600" dirty="0">
                <a:latin typeface="Times New Roman" pitchFamily="18" charset="0"/>
                <a:cs typeface="Times New Roman" pitchFamily="18" charset="0"/>
              </a:rPr>
              <a:t>Открыть браузер и перейти на сайт </a:t>
            </a:r>
            <a:r>
              <a:rPr lang="ru-RU" sz="1600" dirty="0" err="1">
                <a:latin typeface="Times New Roman" pitchFamily="18" charset="0"/>
                <a:cs typeface="Times New Roman" pitchFamily="18" charset="0"/>
                <a:hlinkClick r:id="rId2"/>
              </a:rPr>
              <a:t>Google</a:t>
            </a:r>
            <a:r>
              <a:rPr lang="ru-RU" sz="1600" dirty="0">
                <a:latin typeface="Times New Roman" pitchFamily="18" charset="0"/>
                <a:cs typeface="Times New Roman" pitchFamily="18" charset="0"/>
                <a:hlinkClick r:id="rId2"/>
              </a:rPr>
              <a:t> </a:t>
            </a:r>
            <a:r>
              <a:rPr lang="ru-RU" sz="1600" dirty="0" err="1">
                <a:latin typeface="Times New Roman" pitchFamily="18" charset="0"/>
                <a:cs typeface="Times New Roman" pitchFamily="18" charset="0"/>
                <a:hlinkClick r:id="rId2"/>
              </a:rPr>
              <a:t>Colab</a:t>
            </a:r>
            <a:r>
              <a:rPr lang="ru-RU" sz="1600" dirty="0">
                <a:latin typeface="Times New Roman" pitchFamily="18" charset="0"/>
                <a:cs typeface="Times New Roman" pitchFamily="18" charset="0"/>
              </a:rPr>
              <a:t>. Для входа потребуется учетная запись </a:t>
            </a:r>
            <a:r>
              <a:rPr lang="ru-RU" sz="1600" dirty="0" err="1">
                <a:latin typeface="Times New Roman" pitchFamily="18" charset="0"/>
                <a:cs typeface="Times New Roman" pitchFamily="18" charset="0"/>
              </a:rPr>
              <a:t>Google</a:t>
            </a:r>
            <a:r>
              <a:rPr lang="ru-RU" sz="1600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algn="just"/>
            <a:r>
              <a:rPr lang="ru-RU" sz="1600" dirty="0">
                <a:latin typeface="Times New Roman" pitchFamily="18" charset="0"/>
                <a:cs typeface="Times New Roman" pitchFamily="18" charset="0"/>
              </a:rPr>
              <a:t>На главной странице сразу будет несколько примеров текста и кода — можно попробовать что-то в них изменить и посмотреть, как это работает.</a:t>
            </a:r>
          </a:p>
          <a:p>
            <a:pPr algn="just"/>
            <a:r>
              <a:rPr lang="ru-RU" sz="1600" dirty="0">
                <a:latin typeface="Times New Roman" pitchFamily="18" charset="0"/>
                <a:cs typeface="Times New Roman" pitchFamily="18" charset="0"/>
              </a:rPr>
              <a:t>Создать новый блокнот, нажав на кнопку «Файл → Создать блокнот». Также можно открыть уже существующий с компьютера.</a:t>
            </a:r>
          </a:p>
          <a:p>
            <a:pPr algn="just"/>
            <a:r>
              <a:rPr lang="ru-RU" sz="1600" dirty="0">
                <a:latin typeface="Times New Roman" pitchFamily="18" charset="0"/>
                <a:cs typeface="Times New Roman" pitchFamily="18" charset="0"/>
              </a:rPr>
              <a:t>В открывшемся файле будут ячейки кода. В них можно писать код.</a:t>
            </a:r>
          </a:p>
          <a:p>
            <a:pPr algn="just"/>
            <a:r>
              <a:rPr lang="ru-RU" sz="1600" dirty="0">
                <a:latin typeface="Times New Roman" pitchFamily="18" charset="0"/>
                <a:cs typeface="Times New Roman" pitchFamily="18" charset="0"/>
              </a:rPr>
              <a:t>Когда код написан, можно навести на ячейку и нажать на появившуюся иконку в виде стрелочки. Код сразу выполнится.</a:t>
            </a:r>
          </a:p>
          <a:p>
            <a:pPr algn="just"/>
            <a:r>
              <a:rPr lang="ru-RU" sz="1600" dirty="0">
                <a:latin typeface="Times New Roman" pitchFamily="18" charset="0"/>
                <a:cs typeface="Times New Roman" pitchFamily="18" charset="0"/>
              </a:rPr>
              <a:t>Чтобы вставить новые ячейки кода, нужно нажать кнопку «+ Код». Ячейки можно добавлять и удалять.</a:t>
            </a:r>
          </a:p>
          <a:p>
            <a:pPr algn="just"/>
            <a:r>
              <a:rPr lang="ru-RU" sz="1600" dirty="0">
                <a:latin typeface="Times New Roman" pitchFamily="18" charset="0"/>
                <a:cs typeface="Times New Roman" pitchFamily="18" charset="0"/>
              </a:rPr>
              <a:t>Кроме кода можно вставлять текст, например для пояснений.</a:t>
            </a:r>
          </a:p>
          <a:p>
            <a:pPr algn="just"/>
            <a:r>
              <a:rPr lang="ru-RU" sz="1600" dirty="0">
                <a:latin typeface="Times New Roman" pitchFamily="18" charset="0"/>
                <a:cs typeface="Times New Roman" pitchFamily="18" charset="0"/>
              </a:rPr>
              <a:t>В меню доступно множество других инструментов: сохранение блокнотов на </a:t>
            </a:r>
            <a:r>
              <a:rPr lang="ru-RU" sz="1600" dirty="0" err="1">
                <a:latin typeface="Times New Roman" pitchFamily="18" charset="0"/>
                <a:cs typeface="Times New Roman" pitchFamily="18" charset="0"/>
              </a:rPr>
              <a:t>Google</a:t>
            </a:r>
            <a:r>
              <a:rPr lang="ru-RU" sz="1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dirty="0" err="1">
                <a:latin typeface="Times New Roman" pitchFamily="18" charset="0"/>
                <a:cs typeface="Times New Roman" pitchFamily="18" charset="0"/>
              </a:rPr>
              <a:t>Drive</a:t>
            </a:r>
            <a:r>
              <a:rPr lang="ru-RU" sz="1600" dirty="0">
                <a:latin typeface="Times New Roman" pitchFamily="18" charset="0"/>
                <a:cs typeface="Times New Roman" pitchFamily="18" charset="0"/>
              </a:rPr>
              <a:t>, загрузка и сохранение данных и библиотек, работа с графиками, </a:t>
            </a:r>
            <a:r>
              <a:rPr lang="ru-RU" sz="1600" dirty="0" err="1">
                <a:latin typeface="Times New Roman" pitchFamily="18" charset="0"/>
                <a:cs typeface="Times New Roman" pitchFamily="18" charset="0"/>
              </a:rPr>
              <a:t>коллаборация</a:t>
            </a:r>
            <a:r>
              <a:rPr lang="ru-RU" sz="1600" dirty="0">
                <a:latin typeface="Times New Roman" pitchFamily="18" charset="0"/>
                <a:cs typeface="Times New Roman" pitchFamily="18" charset="0"/>
              </a:rPr>
              <a:t> с другими пользователями и многое другое.</a:t>
            </a:r>
          </a:p>
          <a:p>
            <a:pPr algn="just"/>
            <a:r>
              <a:rPr lang="ru-RU" sz="1600" dirty="0">
                <a:latin typeface="Times New Roman" pitchFamily="18" charset="0"/>
                <a:cs typeface="Times New Roman" pitchFamily="18" charset="0"/>
              </a:rPr>
              <a:t>После окончания работы можно сохранить блокнот на </a:t>
            </a:r>
            <a:r>
              <a:rPr lang="ru-RU" sz="1600" dirty="0" err="1">
                <a:latin typeface="Times New Roman" pitchFamily="18" charset="0"/>
                <a:cs typeface="Times New Roman" pitchFamily="18" charset="0"/>
              </a:rPr>
              <a:t>Google</a:t>
            </a:r>
            <a:r>
              <a:rPr lang="ru-RU" sz="1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dirty="0" err="1">
                <a:latin typeface="Times New Roman" pitchFamily="18" charset="0"/>
                <a:cs typeface="Times New Roman" pitchFamily="18" charset="0"/>
              </a:rPr>
              <a:t>Drive</a:t>
            </a:r>
            <a:r>
              <a:rPr lang="ru-RU" sz="1600" dirty="0">
                <a:latin typeface="Times New Roman" pitchFamily="18" charset="0"/>
                <a:cs typeface="Times New Roman" pitchFamily="18" charset="0"/>
              </a:rPr>
              <a:t> или скачать на компьютер в различных форматах.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0" y="6429396"/>
            <a:ext cx="900109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 smtClean="0">
                <a:hlinkClick r:id="rId3"/>
              </a:rPr>
              <a:t>https://colab.research.google.com/notebooks/markdown_guide.ipynb</a:t>
            </a:r>
            <a:endParaRPr lang="en-US" dirty="0" smtClean="0"/>
          </a:p>
          <a:p>
            <a:pPr algn="ctr"/>
            <a:endParaRPr lang="ru-RU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3428992" y="357166"/>
            <a:ext cx="2867020" cy="7858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-285784" y="0"/>
            <a:ext cx="9801236" cy="1143000"/>
          </a:xfrm>
        </p:spPr>
        <p:txBody>
          <a:bodyPr>
            <a:normAutofit/>
          </a:bodyPr>
          <a:lstStyle/>
          <a:p>
            <a:r>
              <a:rPr lang="ru-RU" sz="4000" dirty="0"/>
              <a:t>Загрузка и первичная проверка данных</a:t>
            </a:r>
          </a:p>
        </p:txBody>
      </p:sp>
      <p:pic>
        <p:nvPicPr>
          <p:cNvPr id="22532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-71470" y="928670"/>
            <a:ext cx="6276975" cy="2333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2533" name="Picture 5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3214686"/>
            <a:ext cx="6181725" cy="695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2534" name="Picture 6"/>
          <p:cNvPicPr>
            <a:picLocks noChangeAspect="1" noChangeArrowheads="1"/>
          </p:cNvPicPr>
          <p:nvPr/>
        </p:nvPicPr>
        <p:blipFill>
          <a:blip r:embed="rId4"/>
          <a:srcRect t="5127"/>
          <a:stretch>
            <a:fillRect/>
          </a:stretch>
        </p:blipFill>
        <p:spPr bwMode="auto">
          <a:xfrm>
            <a:off x="-71470" y="3929066"/>
            <a:ext cx="6315075" cy="29289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2535" name="Picture 7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6215074" y="1214422"/>
            <a:ext cx="2928926" cy="5172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229668" cy="1143000"/>
          </a:xfrm>
        </p:spPr>
        <p:txBody>
          <a:bodyPr>
            <a:normAutofit fontScale="90000"/>
          </a:bodyPr>
          <a:lstStyle/>
          <a:p>
            <a:r>
              <a:rPr lang="ru-RU" dirty="0"/>
              <a:t>Загрузка и первичная проверка данных</a:t>
            </a:r>
          </a:p>
        </p:txBody>
      </p:sp>
      <p:pic>
        <p:nvPicPr>
          <p:cNvPr id="22531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928662" y="1785926"/>
            <a:ext cx="6954028" cy="4143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Прямоугольник 4"/>
          <p:cNvSpPr/>
          <p:nvPr/>
        </p:nvSpPr>
        <p:spPr>
          <a:xfrm>
            <a:off x="0" y="928670"/>
            <a:ext cx="91440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b="1" dirty="0">
                <a:latin typeface="Times New Roman" pitchFamily="18" charset="0"/>
                <a:cs typeface="Times New Roman" pitchFamily="18" charset="0"/>
              </a:rPr>
              <a:t>CSV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 (от англ. </a:t>
            </a:r>
            <a:r>
              <a:rPr lang="ru-RU" dirty="0" err="1">
                <a:latin typeface="Times New Roman" pitchFamily="18" charset="0"/>
                <a:cs typeface="Times New Roman" pitchFamily="18" charset="0"/>
              </a:rPr>
              <a:t>Comma-Separated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err="1">
                <a:latin typeface="Times New Roman" pitchFamily="18" charset="0"/>
                <a:cs typeface="Times New Roman" pitchFamily="18" charset="0"/>
              </a:rPr>
              <a:t>Values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 — «значения, разделённые запятыми») — </a:t>
            </a:r>
            <a:r>
              <a:rPr lang="ru-RU" b="1" dirty="0">
                <a:latin typeface="Times New Roman" pitchFamily="18" charset="0"/>
                <a:cs typeface="Times New Roman" pitchFamily="18" charset="0"/>
              </a:rPr>
              <a:t>текстовый формат для хранения табличных данных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. По сути, это обычные таблицы, только записанные в виде текста.</a:t>
            </a:r>
          </a:p>
        </p:txBody>
      </p:sp>
      <p:pic>
        <p:nvPicPr>
          <p:cNvPr id="2355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6000768"/>
            <a:ext cx="9102245" cy="8572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229668" cy="1143000"/>
          </a:xfrm>
        </p:spPr>
        <p:txBody>
          <a:bodyPr>
            <a:normAutofit fontScale="90000"/>
          </a:bodyPr>
          <a:lstStyle/>
          <a:p>
            <a:r>
              <a:rPr lang="ru-RU" dirty="0"/>
              <a:t>Загрузка и первичная проверка данных</a:t>
            </a:r>
          </a:p>
        </p:txBody>
      </p:sp>
      <p:pic>
        <p:nvPicPr>
          <p:cNvPr id="23555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" y="1000108"/>
            <a:ext cx="5072066" cy="3743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3556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5357826"/>
            <a:ext cx="9144000" cy="5000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Прямоугольник 4"/>
          <p:cNvSpPr/>
          <p:nvPr/>
        </p:nvSpPr>
        <p:spPr>
          <a:xfrm>
            <a:off x="5143504" y="1285860"/>
            <a:ext cx="4000496" cy="39703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После загрузки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DataFrame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рекомендуется выполнить базовую проверку: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Просмотр структуры:</a:t>
            </a:r>
          </a:p>
          <a:p>
            <a:pPr algn="just"/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df.head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(n) —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первые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n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строк (по умолчанию 5);</a:t>
            </a:r>
          </a:p>
          <a:p>
            <a:pPr algn="just"/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df.tail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(n) —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последние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n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строк;</a:t>
            </a:r>
          </a:p>
          <a:p>
            <a:pPr algn="just"/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df.info() —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общая информация;</a:t>
            </a:r>
          </a:p>
          <a:p>
            <a:pPr algn="just"/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df.columns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—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список столбцов;</a:t>
            </a:r>
          </a:p>
          <a:p>
            <a:pPr algn="just"/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df.index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—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индекс строк.</a:t>
            </a:r>
          </a:p>
          <a:p>
            <a:pPr algn="just"/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df.dtypes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—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типы данных всех столбцов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en-US" b="1" dirty="0" err="1" smtClean="0">
                <a:latin typeface="Times New Roman" pitchFamily="18" charset="0"/>
                <a:cs typeface="Times New Roman" pitchFamily="18" charset="0"/>
              </a:rPr>
              <a:t>df.describe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() - 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 статистические показатели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985862" y="4572008"/>
            <a:ext cx="7086600" cy="2285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Прямоугольник 2"/>
          <p:cNvSpPr/>
          <p:nvPr/>
        </p:nvSpPr>
        <p:spPr>
          <a:xfrm>
            <a:off x="4572000" y="0"/>
            <a:ext cx="4572000" cy="452431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NumPy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(сокращение от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Numeric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Python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— «числовой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Python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») нужен для быстрых вычислений с большими наборами чисел. Его главная «фишка» — многомерные массивы (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ndarray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). Это как таблицы, но все ячейки должны быть одного типа (например, только целые числа или только дроби). Благодаря этому: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данные занимают меньше памяти;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операции (сложение, умножение и т. п.) выполняются очень быстро — в разы быстрее, чем со стандартными списками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Python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Когда пригодится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NumPy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считать средние значения, суммы, минимумы/максимумы для миллионов чисел;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проводить математические операции с матрицами (например, умножать их);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работать с изображениями или другими данными, где важна скорость вычислений.</a:t>
            </a:r>
            <a:endParaRPr lang="ru-RU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0"/>
            <a:ext cx="4500562" cy="452431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Pandas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(от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Panel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Data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— «панельные данные») создан для удобной работы с таблицами. Его главный инструмент —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DataFrame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— это как лист в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Excel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строки и столбцы имеют имена;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в разных столбцах могут быть разные типы данных (числа, текст, даты);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есть готовые команды для фильтрации, группировки, слияния таблиц и т. п.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Когда пригодится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Pandas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загружать данные из CSV,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Excel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или баз данных;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очищать данные (удалять пропуски, исправлять ошибки);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анализировать продажи, статистику, опросные данные — всё, что удобно представить в таблице;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строить простые графики (гистограммы, линейные диаграммы).</a:t>
            </a:r>
            <a:endParaRPr lang="ru-RU" sz="16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 t="23980"/>
          <a:stretch>
            <a:fillRect/>
          </a:stretch>
        </p:blipFill>
        <p:spPr bwMode="auto">
          <a:xfrm>
            <a:off x="0" y="0"/>
            <a:ext cx="3428992" cy="18116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643306" y="0"/>
            <a:ext cx="2857520" cy="13165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3643306" y="1357298"/>
            <a:ext cx="2857520" cy="1324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Прямоугольник 4"/>
          <p:cNvSpPr/>
          <p:nvPr/>
        </p:nvSpPr>
        <p:spPr>
          <a:xfrm>
            <a:off x="285720" y="1785926"/>
            <a:ext cx="25643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Создание массива из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list</a:t>
            </a:r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4500562" y="2714620"/>
            <a:ext cx="149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Срез массива</a:t>
            </a:r>
            <a:endParaRPr lang="ru-RU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6524625" y="0"/>
            <a:ext cx="2619375" cy="346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Прямоугольник 7"/>
          <p:cNvSpPr/>
          <p:nvPr/>
        </p:nvSpPr>
        <p:spPr>
          <a:xfrm>
            <a:off x="6643702" y="3429000"/>
            <a:ext cx="250029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Форма массива и ее изменение</a:t>
            </a:r>
          </a:p>
        </p:txBody>
      </p:sp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1285852" y="5000636"/>
            <a:ext cx="3133725" cy="12381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31" name="Picture 7"/>
          <p:cNvPicPr>
            <a:picLocks noChangeAspect="1" noChangeArrowheads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4714876" y="4162425"/>
            <a:ext cx="4429124" cy="22669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Прямоугольник 10"/>
          <p:cNvSpPr/>
          <p:nvPr/>
        </p:nvSpPr>
        <p:spPr>
          <a:xfrm>
            <a:off x="1714480" y="6131502"/>
            <a:ext cx="133946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Агрегаторы</a:t>
            </a:r>
            <a:endParaRPr lang="ru-RU" dirty="0" smtClean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32" name="Picture 8"/>
          <p:cNvPicPr>
            <a:picLocks noChangeAspect="1" noChangeArrowheads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0" y="2214554"/>
            <a:ext cx="3714744" cy="2143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9"/>
          <a:srcRect/>
          <a:stretch>
            <a:fillRect/>
          </a:stretch>
        </p:blipFill>
        <p:spPr bwMode="auto">
          <a:xfrm>
            <a:off x="0" y="4357695"/>
            <a:ext cx="3857620" cy="2683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4" name="Прямоугольник 13"/>
          <p:cNvSpPr/>
          <p:nvPr/>
        </p:nvSpPr>
        <p:spPr>
          <a:xfrm>
            <a:off x="642910" y="4572008"/>
            <a:ext cx="261597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Простые условия отбора</a:t>
            </a:r>
          </a:p>
        </p:txBody>
      </p:sp>
      <p:sp>
        <p:nvSpPr>
          <p:cNvPr id="15" name="Прямоугольник 14"/>
          <p:cNvSpPr/>
          <p:nvPr/>
        </p:nvSpPr>
        <p:spPr>
          <a:xfrm>
            <a:off x="0" y="6488668"/>
            <a:ext cx="9144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 smtClean="0">
                <a:latin typeface="Times New Roman" pitchFamily="18" charset="0"/>
                <a:cs typeface="Times New Roman" pitchFamily="18" charset="0"/>
                <a:hlinkClick r:id="rId10"/>
              </a:rPr>
              <a:t>https://habr.com/ru/articles/469355/?ysclid=mlm9qtmn8927596431</a:t>
            </a:r>
            <a:endParaRPr lang="en-US" b="1" dirty="0" smtClean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7" name="Прямоугольник 16"/>
          <p:cNvSpPr/>
          <p:nvPr/>
        </p:nvSpPr>
        <p:spPr>
          <a:xfrm>
            <a:off x="214282" y="5000636"/>
            <a:ext cx="1071538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axis=0 — среднее по столбцам; </a:t>
            </a:r>
          </a:p>
          <a:p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axis=1 — среднее по строкам.</a:t>
            </a:r>
            <a:endParaRPr lang="ru-RU" sz="1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2143116"/>
            <a:ext cx="9144000" cy="471488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0" y="0"/>
            <a:ext cx="9144000" cy="207167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0" y="-71462"/>
            <a:ext cx="91440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Прочитайте данные и </a:t>
            </a:r>
            <a:r>
              <a:rPr lang="ru-RU" sz="2000" smtClean="0">
                <a:latin typeface="Times New Roman" pitchFamily="18" charset="0"/>
                <a:cs typeface="Times New Roman" pitchFamily="18" charset="0"/>
              </a:rPr>
              <a:t>заполните пропуски: </a:t>
            </a: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https://raw.githubusercontent.com/pandas-dev/pandas/refs/heads/main/doc/data/titanic.csv</a:t>
            </a:r>
            <a:endParaRPr lang="ru-RU" sz="2000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857232"/>
            <a:ext cx="9144000" cy="7143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Прямоугольник 4"/>
          <p:cNvSpPr/>
          <p:nvPr/>
        </p:nvSpPr>
        <p:spPr>
          <a:xfrm>
            <a:off x="0" y="2071678"/>
            <a:ext cx="5929322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Дан массив, содержащий баллы слушателей курса по английскому языку за вступительный экзамен. Слушатели распределены по 15 группам по 10 человек.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en-US" sz="1300" dirty="0" smtClean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sz="1300" dirty="0" err="1" smtClean="0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sz="1300" dirty="0" smtClean="0">
                <a:latin typeface="Courier New" pitchFamily="49" charset="0"/>
                <a:cs typeface="Courier New" pitchFamily="49" charset="0"/>
              </a:rPr>
              <a:t> as </a:t>
            </a:r>
            <a:r>
              <a:rPr lang="en-US" sz="1300" dirty="0" err="1" smtClean="0">
                <a:latin typeface="Courier New" pitchFamily="49" charset="0"/>
                <a:cs typeface="Courier New" pitchFamily="49" charset="0"/>
              </a:rPr>
              <a:t>np</a:t>
            </a:r>
            <a:endParaRPr lang="en-US" sz="1300" dirty="0" smtClean="0">
              <a:latin typeface="Courier New" pitchFamily="49" charset="0"/>
              <a:cs typeface="Courier New" pitchFamily="49" charset="0"/>
            </a:endParaRPr>
          </a:p>
          <a:p>
            <a:r>
              <a:rPr lang="en-US" sz="1300" dirty="0" smtClean="0">
                <a:latin typeface="Courier New" pitchFamily="49" charset="0"/>
                <a:cs typeface="Courier New" pitchFamily="49" charset="0"/>
              </a:rPr>
              <a:t>scores = </a:t>
            </a:r>
            <a:r>
              <a:rPr lang="en-US" sz="1300" dirty="0" err="1" smtClean="0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sz="1300" dirty="0" smtClean="0">
                <a:latin typeface="Courier New" pitchFamily="49" charset="0"/>
                <a:cs typeface="Courier New" pitchFamily="49" charset="0"/>
              </a:rPr>
              <a:t>([[20, 40, 56, 80, 0, 5, 25, 27, 74, 1],</a:t>
            </a:r>
          </a:p>
          <a:p>
            <a:r>
              <a:rPr lang="en-US" sz="1300" dirty="0" smtClean="0">
                <a:latin typeface="Courier New" pitchFamily="49" charset="0"/>
                <a:cs typeface="Courier New" pitchFamily="49" charset="0"/>
              </a:rPr>
              <a:t>         [0, 98, 67, 100, 8, 56, 34, 82, 100, 7],</a:t>
            </a:r>
          </a:p>
          <a:p>
            <a:r>
              <a:rPr lang="en-US" sz="1300" dirty="0" smtClean="0">
                <a:latin typeface="Courier New" pitchFamily="49" charset="0"/>
                <a:cs typeface="Courier New" pitchFamily="49" charset="0"/>
              </a:rPr>
              <a:t>         [78, 54, 23, 79, 100, 0, 0, 42, 95, 83],</a:t>
            </a:r>
          </a:p>
          <a:p>
            <a:r>
              <a:rPr lang="en-US" sz="1300" dirty="0" smtClean="0">
                <a:latin typeface="Courier New" pitchFamily="49" charset="0"/>
                <a:cs typeface="Courier New" pitchFamily="49" charset="0"/>
              </a:rPr>
              <a:t>         [51, 50, 47, 23, 100, 94, 25, 48, 38, 77],</a:t>
            </a:r>
          </a:p>
          <a:p>
            <a:r>
              <a:rPr lang="en-US" sz="1300" dirty="0" smtClean="0">
                <a:latin typeface="Courier New" pitchFamily="49" charset="0"/>
                <a:cs typeface="Courier New" pitchFamily="49" charset="0"/>
              </a:rPr>
              <a:t>         [90, 87, 41, 89, 52, 0, 5, 17, 28, 99],</a:t>
            </a:r>
          </a:p>
          <a:p>
            <a:r>
              <a:rPr lang="en-US" sz="1300" dirty="0" smtClean="0">
                <a:latin typeface="Courier New" pitchFamily="49" charset="0"/>
                <a:cs typeface="Courier New" pitchFamily="49" charset="0"/>
              </a:rPr>
              <a:t>         [32, 18, 21, 18, 29, 31, 48, 62, 76, 22],</a:t>
            </a:r>
          </a:p>
          <a:p>
            <a:r>
              <a:rPr lang="en-US" sz="1300" dirty="0" smtClean="0">
                <a:latin typeface="Courier New" pitchFamily="49" charset="0"/>
                <a:cs typeface="Courier New" pitchFamily="49" charset="0"/>
              </a:rPr>
              <a:t>         [6, 0, 65, 78, 43, 22, 38, 88, 94, 100],</a:t>
            </a:r>
          </a:p>
          <a:p>
            <a:r>
              <a:rPr lang="en-US" sz="1300" dirty="0" smtClean="0">
                <a:latin typeface="Courier New" pitchFamily="49" charset="0"/>
                <a:cs typeface="Courier New" pitchFamily="49" charset="0"/>
              </a:rPr>
              <a:t>         [77, 28, 39, 41, 0, 81, 45, 54, 98, 12],</a:t>
            </a:r>
          </a:p>
          <a:p>
            <a:r>
              <a:rPr lang="en-US" sz="1300" dirty="0" smtClean="0">
                <a:latin typeface="Courier New" pitchFamily="49" charset="0"/>
                <a:cs typeface="Courier New" pitchFamily="49" charset="0"/>
              </a:rPr>
              <a:t>         [66, 0, 88, 0, 44, 0, 55, 100, 12, 11],</a:t>
            </a:r>
          </a:p>
          <a:p>
            <a:r>
              <a:rPr lang="en-US" sz="1300" dirty="0" smtClean="0">
                <a:latin typeface="Courier New" pitchFamily="49" charset="0"/>
                <a:cs typeface="Courier New" pitchFamily="49" charset="0"/>
              </a:rPr>
              <a:t>         [17, 70, 86, 96, 56, 23, 32, 49, 70, 80],</a:t>
            </a:r>
          </a:p>
          <a:p>
            <a:r>
              <a:rPr lang="en-US" sz="1300" dirty="0" smtClean="0">
                <a:latin typeface="Courier New" pitchFamily="49" charset="0"/>
                <a:cs typeface="Courier New" pitchFamily="49" charset="0"/>
              </a:rPr>
              <a:t>         [20, 24, 76, 50, 29, 40, 3, 2, 5, 11],</a:t>
            </a:r>
          </a:p>
          <a:p>
            <a:r>
              <a:rPr lang="en-US" sz="1300" dirty="0" smtClean="0">
                <a:latin typeface="Courier New" pitchFamily="49" charset="0"/>
                <a:cs typeface="Courier New" pitchFamily="49" charset="0"/>
              </a:rPr>
              <a:t>         [33, 63, 28, 40, 51, 100, 98, 87, 22, 30],</a:t>
            </a:r>
          </a:p>
          <a:p>
            <a:r>
              <a:rPr lang="en-US" sz="1300" dirty="0" smtClean="0">
                <a:latin typeface="Courier New" pitchFamily="49" charset="0"/>
                <a:cs typeface="Courier New" pitchFamily="49" charset="0"/>
              </a:rPr>
              <a:t>         [16, 54, 78, 12, 25, 35, 10, 19, 67, 0],</a:t>
            </a:r>
          </a:p>
          <a:p>
            <a:r>
              <a:rPr lang="en-US" sz="1300" dirty="0" smtClean="0">
                <a:latin typeface="Courier New" pitchFamily="49" charset="0"/>
                <a:cs typeface="Courier New" pitchFamily="49" charset="0"/>
              </a:rPr>
              <a:t>         [100, 88, 24, 33, 47, 56, 62, 34, 77, 53],</a:t>
            </a:r>
          </a:p>
          <a:p>
            <a:r>
              <a:rPr lang="en-US" sz="1300" dirty="0" smtClean="0">
                <a:latin typeface="Courier New" pitchFamily="49" charset="0"/>
                <a:cs typeface="Courier New" pitchFamily="49" charset="0"/>
              </a:rPr>
              <a:t>         [50, 89, 70, 72, 56, 29, 15, 20, 0, 0]])</a:t>
            </a:r>
          </a:p>
          <a:p>
            <a:pPr algn="just"/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5929322" y="2143116"/>
            <a:ext cx="3214678" cy="403187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just">
              <a:buFont typeface="Wingdings" pitchFamily="2" charset="2"/>
              <a:buChar char="ü"/>
            </a:pP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Посчитать, сколько слушателей получили 0 за вступительный экзамен.</a:t>
            </a:r>
            <a:endParaRPr lang="en-US" sz="1600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>
              <a:buFont typeface="Wingdings" pitchFamily="2" charset="2"/>
              <a:buChar char="ü"/>
            </a:pP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Определить, средний балл за вступительный экзамен в каждой группе.</a:t>
            </a:r>
            <a:endParaRPr lang="en-US" sz="1600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>
              <a:buFont typeface="Wingdings" pitchFamily="2" charset="2"/>
              <a:buChar char="ü"/>
            </a:pP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Сохранить баллы слушателей выше 0 в список </a:t>
            </a:r>
            <a:r>
              <a:rPr lang="ru-RU" sz="1600" b="1" dirty="0" err="1" smtClean="0">
                <a:latin typeface="Times New Roman" pitchFamily="18" charset="0"/>
                <a:cs typeface="Times New Roman" pitchFamily="18" charset="0"/>
              </a:rPr>
              <a:t>nonzero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.</a:t>
            </a:r>
            <a:r>
              <a:rPr lang="en-US" sz="16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Используя этот список, определить минимальный балл за экзамен среди всех групп.</a:t>
            </a:r>
          </a:p>
          <a:p>
            <a:pPr algn="just">
              <a:buFont typeface="Wingdings" pitchFamily="2" charset="2"/>
              <a:buChar char="ü"/>
            </a:pP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На основе исходного массива вывести оценки слушателей первых семи групп (включительно, должны быть 7 списков оценок).</a:t>
            </a:r>
            <a:endParaRPr lang="ru-RU" sz="16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0" y="6211669"/>
            <a:ext cx="9144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Используя </a:t>
            </a:r>
            <a:r>
              <a:rPr lang="en-US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markdown</a:t>
            </a:r>
            <a:r>
              <a:rPr lang="ru-RU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, комментарии оформите отчет по этим двум заданиям (используйте заголовки/выделения/таблицы для ответов на вопросы)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0" y="1428736"/>
            <a:ext cx="9144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Подумайте, если бы Вы анализировали эти данные, что Вы бы хотели сделать с данными в первую очередь?</a:t>
            </a:r>
            <a:endParaRPr lang="ru-RU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</TotalTime>
  <Words>1044</Words>
  <Application>Microsoft Office PowerPoint</Application>
  <PresentationFormat>Экран (4:3)</PresentationFormat>
  <Paragraphs>111</Paragraphs>
  <Slides>16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17" baseType="lpstr">
      <vt:lpstr>Тема Office</vt:lpstr>
      <vt:lpstr>Введение в анализ данных</vt:lpstr>
      <vt:lpstr>Слайд 2</vt:lpstr>
      <vt:lpstr>Слайд 3</vt:lpstr>
      <vt:lpstr>Области применения</vt:lpstr>
      <vt:lpstr>Слайд 5</vt:lpstr>
      <vt:lpstr>Инструментарий аналитика: IDLE</vt:lpstr>
      <vt:lpstr>Настройки IDLE</vt:lpstr>
      <vt:lpstr>Инструментарий аналитика: Jupyter Notebook </vt:lpstr>
      <vt:lpstr>Работа с Jupyter Notebook </vt:lpstr>
      <vt:lpstr>Инструментарий аналитика: Google Collab</vt:lpstr>
      <vt:lpstr>Загрузка и первичная проверка данных</vt:lpstr>
      <vt:lpstr>Загрузка и первичная проверка данных</vt:lpstr>
      <vt:lpstr>Загрузка и первичная проверка данных</vt:lpstr>
      <vt:lpstr>Слайд 14</vt:lpstr>
      <vt:lpstr>Слайд 15</vt:lpstr>
      <vt:lpstr>Слайд 16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user</dc:creator>
  <cp:lastModifiedBy>user</cp:lastModifiedBy>
  <cp:revision>34</cp:revision>
  <dcterms:created xsi:type="dcterms:W3CDTF">2026-02-10T08:02:34Z</dcterms:created>
  <dcterms:modified xsi:type="dcterms:W3CDTF">2026-02-25T19:37:17Z</dcterms:modified>
</cp:coreProperties>
</file>