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4" r:id="rId4"/>
    <p:sldId id="265" r:id="rId5"/>
    <p:sldId id="266" r:id="rId6"/>
    <p:sldId id="263" r:id="rId7"/>
    <p:sldId id="257" r:id="rId8"/>
    <p:sldId id="267" r:id="rId9"/>
    <p:sldId id="268" r:id="rId10"/>
    <p:sldId id="260" r:id="rId11"/>
    <p:sldId id="269" r:id="rId12"/>
    <p:sldId id="270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8" y="-7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59F2B-F898-408A-9C69-3637C046327F}" type="datetimeFigureOut">
              <a:rPr lang="ru-RU" smtClean="0"/>
              <a:pPr/>
              <a:t>16.03.2026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0F6F44-FCCB-4B5E-9A26-BF6B893E18E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ky.pro/wiki/media/kak-rabotat-s-modulem-sqlite3-v-python/?ysclid=mmdumnwel7100765679" TargetMode="External"/><Relationship Id="rId2" Type="http://schemas.openxmlformats.org/officeDocument/2006/relationships/hyperlink" Target="https://olegtalks.ru/tpost/5flmad7ix1-polars-alternativa-pandas-dlya-analiza-d?ysclid=mmdua1h7ni998738471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metanit.com/python/pandas/6.3.php" TargetMode="External"/><Relationship Id="rId4" Type="http://schemas.openxmlformats.org/officeDocument/2006/relationships/hyperlink" Target="https://sky.pro/wiki/python/gruppirovka-i-agregaciya-dannyh-v-pandas/?ysclid=mmj7tkd11o617578602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disk.360.yandex.ru/d/glRCa8-X2TAA0Q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Работа с большими данными и оптимизация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06"/>
            <a:ext cx="8229600" cy="1143000"/>
          </a:xfrm>
        </p:spPr>
        <p:txBody>
          <a:bodyPr/>
          <a:lstStyle/>
          <a:p>
            <a:r>
              <a:rPr lang="ru-RU" dirty="0" smtClean="0"/>
              <a:t>Дополнительная литература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642918"/>
            <a:ext cx="9144000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Polars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: альтернатива </a:t>
            </a:r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 для анализа данных в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en-US" sz="2200" dirty="0" smtClean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https://olegtalks.ru/tpost/5flmad7ix1-polars-alternativa-pandas-dlya-analiza-d?ysclid=mmdua1h7ni998738471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: полное руководство по встроенной базе данных</a:t>
            </a:r>
          </a:p>
          <a:p>
            <a:pPr algn="just"/>
            <a:r>
              <a:rPr lang="en-US" sz="2200" dirty="0">
                <a:latin typeface="Times New Roman" pitchFamily="18" charset="0"/>
                <a:cs typeface="Times New Roman" pitchFamily="18" charset="0"/>
                <a:hlinkClick r:id="rId3"/>
              </a:rPr>
              <a:t>https://sky.pro/wiki/media/kak-rabotat-s-modulem-sqlite3-v-python/?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3"/>
              </a:rPr>
              <a:t>ysclid=mmdumnwel7100765679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just"/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Библиотека </a:t>
            </a:r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200" b="1" dirty="0" err="1">
                <a:latin typeface="Times New Roman" pitchFamily="18" charset="0"/>
                <a:cs typeface="Times New Roman" pitchFamily="18" charset="0"/>
              </a:rPr>
              <a:t>Profiling</a:t>
            </a:r>
            <a:r>
              <a:rPr lang="ru-RU" sz="2200" b="1" dirty="0">
                <a:latin typeface="Times New Roman" pitchFamily="18" charset="0"/>
                <a:cs typeface="Times New Roman" pitchFamily="18" charset="0"/>
              </a:rPr>
              <a:t>: делаем первичный анализ данных в одну строку</a:t>
            </a: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https://skillbox.ru/media/code/biblioteka-pandas-profiling/?ysclid=mmdw5se1bq848833583</a:t>
            </a:r>
            <a:endParaRPr lang="ru-RU" sz="2200" dirty="0">
              <a:latin typeface="Times New Roman" pitchFamily="18" charset="0"/>
              <a:cs typeface="Times New Roman" pitchFamily="18" charset="0"/>
              <a:hlinkClick r:id="rId2"/>
            </a:endParaRPr>
          </a:p>
          <a:p>
            <a:pPr algn="just"/>
            <a:endParaRPr lang="ru-RU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Группировка и агрегация в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2200" b="1" dirty="0" smtClean="0">
                <a:latin typeface="Times New Roman" pitchFamily="18" charset="0"/>
                <a:cs typeface="Times New Roman" pitchFamily="18" charset="0"/>
              </a:rPr>
              <a:t>: превращение хаоса в </a:t>
            </a:r>
            <a:r>
              <a:rPr lang="ru-RU" sz="2200" b="1" dirty="0" err="1" smtClean="0">
                <a:latin typeface="Times New Roman" pitchFamily="18" charset="0"/>
                <a:cs typeface="Times New Roman" pitchFamily="18" charset="0"/>
              </a:rPr>
              <a:t>инсайты</a:t>
            </a:r>
            <a:endParaRPr lang="ru-RU" sz="22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https://sky.pro/wiki/python/gruppirovka-i-agregaciya-dannyh-v-pandas/?ysclid=mmj7tkd11o617578602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200" dirty="0" smtClean="0">
                <a:latin typeface="Times New Roman" pitchFamily="18" charset="0"/>
                <a:cs typeface="Times New Roman" pitchFamily="18" charset="0"/>
                <a:hlinkClick r:id="rId5"/>
              </a:rPr>
              <a:t>https://metanit.com/python/pandas/6.3.php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857232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генераторы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экономят память, потому что не хранят все данные сразу, а выдают их «поштучно» — только когда нужно.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1" y="0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Как решают проблемы </a:t>
            </a:r>
            <a:r>
              <a:rPr kumimoji="0" lang="ru-RU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масштабируемости</a:t>
            </a: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память при работе с большими данными на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Python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428736"/>
            <a:ext cx="4876800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342900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Полезно, когда обрабатываете большой файл (лог, CSV) — читаете строку за строкой, не загружая весь файл.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628" y="1285860"/>
            <a:ext cx="4143372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500570"/>
            <a:ext cx="5095875" cy="180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5500694" y="4429132"/>
            <a:ext cx="364330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— удаляет ссылку на объект. Память может освободиться, но не сразу.</a:t>
            </a:r>
          </a:p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gc.collect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() — принудительно запускает сборщик мусора: ищет и удаляет объекты без ссылок. Полезно после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для немедленной очистки.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1" y="0"/>
            <a:ext cx="9144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Как решают проблемы скорости при работе с большими данными на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Python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785794"/>
            <a:ext cx="3143240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3504" y="1000108"/>
            <a:ext cx="3429000" cy="2543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428596" y="3643314"/>
            <a:ext cx="44472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Сложение двух списков (цикл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vs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NumPy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Прямоугольник 12"/>
          <p:cNvSpPr/>
          <p:nvPr/>
        </p:nvSpPr>
        <p:spPr>
          <a:xfrm>
            <a:off x="5214942" y="3643314"/>
            <a:ext cx="32789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Фильтрация данных (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pandas)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253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57422" y="4181976"/>
            <a:ext cx="4486276" cy="2676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/>
          <a:srcRect b="9523"/>
          <a:stretch>
            <a:fillRect/>
          </a:stretch>
        </p:blipFill>
        <p:spPr bwMode="auto">
          <a:xfrm>
            <a:off x="1142976" y="571480"/>
            <a:ext cx="6715125" cy="27146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3429000"/>
            <a:ext cx="5823314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2643174" y="0"/>
            <a:ext cx="370563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ru-RU" sz="2400" b="1" dirty="0" smtClean="0"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Архитектурные решения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428604"/>
            <a:ext cx="9144000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Ключевые типы для оптимизации</a:t>
            </a:r>
          </a:p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category —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для категориальных данных (страны, категории, статусы).</a:t>
            </a: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Экономия: до 10× для строк с повторяющимися значениями.</a:t>
            </a: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Пример: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['city']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['city'].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astype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('category').</a:t>
            </a:r>
          </a:p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int8/int16/int32 —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вместо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int64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для небольших чисел.</a:t>
            </a:r>
          </a:p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int8: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от −128 до 127 (1 байт).</a:t>
            </a:r>
          </a:p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int16: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от −32 768 до 32 767 (2 байта).</a:t>
            </a:r>
          </a:p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int32: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от −2 147 483 648 до 2 147 483 647 (4 байта).</a:t>
            </a: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Пример: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['age']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['age'].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astype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('int8').</a:t>
            </a:r>
          </a:p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float32 —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вместо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float64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для приближённых расчётов.</a:t>
            </a: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Экономия: 50% памяти.</a:t>
            </a: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Пример: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['price']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['price'].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astype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('float32').</a:t>
            </a:r>
          </a:p>
          <a:p>
            <a:pPr algn="ctr"/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 —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для столбцов «да/нет».</a:t>
            </a: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Занимает 1 байт вместо 8 (для 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int64).</a:t>
            </a: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Пример: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['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is_active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']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['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is_active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'].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astype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('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bool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').</a:t>
            </a:r>
          </a:p>
          <a:p>
            <a:pPr algn="ctr"/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datetime64[ns] — 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для дат (оптимизирован для операций с временем).</a:t>
            </a:r>
          </a:p>
          <a:p>
            <a:pPr algn="ctr"/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Пример: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['date'] = 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pd.to_datetime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df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['date']).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0"/>
            <a:ext cx="90010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Оптимизация </a:t>
            </a:r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: типы данных (</a:t>
            </a:r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astype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())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3675902"/>
            <a:ext cx="6896098" cy="318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24650" y="6362700"/>
            <a:ext cx="241935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773652"/>
            <a:ext cx="6013561" cy="16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01359" y="2845330"/>
            <a:ext cx="5742641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1071538" y="2416702"/>
            <a:ext cx="32633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latin typeface="Times New Roman" pitchFamily="18" charset="0"/>
                <a:cs typeface="Times New Roman" pitchFamily="18" charset="0"/>
              </a:rPr>
              <a:t>Чтение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CSV‑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файлов 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чанками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643438" y="4702718"/>
            <a:ext cx="24414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Агрегация по </a:t>
            </a:r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чанкам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-1" y="5131346"/>
            <a:ext cx="8846543" cy="13573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2285984" y="6488668"/>
            <a:ext cx="26648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b="1" dirty="0">
                <a:latin typeface="Times New Roman" pitchFamily="18" charset="0"/>
                <a:cs typeface="Times New Roman" pitchFamily="18" charset="0"/>
              </a:rPr>
              <a:t>Фильтрация и выборка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0" y="0"/>
            <a:ext cx="900109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Оптимизация </a:t>
            </a:r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pandas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ru-RU" sz="3200" b="1" dirty="0" err="1" smtClean="0">
                <a:latin typeface="Times New Roman" pitchFamily="18" charset="0"/>
                <a:cs typeface="Times New Roman" pitchFamily="18" charset="0"/>
              </a:rPr>
              <a:t>чанкинг</a:t>
            </a:r>
            <a:endParaRPr lang="ru-RU" sz="3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en-US" dirty="0" err="1" smtClean="0"/>
              <a:t>Dask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err="1" smtClean="0"/>
              <a:t>Polars</a:t>
            </a:r>
            <a:endParaRPr lang="ru-RU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3929042"/>
            <a:ext cx="4857751" cy="2928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54046" y="3071810"/>
            <a:ext cx="4089955" cy="3786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0" y="1071546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Выбор между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Dask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и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Polars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зависит от задачи: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Dask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подходит для распределённых вычислений, 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Polars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для быстрой обработки данных на одном компьютере. Иногда их можно использовать вместе: например,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Dask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для распределения задач по кластеру, а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Polars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 — для обработки данных на каждом узле.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357206"/>
            <a:ext cx="8229600" cy="1143000"/>
          </a:xfrm>
        </p:spPr>
        <p:txBody>
          <a:bodyPr/>
          <a:lstStyle/>
          <a:p>
            <a:r>
              <a:rPr lang="en-US" dirty="0" smtClean="0"/>
              <a:t>SQL</a:t>
            </a:r>
            <a:endParaRPr lang="ru-RU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428604"/>
            <a:ext cx="4104469" cy="1928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3143248"/>
            <a:ext cx="4350146" cy="321468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9124" y="2410424"/>
            <a:ext cx="4714876" cy="4447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5572132" y="785794"/>
            <a:ext cx="307180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Хотите быстро написать S</a:t>
            </a:r>
            <a:r>
              <a:rPr kumimoji="0" lang="en-US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Q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Times New Roman" pitchFamily="18" charset="0"/>
                <a:cs typeface="MS Mincho" pitchFamily="49" charset="-128"/>
              </a:rPr>
              <a:t>‑</a:t>
            </a:r>
            <a:r>
              <a:rPr kumimoji="0" lang="ru-RU" sz="12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запрос</a:t>
            </a: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без создания базы.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715272" y="2428868"/>
            <a:ext cx="1428728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Планируете многократно выполнять разные запросы к одним и тем же данным.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604" y="1428736"/>
            <a:ext cx="5934086" cy="5429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Заголовок 1"/>
          <p:cNvSpPr txBox="1">
            <a:spLocks/>
          </p:cNvSpPr>
          <p:nvPr/>
        </p:nvSpPr>
        <p:spPr>
          <a:xfrm>
            <a:off x="457200" y="-24"/>
            <a:ext cx="8229600" cy="1143000"/>
          </a:xfrm>
          <a:prstGeom prst="rect">
            <a:avLst/>
          </a:prstGeom>
        </p:spPr>
        <p:txBody>
          <a:bodyPr/>
          <a:lstStyle/>
          <a:p>
            <a:pPr lvl="0" algn="ctr">
              <a:spcBef>
                <a:spcPct val="0"/>
              </a:spcBef>
            </a:pPr>
            <a:r>
              <a:rPr lang="ru-RU" sz="4400" dirty="0">
                <a:latin typeface="+mj-lt"/>
                <a:ea typeface="+mj-ea"/>
                <a:cs typeface="+mj-cs"/>
              </a:rPr>
              <a:t>Параллельные вычисления (на примере </a:t>
            </a:r>
            <a:r>
              <a:rPr lang="ru-RU" sz="4400" dirty="0" err="1">
                <a:latin typeface="+mj-lt"/>
                <a:ea typeface="+mj-ea"/>
                <a:cs typeface="+mj-cs"/>
              </a:rPr>
              <a:t>multiprocessing</a:t>
            </a:r>
            <a:r>
              <a:rPr lang="ru-RU" sz="4400" dirty="0">
                <a:latin typeface="+mj-lt"/>
                <a:ea typeface="+mj-ea"/>
                <a:cs typeface="+mj-cs"/>
              </a:rPr>
              <a:t>).</a:t>
            </a:r>
            <a:endParaRPr kumimoji="0" lang="ru-RU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457200" y="-214338"/>
            <a:ext cx="8229600" cy="1143000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Корреляция</a:t>
            </a: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8605"/>
            <a:ext cx="6791325" cy="23574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6786562" y="1571612"/>
            <a:ext cx="235743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Пирсон: 0.81</a:t>
            </a:r>
          </a:p>
          <a:p>
            <a:pPr algn="just"/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Спирмен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: 1.00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2714620"/>
            <a:ext cx="5929322" cy="410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29058" y="2512215"/>
            <a:ext cx="5214942" cy="4345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6630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6250456"/>
            <a:ext cx="4286248" cy="607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 smtClean="0"/>
              <a:t>Задания</a:t>
            </a:r>
            <a:endParaRPr lang="ru-RU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1000108"/>
            <a:ext cx="9144000" cy="415498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Скачайте по ссылке задание по корреляционному анализу данных и группировке данных</a:t>
            </a:r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2400" b="1" dirty="0" smtClean="0">
                <a:latin typeface="Times New Roman" pitchFamily="18" charset="0"/>
                <a:cs typeface="Times New Roman" pitchFamily="18" charset="0"/>
                <a:hlinkClick r:id="rId2"/>
              </a:rPr>
              <a:t>https://disk.360.yandex.ru/d/glRCa8-X2TAA0Q</a:t>
            </a:r>
            <a:endParaRPr lang="ru-RU" sz="24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файле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находятся непосредственно сами задания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файле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данные для задания №2-3;</a:t>
            </a:r>
          </a:p>
          <a:p>
            <a:pPr algn="just">
              <a:buFont typeface="Arial" pitchFamily="34" charset="0"/>
              <a:buChar char="•"/>
            </a:pP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 файле .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pptx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дополнительные теоретические материалы по выполнению. </a:t>
            </a:r>
          </a:p>
          <a:p>
            <a:pPr algn="just"/>
            <a:endParaRPr lang="ru-RU" sz="24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Ваша задача, ознакомиться, для чего может использоваться корреляция и для чего нужны сводные таблицы.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485</Words>
  <Application>Microsoft Office PowerPoint</Application>
  <PresentationFormat>Экран (4:3)</PresentationFormat>
  <Paragraphs>64</Paragraphs>
  <Slides>12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Работа с большими данными и оптимизация</vt:lpstr>
      <vt:lpstr>Дополнительная литература</vt:lpstr>
      <vt:lpstr>Слайд 3</vt:lpstr>
      <vt:lpstr>Слайд 4</vt:lpstr>
      <vt:lpstr>Слайд 5</vt:lpstr>
      <vt:lpstr>Слайд 6</vt:lpstr>
      <vt:lpstr>Слайд 7</vt:lpstr>
      <vt:lpstr>Dask и Polars</vt:lpstr>
      <vt:lpstr>SQL</vt:lpstr>
      <vt:lpstr>Слайд 10</vt:lpstr>
      <vt:lpstr>Слайд 11</vt:lpstr>
      <vt:lpstr>Задания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29</cp:revision>
  <dcterms:created xsi:type="dcterms:W3CDTF">2026-03-05T19:01:08Z</dcterms:created>
  <dcterms:modified xsi:type="dcterms:W3CDTF">2026-03-16T16:41:16Z</dcterms:modified>
</cp:coreProperties>
</file>