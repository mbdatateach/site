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7" r:id="rId3"/>
    <p:sldId id="257" r:id="rId4"/>
    <p:sldId id="258" r:id="rId5"/>
    <p:sldId id="259" r:id="rId6"/>
    <p:sldId id="260" r:id="rId7"/>
    <p:sldId id="261" r:id="rId8"/>
    <p:sldId id="263" r:id="rId9"/>
    <p:sldId id="264" r:id="rId10"/>
    <p:sldId id="262" r:id="rId11"/>
    <p:sldId id="269" r:id="rId12"/>
    <p:sldId id="266" r:id="rId13"/>
    <p:sldId id="268" r:id="rId14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5620"/>
    <p:restoredTop sz="94660"/>
  </p:normalViewPr>
  <p:slideViewPr>
    <p:cSldViewPr>
      <p:cViewPr>
        <p:scale>
          <a:sx n="100" d="100"/>
          <a:sy n="100" d="100"/>
        </p:scale>
        <p:origin x="-1860" y="-2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E11B8-3BAF-47CB-BD29-2C6350B84229}" type="datetimeFigureOut">
              <a:rPr lang="ru-RU" smtClean="0"/>
              <a:pPr/>
              <a:t>25.02.2026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114733-5215-407D-9F0B-B2EA8745B88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E11B8-3BAF-47CB-BD29-2C6350B84229}" type="datetimeFigureOut">
              <a:rPr lang="ru-RU" smtClean="0"/>
              <a:pPr/>
              <a:t>25.02.2026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114733-5215-407D-9F0B-B2EA8745B88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E11B8-3BAF-47CB-BD29-2C6350B84229}" type="datetimeFigureOut">
              <a:rPr lang="ru-RU" smtClean="0"/>
              <a:pPr/>
              <a:t>25.02.2026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114733-5215-407D-9F0B-B2EA8745B88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E11B8-3BAF-47CB-BD29-2C6350B84229}" type="datetimeFigureOut">
              <a:rPr lang="ru-RU" smtClean="0"/>
              <a:pPr/>
              <a:t>25.02.2026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114733-5215-407D-9F0B-B2EA8745B88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E11B8-3BAF-47CB-BD29-2C6350B84229}" type="datetimeFigureOut">
              <a:rPr lang="ru-RU" smtClean="0"/>
              <a:pPr/>
              <a:t>25.02.2026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114733-5215-407D-9F0B-B2EA8745B88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E11B8-3BAF-47CB-BD29-2C6350B84229}" type="datetimeFigureOut">
              <a:rPr lang="ru-RU" smtClean="0"/>
              <a:pPr/>
              <a:t>25.02.2026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114733-5215-407D-9F0B-B2EA8745B88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E11B8-3BAF-47CB-BD29-2C6350B84229}" type="datetimeFigureOut">
              <a:rPr lang="ru-RU" smtClean="0"/>
              <a:pPr/>
              <a:t>25.02.2026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114733-5215-407D-9F0B-B2EA8745B88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E11B8-3BAF-47CB-BD29-2C6350B84229}" type="datetimeFigureOut">
              <a:rPr lang="ru-RU" smtClean="0"/>
              <a:pPr/>
              <a:t>25.02.2026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114733-5215-407D-9F0B-B2EA8745B88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E11B8-3BAF-47CB-BD29-2C6350B84229}" type="datetimeFigureOut">
              <a:rPr lang="ru-RU" smtClean="0"/>
              <a:pPr/>
              <a:t>25.02.2026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114733-5215-407D-9F0B-B2EA8745B88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E11B8-3BAF-47CB-BD29-2C6350B84229}" type="datetimeFigureOut">
              <a:rPr lang="ru-RU" smtClean="0"/>
              <a:pPr/>
              <a:t>25.02.2026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114733-5215-407D-9F0B-B2EA8745B88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E11B8-3BAF-47CB-BD29-2C6350B84229}" type="datetimeFigureOut">
              <a:rPr lang="ru-RU" smtClean="0"/>
              <a:pPr/>
              <a:t>25.02.2026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114733-5215-407D-9F0B-B2EA8745B888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CE11B8-3BAF-47CB-BD29-2C6350B84229}" type="datetimeFigureOut">
              <a:rPr lang="ru-RU" smtClean="0"/>
              <a:pPr/>
              <a:t>25.02.2026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114733-5215-407D-9F0B-B2EA8745B888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zen.ru/a/aM3q9jaY2R6oPzk9?ysclid=mltj91tjbc504159756" TargetMode="External"/><Relationship Id="rId2" Type="http://schemas.openxmlformats.org/officeDocument/2006/relationships/hyperlink" Target="https://sky.pro/wiki/python/predobrabotka-dannyh-ochistka-i-normalizaciya/?ysclid=mltiwinmz4726727339" TargetMode="Externa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metanit.com/python/tutorial/8.1.php?ysclid=mltjo2qza3137811473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disk.360.yandex.ru/d/MX1QoFVv6R0JXg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smtClean="0"/>
              <a:t>Предварительная обработка данных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Дополнительные материалы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0" y="1357298"/>
            <a:ext cx="9144000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Искусство предобработки данных: от сырых чисел к качественным моделям</a:t>
            </a:r>
            <a:endParaRPr lang="en-US" sz="2400" b="1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en-US" sz="2400" dirty="0" smtClean="0">
                <a:latin typeface="Times New Roman" pitchFamily="18" charset="0"/>
                <a:cs typeface="Times New Roman" pitchFamily="18" charset="0"/>
                <a:hlinkClick r:id="rId2"/>
              </a:rPr>
              <a:t>https://sky.pro/wiki/python/predobrabotka-dannyh-ochistka-i-normalizaciya/?ysclid=mltiwinmz4726727339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Пошаговое руководство по обработке данных на </a:t>
            </a:r>
            <a:r>
              <a:rPr lang="ru-RU" sz="2400" b="1" dirty="0" err="1" smtClean="0">
                <a:latin typeface="Times New Roman" pitchFamily="18" charset="0"/>
                <a:cs typeface="Times New Roman" pitchFamily="18" charset="0"/>
              </a:rPr>
              <a:t>Python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: от хаоса к порядку</a:t>
            </a:r>
            <a:endParaRPr lang="en-US" sz="2400" b="1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en-US" sz="2400" dirty="0" smtClean="0">
                <a:latin typeface="Times New Roman" pitchFamily="18" charset="0"/>
                <a:cs typeface="Times New Roman" pitchFamily="18" charset="0"/>
                <a:hlinkClick r:id="rId3"/>
              </a:rPr>
              <a:t>https://dzen.ru/a/aM3q9jaY2R6oPzk9?ysclid=mltj91tjbc504159756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357167"/>
            <a:ext cx="5476875" cy="65008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Прямоугольник 2"/>
          <p:cNvSpPr/>
          <p:nvPr/>
        </p:nvSpPr>
        <p:spPr>
          <a:xfrm>
            <a:off x="2857488" y="0"/>
            <a:ext cx="380828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400" b="1" dirty="0"/>
              <a:t>Работа с пропусками (</a:t>
            </a:r>
            <a:r>
              <a:rPr lang="en-US" sz="2400" b="1" dirty="0" err="1"/>
              <a:t>NaN</a:t>
            </a:r>
            <a:r>
              <a:rPr lang="en-US" sz="2400" b="1" dirty="0"/>
              <a:t>)</a:t>
            </a:r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500694" y="928670"/>
            <a:ext cx="3643306" cy="5400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3071802" y="0"/>
            <a:ext cx="308622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400" b="1" dirty="0"/>
              <a:t>Удаление дубликатов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785794"/>
            <a:ext cx="7096125" cy="5495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5929322" y="2077798"/>
            <a:ext cx="3214678" cy="431345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3214678" y="0"/>
            <a:ext cx="310238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400" b="1" dirty="0" smtClean="0"/>
              <a:t>Работа с аномалиями</a:t>
            </a:r>
            <a:endParaRPr lang="ru-RU" sz="2400" b="1" dirty="0"/>
          </a:p>
        </p:txBody>
      </p:sp>
      <p:pic>
        <p:nvPicPr>
          <p:cNvPr id="3078" name="Picture 6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428604"/>
            <a:ext cx="6486525" cy="3676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3079" name="Picture 7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929190" y="3259990"/>
            <a:ext cx="4214810" cy="35980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3214678" y="0"/>
            <a:ext cx="310238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400" b="1" dirty="0" smtClean="0"/>
              <a:t>Работа с аномалиями</a:t>
            </a:r>
            <a:endParaRPr lang="ru-RU" sz="2400" b="1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85786" y="357166"/>
            <a:ext cx="7743829" cy="157344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1214414" y="1928802"/>
            <a:ext cx="6853629" cy="23574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1571604" y="4295775"/>
            <a:ext cx="5991225" cy="2562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00166" y="357166"/>
            <a:ext cx="6209702" cy="18002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0" y="2714620"/>
            <a:ext cx="4350574" cy="15001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124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857752" y="2214554"/>
            <a:ext cx="4020936" cy="1928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" name="Рисунок 4" descr="pic03"/>
          <p:cNvPicPr/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142844" y="4143380"/>
            <a:ext cx="5072066" cy="253020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Прямоугольник 5"/>
          <p:cNvSpPr/>
          <p:nvPr/>
        </p:nvSpPr>
        <p:spPr>
          <a:xfrm>
            <a:off x="428596" y="6572272"/>
            <a:ext cx="420127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 smtClean="0"/>
              <a:t>Кодирование существующих признаков</a:t>
            </a:r>
            <a:endParaRPr lang="ru-RU" b="1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2857488" y="0"/>
            <a:ext cx="387285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400" b="1" dirty="0" smtClean="0"/>
              <a:t>Создание новых признаков</a:t>
            </a:r>
            <a:endParaRPr lang="ru-RU" sz="2400" b="1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5286380" y="4786322"/>
            <a:ext cx="3857620" cy="646331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just"/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df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['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цена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'] =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df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['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цена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'].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str.replace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('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руб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.', '').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str.replace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(' ', '').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astype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(float)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9" name="Прямоугольник 8"/>
          <p:cNvSpPr/>
          <p:nvPr/>
        </p:nvSpPr>
        <p:spPr>
          <a:xfrm>
            <a:off x="6000760" y="5429264"/>
            <a:ext cx="250421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 smtClean="0"/>
              <a:t>Преобразование типов</a:t>
            </a:r>
            <a:endParaRPr lang="ru-RU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357166"/>
            <a:ext cx="914400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Булева маска — это серия значений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True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/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False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, которая «накладывается» на таблицу. Строки, для которых стоит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True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, попадают в результат; где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False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— отсекаются.</a:t>
            </a:r>
          </a:p>
          <a:p>
            <a:pPr algn="just"/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Как работает: вы задаёте условие (например, «возраст &gt; 30»),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pandas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сравнивает каждую строку и создаёт маску. Потом вы применяете эту маску к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DataFrame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— остаются только подходящие строки.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3714744" y="0"/>
            <a:ext cx="207024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400" b="1" dirty="0" smtClean="0"/>
              <a:t>Булевы маски</a:t>
            </a:r>
            <a:endParaRPr lang="ru-RU" sz="2400" b="1" dirty="0"/>
          </a:p>
        </p:txBody>
      </p:sp>
      <p:pic>
        <p:nvPicPr>
          <p:cNvPr id="2048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571604" y="1857364"/>
            <a:ext cx="5953125" cy="4657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357166"/>
            <a:ext cx="91440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удобный способ фильтровать данные с помощью строкового выражения (как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SQL‑запрос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). Особенно полезен, когда условий много или они сложные.</a:t>
            </a:r>
          </a:p>
          <a:p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Как работает: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вы передаёте строку с условием,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pandas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интерпретирует её и возвращает отфильтрованный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DataFrame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4000496" y="0"/>
            <a:ext cx="92660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dirty="0" smtClean="0"/>
              <a:t>query</a:t>
            </a:r>
            <a:endParaRPr lang="ru-RU" sz="2400" b="1" dirty="0"/>
          </a:p>
        </p:txBody>
      </p:sp>
      <p:pic>
        <p:nvPicPr>
          <p:cNvPr id="2150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643042" y="1857364"/>
            <a:ext cx="5886450" cy="430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0" y="391049"/>
            <a:ext cx="914400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Работа с датами и временем в </a:t>
            </a:r>
            <a:r>
              <a:rPr lang="ru-RU" sz="2000" b="1" dirty="0" err="1" smtClean="0">
                <a:latin typeface="Times New Roman" pitchFamily="18" charset="0"/>
                <a:cs typeface="Times New Roman" pitchFamily="18" charset="0"/>
              </a:rPr>
              <a:t>Python</a:t>
            </a:r>
            <a:r>
              <a:rPr lang="ru-RU" sz="20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— важная часть анализа данных. Часто исходные данные содержат даты в виде строк или неструктурированного текста, а для расчётов, фильтрации и визуализации нужен специальный формат </a:t>
            </a:r>
            <a:r>
              <a:rPr lang="ru-RU" sz="2000" dirty="0" err="1" smtClean="0">
                <a:latin typeface="Times New Roman" pitchFamily="18" charset="0"/>
                <a:cs typeface="Times New Roman" pitchFamily="18" charset="0"/>
              </a:rPr>
              <a:t>datetime</a:t>
            </a:r>
            <a:r>
              <a:rPr lang="ru-RU" sz="2000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ru-RU" sz="20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85786" y="1643050"/>
            <a:ext cx="7429552" cy="35753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714348" y="5238746"/>
            <a:ext cx="7713537" cy="16192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5" name="Прямоугольник 4"/>
          <p:cNvSpPr/>
          <p:nvPr/>
        </p:nvSpPr>
        <p:spPr>
          <a:xfrm>
            <a:off x="0" y="0"/>
            <a:ext cx="914396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 smtClean="0">
                <a:latin typeface="Times New Roman" pitchFamily="18" charset="0"/>
                <a:cs typeface="Times New Roman" pitchFamily="18" charset="0"/>
                <a:hlinkClick r:id="rId4"/>
              </a:rPr>
              <a:t>https://metanit.com/python/tutorial/8.1.php?ysclid=mltjo2qza3137811473</a:t>
            </a:r>
            <a:endParaRPr lang="en-US" b="1" dirty="0" smtClean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214290"/>
            <a:ext cx="9144000" cy="66787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b="1" dirty="0" err="1" smtClean="0">
                <a:latin typeface="Times New Roman" pitchFamily="18" charset="0"/>
                <a:cs typeface="Times New Roman" pitchFamily="18" charset="0"/>
              </a:rPr>
              <a:t>value_counts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()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— функция библиотеки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Pandas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в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Python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, которая подсчитывает количество уникальных значений в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Series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или в определённом столбце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DataFrame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. Результатом работы метода является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Series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, где индексами служат уникальные значения, а значениями — частота их появления, по умолчанию отсортированная по убыванию.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import pandas as pd</a:t>
            </a:r>
          </a:p>
          <a:p>
            <a:pPr algn="just"/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# </a:t>
            </a:r>
            <a:r>
              <a:rPr lang="ru-RU" sz="2000" dirty="0" smtClean="0">
                <a:latin typeface="Courier New" pitchFamily="49" charset="0"/>
                <a:cs typeface="Courier New" pitchFamily="49" charset="0"/>
              </a:rPr>
              <a:t>Создаём </a:t>
            </a:r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Series </a:t>
            </a:r>
            <a:r>
              <a:rPr lang="ru-RU" sz="2000" dirty="0" smtClean="0">
                <a:latin typeface="Courier New" pitchFamily="49" charset="0"/>
                <a:cs typeface="Courier New" pitchFamily="49" charset="0"/>
              </a:rPr>
              <a:t>с данными о фруктах</a:t>
            </a:r>
          </a:p>
          <a:p>
            <a:pPr algn="just"/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fruits = </a:t>
            </a:r>
            <a:r>
              <a:rPr lang="en-US" sz="2000" dirty="0" err="1" smtClean="0">
                <a:latin typeface="Courier New" pitchFamily="49" charset="0"/>
                <a:cs typeface="Courier New" pitchFamily="49" charset="0"/>
              </a:rPr>
              <a:t>pd.Series</a:t>
            </a:r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(['apple', 'banana', 'apple', 'orange', 'apple', 'banana', 'kiwi'])</a:t>
            </a:r>
          </a:p>
          <a:p>
            <a:pPr algn="just"/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# </a:t>
            </a:r>
            <a:r>
              <a:rPr lang="ru-RU" sz="2000" dirty="0" smtClean="0">
                <a:latin typeface="Courier New" pitchFamily="49" charset="0"/>
                <a:cs typeface="Courier New" pitchFamily="49" charset="0"/>
              </a:rPr>
              <a:t>Применяем метод </a:t>
            </a:r>
            <a:r>
              <a:rPr lang="en-US" sz="2000" dirty="0" err="1" smtClean="0">
                <a:latin typeface="Courier New" pitchFamily="49" charset="0"/>
                <a:cs typeface="Courier New" pitchFamily="49" charset="0"/>
              </a:rPr>
              <a:t>value_counts</a:t>
            </a:r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()</a:t>
            </a:r>
          </a:p>
          <a:p>
            <a:pPr algn="just"/>
            <a:r>
              <a:rPr lang="en-US" sz="2000" dirty="0" err="1" smtClean="0">
                <a:latin typeface="Courier New" pitchFamily="49" charset="0"/>
                <a:cs typeface="Courier New" pitchFamily="49" charset="0"/>
              </a:rPr>
              <a:t>fruit_counts</a:t>
            </a:r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2000" dirty="0" err="1" smtClean="0">
                <a:latin typeface="Courier New" pitchFamily="49" charset="0"/>
                <a:cs typeface="Courier New" pitchFamily="49" charset="0"/>
              </a:rPr>
              <a:t>fruits.value_counts</a:t>
            </a:r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()</a:t>
            </a:r>
          </a:p>
          <a:p>
            <a:pPr algn="just"/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sz="2000" dirty="0" err="1" smtClean="0">
                <a:latin typeface="Courier New" pitchFamily="49" charset="0"/>
                <a:cs typeface="Courier New" pitchFamily="49" charset="0"/>
              </a:rPr>
              <a:t>fruit_counts</a:t>
            </a:r>
            <a:r>
              <a:rPr lang="en-US" sz="2000" dirty="0" smtClean="0">
                <a:latin typeface="Courier New" pitchFamily="49" charset="0"/>
                <a:cs typeface="Courier New" pitchFamily="49" charset="0"/>
              </a:rPr>
              <a:t>)</a:t>
            </a:r>
          </a:p>
          <a:p>
            <a:pPr algn="just"/>
            <a:r>
              <a:rPr lang="en-US" sz="2000" b="1" dirty="0" smtClean="0">
                <a:latin typeface="Courier New" pitchFamily="49" charset="0"/>
                <a:cs typeface="Courier New" pitchFamily="49" charset="0"/>
              </a:rPr>
              <a:t># </a:t>
            </a:r>
            <a:r>
              <a:rPr lang="ru-RU" sz="2000" b="1" dirty="0" smtClean="0">
                <a:latin typeface="Courier New" pitchFamily="49" charset="0"/>
                <a:cs typeface="Courier New" pitchFamily="49" charset="0"/>
              </a:rPr>
              <a:t>Результат:</a:t>
            </a:r>
          </a:p>
          <a:p>
            <a:pPr algn="just"/>
            <a:r>
              <a:rPr lang="ru-RU" sz="2000" b="1" dirty="0" smtClean="0">
                <a:latin typeface="Courier New" pitchFamily="49" charset="0"/>
                <a:cs typeface="Courier New" pitchFamily="49" charset="0"/>
              </a:rPr>
              <a:t># </a:t>
            </a:r>
            <a:r>
              <a:rPr lang="en-US" sz="2000" b="1" dirty="0" smtClean="0">
                <a:latin typeface="Courier New" pitchFamily="49" charset="0"/>
                <a:cs typeface="Courier New" pitchFamily="49" charset="0"/>
              </a:rPr>
              <a:t>apple 3</a:t>
            </a:r>
          </a:p>
          <a:p>
            <a:pPr algn="just"/>
            <a:r>
              <a:rPr lang="en-US" sz="2000" b="1" dirty="0" smtClean="0">
                <a:latin typeface="Courier New" pitchFamily="49" charset="0"/>
                <a:cs typeface="Courier New" pitchFamily="49" charset="0"/>
              </a:rPr>
              <a:t># banana 2</a:t>
            </a:r>
          </a:p>
          <a:p>
            <a:pPr algn="just"/>
            <a:r>
              <a:rPr lang="en-US" sz="2000" b="1" dirty="0" smtClean="0">
                <a:latin typeface="Courier New" pitchFamily="49" charset="0"/>
                <a:cs typeface="Courier New" pitchFamily="49" charset="0"/>
              </a:rPr>
              <a:t># orange 1</a:t>
            </a:r>
          </a:p>
          <a:p>
            <a:pPr algn="just"/>
            <a:r>
              <a:rPr lang="en-US" sz="2000" b="1" dirty="0" smtClean="0">
                <a:latin typeface="Courier New" pitchFamily="49" charset="0"/>
                <a:cs typeface="Courier New" pitchFamily="49" charset="0"/>
              </a:rPr>
              <a:t># kiwi 1</a:t>
            </a:r>
          </a:p>
          <a:p>
            <a:pPr algn="just"/>
            <a:r>
              <a:rPr lang="en-US" sz="2000" b="1" dirty="0" smtClean="0">
                <a:latin typeface="Courier New" pitchFamily="49" charset="0"/>
                <a:cs typeface="Courier New" pitchFamily="49" charset="0"/>
              </a:rPr>
              <a:t># </a:t>
            </a:r>
            <a:r>
              <a:rPr lang="en-US" sz="2000" b="1" dirty="0" err="1" smtClean="0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sz="2000" b="1" dirty="0" smtClean="0">
                <a:latin typeface="Courier New" pitchFamily="49" charset="0"/>
                <a:cs typeface="Courier New" pitchFamily="49" charset="0"/>
              </a:rPr>
              <a:t>: int64</a:t>
            </a:r>
            <a:endParaRPr lang="ru-RU" sz="2000" b="1" dirty="0">
              <a:latin typeface="Courier New" pitchFamily="49" charset="0"/>
              <a:cs typeface="Courier New" pitchFamily="49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4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2928910"/>
            <a:ext cx="4143404" cy="31184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3555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0" y="6000744"/>
            <a:ext cx="5000628" cy="35113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3556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4327786" y="2786034"/>
            <a:ext cx="4816214" cy="21050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23557" name="Picture 5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5643570" y="5072050"/>
            <a:ext cx="3316764" cy="1785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Прямоугольник 5"/>
          <p:cNvSpPr/>
          <p:nvPr/>
        </p:nvSpPr>
        <p:spPr>
          <a:xfrm>
            <a:off x="3143240" y="0"/>
            <a:ext cx="288380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400" b="1" dirty="0" smtClean="0"/>
              <a:t>Сохранение данных</a:t>
            </a:r>
            <a:endParaRPr lang="ru-RU" sz="2400" b="1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0" y="571480"/>
            <a:ext cx="914400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В библиотеке </a:t>
            </a:r>
            <a:r>
              <a:rPr lang="ru-RU" sz="2400" b="1" dirty="0" err="1" smtClean="0">
                <a:latin typeface="Times New Roman" pitchFamily="18" charset="0"/>
                <a:cs typeface="Times New Roman" pitchFamily="18" charset="0"/>
              </a:rPr>
              <a:t>Pandas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 в </a:t>
            </a:r>
            <a:r>
              <a:rPr lang="ru-RU" sz="2400" b="1" dirty="0" err="1" smtClean="0">
                <a:latin typeface="Times New Roman" pitchFamily="18" charset="0"/>
                <a:cs typeface="Times New Roman" pitchFamily="18" charset="0"/>
              </a:rPr>
              <a:t>Python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 данные можно сохранять в разных форматах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: CSV,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Excel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или JSON. Для этого используются встроенные методы, которые позволяют экспортировать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DataFrame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в нужный формат.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3714752"/>
            <a:ext cx="9144000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Скачайте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датасет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400" smtClean="0">
                <a:latin typeface="Times New Roman" pitchFamily="18" charset="0"/>
                <a:cs typeface="Times New Roman" pitchFamily="18" charset="0"/>
              </a:rPr>
              <a:t>о </a:t>
            </a:r>
            <a:r>
              <a:rPr lang="ru-RU" sz="2400" smtClean="0">
                <a:latin typeface="Times New Roman" pitchFamily="18" charset="0"/>
                <a:cs typeface="Times New Roman" pitchFamily="18" charset="0"/>
              </a:rPr>
              <a:t>героях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игры «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Dota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2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» (</a:t>
            </a:r>
            <a:r>
              <a:rPr lang="en-US" sz="2400" b="1" dirty="0" err="1" smtClean="0">
                <a:latin typeface="Times New Roman" pitchFamily="18" charset="0"/>
                <a:cs typeface="Times New Roman" pitchFamily="18" charset="0"/>
              </a:rPr>
              <a:t>dota_hero_stats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.</a:t>
            </a:r>
            <a:r>
              <a:rPr lang="en-US" sz="2400" b="1" dirty="0" err="1" smtClean="0">
                <a:latin typeface="Times New Roman" pitchFamily="18" charset="0"/>
                <a:cs typeface="Times New Roman" pitchFamily="18" charset="0"/>
              </a:rPr>
              <a:t>csv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)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. </a:t>
            </a:r>
          </a:p>
          <a:p>
            <a:pPr algn="just">
              <a:buFont typeface="Arial" pitchFamily="34" charset="0"/>
              <a:buChar char="•"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Скажите, сколько в таблице героев с 2-мя или 6-ю ногами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algn="just">
              <a:buFont typeface="Arial" pitchFamily="34" charset="0"/>
              <a:buChar char="•"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Выберите колонки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attack_type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и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primary_attr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и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выберите самый распространённый набор характеристик.</a:t>
            </a:r>
          </a:p>
        </p:txBody>
      </p:sp>
      <p:sp>
        <p:nvSpPr>
          <p:cNvPr id="3" name="Прямоугольник 2"/>
          <p:cNvSpPr/>
          <p:nvPr/>
        </p:nvSpPr>
        <p:spPr>
          <a:xfrm>
            <a:off x="0" y="214290"/>
            <a:ext cx="91440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Times New Roman" pitchFamily="18" charset="0"/>
                <a:cs typeface="Times New Roman" pitchFamily="18" charset="0"/>
                <a:hlinkClick r:id="rId2"/>
              </a:rPr>
              <a:t>https://disk.360.yandex.ru/d/MX1QoFVv6R0JXg</a:t>
            </a:r>
            <a:endParaRPr lang="en-US" sz="2400" b="1" dirty="0" smtClean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0" y="928670"/>
            <a:ext cx="9144000" cy="267765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В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dataframe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с именем </a:t>
            </a:r>
            <a:r>
              <a:rPr lang="ru-RU" sz="2400" b="1" dirty="0" err="1" smtClean="0">
                <a:latin typeface="Times New Roman" pitchFamily="18" charset="0"/>
                <a:cs typeface="Times New Roman" pitchFamily="18" charset="0"/>
              </a:rPr>
              <a:t>my_stat</a:t>
            </a: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_1.csv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сохранены данные с 4 колонками: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session_value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group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time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n_users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.  </a:t>
            </a:r>
          </a:p>
          <a:p>
            <a:pPr algn="just">
              <a:buFont typeface="Arial" pitchFamily="34" charset="0"/>
              <a:buChar char="•"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В переменной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session_value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замените все пропущенные значения на нули.</a:t>
            </a:r>
          </a:p>
          <a:p>
            <a:pPr algn="just">
              <a:buFont typeface="Arial" pitchFamily="34" charset="0"/>
              <a:buChar char="•"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В переменной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n_users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замените все отрицательные значения на медианное значение переменной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n_users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(без учета отрицательных значений, разумеется).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5429264"/>
            <a:ext cx="9144000" cy="1200329"/>
          </a:xfrm>
          <a:prstGeom prst="rect">
            <a:avLst/>
          </a:prstGeom>
          <a:solidFill>
            <a:schemeClr val="bg2"/>
          </a:solidFill>
        </p:spPr>
        <p:txBody>
          <a:bodyPr wrap="square">
            <a:spAutoFit/>
          </a:bodyPr>
          <a:lstStyle/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Скачайте данные о 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Титанике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из предыдущей лекции. Выведите количество пропусков в каждом столбце. Подумайте, как бы Вы хотели их обработать?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</TotalTime>
  <Words>453</Words>
  <Application>Microsoft Office PowerPoint</Application>
  <PresentationFormat>Экран (4:3)</PresentationFormat>
  <Paragraphs>47</Paragraphs>
  <Slides>13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4" baseType="lpstr">
      <vt:lpstr>Тема Office</vt:lpstr>
      <vt:lpstr>Предварительная обработка данных</vt:lpstr>
      <vt:lpstr>Дополнительные материалы</vt:lpstr>
      <vt:lpstr>Слайд 3</vt:lpstr>
      <vt:lpstr>Слайд 4</vt:lpstr>
      <vt:lpstr>Слайд 5</vt:lpstr>
      <vt:lpstr>Слайд 6</vt:lpstr>
      <vt:lpstr>Слайд 7</vt:lpstr>
      <vt:lpstr>Слайд 8</vt:lpstr>
      <vt:lpstr>Слайд 9</vt:lpstr>
      <vt:lpstr>Слайд 10</vt:lpstr>
      <vt:lpstr>Слайд 11</vt:lpstr>
      <vt:lpstr>Слайд 12</vt:lpstr>
      <vt:lpstr>Слайд 13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user</dc:creator>
  <cp:lastModifiedBy>user</cp:lastModifiedBy>
  <cp:revision>21</cp:revision>
  <dcterms:created xsi:type="dcterms:W3CDTF">2026-02-10T19:33:42Z</dcterms:created>
  <dcterms:modified xsi:type="dcterms:W3CDTF">2026-02-25T19:46:33Z</dcterms:modified>
</cp:coreProperties>
</file>