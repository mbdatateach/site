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0" r:id="rId4"/>
    <p:sldId id="273" r:id="rId5"/>
    <p:sldId id="278" r:id="rId6"/>
    <p:sldId id="279" r:id="rId7"/>
    <p:sldId id="277" r:id="rId8"/>
    <p:sldId id="275" r:id="rId9"/>
    <p:sldId id="274" r:id="rId10"/>
    <p:sldId id="276" r:id="rId11"/>
    <p:sldId id="280" r:id="rId12"/>
    <p:sldId id="262" r:id="rId13"/>
    <p:sldId id="264" r:id="rId14"/>
    <p:sldId id="272" r:id="rId15"/>
    <p:sldId id="266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50" d="100"/>
          <a:sy n="50" d="100"/>
        </p:scale>
        <p:origin x="-798" y="-1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ky.pro/media/razlichie-mezhdu-iloc-i-loc-v-pandas/" TargetMode="External"/><Relationship Id="rId2" Type="http://schemas.openxmlformats.org/officeDocument/2006/relationships/hyperlink" Target="https://www.geeksforgeeks.org/creating-a-pandas-dataframe/?ysclid=m1m820lp6x147013500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4" Type="http://schemas.openxmlformats.org/officeDocument/2006/relationships/hyperlink" Target="https://docs-python.ru/packages/modul-pandas-analiz-dannykh-python/otbor-filtratsiia-dannykh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Введение в </a:t>
            </a:r>
            <a:r>
              <a:rPr lang="ru-RU" b="1" dirty="0" err="1" smtClean="0"/>
              <a:t>pandas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56323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Cambria" pitchFamily="18" charset="0"/>
              </a:rPr>
              <a:t>Creating a Pandas </a:t>
            </a:r>
            <a:r>
              <a:rPr lang="en-US" sz="2400" i="1" dirty="0" err="1" smtClean="0">
                <a:latin typeface="Cambria" pitchFamily="18" charset="0"/>
              </a:rPr>
              <a:t>DataFrame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https://www.geeksforgeeks.org/creating-a-pandas-dataframe/?ysclid=m1m820lp6x147013500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dirty="0" smtClean="0"/>
          </a:p>
          <a:p>
            <a:r>
              <a:rPr lang="ru-RU" sz="2400" i="1" dirty="0" smtClean="0">
                <a:latin typeface="Cambria" pitchFamily="18" charset="0"/>
              </a:rPr>
              <a:t>Различие между </a:t>
            </a:r>
            <a:r>
              <a:rPr lang="ru-RU" sz="2400" i="1" dirty="0" err="1" smtClean="0">
                <a:latin typeface="Cambria" pitchFamily="18" charset="0"/>
              </a:rPr>
              <a:t>iloc</a:t>
            </a:r>
            <a:r>
              <a:rPr lang="ru-RU" sz="2400" i="1" dirty="0" smtClean="0">
                <a:latin typeface="Cambria" pitchFamily="18" charset="0"/>
              </a:rPr>
              <a:t> и </a:t>
            </a:r>
            <a:r>
              <a:rPr lang="ru-RU" sz="2400" i="1" dirty="0" err="1" smtClean="0">
                <a:latin typeface="Cambria" pitchFamily="18" charset="0"/>
              </a:rPr>
              <a:t>loc</a:t>
            </a:r>
            <a:r>
              <a:rPr lang="ru-RU" sz="2400" i="1" dirty="0" smtClean="0">
                <a:latin typeface="Cambria" pitchFamily="18" charset="0"/>
              </a:rPr>
              <a:t>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https://sky.pro/media/razlichie-mezhdu-iloc-i-loc-v-pandas/</a:t>
            </a:r>
            <a:endParaRPr lang="en-US" sz="2400" i="1" dirty="0" smtClean="0">
              <a:latin typeface="Cambria" pitchFamily="18" charset="0"/>
            </a:endParaRPr>
          </a:p>
          <a:p>
            <a:endParaRPr lang="en-US" sz="2400" i="1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Методы отбора данных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https://docs-python.ru/packages/modul-pandas-analiz-dannykh-python/otbor-filtratsiia-dannykh/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357694"/>
            <a:ext cx="9144000" cy="22860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Необходимая библиотека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857232"/>
            <a:ext cx="91440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Библиотека – набор кода, посвящённый определённой цели (например, математические функции). Используется, чтобы облегчить работу, связанную с этой целью. В нашем курсе самый часто используемый пример – библиотека 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pandas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которая применяется для </a:t>
            </a: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анализа данных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2285992"/>
            <a:ext cx="91440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 умолчанию содержимое библиотек недоступно при работе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Чтобы их использовать, необходимо их сначала импортировать: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806489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357694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– ключевое слово, дающее питону понять, что мы собираемся импортировать библиотеку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– название библиотеки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– ключевое слово, означающее, что дальше будет использоваться другое название библиотеки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– то, какое название мы решили использовать в коде вместо названия этой библиотеки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названия произвольны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Создание </a:t>
            </a:r>
            <a:r>
              <a:rPr lang="ru-RU" b="1" dirty="0" err="1" smtClean="0"/>
              <a:t>датафрейма</a:t>
            </a:r>
            <a:r>
              <a:rPr lang="ru-RU" b="1" dirty="0" smtClean="0"/>
              <a:t> из списков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142873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может пригодиться тогда, когда нужно вручную ввести в программу простые данные.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306"/>
            <a:ext cx="4000496" cy="3057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8899" y="2428868"/>
            <a:ext cx="4855101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Использование условий для отбора</a:t>
            </a:r>
            <a:endParaRPr lang="ru-RU" dirty="0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1" y="928670"/>
            <a:ext cx="4786313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В 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pandas.DataFrame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 можно фильтровать данные несколькими способами. Наиболее интуитивным из них является использование логической индексации.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4857784" cy="9286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643182"/>
            <a:ext cx="4143372" cy="9837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929190" y="1214422"/>
            <a:ext cx="421481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2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Для комбинации нескольких условий </a:t>
            </a:r>
            <a:r>
              <a:rPr lang="ru-RU" sz="2200" dirty="0" err="1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2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 использует &amp; (И), | (ИЛИ) и ~ (НЕ): 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0" y="385762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необходимо выставить большое количество условий, то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DataFrame.query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дает более читаемый синтаксис: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85918" y="4500570"/>
            <a:ext cx="5502616" cy="20717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4714876" y="2285992"/>
            <a:ext cx="4429124" cy="457200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0" y="2357430"/>
            <a:ext cx="4572000" cy="4500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Создание новой колонки на основе условия</a:t>
            </a:r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571612"/>
            <a:ext cx="507206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0" y="1142984"/>
            <a:ext cx="300973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Стандартное создание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71405" y="2357430"/>
            <a:ext cx="27103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Задавание функций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-1" y="3500438"/>
            <a:ext cx="450056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def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ключевое слово, даёт питону понять, что дальше будет задана функция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название, которое мы выбрали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</a:t>
            </a: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инпут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функции, т.е. какие данные ей нужны для работы.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what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 – тело функции, функционал, который будет работать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2857500"/>
            <a:ext cx="4429156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Прямоугольник 22"/>
          <p:cNvSpPr/>
          <p:nvPr/>
        </p:nvSpPr>
        <p:spPr>
          <a:xfrm>
            <a:off x="5214942" y="2214554"/>
            <a:ext cx="37861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Применение функций к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датафрэйму</a:t>
            </a: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643438" y="2857496"/>
            <a:ext cx="450056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apply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применяет переданную в него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функцию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ко всем колонкам вызванного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 Чтобы применить функци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ю к одной колонке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можно выбрать её перед применением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apply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например: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Указав название несуществующей колонки, создастся новая.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86314" y="4786322"/>
            <a:ext cx="4286248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72075" y="1500174"/>
            <a:ext cx="39719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Переименование колонок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идеале названия колонок осмысленны, актуальны, не содержат пробелов и на английском языке. Конечно, для каких-то задач, они могут быть и с пробелами, и на другом языке. В любом случае, если вы хотите их переименовать, для этого есть метод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rename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Один из способов переименования – передать словарь, в котором ключами являются старые названия, а значениями – новые. 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00372"/>
            <a:ext cx="8557706" cy="1076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4357694"/>
            <a:ext cx="9144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А вот пример переименования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лэйблов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строк из 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200" i="1" dirty="0" err="1" smtClean="0">
                <a:latin typeface="Times New Roman" pitchFamily="18" charset="0"/>
                <a:cs typeface="Times New Roman" pitchFamily="18" charset="0"/>
              </a:rPr>
              <a:t>Ivanov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из 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200" i="1" dirty="0" err="1" smtClean="0">
                <a:latin typeface="Times New Roman" pitchFamily="18" charset="0"/>
                <a:cs typeface="Times New Roman" pitchFamily="18" charset="0"/>
              </a:rPr>
              <a:t>Vasilev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068" y="4857760"/>
            <a:ext cx="838546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Объединение </a:t>
            </a:r>
            <a:r>
              <a:rPr lang="en-US" b="1" dirty="0" err="1" smtClean="0"/>
              <a:t>dataframe</a:t>
            </a:r>
            <a:endParaRPr lang="ru-RU" b="1" dirty="0"/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428604"/>
            <a:ext cx="91440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Зачастую называется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джойном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Очень частая операция, которую можно сделать с помощью нескольких функций. Одна из них – 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merge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Обязательным аргументом является другой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датафрэйм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с которым планируется объединение. Объединение идёт по общей колонке, у которой имеется одинаковый смысл и общие значения в обоих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датафрэймах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4357694"/>
            <a:ext cx="9144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 результате получается один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в котором колонки из двух таблиц, относящиеся к одному наблюдению, объединяются в строку. 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Дополнительные аргументы функции 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merge</a:t>
            </a:r>
            <a:endParaRPr kumimoji="0" lang="ru-RU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how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как объединять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датафрэймы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возможные варианты: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inner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outer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left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right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on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общая колонка, по которой будет происходить объединение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2357414"/>
            <a:ext cx="9105892" cy="2000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Создание </a:t>
            </a:r>
            <a:r>
              <a:rPr lang="en-US" b="1" dirty="0" err="1" smtClean="0"/>
              <a:t>dataframe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второй способ</a:t>
            </a:r>
            <a:r>
              <a:rPr lang="en-US" b="1" dirty="0" smtClean="0"/>
              <a:t>)</a:t>
            </a:r>
            <a:endParaRPr lang="ru-RU" b="1" dirty="0"/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692048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Вместо использования объекта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можно определить три аргумента в конструкторе в следующем порядке: матрицу данных, массив значений для параметра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и массив с названиями колонок для параметра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columns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Индекс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— это метки, присвоенные каждой строке в </a:t>
            </a:r>
            <a:r>
              <a:rPr lang="ru-RU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Columns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— это массив названий столбцов в </a:t>
            </a:r>
            <a:r>
              <a:rPr lang="ru-RU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3286124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большинстве случаев простейший способ создать матрицу значений — использовать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np.arrange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(…).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reshape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((…,…))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143380"/>
            <a:ext cx="8851444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5715016"/>
            <a:ext cx="52149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np.arrange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(…)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возвращает равномерно распределённые значения в заданном интервале.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reshape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((…,…))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 переделать форму (количество осей) существующего массива.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786446" y="5715016"/>
            <a:ext cx="3286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np.arrange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(16).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reshape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((4,4)) формирует матрицу размером 4×4 из чисел от 0 до 15.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4643446"/>
            <a:ext cx="5836986" cy="2214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Выбор данных: </a:t>
            </a:r>
            <a:r>
              <a:rPr lang="en-US" b="1" dirty="0" smtClean="0"/>
              <a:t>loc/</a:t>
            </a:r>
            <a:r>
              <a:rPr lang="en-US" b="1" dirty="0" err="1" smtClean="0"/>
              <a:t>iloc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777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Основное различие между методами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iloc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заключается в следующем: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iloc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применяется для обращения по численному индексу,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используется для обращения по метке 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label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2357431"/>
            <a:ext cx="2722367" cy="21431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33312" y="2357430"/>
            <a:ext cx="3224902" cy="10657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57884" y="3714752"/>
            <a:ext cx="2422676" cy="8400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19" name="Группа 18"/>
          <p:cNvGrpSpPr/>
          <p:nvPr/>
        </p:nvGrpSpPr>
        <p:grpSpPr>
          <a:xfrm>
            <a:off x="4357686" y="2643182"/>
            <a:ext cx="1428760" cy="1714512"/>
            <a:chOff x="3856826" y="2928934"/>
            <a:chExt cx="1428760" cy="2930546"/>
          </a:xfrm>
        </p:grpSpPr>
        <p:cxnSp>
          <p:nvCxnSpPr>
            <p:cNvPr id="11" name="Прямая соединительная линия 10"/>
            <p:cNvCxnSpPr/>
            <p:nvPr/>
          </p:nvCxnSpPr>
          <p:spPr>
            <a:xfrm rot="10800000">
              <a:off x="3857620" y="2928934"/>
              <a:ext cx="1000132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/>
            <p:nvPr/>
          </p:nvCxnSpPr>
          <p:spPr>
            <a:xfrm rot="5400000">
              <a:off x="2393141" y="4393413"/>
              <a:ext cx="2928958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 rot="10800000">
              <a:off x="3856826" y="3661571"/>
              <a:ext cx="1000132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3857620" y="5857892"/>
              <a:ext cx="1427966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4895850" cy="2971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1928826"/>
            <a:ext cx="4071934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3286124"/>
            <a:ext cx="4143372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35715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b="1" dirty="0" smtClean="0">
                <a:latin typeface="+mj-lt"/>
                <a:ea typeface="+mj-ea"/>
                <a:cs typeface="+mj-cs"/>
              </a:rPr>
              <a:t>Работа с данными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loc/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iloc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929190" y="1285884"/>
            <a:ext cx="42148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/>
              <a:t>Пример 1: Изменить отдельное значение по метке</a:t>
            </a:r>
            <a:endParaRPr lang="ru-RU" sz="16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72066" y="2786082"/>
            <a:ext cx="39853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Пример 2: Изменить значение по позиции</a:t>
            </a:r>
            <a:endParaRPr lang="ru-RU" sz="16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000628" y="3857652"/>
            <a:ext cx="41433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/>
              <a:t>Пример 3: Увеличить зарплату на 5 000 для москвичей</a:t>
            </a:r>
            <a:endParaRPr lang="ru-RU" sz="1600" b="1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4942" y="4500594"/>
            <a:ext cx="359092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" y="4714874"/>
            <a:ext cx="5000628" cy="21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4286256"/>
            <a:ext cx="41433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/>
              <a:t>Пример </a:t>
            </a:r>
            <a:r>
              <a:rPr lang="ru-RU" sz="1600" b="1" dirty="0" smtClean="0"/>
              <a:t>4:</a:t>
            </a:r>
            <a:r>
              <a:rPr lang="ru-RU" sz="1600" b="1" dirty="0" smtClean="0"/>
              <a:t> </a:t>
            </a:r>
            <a:r>
              <a:rPr lang="ru-RU" sz="1600" b="1" dirty="0" smtClean="0"/>
              <a:t>Создание новых столбцов</a:t>
            </a:r>
            <a:endParaRPr lang="ru-RU" sz="16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357214"/>
            <a:ext cx="951542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Начало работы с реальными данными</a:t>
            </a:r>
            <a:endParaRPr lang="ru-RU" b="1" dirty="0"/>
          </a:p>
        </p:txBody>
      </p:sp>
      <p:grpSp>
        <p:nvGrpSpPr>
          <p:cNvPr id="21" name="Группа 20"/>
          <p:cNvGrpSpPr/>
          <p:nvPr/>
        </p:nvGrpSpPr>
        <p:grpSpPr>
          <a:xfrm>
            <a:off x="2214546" y="571480"/>
            <a:ext cx="4357686" cy="928694"/>
            <a:chOff x="2285984" y="571480"/>
            <a:chExt cx="4357686" cy="92869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2285984" y="571480"/>
              <a:ext cx="4357686" cy="92869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3357554" y="571480"/>
              <a:ext cx="225042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Считывание </a:t>
              </a:r>
              <a:r>
                <a:rPr lang="en-US" sz="2200" b="1" dirty="0" err="1" smtClean="0">
                  <a:latin typeface="Times New Roman" pitchFamily="18" charset="0"/>
                  <a:cs typeface="Times New Roman" pitchFamily="18" charset="0"/>
                </a:rPr>
                <a:t>csv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2049" name="Picture 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71704" y="985822"/>
              <a:ext cx="3784901" cy="442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0" name="Группа 19"/>
          <p:cNvGrpSpPr/>
          <p:nvPr/>
        </p:nvGrpSpPr>
        <p:grpSpPr>
          <a:xfrm>
            <a:off x="785818" y="1857340"/>
            <a:ext cx="7358114" cy="2428916"/>
            <a:chOff x="1071538" y="2643182"/>
            <a:chExt cx="7358114" cy="2428916"/>
          </a:xfrm>
        </p:grpSpPr>
        <p:sp>
          <p:nvSpPr>
            <p:cNvPr id="13" name="Прямоугольник 12"/>
            <p:cNvSpPr/>
            <p:nvPr/>
          </p:nvSpPr>
          <p:spPr>
            <a:xfrm>
              <a:off x="1071538" y="2786082"/>
              <a:ext cx="7358114" cy="228601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3429024" y="2643182"/>
              <a:ext cx="2900025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Размеры </a:t>
              </a:r>
              <a:r>
                <a:rPr lang="ru-RU" sz="2200" b="1" dirty="0" err="1" smtClean="0">
                  <a:latin typeface="Times New Roman" pitchFamily="18" charset="0"/>
                  <a:cs typeface="Times New Roman" pitchFamily="18" charset="0"/>
                </a:rPr>
                <a:t>датафрэйма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0" name="Rectangle 2"/>
            <p:cNvSpPr>
              <a:spLocks noChangeArrowheads="1"/>
            </p:cNvSpPr>
            <p:nvPr/>
          </p:nvSpPr>
          <p:spPr bwMode="auto">
            <a:xfrm>
              <a:off x="1142976" y="2857496"/>
              <a:ext cx="7072362" cy="1785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sz="22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shape</a:t>
              </a:r>
              <a:r>
                <a:rPr kumimoji="0" lang="ru-RU" sz="2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 – атрибут, хранящий данные о размерах таблицы. Возвращает неизменяемый список). </a:t>
              </a:r>
              <a:r>
                <a:rPr lang="ru-RU" sz="22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В случае </a:t>
              </a:r>
              <a:r>
                <a:rPr lang="ru-RU" sz="2200" dirty="0" err="1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датафрэйма</a:t>
              </a:r>
              <a:r>
                <a:rPr lang="ru-RU" sz="22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 он содержит два значения – число строк и число колонок в нём.</a:t>
              </a:r>
              <a:endParaRPr lang="ru-RU" sz="2200" dirty="0" smtClean="0"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1142976" y="4214818"/>
              <a:ext cx="5000660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Например, в данном случае размер таблицы: 48129 строк и 22 колонки.</a:t>
              </a:r>
            </a:p>
          </p:txBody>
        </p: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143668" y="4071942"/>
              <a:ext cx="1995036" cy="847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2" name="Группа 21"/>
          <p:cNvGrpSpPr/>
          <p:nvPr/>
        </p:nvGrpSpPr>
        <p:grpSpPr>
          <a:xfrm>
            <a:off x="214282" y="4643446"/>
            <a:ext cx="8286808" cy="2214554"/>
            <a:chOff x="1071538" y="2783508"/>
            <a:chExt cx="7358114" cy="2502880"/>
          </a:xfrm>
        </p:grpSpPr>
        <p:sp>
          <p:nvSpPr>
            <p:cNvPr id="23" name="Прямоугольник 22"/>
            <p:cNvSpPr/>
            <p:nvPr/>
          </p:nvSpPr>
          <p:spPr>
            <a:xfrm>
              <a:off x="1071538" y="2786058"/>
              <a:ext cx="7358114" cy="250033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2846329" y="2783508"/>
              <a:ext cx="4011070" cy="4864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Первичная информация о данных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Rectangle 2"/>
            <p:cNvSpPr>
              <a:spLocks noChangeArrowheads="1"/>
            </p:cNvSpPr>
            <p:nvPr/>
          </p:nvSpPr>
          <p:spPr bwMode="auto">
            <a:xfrm>
              <a:off x="1142976" y="3307123"/>
              <a:ext cx="7072362" cy="769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Функция </a:t>
              </a:r>
              <a:r>
                <a:rPr lang="ru-RU" sz="2200" b="1" dirty="0" err="1" smtClean="0">
                  <a:latin typeface="Times New Roman" pitchFamily="18" charset="0"/>
                  <a:cs typeface="Times New Roman" pitchFamily="18" charset="0"/>
                </a:rPr>
                <a:t>head</a:t>
              </a: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()</a:t>
              </a:r>
              <a:r>
                <a:rPr lang="ru-RU" sz="2200" dirty="0" smtClean="0">
                  <a:latin typeface="Times New Roman" pitchFamily="18" charset="0"/>
                  <a:cs typeface="Times New Roman" pitchFamily="18" charset="0"/>
                </a:rPr>
                <a:t> возвращает </a:t>
              </a: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первые </a:t>
              </a:r>
              <a:r>
                <a:rPr lang="ru-RU" sz="2200" b="1" dirty="0" err="1" smtClean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 строк</a:t>
              </a:r>
              <a:r>
                <a:rPr lang="ru-RU" sz="2200" dirty="0" smtClean="0">
                  <a:latin typeface="Times New Roman" pitchFamily="18" charset="0"/>
                  <a:cs typeface="Times New Roman" pitchFamily="18" charset="0"/>
                </a:rPr>
                <a:t> из фрейма данных.</a:t>
              </a:r>
            </a:p>
            <a:p>
              <a:pPr algn="just"/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Функция </a:t>
              </a:r>
              <a:r>
                <a:rPr lang="ru-RU" sz="2200" b="1" dirty="0" err="1" smtClean="0">
                  <a:latin typeface="Times New Roman" pitchFamily="18" charset="0"/>
                  <a:cs typeface="Times New Roman" pitchFamily="18" charset="0"/>
                </a:rPr>
                <a:t>tail</a:t>
              </a: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()</a:t>
              </a:r>
              <a:r>
                <a:rPr lang="ru-RU" sz="2200" dirty="0" smtClean="0">
                  <a:latin typeface="Times New Roman" pitchFamily="18" charset="0"/>
                  <a:cs typeface="Times New Roman" pitchFamily="18" charset="0"/>
                </a:rPr>
                <a:t> возвращает </a:t>
              </a: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последние </a:t>
              </a:r>
              <a:r>
                <a:rPr lang="ru-RU" sz="2200" b="1" dirty="0" err="1" smtClean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ru-RU" sz="2200" b="1" dirty="0" smtClean="0">
                  <a:latin typeface="Times New Roman" pitchFamily="18" charset="0"/>
                  <a:cs typeface="Times New Roman" pitchFamily="18" charset="0"/>
                </a:rPr>
                <a:t> строк</a:t>
              </a:r>
              <a:r>
                <a:rPr lang="ru-RU" sz="2200" dirty="0" smtClean="0">
                  <a:latin typeface="Times New Roman" pitchFamily="18" charset="0"/>
                  <a:cs typeface="Times New Roman" pitchFamily="18" charset="0"/>
                </a:rPr>
                <a:t> из фрейма данных. </a:t>
              </a:r>
              <a:endParaRPr lang="ru-RU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28794" y="5598535"/>
            <a:ext cx="5072098" cy="1188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1" name="Прямая со стрелкой 40"/>
          <p:cNvCxnSpPr>
            <a:stCxn id="13" idx="2"/>
            <a:endCxn id="24" idx="0"/>
          </p:cNvCxnSpPr>
          <p:nvPr/>
        </p:nvCxnSpPr>
        <p:spPr>
          <a:xfrm rot="16200000" flipH="1">
            <a:off x="4289711" y="4461420"/>
            <a:ext cx="357190" cy="686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stCxn id="12" idx="2"/>
            <a:endCxn id="2050" idx="0"/>
          </p:cNvCxnSpPr>
          <p:nvPr/>
        </p:nvCxnSpPr>
        <p:spPr>
          <a:xfrm rot="16200000" flipH="1">
            <a:off x="4107673" y="1785890"/>
            <a:ext cx="571480" cy="4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0" y="4857760"/>
            <a:ext cx="9144000" cy="1714512"/>
          </a:xfrm>
          <a:prstGeom prst="rect">
            <a:avLst/>
          </a:prstGeom>
          <a:solidFill>
            <a:srgbClr val="DDE3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0" y="3214686"/>
            <a:ext cx="9144000" cy="1500198"/>
          </a:xfrm>
          <a:prstGeom prst="rect">
            <a:avLst/>
          </a:prstGeom>
          <a:solidFill>
            <a:srgbClr val="DDE3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785794"/>
            <a:ext cx="9144000" cy="2357454"/>
          </a:xfrm>
          <a:prstGeom prst="rect">
            <a:avLst/>
          </a:prstGeom>
          <a:solidFill>
            <a:srgbClr val="DDE3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Обращение к колонкам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 rot="10800000" flipV="1">
            <a:off x="0" y="714356"/>
            <a:ext cx="9144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В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пандасе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существует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множество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способов обратиться к колонке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 Самый удобный: 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1590666"/>
            <a:ext cx="3786182" cy="14097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3214686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Если название колонки состоит из двух слов, необходимо либо переименовать колонку, либо использовать другой способ доступа: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3929058" y="1428736"/>
            <a:ext cx="521494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Чтобы это работало, название колонки должно состоять из одного компонента (например, слова), и не должно совпадать с названием методов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(имя колонки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не сработает).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4500570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2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Для получения нескольких колонок передайте внутрь квадратных скобок список с именами желаемых колонок: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639" y="3929066"/>
            <a:ext cx="3366353" cy="75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95" y="5572140"/>
            <a:ext cx="5659313" cy="895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Метод </a:t>
            </a:r>
            <a:r>
              <a:rPr lang="en-US" b="1" dirty="0" smtClean="0"/>
              <a:t>describe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71435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describe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удобный метод для вывода описания числовых колонок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датафрэйме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514819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describe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выводит информацию о числе строк, среднем значении, стандартном отклонении, минимуме, максимуме и значениях 25-го, 50-го и 75-го квартилей. Он действует только на числах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1285860"/>
            <a:ext cx="1857388" cy="409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0" y="4500570"/>
            <a:ext cx="9144000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Сортировка значений</a:t>
            </a:r>
            <a:endParaRPr lang="ru-RU" dirty="0"/>
          </a:p>
        </p:txBody>
      </p:sp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0" y="1000108"/>
            <a:ext cx="9144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Для такой сортировки используется метод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sort_values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принимающий к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олонку или список колонок, по которым будет идти сортировка):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200" y="1928802"/>
            <a:ext cx="6329622" cy="2286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4429132"/>
            <a:ext cx="91440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Дополнительные параметры</a:t>
            </a:r>
            <a:endParaRPr kumimoji="0" lang="ru-RU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ascending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принимает логическое значение,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которое показывает, 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сортировать ли колонку по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возрастанию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(True)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516</Words>
  <Application>Microsoft Office PowerPoint</Application>
  <PresentationFormat>Экран (4:3)</PresentationFormat>
  <Paragraphs>94</Paragraphs>
  <Slides>15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Введение в pandas </vt:lpstr>
      <vt:lpstr>Дополнительные материалы</vt:lpstr>
      <vt:lpstr>Необходимая библиотека</vt:lpstr>
      <vt:lpstr>Создание датафрейма из списков</vt:lpstr>
      <vt:lpstr>Использование условий для отбора</vt:lpstr>
      <vt:lpstr>Создание новой колонки на основе условия</vt:lpstr>
      <vt:lpstr>Переименование колонок</vt:lpstr>
      <vt:lpstr>Объединение dataframe</vt:lpstr>
      <vt:lpstr>Создание dataframe (второй способ)</vt:lpstr>
      <vt:lpstr>Выбор данных: loc/iloc</vt:lpstr>
      <vt:lpstr>Слайд 11</vt:lpstr>
      <vt:lpstr>Начало работы с реальными данными</vt:lpstr>
      <vt:lpstr>Обращение к колонкам</vt:lpstr>
      <vt:lpstr>Метод describe</vt:lpstr>
      <vt:lpstr>Сортировка значений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39</cp:revision>
  <dcterms:created xsi:type="dcterms:W3CDTF">2024-02-01T09:49:19Z</dcterms:created>
  <dcterms:modified xsi:type="dcterms:W3CDTF">2026-03-09T09:55:47Z</dcterms:modified>
</cp:coreProperties>
</file>