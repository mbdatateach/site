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60" r:id="rId4"/>
    <p:sldId id="266" r:id="rId5"/>
    <p:sldId id="268" r:id="rId6"/>
    <p:sldId id="269" r:id="rId7"/>
    <p:sldId id="270" r:id="rId8"/>
    <p:sldId id="271" r:id="rId9"/>
    <p:sldId id="272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2386" autoAdjust="0"/>
  </p:normalViewPr>
  <p:slideViewPr>
    <p:cSldViewPr>
      <p:cViewPr>
        <p:scale>
          <a:sx n="75" d="100"/>
          <a:sy n="75" d="100"/>
        </p:scale>
        <p:origin x="-78" y="-8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03.04.2026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ky.pro/media/razlichie-mezhdu-iloc-i-loc-v-pandas/" TargetMode="External"/><Relationship Id="rId2" Type="http://schemas.openxmlformats.org/officeDocument/2006/relationships/hyperlink" Target="https://www.geeksforgeeks.org/creating-a-pandas-dataframe/?ysclid=m1m820lp6x147013500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delftstack.com/howto/python-pandas/apply-lambda-functions-to-pandas-dataframe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Линейная регрессия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Практика </a:t>
            </a:r>
            <a:r>
              <a:rPr lang="en-US" dirty="0" smtClean="0"/>
              <a:t>5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571612"/>
            <a:ext cx="9144000" cy="415498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2400" i="1" dirty="0" smtClean="0">
                <a:latin typeface="Cambria" pitchFamily="18" charset="0"/>
              </a:rPr>
              <a:t>Creating a Pandas </a:t>
            </a:r>
            <a:r>
              <a:rPr lang="en-US" sz="2400" i="1" dirty="0" err="1" smtClean="0">
                <a:latin typeface="Cambria" pitchFamily="18" charset="0"/>
              </a:rPr>
              <a:t>DataFrame</a:t>
            </a:r>
            <a:endParaRPr lang="en-US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https://www.geeksforgeeks.org/creating-a-pandas-dataframe/?ysclid=m1m820lp6x147013500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dirty="0" smtClean="0"/>
          </a:p>
          <a:p>
            <a:r>
              <a:rPr lang="ru-RU" sz="2400" i="1" dirty="0" smtClean="0">
                <a:latin typeface="Cambria" pitchFamily="18" charset="0"/>
              </a:rPr>
              <a:t>Различие между </a:t>
            </a:r>
            <a:r>
              <a:rPr lang="ru-RU" sz="2400" i="1" dirty="0" err="1" smtClean="0">
                <a:latin typeface="Cambria" pitchFamily="18" charset="0"/>
              </a:rPr>
              <a:t>iloc</a:t>
            </a:r>
            <a:r>
              <a:rPr lang="ru-RU" sz="2400" i="1" dirty="0" smtClean="0">
                <a:latin typeface="Cambria" pitchFamily="18" charset="0"/>
              </a:rPr>
              <a:t> и </a:t>
            </a:r>
            <a:r>
              <a:rPr lang="ru-RU" sz="2400" i="1" dirty="0" err="1" smtClean="0">
                <a:latin typeface="Cambria" pitchFamily="18" charset="0"/>
              </a:rPr>
              <a:t>loc</a:t>
            </a:r>
            <a:r>
              <a:rPr lang="ru-RU" sz="2400" i="1" dirty="0" smtClean="0">
                <a:latin typeface="Cambria" pitchFamily="18" charset="0"/>
              </a:rPr>
              <a:t> в </a:t>
            </a:r>
            <a:r>
              <a:rPr lang="ru-RU" sz="2400" i="1" dirty="0" err="1" smtClean="0">
                <a:latin typeface="Cambria" pitchFamily="18" charset="0"/>
              </a:rPr>
              <a:t>Pandas</a:t>
            </a:r>
            <a:endParaRPr lang="ru-RU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https://sky.pro/media/razlichie-mezhdu-iloc-i-loc-v-pandas/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en-US" sz="2400" i="1" dirty="0" smtClean="0">
                <a:latin typeface="Cambria" pitchFamily="18" charset="0"/>
              </a:rPr>
              <a:t>How to Apply Lambda Function to Pandas </a:t>
            </a:r>
            <a:r>
              <a:rPr lang="en-US" sz="2400" i="1" dirty="0" err="1" smtClean="0">
                <a:latin typeface="Cambria" pitchFamily="18" charset="0"/>
              </a:rPr>
              <a:t>DataFrame</a:t>
            </a:r>
            <a:endParaRPr lang="en-US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4"/>
              </a:rPr>
              <a:t>https://www.delftstack.com/howto/python-pandas/apply-lambda-functions-to-pandas-dataframe/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1</a:t>
            </a:r>
            <a:br>
              <a:rPr lang="ru-RU" b="1" dirty="0" smtClean="0"/>
            </a:br>
            <a:r>
              <a:rPr lang="ru-RU" b="1" dirty="0" smtClean="0"/>
              <a:t>Генерация данных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357430"/>
            <a:ext cx="7733465" cy="1485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Прямая со стрелкой 10"/>
          <p:cNvCxnSpPr/>
          <p:nvPr/>
        </p:nvCxnSpPr>
        <p:spPr>
          <a:xfrm rot="10800000" flipV="1">
            <a:off x="3000364" y="1500174"/>
            <a:ext cx="4572032" cy="128588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43768" y="571480"/>
            <a:ext cx="1714480" cy="9233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Количество элементов для генерации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 стрелкой 12"/>
          <p:cNvCxnSpPr/>
          <p:nvPr/>
        </p:nvCxnSpPr>
        <p:spPr>
          <a:xfrm rot="10800000">
            <a:off x="5214942" y="3500438"/>
            <a:ext cx="2500330" cy="192882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643702" y="5429264"/>
            <a:ext cx="2000232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Случайный шум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7" name="Прямая со стрелкой 16"/>
          <p:cNvCxnSpPr/>
          <p:nvPr/>
        </p:nvCxnSpPr>
        <p:spPr>
          <a:xfrm rot="5400000" flipH="1" flipV="1">
            <a:off x="1321571" y="3679033"/>
            <a:ext cx="1785950" cy="714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0" y="4929198"/>
            <a:ext cx="2857488" cy="64633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Генерация в определенном диапазоне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" name="Прямая со стрелкой 20"/>
          <p:cNvCxnSpPr>
            <a:stCxn id="24" idx="0"/>
          </p:cNvCxnSpPr>
          <p:nvPr/>
        </p:nvCxnSpPr>
        <p:spPr>
          <a:xfrm rot="16200000" flipV="1">
            <a:off x="3339687" y="3089677"/>
            <a:ext cx="1071570" cy="175021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28992" y="4500570"/>
            <a:ext cx="2643174" cy="9233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Математическая функция – линейная формула из условия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5992"/>
            <a:ext cx="5534048" cy="1666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1</a:t>
            </a:r>
            <a:br>
              <a:rPr lang="ru-RU" b="1" dirty="0" smtClean="0"/>
            </a:br>
            <a:r>
              <a:rPr lang="ru-RU" b="1" dirty="0" smtClean="0"/>
              <a:t>Разделение и визуализация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1357298"/>
            <a:ext cx="8353425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0" y="3433578"/>
            <a:ext cx="4572000" cy="3424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9" name="Shape 18"/>
          <p:cNvCxnSpPr>
            <a:stCxn id="2055" idx="2"/>
            <a:endCxn id="2054" idx="1"/>
          </p:cNvCxnSpPr>
          <p:nvPr/>
        </p:nvCxnSpPr>
        <p:spPr>
          <a:xfrm rot="16200000" flipH="1">
            <a:off x="3073055" y="3646843"/>
            <a:ext cx="1192915" cy="1804976"/>
          </a:xfrm>
          <a:prstGeom prst="bentConnector2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1</a:t>
            </a:r>
            <a:br>
              <a:rPr lang="ru-RU" b="1" dirty="0" smtClean="0"/>
            </a:br>
            <a:r>
              <a:rPr lang="ru-RU" b="1" dirty="0" smtClean="0"/>
              <a:t>Линейная регрессия: </a:t>
            </a:r>
            <a:r>
              <a:rPr lang="en-US" b="1" dirty="0" smtClean="0"/>
              <a:t>python</a:t>
            </a:r>
            <a:endParaRPr lang="ru-RU" b="1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882" y="2928934"/>
            <a:ext cx="9088118" cy="957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>
            <a:stCxn id="9" idx="2"/>
          </p:cNvCxnSpPr>
          <p:nvPr/>
        </p:nvCxnSpPr>
        <p:spPr>
          <a:xfrm rot="16200000" flipH="1">
            <a:off x="2323391" y="1108950"/>
            <a:ext cx="925305" cy="285753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0034" y="1428736"/>
            <a:ext cx="1714480" cy="64633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Библиотека для работы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Прямая со стрелкой 9"/>
          <p:cNvCxnSpPr/>
          <p:nvPr/>
        </p:nvCxnSpPr>
        <p:spPr>
          <a:xfrm flipV="1">
            <a:off x="1714480" y="3714752"/>
            <a:ext cx="928694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0" y="4057233"/>
            <a:ext cx="2857488" cy="280076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Объект для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нахождение линейной зависимости, которая наилучшим образом описывает данные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Она используется для моделирования зависимости между одной зависимой переменной (целевой) и одной или несколькими независимыми переменными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фичами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0364" y="4714884"/>
            <a:ext cx="2571768" cy="181588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Метод </a:t>
            </a:r>
            <a:r>
              <a:rPr lang="ru-RU" sz="1600" b="1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совмещает модель</a:t>
            </a:r>
            <a:r>
              <a:rPr lang="ru-RU" sz="1600" dirty="0" smtClean="0">
                <a:solidFill>
                  <a:srgbClr val="333333"/>
                </a:solidFill>
                <a:latin typeface="Times New Roman" pitchFamily="18" charset="0"/>
                <a:cs typeface="Times New Roman" pitchFamily="18" charset="0"/>
              </a:rPr>
              <a:t>, вычисляя оптимальные значения весов с использованием существующих входных и выходных данных в качестве аргументов.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Прямая со стрелкой 15"/>
          <p:cNvCxnSpPr>
            <a:stCxn id="15" idx="0"/>
          </p:cNvCxnSpPr>
          <p:nvPr/>
        </p:nvCxnSpPr>
        <p:spPr>
          <a:xfrm rot="16200000" flipV="1">
            <a:off x="3643306" y="4071942"/>
            <a:ext cx="928694" cy="35719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rot="16200000" flipV="1">
            <a:off x="5250661" y="4179099"/>
            <a:ext cx="1357322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857884" y="4643446"/>
            <a:ext cx="2571768" cy="206210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Преобразование нужно потому что для обучения необходимо передать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двумерный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массив в с одним столбцом и таким количеством строк, сколько необходимо для размещения данных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2232" y="1714488"/>
            <a:ext cx="2571768" cy="83099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Для обучения необходимо передать данные и ответы к ним</a:t>
            </a:r>
          </a:p>
        </p:txBody>
      </p:sp>
      <p:cxnSp>
        <p:nvCxnSpPr>
          <p:cNvPr id="26" name="Прямая со стрелкой 25"/>
          <p:cNvCxnSpPr>
            <a:stCxn id="25" idx="2"/>
          </p:cNvCxnSpPr>
          <p:nvPr/>
        </p:nvCxnSpPr>
        <p:spPr>
          <a:xfrm rot="5400000">
            <a:off x="5666143" y="1379904"/>
            <a:ext cx="1026393" cy="335755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>
            <a:stCxn id="25" idx="2"/>
          </p:cNvCxnSpPr>
          <p:nvPr/>
        </p:nvCxnSpPr>
        <p:spPr>
          <a:xfrm rot="16200000" flipH="1">
            <a:off x="7630688" y="2772913"/>
            <a:ext cx="1026393" cy="57153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57208" y="0"/>
            <a:ext cx="9201208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1</a:t>
            </a:r>
            <a:br>
              <a:rPr lang="ru-RU" b="1" dirty="0" smtClean="0"/>
            </a:br>
            <a:r>
              <a:rPr lang="ru-RU" b="1" dirty="0" smtClean="0"/>
              <a:t>Линейная регрессия: метрика качества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3500438"/>
            <a:ext cx="7858180" cy="2140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Прямоугольник 16"/>
          <p:cNvSpPr/>
          <p:nvPr/>
        </p:nvSpPr>
        <p:spPr>
          <a:xfrm>
            <a:off x="0" y="2214554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Другими словами, это среднее арифметическое квадратов разностей между предсказанными и реальными значениями модели машинного обучения.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0" y="1214422"/>
            <a:ext cx="9144000" cy="83099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Mean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Squared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Error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(MSE)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— это среднее квадратичное отклонение предсказанных значений от истинных значений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214478" y="0"/>
            <a:ext cx="11515748" cy="1143000"/>
          </a:xfrm>
        </p:spPr>
        <p:txBody>
          <a:bodyPr>
            <a:normAutofit/>
          </a:bodyPr>
          <a:lstStyle/>
          <a:p>
            <a:r>
              <a:rPr lang="ru-RU" sz="3400" b="1" dirty="0" smtClean="0"/>
              <a:t>Задание 2</a:t>
            </a:r>
            <a:br>
              <a:rPr lang="ru-RU" sz="3400" b="1" dirty="0" smtClean="0"/>
            </a:br>
            <a:r>
              <a:rPr lang="ru-RU" sz="3400" b="1" dirty="0" smtClean="0"/>
              <a:t>Градиентная оптимизация линейной регрессии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0" y="2428868"/>
            <a:ext cx="9144000" cy="246221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Принцип работы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: модель получает входные данные и использует их для предсказания выходных данных. Затем результаты предсказания сравниваются с реальными данными, и функция потерь вычисляет ошибку. Оптимизатор использует эту информацию об ошибке, чтобы определить, какие изменения необходимо внести в веса и параметры тела модели. Таким образом, оптимизатор производит изменения в модели, пока функция потерь не достигнет минимума.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7342" y="4929198"/>
            <a:ext cx="7540872" cy="1240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1071546"/>
            <a:ext cx="9144000" cy="120032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Градиентная оптимизация линейной регрессии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— это метод, который позволяет корректировать веса модели, чтобы минимизировать ошибку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211669"/>
            <a:ext cx="2285984" cy="64633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sgd_regressor.coef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_ 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получения весов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43506" y="6211669"/>
            <a:ext cx="3500494" cy="64633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sgd_regressor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. intercept_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получения свободного члена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214478" y="-285776"/>
            <a:ext cx="11515748" cy="1143000"/>
          </a:xfrm>
        </p:spPr>
        <p:txBody>
          <a:bodyPr>
            <a:normAutofit/>
          </a:bodyPr>
          <a:lstStyle/>
          <a:p>
            <a:r>
              <a:rPr lang="ru-RU" sz="3400" b="1" dirty="0" smtClean="0"/>
              <a:t>Задание </a:t>
            </a:r>
            <a:r>
              <a:rPr lang="en-US" sz="3400" b="1" dirty="0" smtClean="0"/>
              <a:t>3</a:t>
            </a:r>
            <a:endParaRPr lang="ru-RU" sz="3400" b="1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43050"/>
            <a:ext cx="6046236" cy="1628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357158" y="3286124"/>
            <a:ext cx="5143504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Замена всех числовых значений за один проход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28700" y="4357694"/>
            <a:ext cx="8115300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3286116" y="5214950"/>
            <a:ext cx="3857684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Корреляция с целевой переменной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214478" y="-285776"/>
            <a:ext cx="11515748" cy="1143000"/>
          </a:xfrm>
        </p:spPr>
        <p:txBody>
          <a:bodyPr>
            <a:normAutofit/>
          </a:bodyPr>
          <a:lstStyle/>
          <a:p>
            <a:r>
              <a:rPr lang="ru-RU" sz="3400" b="1" dirty="0" smtClean="0"/>
              <a:t>Задание </a:t>
            </a:r>
            <a:r>
              <a:rPr lang="en-US" sz="3400" b="1" dirty="0" smtClean="0"/>
              <a:t>3</a:t>
            </a:r>
            <a:endParaRPr lang="ru-RU" sz="3400" b="1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1928794" y="2714620"/>
            <a:ext cx="4357718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Графики зависимости на одном полотне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57686" y="5143512"/>
            <a:ext cx="2428860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Обучение на выборке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42984"/>
            <a:ext cx="8292139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23830" y="4286256"/>
            <a:ext cx="7420170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309</Words>
  <Application>Microsoft Office PowerPoint</Application>
  <PresentationFormat>Экран (4:3)</PresentationFormat>
  <Paragraphs>40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Линейная регрессия </vt:lpstr>
      <vt:lpstr>Дополнительные материалы</vt:lpstr>
      <vt:lpstr>Задание 1 Генерация данных</vt:lpstr>
      <vt:lpstr>Задание 1 Разделение и визуализация</vt:lpstr>
      <vt:lpstr>Задание 1 Линейная регрессия: python</vt:lpstr>
      <vt:lpstr>Задание 1 Линейная регрессия: метрика качества</vt:lpstr>
      <vt:lpstr>Задание 2 Градиентная оптимизация линейной регрессии</vt:lpstr>
      <vt:lpstr>Задание 3</vt:lpstr>
      <vt:lpstr>Задание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Язык С++: основные операции, ветвления и циклы</dc:title>
  <dc:creator>user</dc:creator>
  <cp:lastModifiedBy>user</cp:lastModifiedBy>
  <cp:revision>60</cp:revision>
  <dcterms:created xsi:type="dcterms:W3CDTF">2024-02-01T09:49:19Z</dcterms:created>
  <dcterms:modified xsi:type="dcterms:W3CDTF">2026-04-03T17:22:12Z</dcterms:modified>
</cp:coreProperties>
</file>