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8" y="-7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DF7CE-8964-48B1-870F-553F2D5782E5}" type="datetimeFigureOut">
              <a:rPr lang="ru-RU" smtClean="0"/>
              <a:pPr/>
              <a:t>13.03.2026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9DA68-18D3-4D74-8A0B-548ABC6AEF9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Relationship Id="rId2" Type="http://schemas.openxmlformats.org/officeDocument/2006/relationships/hyperlink" Target="https://docs-python.ru/packages/modul-pandas-analiz-dannykh-python/otbor-filtratsiia-dannykh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urvanov.ru/2019/05/24/%D0%BA%D1%80%D1%83%D0%B3%D0%BE%D0%B2%D0%B0%D1%8F-%D0%B4%D0%B8%D0%B0%D0%B3%D1%80%D0%B0%D0%BC%D0%BC%D0%B0-%D0%B2-matplotlib/?ysclid=m122fpkjnk148883151" TargetMode="External"/><Relationship Id="rId4" Type="http://schemas.openxmlformats.org/officeDocument/2006/relationships/hyperlink" Target="https://docs-python.ru/packages/modul-pandas-analiz-dannykh-python/rabota-none-nan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camp.ru/blog/pandas-groupby-aggregate-multiple-columns/" TargetMode="External"/><Relationship Id="rId2" Type="http://schemas.openxmlformats.org/officeDocument/2006/relationships/hyperlink" Target="https://sky.pro/wiki/python/gruppirovka-i-agregaciya-dannyh-v-pandas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habr.com/ru/companies/vk/articles/445834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Обработка </a:t>
            </a:r>
            <a:r>
              <a:rPr lang="ru-RU" dirty="0" smtClean="0"/>
              <a:t>и группировка данных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229668" cy="1143000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Дополнительные материалы (обработка)</a:t>
            </a:r>
            <a:endParaRPr lang="ru-RU" sz="3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747897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ru-RU" sz="2400" i="1" dirty="0" smtClean="0">
                <a:latin typeface="Cambria" pitchFamily="18" charset="0"/>
              </a:rPr>
              <a:t>Методы отбора данных в </a:t>
            </a:r>
            <a:r>
              <a:rPr lang="ru-RU" sz="2400" i="1" dirty="0" err="1" smtClean="0">
                <a:latin typeface="Cambria" pitchFamily="18" charset="0"/>
              </a:rPr>
              <a:t>pandas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https://docs-python.ru/packages/modul-pandas-analiz-dannykh-python/otbor-filtratsiia-dannykh/</a:t>
            </a:r>
            <a:endParaRPr lang="en-US" sz="2400" b="1" dirty="0" smtClean="0">
              <a:latin typeface="Cambria" pitchFamily="18" charset="0"/>
            </a:endParaRPr>
          </a:p>
          <a:p>
            <a:endParaRPr lang="ru-RU" sz="2400" dirty="0" smtClean="0"/>
          </a:p>
          <a:p>
            <a:r>
              <a:rPr lang="ru-RU" sz="2400" i="1" dirty="0" smtClean="0">
                <a:latin typeface="Cambria" pitchFamily="18" charset="0"/>
              </a:rPr>
              <a:t>Используйте </a:t>
            </a:r>
            <a:r>
              <a:rPr lang="ru-RU" sz="2400" i="1" dirty="0" err="1" smtClean="0">
                <a:latin typeface="Cambria" pitchFamily="18" charset="0"/>
              </a:rPr>
              <a:t>Pandas</a:t>
            </a:r>
            <a:r>
              <a:rPr lang="ru-RU" sz="2400" i="1" dirty="0" smtClean="0">
                <a:latin typeface="Cambria" pitchFamily="18" charset="0"/>
              </a:rPr>
              <a:t> для вычисления статистики в </a:t>
            </a:r>
            <a:r>
              <a:rPr lang="ru-RU" sz="2400" i="1" dirty="0" err="1" smtClean="0">
                <a:latin typeface="Cambria" pitchFamily="18" charset="0"/>
              </a:rPr>
              <a:t>Python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https://translated.turbopages.org/proxy_u/en-ru.ru.81bb7be9-66e5634f-8c5806ad-74722d776562/https/www.geeksforgeeks.org/use-pandas-to-calculate-statistics-in-python/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Поиск/удаление/замена пустых значений в </a:t>
            </a:r>
            <a:r>
              <a:rPr lang="ru-RU" sz="2400" i="1" dirty="0" err="1" smtClean="0">
                <a:latin typeface="Cambria" pitchFamily="18" charset="0"/>
              </a:rPr>
              <a:t>pandas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https://docs-python.ru/packages/modul-pandas-analiz-dannykh-python/rabota-none-nan/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3"/>
            </a:endParaRPr>
          </a:p>
          <a:p>
            <a:pPr algn="just"/>
            <a:r>
              <a:rPr lang="ru-RU" sz="2400" b="1" i="1" dirty="0" smtClean="0">
                <a:latin typeface="Cambria" pitchFamily="18" charset="0"/>
                <a:hlinkClick r:id="rId5"/>
              </a:rPr>
              <a:t>Круговая диаграмма в </a:t>
            </a:r>
            <a:r>
              <a:rPr lang="en-US" sz="2400" b="1" i="1" dirty="0" err="1" smtClean="0">
                <a:latin typeface="Cambria" pitchFamily="18" charset="0"/>
                <a:hlinkClick r:id="rId5"/>
              </a:rPr>
              <a:t>Matplotlib</a:t>
            </a:r>
            <a:endParaRPr lang="ru-RU" sz="2400" b="1" i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3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Поиск пустых значений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42918"/>
            <a:ext cx="9144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isna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– это метод, с помощью которого можно быстро найти пропущенные значения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датафрэйме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Применив его, на выходе мы получаем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датафрэйм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той же размерности, где в каждой ячейке будет стоять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в зависимости от того, было ли значение пропущено. В связке с ним можно использовать, например, метод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sum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чтобы посмотреть на число NA в разных колонках.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786058"/>
            <a:ext cx="1895484" cy="3807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496" y="3643314"/>
            <a:ext cx="3647898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Обработка пустых значений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42918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Отсутствующие данные объектов можно заменить на конкретные числовые значения, для этого можно использовать метод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fillna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428736"/>
            <a:ext cx="3143272" cy="5255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2357430"/>
            <a:ext cx="4067193" cy="276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Визуализация данных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42918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Самый простой способ визуализировать данные – вызвать метод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plot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у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датафрэйма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(или его колонки). Например, гистограмма значений в колонке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orders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57364"/>
            <a:ext cx="4429124" cy="3219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5500702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Функции рисования имеют весьма большое количество параметров, используйте их при необходимости. Здесь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bins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– это число диапазонов (корзин или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бакетов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), на которые мы разделяем значения.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0" y="1357298"/>
            <a:ext cx="4929190" cy="35004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Визуализация данных - круговая</a:t>
            </a:r>
            <a:endParaRPr lang="ru-RU" dirty="0"/>
          </a:p>
        </p:txBody>
      </p:sp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62525" y="1223973"/>
            <a:ext cx="418147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Прямоугольник 18"/>
          <p:cNvSpPr/>
          <p:nvPr/>
        </p:nvSpPr>
        <p:spPr>
          <a:xfrm>
            <a:off x="0" y="1500174"/>
            <a:ext cx="5072002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matplotlib.pyplot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as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plt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14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labels = 'Cricket', 'Football', 'Hockey', 'F1'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sizes = [15, 30, 45, 10]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14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colors = ( "orange", "cyan", "brown", "grey") 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fig1, ax1 =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plt.subplots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explode = (0, 0.1, 0, 0) 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ax1.pie(sizes, colors = colors, explode=explode, labels=labels,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autopct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='%1.1f%%', 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shadow=True,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startangle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=90)</a:t>
            </a:r>
          </a:p>
          <a:p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plt.legend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(labels, loc="upper right")</a:t>
            </a:r>
          </a:p>
          <a:p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plt.show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1400" dirty="0" smtClean="0">
                <a:latin typeface="Courier New" pitchFamily="49" charset="0"/>
                <a:cs typeface="Courier New" pitchFamily="49" charset="0"/>
              </a:rPr>
            </a:b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Метод </a:t>
            </a:r>
            <a:r>
              <a:rPr lang="en-US" b="1" dirty="0" smtClean="0"/>
              <a:t>describe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714356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describe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удобный метод для вывода описания числовых колонок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датафрэйме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5514819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describe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выводит информацию о числе строк, среднем значении, стандартном отклонении, минимуме, максимуме и значениях 25-го, 50-го и 75-го квартилей. Он действует только на числах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3306" y="1285860"/>
            <a:ext cx="1857388" cy="409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Использование условий для отбора</a:t>
            </a:r>
            <a:endParaRPr lang="ru-RU" dirty="0"/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1" y="928670"/>
            <a:ext cx="4786313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В 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7BFF"/>
                </a:solidFill>
                <a:effectLst/>
                <a:latin typeface="Times New Roman" pitchFamily="18" charset="0"/>
                <a:cs typeface="Times New Roman" pitchFamily="18" charset="0"/>
              </a:rPr>
              <a:t>pandas.DataFrame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 можно фильтровать данные несколькими способами. Наиболее интуитивным из них является использование логической индексации.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714620"/>
            <a:ext cx="4857784" cy="9286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28" y="2643182"/>
            <a:ext cx="4143372" cy="9837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929190" y="1214422"/>
            <a:ext cx="421481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200" dirty="0" smtClean="0">
                <a:solidFill>
                  <a:srgbClr val="212529"/>
                </a:solidFill>
                <a:latin typeface="Times New Roman" pitchFamily="18" charset="0"/>
                <a:cs typeface="Times New Roman" pitchFamily="18" charset="0"/>
              </a:rPr>
              <a:t>Для комбинации нескольких условий </a:t>
            </a:r>
            <a:r>
              <a:rPr lang="ru-RU" sz="2200" dirty="0" err="1" smtClean="0">
                <a:solidFill>
                  <a:srgbClr val="212529"/>
                </a:solidFill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2200" dirty="0" smtClean="0">
                <a:solidFill>
                  <a:srgbClr val="212529"/>
                </a:solidFill>
                <a:latin typeface="Times New Roman" pitchFamily="18" charset="0"/>
                <a:cs typeface="Times New Roman" pitchFamily="18" charset="0"/>
              </a:rPr>
              <a:t> использует &amp; (И), | (ИЛИ) и ~ (НЕ): 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0" y="3857628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необходимо выставить большое количество условий, то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DataFrame.query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дает более читаемый синтаксис: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85918" y="4500570"/>
            <a:ext cx="5502616" cy="20717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/>
        </p:nvSpPr>
        <p:spPr>
          <a:xfrm>
            <a:off x="0" y="4500570"/>
            <a:ext cx="9144000" cy="107157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Сортировка значений</a:t>
            </a:r>
            <a:endParaRPr lang="ru-RU" dirty="0"/>
          </a:p>
        </p:txBody>
      </p:sp>
      <p:sp>
        <p:nvSpPr>
          <p:cNvPr id="20481" name="Rectangle 1"/>
          <p:cNvSpPr>
            <a:spLocks noChangeArrowheads="1"/>
          </p:cNvSpPr>
          <p:nvPr/>
        </p:nvSpPr>
        <p:spPr bwMode="auto">
          <a:xfrm>
            <a:off x="0" y="1000108"/>
            <a:ext cx="91440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Для такой сортировки используется метод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sort_values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принимающий к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олонку или список колонок, по которым будет идти сортировка):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3200" y="1928802"/>
            <a:ext cx="6329622" cy="22860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4429132"/>
            <a:ext cx="91440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Дополнительные параметры</a:t>
            </a:r>
            <a:endParaRPr kumimoji="0" lang="ru-RU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ascending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– принимает логическое значение, 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которое показывает, 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сортировать ли колонку по возрастанию.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/>
          <p:cNvSpPr/>
          <p:nvPr/>
        </p:nvSpPr>
        <p:spPr>
          <a:xfrm>
            <a:off x="4714876" y="2285992"/>
            <a:ext cx="4429124" cy="457200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0" y="2357430"/>
            <a:ext cx="4572000" cy="450057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Создание новой колонки на основе условия</a:t>
            </a:r>
            <a:endParaRPr lang="ru-RU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1571612"/>
            <a:ext cx="5072067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Прямоугольник 16"/>
          <p:cNvSpPr/>
          <p:nvPr/>
        </p:nvSpPr>
        <p:spPr>
          <a:xfrm>
            <a:off x="0" y="1142984"/>
            <a:ext cx="300973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Стандартное создание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71405" y="2357430"/>
            <a:ext cx="271035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Задавание функций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-1" y="3500438"/>
            <a:ext cx="4500562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def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– ключевое слово, даёт питону понять, что дальше будет задана функция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– название, которое мы выбрали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parameter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– </a:t>
            </a:r>
            <a:r>
              <a:rPr kumimoji="0" lang="ru-RU" sz="21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инпут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функции, т.е. какие данные ей нужны для работы.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100" dirty="0" err="1" smtClean="0">
                <a:latin typeface="Times New Roman" pitchFamily="18" charset="0"/>
                <a:cs typeface="Times New Roman" pitchFamily="18" charset="0"/>
              </a:rPr>
              <a:t>what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100" dirty="0" err="1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100" dirty="0" err="1" smtClean="0">
                <a:latin typeface="Times New Roman" pitchFamily="18" charset="0"/>
                <a:cs typeface="Times New Roman" pitchFamily="18" charset="0"/>
              </a:rPr>
              <a:t>do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 – тело функции, функционал, который будет работать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2" y="2857500"/>
            <a:ext cx="4429156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Прямоугольник 22"/>
          <p:cNvSpPr/>
          <p:nvPr/>
        </p:nvSpPr>
        <p:spPr>
          <a:xfrm>
            <a:off x="5214942" y="2214554"/>
            <a:ext cx="378618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Применение функций к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датафрэйму</a:t>
            </a:r>
            <a:endParaRPr lang="ru-RU" sz="2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4643438" y="2857496"/>
            <a:ext cx="4500562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apply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– применяет переданную в него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функцию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ко всем колонкам вызванного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датафрэйма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. Чтобы применить функци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ю к одной колонке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датафрэйма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можно выбрать её перед применением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apply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например: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Указав название несуществующей колонки, создастся новая.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12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86314" y="4786322"/>
            <a:ext cx="4286248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172075" y="1500174"/>
            <a:ext cx="39719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229668" cy="1143000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Дополнительные материалы (группировка)</a:t>
            </a:r>
            <a:endParaRPr lang="ru-RU" sz="3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14422"/>
            <a:ext cx="9144000" cy="489364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ru-RU" sz="2400" i="1" dirty="0" smtClean="0">
                <a:latin typeface="Cambria" pitchFamily="18" charset="0"/>
              </a:rPr>
              <a:t>Группировка и агрегация данных в </a:t>
            </a:r>
            <a:r>
              <a:rPr lang="ru-RU" sz="2400" i="1" dirty="0" err="1" smtClean="0">
                <a:latin typeface="Cambria" pitchFamily="18" charset="0"/>
              </a:rPr>
              <a:t>pandas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https://sky.pro/wiki/python/gruppirovka-i-agregaciya-dannyh-v-pandas/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dirty="0" smtClean="0"/>
          </a:p>
          <a:p>
            <a:r>
              <a:rPr lang="ru-RU" sz="2400" i="1" dirty="0" err="1" smtClean="0">
                <a:latin typeface="Cambria" pitchFamily="18" charset="0"/>
              </a:rPr>
              <a:t>Pandas</a:t>
            </a:r>
            <a:r>
              <a:rPr lang="ru-RU" sz="2400" i="1" dirty="0" smtClean="0">
                <a:latin typeface="Cambria" pitchFamily="18" charset="0"/>
              </a:rPr>
              <a:t>: как группировать и агрегировать по нескольким столбцам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https://www.codecamp.ru/blog/pandas-groupby-aggregate-multiple-columns/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Прорабатываем навык использования группировки и визуализации данных в </a:t>
            </a:r>
            <a:r>
              <a:rPr lang="ru-RU" sz="2400" i="1" dirty="0" err="1" smtClean="0">
                <a:latin typeface="Cambria" pitchFamily="18" charset="0"/>
              </a:rPr>
              <a:t>Python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https://habr.com/ru/companies/vk/articles/445834/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Группировка</a:t>
            </a:r>
            <a:endParaRPr lang="ru-RU" b="1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857232"/>
            <a:ext cx="91440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Часто используемый приём для вычисления чего-либо по данным. Осуществляется с помощью метода </a:t>
            </a:r>
            <a:r>
              <a:rPr lang="ru-RU" sz="22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groupby</a:t>
            </a:r>
            <a:r>
              <a:rPr lang="ru-RU" sz="2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– группирует данные в </a:t>
            </a:r>
            <a:r>
              <a:rPr lang="ru-RU" sz="22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датафрэйме</a:t>
            </a:r>
            <a:r>
              <a:rPr lang="ru-RU" sz="2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по указанным колонкам: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28802"/>
            <a:ext cx="8013716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2714620"/>
            <a:ext cx="914400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Применение одного метода </a:t>
            </a: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groupby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не даёт видимого эффекта, хотя на самом деле все строки были объединены в группы по значению в колонке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company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 с одним значением в одну группу, с другим – в другую.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groupby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обычно используется не сам по себе, а в связке с </a:t>
            </a: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agg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или другим методом. Можно использовать несколько колонок для группировки, передав их в виде списка.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4786322"/>
            <a:ext cx="4352925" cy="1933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0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Агрегация</a:t>
            </a:r>
            <a:endParaRPr lang="ru-RU" b="1" dirty="0"/>
          </a:p>
        </p:txBody>
      </p:sp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0" y="571480"/>
            <a:ext cx="9144000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После группировки данных, вы можете применять различные агрегатные функции, такие как 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sum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 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mean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 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count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и другие, используя метод 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agg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. Это позволяет вам получить сводную информацию о каждой группе.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 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agg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 указывается, на каких колонках какие действия необходимо произвести: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5214942" cy="26432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5357818" y="2143116"/>
            <a:ext cx="3786182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Примеры агрегатных функций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sum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 Сумма значений в группе.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mean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 Среднее значение в группе.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count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 Количество элементов в группе.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min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 Минимальное значение в группе.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max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 Максимальное значение в группе.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Применение агрегатных функций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642918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Вы можете комбинировать несколько агрегатных функций для получения более детализированной информации о группах. Это позволяет вам одновременно получить несколько метрик для каждой группы.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785926"/>
            <a:ext cx="5314086" cy="1643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0" y="3500438"/>
            <a:ext cx="9144000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Метод </a:t>
            </a:r>
            <a:r>
              <a:rPr kumimoji="0" lang="ru-RU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apply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предоставляет большую гибкость в анализе данных. Например, вы можете использовать его для вычисления сложных метрик, которые не могут быть легко выражены с помощью стандартных агрегатных функций.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5072074"/>
            <a:ext cx="6086169" cy="15001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449</Words>
  <PresentationFormat>Экран (4:3)</PresentationFormat>
  <Paragraphs>87</Paragraphs>
  <Slides>14</Slides>
  <Notes>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Обработка и группировка данных</vt:lpstr>
      <vt:lpstr>Дополнительные материалы (обработка)</vt:lpstr>
      <vt:lpstr>Поиск пустых значений</vt:lpstr>
      <vt:lpstr>Обработка пустых значений</vt:lpstr>
      <vt:lpstr>Визуализация данных</vt:lpstr>
      <vt:lpstr>Визуализация данных - круговая</vt:lpstr>
      <vt:lpstr>Метод describe</vt:lpstr>
      <vt:lpstr>Использование условий для отбора</vt:lpstr>
      <vt:lpstr>Сортировка значений</vt:lpstr>
      <vt:lpstr>Создание новой колонки на основе условия</vt:lpstr>
      <vt:lpstr>Дополнительные материалы (группировка)</vt:lpstr>
      <vt:lpstr>Группировка</vt:lpstr>
      <vt:lpstr>Агрегация</vt:lpstr>
      <vt:lpstr>Применение агрегатных функций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</cp:revision>
  <dcterms:created xsi:type="dcterms:W3CDTF">2026-03-04T09:59:26Z</dcterms:created>
  <dcterms:modified xsi:type="dcterms:W3CDTF">2026-03-13T19:15:54Z</dcterms:modified>
</cp:coreProperties>
</file>