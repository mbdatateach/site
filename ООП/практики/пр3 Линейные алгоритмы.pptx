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65" r:id="rId3"/>
    <p:sldId id="285" r:id="rId4"/>
    <p:sldId id="279" r:id="rId5"/>
    <p:sldId id="280" r:id="rId6"/>
    <p:sldId id="281" r:id="rId7"/>
    <p:sldId id="282" r:id="rId8"/>
    <p:sldId id="283" r:id="rId9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DE3F2"/>
    <a:srgbClr val="DDE0F2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15620"/>
    <p:restoredTop sz="92386" autoAdjust="0"/>
  </p:normalViewPr>
  <p:slideViewPr>
    <p:cSldViewPr>
      <p:cViewPr>
        <p:scale>
          <a:sx n="100" d="100"/>
          <a:sy n="100" d="100"/>
        </p:scale>
        <p:origin x="-1860" y="-3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2B9B73-3143-4350-BBED-DEE082F6FAFE}" type="datetimeFigureOut">
              <a:rPr lang="ru-RU" smtClean="0"/>
              <a:pPr/>
              <a:t>25.09.2026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DC9B77-AA25-4C4C-9D5F-EEB1395BF952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25.09.2026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25.09.2026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25.09.2026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25.09.2026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25.09.2026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25.09.2026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25.09.2026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25.09.2026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25.09.2026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25.09.2026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25.09.2026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F7147C-2AAC-473E-AD87-1A0FFEE67DAA}" type="datetimeFigureOut">
              <a:rPr lang="ru-RU" smtClean="0"/>
              <a:pPr/>
              <a:t>25.09.2026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metanit.com/sharp/tutorial/20.2.php?ysclid=m1c4t75sz6218180615" TargetMode="External"/><Relationship Id="rId2" Type="http://schemas.openxmlformats.org/officeDocument/2006/relationships/hyperlink" Target="https://metanit.com/sharp/tutorial/3.1.php?ysclid=m51c7uxcnt757303497" TargetMode="External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translated.turbopages.org/proxy_u/en-ru.ru.81bb7be9-66e5634f-8c5806ad-74722d776562/https/www.geeksforgeeks.org/use-pandas-to-calculate-statistics-in-python/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b="1" dirty="0" smtClean="0"/>
              <a:t>Введение в ООП: Линейные алгоритмы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/>
              <a:t>Практика </a:t>
            </a:r>
            <a:r>
              <a:rPr lang="en-US" dirty="0" smtClean="0"/>
              <a:t>2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/>
          <a:lstStyle/>
          <a:p>
            <a:r>
              <a:rPr lang="ru-RU" b="1" dirty="0" smtClean="0"/>
              <a:t>Дополнительные материалы</a:t>
            </a:r>
            <a:endParaRPr lang="ru-RU" b="1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0" y="857232"/>
            <a:ext cx="9144000" cy="8217634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just"/>
            <a:endParaRPr lang="en-US" sz="2400" b="1" i="1" dirty="0" smtClean="0">
              <a:latin typeface="Cambria" pitchFamily="18" charset="0"/>
            </a:endParaRPr>
          </a:p>
          <a:p>
            <a:pPr algn="just"/>
            <a:r>
              <a:rPr lang="ru-RU" sz="2400" i="1" dirty="0" smtClean="0">
                <a:latin typeface="Cambria" pitchFamily="18" charset="0"/>
              </a:rPr>
              <a:t>Классы и объекты</a:t>
            </a:r>
          </a:p>
          <a:p>
            <a:pPr algn="just"/>
            <a:r>
              <a:rPr lang="en-US" sz="2400" b="1" dirty="0" smtClean="0">
                <a:latin typeface="Cambria" pitchFamily="18" charset="0"/>
                <a:hlinkClick r:id="rId2"/>
              </a:rPr>
              <a:t>https://metanit.com/sharp/tutorial/3.1.php?ysclid=m51c7uxcnt757303497</a:t>
            </a:r>
            <a:endParaRPr lang="ru-RU" sz="2400" b="1" dirty="0" smtClean="0">
              <a:latin typeface="Cambria" pitchFamily="18" charset="0"/>
            </a:endParaRPr>
          </a:p>
          <a:p>
            <a:pPr algn="just"/>
            <a:endParaRPr lang="ru-RU" sz="2400" b="1" dirty="0" smtClean="0">
              <a:latin typeface="Cambria" pitchFamily="18" charset="0"/>
            </a:endParaRPr>
          </a:p>
          <a:p>
            <a:pPr algn="just"/>
            <a:r>
              <a:rPr lang="en-US" sz="2400" i="1" dirty="0" smtClean="0">
                <a:latin typeface="Cambria" pitchFamily="18" charset="0"/>
              </a:rPr>
              <a:t>Math </a:t>
            </a:r>
            <a:r>
              <a:rPr lang="ru-RU" sz="2400" i="1" dirty="0" smtClean="0">
                <a:latin typeface="Cambria" pitchFamily="18" charset="0"/>
              </a:rPr>
              <a:t>Класс</a:t>
            </a:r>
          </a:p>
          <a:p>
            <a:pPr algn="just"/>
            <a:r>
              <a:rPr lang="en-US" sz="2400" b="1" dirty="0" smtClean="0">
                <a:latin typeface="Cambria" pitchFamily="18" charset="0"/>
                <a:hlinkClick r:id="rId2"/>
              </a:rPr>
              <a:t>https://learn.microsoft.com/ru-ru/dotnet/api/system.math?view=net-8.0</a:t>
            </a:r>
            <a:endParaRPr lang="ru-RU" sz="2400" b="1" dirty="0" smtClean="0">
              <a:latin typeface="Cambria" pitchFamily="18" charset="0"/>
              <a:hlinkClick r:id="rId2"/>
            </a:endParaRPr>
          </a:p>
          <a:p>
            <a:pPr algn="just"/>
            <a:endParaRPr lang="ru-RU" sz="2400" b="1" dirty="0" smtClean="0">
              <a:latin typeface="Cambria" pitchFamily="18" charset="0"/>
              <a:hlinkClick r:id="rId2"/>
            </a:endParaRPr>
          </a:p>
          <a:p>
            <a:pPr algn="just"/>
            <a:r>
              <a:rPr lang="ru-RU" sz="2400" i="1" dirty="0" smtClean="0">
                <a:latin typeface="Cambria" pitchFamily="18" charset="0"/>
              </a:rPr>
              <a:t>Операции со строками</a:t>
            </a:r>
            <a:endParaRPr lang="ru-RU" sz="2400" b="1" dirty="0" smtClean="0">
              <a:latin typeface="Cambria" pitchFamily="18" charset="0"/>
              <a:hlinkClick r:id="rId2"/>
            </a:endParaRPr>
          </a:p>
          <a:p>
            <a:pPr algn="just"/>
            <a:r>
              <a:rPr lang="en-US" sz="2400" b="1" dirty="0" smtClean="0">
                <a:latin typeface="Cambria" pitchFamily="18" charset="0"/>
                <a:hlinkClick r:id="rId2"/>
              </a:rPr>
              <a:t>https://metanit.com/sharp/tutorial/7.2.php?ysclid=m51ccmu34a23593086</a:t>
            </a:r>
            <a:endParaRPr lang="ru-RU" sz="2400" b="1" dirty="0" smtClean="0">
              <a:latin typeface="Cambria" pitchFamily="18" charset="0"/>
              <a:hlinkClick r:id="rId2"/>
            </a:endParaRPr>
          </a:p>
          <a:p>
            <a:pPr algn="just"/>
            <a:endParaRPr lang="ru-RU" sz="2400" b="1" dirty="0" smtClean="0">
              <a:latin typeface="Cambria" pitchFamily="18" charset="0"/>
            </a:endParaRPr>
          </a:p>
          <a:p>
            <a:pPr algn="just"/>
            <a:endParaRPr lang="ru-RU" sz="2400" b="1" dirty="0" smtClean="0">
              <a:latin typeface="Cambria" pitchFamily="18" charset="0"/>
            </a:endParaRPr>
          </a:p>
          <a:p>
            <a:pPr algn="just"/>
            <a:endParaRPr lang="ru-RU" sz="2400" b="1" dirty="0" smtClean="0">
              <a:latin typeface="Cambria" pitchFamily="18" charset="0"/>
            </a:endParaRPr>
          </a:p>
          <a:p>
            <a:pPr algn="just"/>
            <a:endParaRPr lang="en-US" sz="2400" b="1" dirty="0" smtClean="0">
              <a:latin typeface="Cambria" pitchFamily="18" charset="0"/>
              <a:hlinkClick r:id="rId3"/>
            </a:endParaRPr>
          </a:p>
          <a:p>
            <a:pPr algn="just"/>
            <a:endParaRPr lang="ru-RU" sz="2400" b="1" dirty="0" smtClean="0">
              <a:latin typeface="Cambria" pitchFamily="18" charset="0"/>
            </a:endParaRPr>
          </a:p>
          <a:p>
            <a:pPr algn="just"/>
            <a:endParaRPr lang="en-US" sz="2400" i="1" dirty="0" smtClean="0">
              <a:latin typeface="Cambria" pitchFamily="18" charset="0"/>
            </a:endParaRPr>
          </a:p>
          <a:p>
            <a:pPr algn="just"/>
            <a:endParaRPr lang="ru-RU" sz="2400" b="1" dirty="0" smtClean="0">
              <a:latin typeface="Cambria" pitchFamily="18" charset="0"/>
              <a:hlinkClick r:id="rId4"/>
            </a:endParaRPr>
          </a:p>
          <a:p>
            <a:pPr algn="just"/>
            <a:endParaRPr lang="ru-RU" sz="2400" i="1" dirty="0" smtClean="0">
              <a:latin typeface="Cambria" pitchFamily="18" charset="0"/>
            </a:endParaRPr>
          </a:p>
          <a:p>
            <a:pPr algn="just"/>
            <a:endParaRPr lang="en-US" sz="2400" b="1" dirty="0" smtClean="0">
              <a:latin typeface="Cambria" pitchFamily="18" charset="0"/>
            </a:endParaRPr>
          </a:p>
          <a:p>
            <a:pPr algn="just"/>
            <a:endParaRPr lang="ru-RU" sz="2400" b="1" dirty="0" smtClean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Заголовок 9"/>
          <p:cNvSpPr>
            <a:spLocks noGrp="1"/>
          </p:cNvSpPr>
          <p:nvPr>
            <p:ph type="title"/>
          </p:nvPr>
        </p:nvSpPr>
        <p:spPr>
          <a:xfrm>
            <a:off x="457200" y="-214338"/>
            <a:ext cx="8229600" cy="1143000"/>
          </a:xfrm>
        </p:spPr>
        <p:txBody>
          <a:bodyPr>
            <a:normAutofit/>
          </a:bodyPr>
          <a:lstStyle/>
          <a:p>
            <a:r>
              <a:rPr lang="ru-RU" sz="4000" b="1" dirty="0" smtClean="0"/>
              <a:t>структура класса в языке </a:t>
            </a:r>
            <a:r>
              <a:rPr lang="en-US" sz="4000" b="1" dirty="0" smtClean="0"/>
              <a:t>C</a:t>
            </a:r>
            <a:r>
              <a:rPr lang="ru-RU" sz="4000" b="1" dirty="0" smtClean="0"/>
              <a:t>#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3108" y="786806"/>
            <a:ext cx="5005404" cy="60711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14366" y="285728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b="1" dirty="0" smtClean="0"/>
              <a:t>Задание </a:t>
            </a:r>
            <a:r>
              <a:rPr lang="en-US" b="1" dirty="0" smtClean="0"/>
              <a:t>1-3</a:t>
            </a:r>
            <a:r>
              <a:rPr lang="ru-RU" b="1" dirty="0" smtClean="0"/>
              <a:t/>
            </a:r>
            <a:br>
              <a:rPr lang="ru-RU" b="1" dirty="0" smtClean="0"/>
            </a:br>
            <a:r>
              <a:rPr lang="ru-RU" b="1" dirty="0" smtClean="0"/>
              <a:t>Решение с помощью ООП</a:t>
            </a:r>
            <a:br>
              <a:rPr lang="ru-RU" b="1" dirty="0" smtClean="0"/>
            </a:br>
            <a:endParaRPr lang="ru-RU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00100" y="2500306"/>
            <a:ext cx="7239000" cy="3943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Скругленный прямоугольник 11"/>
          <p:cNvSpPr/>
          <p:nvPr/>
        </p:nvSpPr>
        <p:spPr>
          <a:xfrm>
            <a:off x="1214414" y="3143248"/>
            <a:ext cx="1643074" cy="214314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3" name="Прямая со стрелкой 12"/>
          <p:cNvCxnSpPr>
            <a:endCxn id="12" idx="3"/>
          </p:cNvCxnSpPr>
          <p:nvPr/>
        </p:nvCxnSpPr>
        <p:spPr>
          <a:xfrm rot="10800000" flipV="1">
            <a:off x="2857488" y="2214553"/>
            <a:ext cx="1285884" cy="1035852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Скругленный прямоугольник 14"/>
          <p:cNvSpPr/>
          <p:nvPr/>
        </p:nvSpPr>
        <p:spPr>
          <a:xfrm>
            <a:off x="5429256" y="3000372"/>
            <a:ext cx="714380" cy="571504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6" name="Прямая со стрелкой 15"/>
          <p:cNvCxnSpPr>
            <a:endCxn id="15" idx="0"/>
          </p:cNvCxnSpPr>
          <p:nvPr/>
        </p:nvCxnSpPr>
        <p:spPr>
          <a:xfrm>
            <a:off x="4143372" y="2214554"/>
            <a:ext cx="1643074" cy="785818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/>
          <p:cNvCxnSpPr/>
          <p:nvPr/>
        </p:nvCxnSpPr>
        <p:spPr>
          <a:xfrm rot="10800000">
            <a:off x="4143372" y="2214554"/>
            <a:ext cx="2500330" cy="4275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Прямоугольник 19"/>
          <p:cNvSpPr/>
          <p:nvPr/>
        </p:nvSpPr>
        <p:spPr>
          <a:xfrm>
            <a:off x="4929190" y="1500174"/>
            <a:ext cx="364333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Правой кнопкой мыши по проекту; Добавить класс</a:t>
            </a:r>
            <a:endParaRPr lang="ru-RU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Прямоугольник 26"/>
          <p:cNvSpPr/>
          <p:nvPr/>
        </p:nvSpPr>
        <p:spPr>
          <a:xfrm>
            <a:off x="0" y="1142984"/>
            <a:ext cx="4071934" cy="1071570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14366" y="21429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b="1" dirty="0" smtClean="0"/>
              <a:t>Задание </a:t>
            </a:r>
            <a:r>
              <a:rPr lang="en-US" b="1" dirty="0" smtClean="0"/>
              <a:t>1-3</a:t>
            </a:r>
            <a:r>
              <a:rPr lang="ru-RU" b="1" dirty="0" smtClean="0"/>
              <a:t/>
            </a:r>
            <a:br>
              <a:rPr lang="ru-RU" b="1" dirty="0" smtClean="0"/>
            </a:br>
            <a:r>
              <a:rPr lang="ru-RU" b="1" dirty="0" smtClean="0"/>
              <a:t>Решение с помощью ООП</a:t>
            </a:r>
            <a:br>
              <a:rPr lang="ru-RU" b="1" dirty="0" smtClean="0"/>
            </a:br>
            <a:endParaRPr lang="ru-RU" dirty="0"/>
          </a:p>
        </p:txBody>
      </p:sp>
      <p:sp>
        <p:nvSpPr>
          <p:cNvPr id="26" name="Прямоугольник 25"/>
          <p:cNvSpPr/>
          <p:nvPr/>
        </p:nvSpPr>
        <p:spPr>
          <a:xfrm>
            <a:off x="0" y="1071546"/>
            <a:ext cx="407193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 smtClean="0">
                <a:latin typeface="Cambria" pitchFamily="18" charset="0"/>
              </a:rPr>
              <a:t>Класс </a:t>
            </a:r>
            <a:r>
              <a:rPr lang="ru-RU" dirty="0" smtClean="0">
                <a:latin typeface="Cambria" pitchFamily="18" charset="0"/>
              </a:rPr>
              <a:t>—</a:t>
            </a:r>
            <a:r>
              <a:rPr lang="ru-RU" b="1" dirty="0" smtClean="0">
                <a:latin typeface="Cambria" pitchFamily="18" charset="0"/>
              </a:rPr>
              <a:t> </a:t>
            </a:r>
            <a:r>
              <a:rPr lang="ru-RU" dirty="0" smtClean="0">
                <a:latin typeface="Cambria" pitchFamily="18" charset="0"/>
              </a:rPr>
              <a:t>это абстракция, описывающая свойства и методы ещё не существующих объектов (пользовательский тип данных).</a:t>
            </a:r>
          </a:p>
        </p:txBody>
      </p:sp>
      <p:pic>
        <p:nvPicPr>
          <p:cNvPr id="15" name="Рисунок 14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2285992"/>
            <a:ext cx="9144000" cy="457200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14366" y="21429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b="1" dirty="0" smtClean="0"/>
              <a:t>Задание </a:t>
            </a:r>
            <a:r>
              <a:rPr lang="en-US" b="1" dirty="0" smtClean="0"/>
              <a:t>1-3</a:t>
            </a:r>
            <a:r>
              <a:rPr lang="ru-RU" b="1" dirty="0" smtClean="0"/>
              <a:t/>
            </a:r>
            <a:br>
              <a:rPr lang="ru-RU" b="1" dirty="0" smtClean="0"/>
            </a:br>
            <a:r>
              <a:rPr lang="ru-RU" b="1" dirty="0" smtClean="0"/>
              <a:t>Решение с помощью ООП</a:t>
            </a:r>
            <a:br>
              <a:rPr lang="ru-RU" b="1" dirty="0" smtClean="0"/>
            </a:br>
            <a:endParaRPr lang="ru-RU" dirty="0"/>
          </a:p>
        </p:txBody>
      </p:sp>
      <p:pic>
        <p:nvPicPr>
          <p:cNvPr id="10" name="Рисунок 9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282" y="1214422"/>
            <a:ext cx="8728602" cy="388939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14366" y="21429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b="1" dirty="0" smtClean="0"/>
              <a:t>Задание </a:t>
            </a:r>
            <a:r>
              <a:rPr lang="en-US" b="1" dirty="0" smtClean="0"/>
              <a:t>1-3</a:t>
            </a:r>
            <a:r>
              <a:rPr lang="ru-RU" b="1" dirty="0" smtClean="0"/>
              <a:t/>
            </a:r>
            <a:br>
              <a:rPr lang="ru-RU" b="1" dirty="0" smtClean="0"/>
            </a:br>
            <a:r>
              <a:rPr lang="ru-RU" b="1" dirty="0" smtClean="0"/>
              <a:t>Решение с помощью ООП</a:t>
            </a:r>
            <a:br>
              <a:rPr lang="ru-RU" b="1" dirty="0" smtClean="0"/>
            </a:br>
            <a:endParaRPr lang="ru-R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1472" y="1428736"/>
            <a:ext cx="2857500" cy="2857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Прямоугольник 4"/>
          <p:cNvSpPr/>
          <p:nvPr/>
        </p:nvSpPr>
        <p:spPr>
          <a:xfrm>
            <a:off x="285720" y="4286256"/>
            <a:ext cx="364333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Примерный интерфейс задания №1</a:t>
            </a:r>
            <a:endParaRPr lang="ru-RU" sz="2000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000496" y="1214422"/>
            <a:ext cx="3143272" cy="31432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Скругленный прямоугольник 6"/>
          <p:cNvSpPr/>
          <p:nvPr/>
        </p:nvSpPr>
        <p:spPr>
          <a:xfrm>
            <a:off x="4786314" y="2143116"/>
            <a:ext cx="1357322" cy="35719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/>
          <p:cNvSpPr/>
          <p:nvPr/>
        </p:nvSpPr>
        <p:spPr>
          <a:xfrm>
            <a:off x="6643702" y="1785926"/>
            <a:ext cx="2500298" cy="500066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/>
        </p:nvSpPr>
        <p:spPr>
          <a:xfrm>
            <a:off x="6429388" y="1714488"/>
            <a:ext cx="300039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Количество входных полей зависит от задания</a:t>
            </a:r>
            <a:endParaRPr lang="ru-RU" sz="1600" dirty="0"/>
          </a:p>
        </p:txBody>
      </p:sp>
      <p:sp>
        <p:nvSpPr>
          <p:cNvPr id="13" name="Прямоугольник 12"/>
          <p:cNvSpPr/>
          <p:nvPr/>
        </p:nvSpPr>
        <p:spPr>
          <a:xfrm>
            <a:off x="4000496" y="4286256"/>
            <a:ext cx="300039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Примерный интерфейс задания №2</a:t>
            </a:r>
            <a:endParaRPr lang="ru-RU" sz="2000" dirty="0"/>
          </a:p>
        </p:txBody>
      </p:sp>
      <p:cxnSp>
        <p:nvCxnSpPr>
          <p:cNvPr id="8" name="Прямая со стрелкой 7"/>
          <p:cNvCxnSpPr>
            <a:stCxn id="11" idx="1"/>
            <a:endCxn id="7" idx="3"/>
          </p:cNvCxnSpPr>
          <p:nvPr/>
        </p:nvCxnSpPr>
        <p:spPr>
          <a:xfrm rot="10800000" flipV="1">
            <a:off x="6143636" y="2035959"/>
            <a:ext cx="500066" cy="285752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14366" y="21429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b="1" dirty="0" smtClean="0"/>
              <a:t>Задание </a:t>
            </a:r>
            <a:r>
              <a:rPr lang="en-US" b="1" dirty="0" smtClean="0"/>
              <a:t>1-3</a:t>
            </a:r>
            <a:r>
              <a:rPr lang="ru-RU" b="1" dirty="0" smtClean="0"/>
              <a:t/>
            </a:r>
            <a:br>
              <a:rPr lang="ru-RU" b="1" dirty="0" smtClean="0"/>
            </a:br>
            <a:r>
              <a:rPr lang="ru-RU" b="1" dirty="0" smtClean="0"/>
              <a:t>Решение с помощью ООП</a:t>
            </a:r>
            <a:br>
              <a:rPr lang="ru-RU" b="1" dirty="0" smtClean="0"/>
            </a:br>
            <a:endParaRPr lang="ru-RU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44" y="1285860"/>
            <a:ext cx="3214710" cy="32147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4" name="Прямоугольник 13"/>
          <p:cNvSpPr/>
          <p:nvPr/>
        </p:nvSpPr>
        <p:spPr>
          <a:xfrm>
            <a:off x="0" y="4500570"/>
            <a:ext cx="364333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Примерный интерфейс задания №3</a:t>
            </a:r>
            <a:endParaRPr lang="ru-RU" sz="2000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509952" y="1571612"/>
            <a:ext cx="5634048" cy="220129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  <p:sp>
        <p:nvSpPr>
          <p:cNvPr id="15" name="Прямоугольник 14"/>
          <p:cNvSpPr/>
          <p:nvPr/>
        </p:nvSpPr>
        <p:spPr>
          <a:xfrm>
            <a:off x="4500562" y="3786190"/>
            <a:ext cx="364333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Примерный код класса вычислений</a:t>
            </a:r>
            <a:endParaRPr lang="ru-RU" sz="20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143625" y="4572008"/>
            <a:ext cx="3000375" cy="11049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0" y="5762625"/>
            <a:ext cx="9144000" cy="1095375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</p:spPr>
      </p:pic>
      <p:cxnSp>
        <p:nvCxnSpPr>
          <p:cNvPr id="10" name="Прямая со стрелкой 9"/>
          <p:cNvCxnSpPr/>
          <p:nvPr/>
        </p:nvCxnSpPr>
        <p:spPr>
          <a:xfrm>
            <a:off x="4143372" y="3714752"/>
            <a:ext cx="2071702" cy="1571636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 стрелкой 10"/>
          <p:cNvCxnSpPr/>
          <p:nvPr/>
        </p:nvCxnSpPr>
        <p:spPr>
          <a:xfrm rot="5400000">
            <a:off x="2536017" y="4607727"/>
            <a:ext cx="2500330" cy="71438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708</TotalTime>
  <Words>94</Words>
  <Application>Microsoft Office PowerPoint</Application>
  <PresentationFormat>Экран (4:3)</PresentationFormat>
  <Paragraphs>33</Paragraphs>
  <Slides>8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9" baseType="lpstr">
      <vt:lpstr>Тема Office</vt:lpstr>
      <vt:lpstr>Введение в ООП: Линейные алгоритмы</vt:lpstr>
      <vt:lpstr>Дополнительные материалы</vt:lpstr>
      <vt:lpstr>структура класса в языке C#</vt:lpstr>
      <vt:lpstr>Задание 1-3 Решение с помощью ООП </vt:lpstr>
      <vt:lpstr>Задание 1-3 Решение с помощью ООП </vt:lpstr>
      <vt:lpstr>Задание 1-3 Решение с помощью ООП </vt:lpstr>
      <vt:lpstr>Задание 1-3 Решение с помощью ООП </vt:lpstr>
      <vt:lpstr>Задание 1-3 Решение с помощью ООП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Введение в ООП: Линейные алгоритмы</dc:title>
  <dc:creator>user</dc:creator>
  <cp:lastModifiedBy>user</cp:lastModifiedBy>
  <cp:revision>79</cp:revision>
  <dcterms:created xsi:type="dcterms:W3CDTF">2024-02-01T09:49:19Z</dcterms:created>
  <dcterms:modified xsi:type="dcterms:W3CDTF">2026-09-24T21:34:13Z</dcterms:modified>
</cp:coreProperties>
</file>