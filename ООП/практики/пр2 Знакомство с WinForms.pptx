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5" r:id="rId3"/>
    <p:sldId id="278" r:id="rId4"/>
    <p:sldId id="279" r:id="rId5"/>
    <p:sldId id="280" r:id="rId6"/>
    <p:sldId id="281" r:id="rId7"/>
    <p:sldId id="282" r:id="rId8"/>
    <p:sldId id="285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3F2"/>
    <a:srgbClr val="DDE0F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20"/>
    <p:restoredTop sz="92386" autoAdjust="0"/>
  </p:normalViewPr>
  <p:slideViewPr>
    <p:cSldViewPr>
      <p:cViewPr varScale="1">
        <p:scale>
          <a:sx n="114" d="100"/>
          <a:sy n="114" d="100"/>
        </p:scale>
        <p:origin x="-147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2B9B73-3143-4350-BBED-DEE082F6FAFE}" type="datetimeFigureOut">
              <a:rPr lang="ru-RU" smtClean="0"/>
              <a:pPr/>
              <a:t>23.08.2026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C9B77-AA25-4C4C-9D5F-EEB1395BF95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23.08.2026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23.08.2026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23.08.2026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23.08.2026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tanit.com/sharp/windowsforms/4.1.php" TargetMode="External"/><Relationship Id="rId2" Type="http://schemas.openxmlformats.org/officeDocument/2006/relationships/hyperlink" Target="https://metanit.com/sharp/tutorial/20.2.php?ysclid=m1c4t75sz6218180615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translated.turbopages.org/proxy_u/en-ru.ru.81bb7be9-66e5634f-8c5806ad-74722d776562/https/www.geeksforgeeks.org/use-pandas-to-calculate-statistics-in-python/" TargetMode="External"/><Relationship Id="rId4" Type="http://schemas.openxmlformats.org/officeDocument/2006/relationships/hyperlink" Target="https://metanit.com/sharp/windowsforms/3.1.php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Знакомство с </a:t>
            </a:r>
            <a:r>
              <a:rPr lang="en-US" b="1" dirty="0" smtClean="0"/>
              <a:t>Windows Forms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Практика </a:t>
            </a:r>
            <a:r>
              <a:rPr lang="en-US" dirty="0" smtClean="0"/>
              <a:t>2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857232"/>
            <a:ext cx="9144000" cy="710963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/>
            <a:endParaRPr lang="en-US" sz="2400" b="1" i="1" dirty="0" smtClean="0">
              <a:latin typeface="Cambria" pitchFamily="18" charset="0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Конструкция </a:t>
            </a:r>
            <a:r>
              <a:rPr lang="en-US" sz="2400" i="1" dirty="0" smtClean="0">
                <a:latin typeface="Cambria" pitchFamily="18" charset="0"/>
              </a:rPr>
              <a:t>switch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https://metanit.com/sharp/tutorial/3.45.php?ysclid=m1c9ph7l2q615233938</a:t>
            </a:r>
            <a:endParaRPr lang="ru-RU" sz="2400" b="1" dirty="0" smtClean="0">
              <a:latin typeface="Cambria" pitchFamily="18" charset="0"/>
              <a:hlinkClick r:id="rId2"/>
            </a:endParaRPr>
          </a:p>
          <a:p>
            <a:pPr algn="just"/>
            <a:endParaRPr lang="ru-RU" sz="2400" b="1" dirty="0" smtClean="0">
              <a:latin typeface="Cambria" pitchFamily="18" charset="0"/>
              <a:hlinkClick r:id="rId2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Элементы управления (Глава 4)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3"/>
              </a:rPr>
              <a:t>https://metanit.com/sharp/windowsforms/4.1.php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  <a:hlinkClick r:id="rId4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Контейнеры в </a:t>
            </a:r>
            <a:r>
              <a:rPr lang="en-US" sz="2400" i="1" dirty="0" smtClean="0">
                <a:latin typeface="Cambria" pitchFamily="18" charset="0"/>
              </a:rPr>
              <a:t>Windows Forms</a:t>
            </a:r>
            <a:r>
              <a:rPr lang="ru-RU" sz="2400" i="1" dirty="0" smtClean="0">
                <a:latin typeface="Cambria" pitchFamily="18" charset="0"/>
              </a:rPr>
              <a:t> (Глава 3)</a:t>
            </a:r>
            <a:endParaRPr lang="ru-RU" sz="2400" b="1" dirty="0" smtClean="0">
              <a:latin typeface="Cambria" pitchFamily="18" charset="0"/>
              <a:hlinkClick r:id="rId4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4"/>
              </a:rPr>
              <a:t>https://metanit.com/sharp/windowsforms/3.1.php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  <a:hlinkClick r:id="rId2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en-US" sz="2400" i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  <a:hlinkClick r:id="rId5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 rot="10800000">
            <a:off x="5786446" y="1571612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5500694" y="928670"/>
            <a:ext cx="33575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Смена вкладок для переключения между работой с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WinForms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и кодом</a:t>
            </a:r>
            <a:endParaRPr lang="ru-RU" sz="1600" dirty="0"/>
          </a:p>
        </p:txBody>
      </p:sp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758926"/>
            <a:ext cx="4097253" cy="6099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Скругленный прямоугольник 6"/>
          <p:cNvSpPr/>
          <p:nvPr/>
        </p:nvSpPr>
        <p:spPr>
          <a:xfrm>
            <a:off x="1857356" y="6357958"/>
            <a:ext cx="1285884" cy="50004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" name="Прямая со стрелкой 7"/>
          <p:cNvCxnSpPr>
            <a:endCxn id="7" idx="3"/>
          </p:cNvCxnSpPr>
          <p:nvPr/>
        </p:nvCxnSpPr>
        <p:spPr>
          <a:xfrm rot="5400000">
            <a:off x="1946662" y="2768192"/>
            <a:ext cx="5036365" cy="264320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Скругленный прямоугольник 17"/>
          <p:cNvSpPr/>
          <p:nvPr/>
        </p:nvSpPr>
        <p:spPr>
          <a:xfrm>
            <a:off x="357158" y="1428736"/>
            <a:ext cx="1428760" cy="100013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3798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733925"/>
            <a:ext cx="1838325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1" name="Прямая со стрелкой 20"/>
          <p:cNvCxnSpPr>
            <a:endCxn id="18" idx="3"/>
          </p:cNvCxnSpPr>
          <p:nvPr/>
        </p:nvCxnSpPr>
        <p:spPr>
          <a:xfrm rot="10800000">
            <a:off x="1785918" y="1928802"/>
            <a:ext cx="4572032" cy="100013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Прямоугольник 23"/>
          <p:cNvSpPr/>
          <p:nvPr/>
        </p:nvSpPr>
        <p:spPr>
          <a:xfrm>
            <a:off x="6429388" y="2571744"/>
            <a:ext cx="192882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Все файлы проекта</a:t>
            </a:r>
            <a:endParaRPr lang="ru-RU" sz="1600" dirty="0"/>
          </a:p>
        </p:txBody>
      </p:sp>
      <p:cxnSp>
        <p:nvCxnSpPr>
          <p:cNvPr id="25" name="Прямая соединительная линия 24"/>
          <p:cNvCxnSpPr/>
          <p:nvPr/>
        </p:nvCxnSpPr>
        <p:spPr>
          <a:xfrm rot="10800000">
            <a:off x="6429388" y="2928934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 rot="10800000">
            <a:off x="5857884" y="1281585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5857884" y="642918"/>
            <a:ext cx="27860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Форма для создания графического интерфейса</a:t>
            </a:r>
            <a:endParaRPr lang="ru-RU" sz="1600" dirty="0"/>
          </a:p>
        </p:txBody>
      </p:sp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642918"/>
            <a:ext cx="3513437" cy="6215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Скругленный прямоугольник 6"/>
          <p:cNvSpPr/>
          <p:nvPr/>
        </p:nvSpPr>
        <p:spPr>
          <a:xfrm>
            <a:off x="1500166" y="857232"/>
            <a:ext cx="2286016" cy="221457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" name="Прямая со стрелкой 7"/>
          <p:cNvCxnSpPr>
            <a:endCxn id="7" idx="3"/>
          </p:cNvCxnSpPr>
          <p:nvPr/>
        </p:nvCxnSpPr>
        <p:spPr>
          <a:xfrm rot="10800000" flipV="1">
            <a:off x="3786182" y="1285859"/>
            <a:ext cx="2071702" cy="67866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Скругленный прямоугольник 12"/>
          <p:cNvSpPr/>
          <p:nvPr/>
        </p:nvSpPr>
        <p:spPr>
          <a:xfrm>
            <a:off x="71438" y="642918"/>
            <a:ext cx="1357290" cy="571504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5" name="Прямая со стрелкой 14"/>
          <p:cNvCxnSpPr/>
          <p:nvPr/>
        </p:nvCxnSpPr>
        <p:spPr>
          <a:xfrm rot="10800000" flipV="1">
            <a:off x="1428728" y="2071677"/>
            <a:ext cx="4143404" cy="307183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/>
          <p:cNvSpPr/>
          <p:nvPr/>
        </p:nvSpPr>
        <p:spPr>
          <a:xfrm>
            <a:off x="5500694" y="1500174"/>
            <a:ext cx="27860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Возможные для размещения на форме элементы</a:t>
            </a:r>
            <a:endParaRPr lang="ru-RU" sz="1600" dirty="0"/>
          </a:p>
        </p:txBody>
      </p:sp>
      <p:cxnSp>
        <p:nvCxnSpPr>
          <p:cNvPr id="19" name="Прямая соединительная линия 18"/>
          <p:cNvCxnSpPr/>
          <p:nvPr/>
        </p:nvCxnSpPr>
        <p:spPr>
          <a:xfrm rot="10800000">
            <a:off x="5572132" y="2071678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57950" y="2364065"/>
            <a:ext cx="1507312" cy="4493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2" name="Прямая со стрелкой 21"/>
          <p:cNvCxnSpPr>
            <a:endCxn id="35842" idx="1"/>
          </p:cNvCxnSpPr>
          <p:nvPr/>
        </p:nvCxnSpPr>
        <p:spPr>
          <a:xfrm rot="16200000" flipH="1">
            <a:off x="5409744" y="3662826"/>
            <a:ext cx="967719" cy="92869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 rot="10800000">
            <a:off x="4286248" y="3643314"/>
            <a:ext cx="1152532" cy="138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Прямоугольник 26"/>
          <p:cNvSpPr/>
          <p:nvPr/>
        </p:nvSpPr>
        <p:spPr>
          <a:xfrm>
            <a:off x="4357686" y="3643314"/>
            <a:ext cx="157163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Свойства добавляемых элементов (правая панель) – 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клавиша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F4</a:t>
            </a:r>
            <a:endParaRPr lang="ru-RU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2000240"/>
            <a:ext cx="2924175" cy="296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785794"/>
            <a:ext cx="4064185" cy="5715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Скругленный прямоугольник 15"/>
          <p:cNvSpPr/>
          <p:nvPr/>
        </p:nvSpPr>
        <p:spPr>
          <a:xfrm>
            <a:off x="857224" y="2428868"/>
            <a:ext cx="2071702" cy="17859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>
            <a:endCxn id="16" idx="0"/>
          </p:cNvCxnSpPr>
          <p:nvPr/>
        </p:nvCxnSpPr>
        <p:spPr>
          <a:xfrm rot="16200000" flipH="1">
            <a:off x="875083" y="1410876"/>
            <a:ext cx="1071570" cy="96441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 rot="10800000">
            <a:off x="928662" y="1357298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Прямоугольник 22"/>
          <p:cNvSpPr/>
          <p:nvPr/>
        </p:nvSpPr>
        <p:spPr>
          <a:xfrm>
            <a:off x="1071538" y="1000108"/>
            <a:ext cx="17145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Двойной щелчок</a:t>
            </a:r>
            <a:endParaRPr lang="ru-RU" sz="1600" dirty="0"/>
          </a:p>
        </p:txBody>
      </p:sp>
      <p:cxnSp>
        <p:nvCxnSpPr>
          <p:cNvPr id="24" name="Прямая со стрелкой 23"/>
          <p:cNvCxnSpPr>
            <a:stCxn id="16" idx="3"/>
            <a:endCxn id="26" idx="1"/>
          </p:cNvCxnSpPr>
          <p:nvPr/>
        </p:nvCxnSpPr>
        <p:spPr>
          <a:xfrm>
            <a:off x="2928926" y="3321843"/>
            <a:ext cx="2571768" cy="235745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Скругленный прямоугольник 25"/>
          <p:cNvSpPr/>
          <p:nvPr/>
        </p:nvSpPr>
        <p:spPr>
          <a:xfrm>
            <a:off x="5500694" y="5357826"/>
            <a:ext cx="3000396" cy="64294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/>
          <p:cNvSpPr/>
          <p:nvPr/>
        </p:nvSpPr>
        <p:spPr>
          <a:xfrm>
            <a:off x="4929190" y="785794"/>
            <a:ext cx="3143272" cy="10001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7356" y="1857364"/>
            <a:ext cx="5575902" cy="2490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Скругленный прямоугольник 11"/>
          <p:cNvSpPr/>
          <p:nvPr/>
        </p:nvSpPr>
        <p:spPr>
          <a:xfrm>
            <a:off x="2357422" y="2143116"/>
            <a:ext cx="1643074" cy="35719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" name="Прямая со стрелкой 12"/>
          <p:cNvCxnSpPr>
            <a:endCxn id="12" idx="0"/>
          </p:cNvCxnSpPr>
          <p:nvPr/>
        </p:nvCxnSpPr>
        <p:spPr>
          <a:xfrm rot="16200000" flipH="1">
            <a:off x="2375281" y="1339438"/>
            <a:ext cx="857256" cy="75009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 rot="10800000">
            <a:off x="2428860" y="1285860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4929190" y="857232"/>
            <a:ext cx="300039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Изменить содержание текстового поля по его идентификатору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Design (Name)</a:t>
            </a:r>
            <a:endParaRPr lang="ru-RU" sz="1600" b="1" dirty="0"/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2214546" y="2928934"/>
            <a:ext cx="3071834" cy="121444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1" name="Прямая со стрелкой 20"/>
          <p:cNvCxnSpPr/>
          <p:nvPr/>
        </p:nvCxnSpPr>
        <p:spPr>
          <a:xfrm rot="10800000">
            <a:off x="2857488" y="4143383"/>
            <a:ext cx="1428761" cy="140242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/>
          <p:cNvSpPr/>
          <p:nvPr/>
        </p:nvSpPr>
        <p:spPr>
          <a:xfrm>
            <a:off x="4286248" y="4929198"/>
            <a:ext cx="3214678" cy="138499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При выборе соответствующего пункта необходимо изменять содержание текстового поля по его идентификатору 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Design (Name)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Примечание: после каждого </a:t>
            </a:r>
            <a:r>
              <a:rPr lang="en-US" sz="14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case</a:t>
            </a:r>
            <a:r>
              <a:rPr lang="en-US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должен идти свой </a:t>
            </a:r>
            <a:r>
              <a:rPr lang="en-US" sz="14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break</a:t>
            </a:r>
            <a:r>
              <a:rPr lang="en-US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endParaRPr lang="ru-RU" sz="14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Прямая со стрелкой 13"/>
          <p:cNvCxnSpPr>
            <a:stCxn id="15" idx="2"/>
          </p:cNvCxnSpPr>
          <p:nvPr/>
        </p:nvCxnSpPr>
        <p:spPr>
          <a:xfrm rot="16200000" flipH="1">
            <a:off x="1136128" y="1814798"/>
            <a:ext cx="906670" cy="89297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 14"/>
          <p:cNvSpPr/>
          <p:nvPr/>
        </p:nvSpPr>
        <p:spPr>
          <a:xfrm>
            <a:off x="-32" y="1500174"/>
            <a:ext cx="2286016" cy="30777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Двойной щелчок по списку</a:t>
            </a:r>
            <a:endParaRPr lang="ru-RU" sz="14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86116" y="1714488"/>
            <a:ext cx="4357718" cy="4357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2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24" name="Прямоугольник 23"/>
          <p:cNvSpPr/>
          <p:nvPr/>
        </p:nvSpPr>
        <p:spPr>
          <a:xfrm>
            <a:off x="3357554" y="6000768"/>
            <a:ext cx="435771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Примерный шаблон интерфейса и вывода информации</a:t>
            </a:r>
            <a:endParaRPr lang="ru-RU" sz="2000" dirty="0"/>
          </a:p>
        </p:txBody>
      </p:sp>
      <p:sp>
        <p:nvSpPr>
          <p:cNvPr id="30" name="Прямоугольник 29"/>
          <p:cNvSpPr/>
          <p:nvPr/>
        </p:nvSpPr>
        <p:spPr>
          <a:xfrm>
            <a:off x="0" y="4214818"/>
            <a:ext cx="3214678" cy="203132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400" b="1" dirty="0" err="1" smtClean="0">
                <a:latin typeface="Times New Roman" pitchFamily="18" charset="0"/>
                <a:cs typeface="Times New Roman" pitchFamily="18" charset="0"/>
              </a:rPr>
              <a:t>Panel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объединяет элементы в группы. Она представляет собой прямоугольное окно без надписи, внутри которого можно помещать произвольные объекты. Если панель имеет много элементов, которые выходят за её границы, её можно сделать прокручиваемой, установив свойство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AutoScroll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true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214422"/>
            <a:ext cx="4276725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31" name="Прямая со стрелкой 30"/>
          <p:cNvCxnSpPr>
            <a:endCxn id="1028" idx="2"/>
          </p:cNvCxnSpPr>
          <p:nvPr/>
        </p:nvCxnSpPr>
        <p:spPr>
          <a:xfrm rot="10800000">
            <a:off x="2138364" y="1433498"/>
            <a:ext cx="3505207" cy="120968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Скругленный прямоугольник 33"/>
          <p:cNvSpPr/>
          <p:nvPr/>
        </p:nvSpPr>
        <p:spPr>
          <a:xfrm>
            <a:off x="5715008" y="3500438"/>
            <a:ext cx="1285884" cy="71438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2428868"/>
            <a:ext cx="3071802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35" name="Прямая со стрелкой 34"/>
          <p:cNvCxnSpPr>
            <a:endCxn id="1029" idx="2"/>
          </p:cNvCxnSpPr>
          <p:nvPr/>
        </p:nvCxnSpPr>
        <p:spPr>
          <a:xfrm rot="10800000">
            <a:off x="1535902" y="3219444"/>
            <a:ext cx="2250281" cy="49530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Скругленный прямоугольник 12"/>
          <p:cNvSpPr/>
          <p:nvPr/>
        </p:nvSpPr>
        <p:spPr>
          <a:xfrm>
            <a:off x="5572132" y="2643182"/>
            <a:ext cx="1857388" cy="42862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429124" y="1214422"/>
            <a:ext cx="4714876" cy="27777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cxnSp>
        <p:nvCxnSpPr>
          <p:cNvPr id="16" name="Прямая со стрелкой 15"/>
          <p:cNvCxnSpPr/>
          <p:nvPr/>
        </p:nvCxnSpPr>
        <p:spPr>
          <a:xfrm rot="5400000" flipH="1" flipV="1">
            <a:off x="6858016" y="1643050"/>
            <a:ext cx="2000264" cy="171451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Скругленный прямоугольник 19"/>
          <p:cNvSpPr/>
          <p:nvPr/>
        </p:nvSpPr>
        <p:spPr>
          <a:xfrm>
            <a:off x="3428992" y="3357562"/>
            <a:ext cx="2214578" cy="107157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5" name="Прямая со стрелкой 24"/>
          <p:cNvCxnSpPr>
            <a:stCxn id="20" idx="1"/>
          </p:cNvCxnSpPr>
          <p:nvPr/>
        </p:nvCxnSpPr>
        <p:spPr>
          <a:xfrm rot="10800000" flipV="1">
            <a:off x="1428728" y="3893347"/>
            <a:ext cx="2000264" cy="32147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715008" y="5072074"/>
            <a:ext cx="3428992" cy="266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cxnSp>
        <p:nvCxnSpPr>
          <p:cNvPr id="36" name="Прямая со стрелкой 35"/>
          <p:cNvCxnSpPr/>
          <p:nvPr/>
        </p:nvCxnSpPr>
        <p:spPr>
          <a:xfrm rot="10800000" flipV="1">
            <a:off x="5072066" y="5214950"/>
            <a:ext cx="642942" cy="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/>
          <p:cNvSpPr/>
          <p:nvPr/>
        </p:nvSpPr>
        <p:spPr>
          <a:xfrm>
            <a:off x="0" y="571480"/>
            <a:ext cx="9144000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Здесь приведен только один из возможных шаблонов выполнения. Допускается размещать элементы программно или выводить информацию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другим способом (например, в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MessageBox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3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714356"/>
            <a:ext cx="4630532" cy="34290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4" name="Прямоугольник 13"/>
          <p:cNvSpPr/>
          <p:nvPr/>
        </p:nvSpPr>
        <p:spPr>
          <a:xfrm>
            <a:off x="5429256" y="571480"/>
            <a:ext cx="3286148" cy="147732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Load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это событие, которое срабатывает перед первым отображением формы.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добавляется в код двойным щелчком по форме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7" name="Прямая со стрелкой 16"/>
          <p:cNvCxnSpPr>
            <a:stCxn id="14" idx="1"/>
          </p:cNvCxnSpPr>
          <p:nvPr/>
        </p:nvCxnSpPr>
        <p:spPr>
          <a:xfrm rot="10800000">
            <a:off x="1857356" y="1214422"/>
            <a:ext cx="3571900" cy="95722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57620" y="4500570"/>
            <a:ext cx="4548190" cy="9096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8596" y="5857892"/>
            <a:ext cx="3371850" cy="695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cxnSp>
        <p:nvCxnSpPr>
          <p:cNvPr id="23" name="Прямая со стрелкой 22"/>
          <p:cNvCxnSpPr/>
          <p:nvPr/>
        </p:nvCxnSpPr>
        <p:spPr>
          <a:xfrm>
            <a:off x="3357554" y="3929066"/>
            <a:ext cx="1643074" cy="571504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>
            <a:stCxn id="1029" idx="3"/>
          </p:cNvCxnSpPr>
          <p:nvPr/>
        </p:nvCxnSpPr>
        <p:spPr>
          <a:xfrm flipV="1">
            <a:off x="3800446" y="5072074"/>
            <a:ext cx="1557372" cy="1133481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929322" y="2571744"/>
            <a:ext cx="2105025" cy="7784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4857752" y="3357562"/>
            <a:ext cx="428624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Добавление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GroupBox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и его содержимого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(rb1, rb2 – 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=new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RadioButton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()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1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Присваивание функции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rb1.CheckedChanged +=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RadioButton_CheckedChanged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1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176</Words>
  <Application>Microsoft Office PowerPoint</Application>
  <PresentationFormat>Экран (4:3)</PresentationFormat>
  <Paragraphs>42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Знакомство с Windows Forms</vt:lpstr>
      <vt:lpstr>Дополнительные материалы</vt:lpstr>
      <vt:lpstr>Задание 1 </vt:lpstr>
      <vt:lpstr>Задание 1 </vt:lpstr>
      <vt:lpstr>Задание 1 </vt:lpstr>
      <vt:lpstr>Задание 1 </vt:lpstr>
      <vt:lpstr>Задание 2 </vt:lpstr>
      <vt:lpstr>Задание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Знакомство с Windows Forms</dc:title>
  <dc:creator>user</dc:creator>
  <cp:lastModifiedBy>user</cp:lastModifiedBy>
  <cp:revision>67</cp:revision>
  <dcterms:created xsi:type="dcterms:W3CDTF">2024-02-01T09:49:19Z</dcterms:created>
  <dcterms:modified xsi:type="dcterms:W3CDTF">2026-08-23T10:12:02Z</dcterms:modified>
</cp:coreProperties>
</file>