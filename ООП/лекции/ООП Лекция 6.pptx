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2826" y="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08608-4C9B-4F70-9202-BE72A76EEE08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1A55E-8748-497B-ADAD-3D7E6D906987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Роль структур данных в ООП на C#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Роль структур данных в ООП на C#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500042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ООП на C# структуры данных — это фундамент состояния объекта: они решают, что и как именно хранится внутри класса, и тем самым задают его надёжность и скорость. Простые типы вроде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decimal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выступают как базовые «кирпичики»: они фиксируют формат и границы значений ещё на этапе компиляции — 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decimal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 потеряет копейки в расчётах,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 примет дробное число. За счёт того, что это типы значений (структуры), они работают предсказуемо и экономно: передаются копией, не нагружают сборщик мусора и не создают скрытых побочных эффектов при передаче в методы.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коллекций выбор структуры данных напрямую формирует поведение объекта: массив даёт мгновенный доступ по индексу, но плохо растёт;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&lt;T&gt; берёт рост на себя и прячет сложность внутри;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Dictionary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TKey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TValue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делает поиск по ключу почти мгновенным. В ООП мы не выставляем эти детали наружу, а оборачиваем их в методы класса — так объект остаётся простым снаружи и эффективным внутри.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3895682"/>
            <a:ext cx="3714776" cy="2962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Массивы: виды и базовые операции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8250" y="1428736"/>
            <a:ext cx="4095750" cy="390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0" y="285728"/>
          <a:ext cx="5072067" cy="6575917"/>
        </p:xfrm>
        <a:graphic>
          <a:graphicData uri="http://schemas.openxmlformats.org/drawingml/2006/table">
            <a:tbl>
              <a:tblPr/>
              <a:tblGrid>
                <a:gridCol w="1690689"/>
                <a:gridCol w="1690689"/>
                <a:gridCol w="1690689"/>
              </a:tblGrid>
              <a:tr h="212009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Что сравниваем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Times New Roman" pitchFamily="18" charset="0"/>
                          <a:cs typeface="Times New Roman" pitchFamily="18" charset="0"/>
                        </a:rPr>
                        <a:t>C# (</a:t>
                      </a:r>
                      <a:r>
                        <a:rPr lang="ru-RU" sz="1200" b="1">
                          <a:latin typeface="Times New Roman" pitchFamily="18" charset="0"/>
                          <a:cs typeface="Times New Roman" pitchFamily="18" charset="0"/>
                        </a:rPr>
                        <a:t>массивы)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itchFamily="18" charset="0"/>
                          <a:cs typeface="Times New Roman" pitchFamily="18" charset="0"/>
                        </a:rPr>
                        <a:t>Python (</a:t>
                      </a: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списки)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66048">
                <a:tc>
                  <a:txBody>
                    <a:bodyPr/>
                    <a:lstStyle/>
                    <a:p>
                      <a:pPr algn="just"/>
                      <a:r>
                        <a:rPr lang="ru-RU" sz="1200" b="1">
                          <a:latin typeface="Times New Roman" pitchFamily="18" charset="0"/>
                          <a:cs typeface="Times New Roman" pitchFamily="18" charset="0"/>
                        </a:rPr>
                        <a:t>Размер</a:t>
                      </a:r>
                      <a:endParaRPr lang="ru-RU"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latin typeface="Times New Roman" pitchFamily="18" charset="0"/>
                          <a:cs typeface="Times New Roman" pitchFamily="18" charset="0"/>
                        </a:rPr>
                        <a:t>Фиксированный при создании. Чтобы изменить — нужно создавать новый массив (Array.Resize).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latin typeface="Times New Roman" pitchFamily="18" charset="0"/>
                          <a:cs typeface="Times New Roman" pitchFamily="18" charset="0"/>
                        </a:rPr>
                        <a:t>Динамический: можно добавлять и удалять элементы без ручного пересоздания.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66048">
                <a:tc>
                  <a:txBody>
                    <a:bodyPr/>
                    <a:lstStyle/>
                    <a:p>
                      <a:pPr algn="just"/>
                      <a:r>
                        <a:rPr lang="ru-RU" sz="1200" b="1">
                          <a:latin typeface="Times New Roman" pitchFamily="18" charset="0"/>
                          <a:cs typeface="Times New Roman" pitchFamily="18" charset="0"/>
                        </a:rPr>
                        <a:t>Типизация</a:t>
                      </a:r>
                      <a:endParaRPr lang="ru-RU"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Строгая: 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[] хранит только 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. Компилятор не даст положить туда строку.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latin typeface="Times New Roman" pitchFamily="18" charset="0"/>
                          <a:cs typeface="Times New Roman" pitchFamily="18" charset="0"/>
                        </a:rPr>
                        <a:t>Слабая: список хранит ссылки на любые объекты. Можно смешать числа, строки, объекты в одном списке.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66048">
                <a:tc>
                  <a:txBody>
                    <a:bodyPr/>
                    <a:lstStyle/>
                    <a:p>
                      <a:pPr algn="just"/>
                      <a:r>
                        <a:rPr lang="ru-RU" sz="1200" b="1">
                          <a:latin typeface="Times New Roman" pitchFamily="18" charset="0"/>
                          <a:cs typeface="Times New Roman" pitchFamily="18" charset="0"/>
                        </a:rPr>
                        <a:t>Память и скорость</a:t>
                      </a:r>
                      <a:endParaRPr lang="ru-RU"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latin typeface="Times New Roman" pitchFamily="18" charset="0"/>
                          <a:cs typeface="Times New Roman" pitchFamily="18" charset="0"/>
                        </a:rPr>
                        <a:t>Элементы лежат подряд в памяти, доступ по индексу максимально быстрый.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latin typeface="Times New Roman" pitchFamily="18" charset="0"/>
                          <a:cs typeface="Times New Roman" pitchFamily="18" charset="0"/>
                        </a:rPr>
                        <a:t>Элементы — это ссылки; сам список — массив указателей. Доступ чуть медленнее, но гибкость выше.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07042">
                <a:tc>
                  <a:txBody>
                    <a:bodyPr/>
                    <a:lstStyle/>
                    <a:p>
                      <a:pPr algn="just"/>
                      <a:r>
                        <a:rPr lang="ru-RU" sz="1200" b="1">
                          <a:latin typeface="Times New Roman" pitchFamily="18" charset="0"/>
                          <a:cs typeface="Times New Roman" pitchFamily="18" charset="0"/>
                        </a:rPr>
                        <a:t>Многомерность</a:t>
                      </a:r>
                      <a:endParaRPr lang="ru-RU"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latin typeface="Times New Roman" pitchFamily="18" charset="0"/>
                          <a:cs typeface="Times New Roman" pitchFamily="18" charset="0"/>
                        </a:rPr>
                        <a:t>Есть настоящие многомерные массивы (int[,]) и зубчатые (int[][]).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latin typeface="Times New Roman" pitchFamily="18" charset="0"/>
                          <a:cs typeface="Times New Roman" pitchFamily="18" charset="0"/>
                        </a:rPr>
                        <a:t>Только «список списков» — это не одна непрерывная область памяти, а список ссылок на другие списки.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8035">
                <a:tc>
                  <a:txBody>
                    <a:bodyPr/>
                    <a:lstStyle/>
                    <a:p>
                      <a:pPr algn="just"/>
                      <a:r>
                        <a:rPr lang="ru-RU" sz="1200" b="1">
                          <a:latin typeface="Times New Roman" pitchFamily="18" charset="0"/>
                          <a:cs typeface="Times New Roman" pitchFamily="18" charset="0"/>
                        </a:rPr>
                        <a:t>Базовые операции</a:t>
                      </a:r>
                      <a:endParaRPr lang="ru-RU"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latin typeface="Times New Roman" pitchFamily="18" charset="0"/>
                          <a:cs typeface="Times New Roman" pitchFamily="18" charset="0"/>
                        </a:rPr>
                        <a:t>Вынесены в статический класс Array (Sort, Resize, IndexOf и т. д.).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latin typeface="Times New Roman" pitchFamily="18" charset="0"/>
                          <a:cs typeface="Times New Roman" pitchFamily="18" charset="0"/>
                        </a:rPr>
                        <a:t>Встроены в сам объект: методы у списка (sort, append, pop, index).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07042">
                <a:tc>
                  <a:txBody>
                    <a:bodyPr/>
                    <a:lstStyle/>
                    <a:p>
                      <a:pPr algn="just"/>
                      <a:r>
                        <a:rPr lang="ru-RU" sz="1200" b="1">
                          <a:latin typeface="Times New Roman" pitchFamily="18" charset="0"/>
                          <a:cs typeface="Times New Roman" pitchFamily="18" charset="0"/>
                        </a:rPr>
                        <a:t>Роль в ООП</a:t>
                      </a:r>
                      <a:endParaRPr lang="ru-RU"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latin typeface="Times New Roman" pitchFamily="18" charset="0"/>
                          <a:cs typeface="Times New Roman" pitchFamily="18" charset="0"/>
                        </a:rPr>
                        <a:t>Часто скрывают внутри класса, чтобы контролировать доступ и размер.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Используют как есть; контроль логики делают методами класса, а не структурой данных.</a:t>
                      </a:r>
                    </a:p>
                  </a:txBody>
                  <a:tcPr marL="32774" marR="32774" marT="16387" marB="163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Роль структур данных в ООП на C#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500042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Дженерики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связке с коллекциями дают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типобезопасность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переиспользуемость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: вы один раз описываете логику (например, «список», «словарь», «очередь») и подставляете нужный тип через &lt;T&gt;, а компилятор гарантирует, что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Product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&gt; не окажется строки и что методы вроде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Sort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() сработают только если тип умеет корректно сравнивать себя. Это убирает опасные приведения типов, предотвращает runtime-ошибки и делает код чище — логика отделяется от конкретного типа данных.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Интерфейсы коллекций (вроде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IEnumerable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&lt;T&gt;,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ICollection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&lt;T&gt;,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IDictionary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TKey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TValue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&gt;) задают контракты поведения, 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дженерики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делают эти контракты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типобезопасными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: метод, принимающий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IEnumerable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Product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&gt;, может работать с массивом, списком или результатом запроса к БД — ему важен только контракт «я умею отдавать элементы типа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Product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», а не внутренняя реализация, что повышает гибкость архитектуры и упрощает замену одной коллекции на другую без переписывания логики.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714620"/>
            <a:ext cx="4238447" cy="414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67877" y="2857496"/>
            <a:ext cx="4576123" cy="2652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Списки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50004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Список — это базовая линейная структура, где элементы хранятся в порядке добавления и доступны по индексу. В C#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&lt;T&gt; —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типобезопасная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динамическая коллекция: размер меняется автоматически, доступ к элементу по индексу происходит за O(1), а добавление в конец —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амортизированно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за O(1). Благодаря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дженерикам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интерфейсам (например,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IEnumerable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&lt;T&gt;) списки легко передаются в методы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переиспользуются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без потери типов.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список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это универсальный динамический массив ссылок на объекты. Он тоже поддерживает индексацию, добавление и удаление, но без строгой типизации: в одном списке могут лежать разнородные данные.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полагается на утиную типизацию и соглашения: если объект поддерживает методы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__getitem__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append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он ведёт себя как список и интегрируется в экосистему.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876"/>
            <a:ext cx="5000625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5074" y="3929066"/>
            <a:ext cx="28289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Очередь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50004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Стек — линейная структура, в которой элементы добавляются и извлекаются с одного конца (вершины). Принцип LIFO идеально подходит для сценариев «отмены действия», «возврата назад», «обхода в глубину». В C#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&lt;T&gt; предоставляет методы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(положить на вершину)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(взять с вершины), а интерфейс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IStack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&lt;T&gt; позволяет абстрагироваться от реализации. Строгая типизация исключает ошибки при смешивании разных типов данных.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стек удобно моделировать на обычном списке: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append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кладёт элемент на «вершину»,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забирает его оттуда. Поскольку список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динамический массив, операции добавления и удаления с конца выполняются эффективно. Утиная типизация позволяет использовать любой объект, поддерживающий эти методы, как стек.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86190"/>
            <a:ext cx="530542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4357694"/>
            <a:ext cx="3305175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Словарь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500042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Словарь — это ассоциативная структура, которая хранит пары «ключ–значение» и обеспечивает почти мгновенный поиск значения по ключу. В C#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Dictionary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TKey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TValue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 реализован на базе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хеш‑таблицы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вычисляется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хеш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ключа, по нему находится нужная «корзина», и оттуда берётся значение — в среднем это O(1).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Дженерики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гарантируют, что ключи и значения строго типизированы: нельзя случайно положить строку туда, где ожидается число. Интерфейсы вроде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IDictionary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TKey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TValue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IReadOnlyDictionary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TKey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TValue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 позволяют передавать словари в методы, контролируя, можно ли менять содержимое.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встроенный тип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тоже работает как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хеш‑таблица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даёт быстрый доступ по ключу. Типизация нестрогая: ключи и значения могут быть любыми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хешируемыми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объектами.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следует утиной типизации: если объект поддерживает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__getitem__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__setitem__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__contains__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он ведёт себя как словарь и интегрируется в экосистему. Для аннотаций типов в современном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используют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[K, V], но это подсказка для анализаторов, а не требование среды выполнения.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610553"/>
            <a:ext cx="4857752" cy="3247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2125" y="4143380"/>
            <a:ext cx="357187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Множество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500042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Множество — это ассоциативная структура для хранения уникальных элементов без учёта порядка. В C# используют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HashSet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&lt;T&gt;: он гарантирует уникальность и быстрый поиск (в среднем O(1)), а также предоставляет методы для операций над множествами — объединение, пересечение, разность. Благодаря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дженерикам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тип элементов строго задан, а интерфейсы вроде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ISet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&lt;T&gt; позволяют абстрагироваться от конкретной реализации и писать универсальный код.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тип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реализует те же идеи: хранит только уникальные,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хешируемые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элементы и поддерживает операции объединения, пересечения и разности через операторы (|, &amp;, -) и методы. Утиная типизация позволяет использовать любой объект, который ведёт себя как множество, в соответствующих контекстах.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3781425"/>
            <a:ext cx="5495925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7884" y="4286256"/>
            <a:ext cx="3286116" cy="18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Дерево и граф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1028343"/>
            <a:ext cx="91440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b="1" dirty="0" smtClean="0">
                <a:latin typeface="Times New Roman" pitchFamily="18" charset="0"/>
                <a:cs typeface="Times New Roman" pitchFamily="18" charset="0"/>
              </a:rPr>
              <a:t>Дерево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— это структура, где у каждого элемента (узла) есть один «родитель» и сколько угодно «детей». Сверху — корень, внизу — листья. В коде дерево часто делают так: узел хранит своё значение и список дочерних узлов. Идеально для иерархий: папки в файловой системе, меню сайта, оглавление книги.</a:t>
            </a:r>
          </a:p>
          <a:p>
            <a:pPr algn="just"/>
            <a:r>
              <a:rPr lang="ru-RU" sz="2500" b="1" dirty="0" smtClean="0">
                <a:latin typeface="Times New Roman" pitchFamily="18" charset="0"/>
                <a:cs typeface="Times New Roman" pitchFamily="18" charset="0"/>
              </a:rPr>
              <a:t>Граф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— более общая штука: узлы могут соединяться как угодно, без строгого «родитель–ребёнок». Бывают ориентированные (стрелки) и неориентированные (просто связи). В коде граф часто хранят как «список смежности»: для каждого узла — список тех, с кем он связан. Подходит для карт, </a:t>
            </a:r>
            <a:r>
              <a:rPr lang="ru-RU" sz="2500" dirty="0" err="1" smtClean="0">
                <a:latin typeface="Times New Roman" pitchFamily="18" charset="0"/>
                <a:cs typeface="Times New Roman" pitchFamily="18" charset="0"/>
              </a:rPr>
              <a:t>соцсетей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, маршрутов.</a:t>
            </a:r>
            <a:endParaRPr lang="ru-RU"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344" y="0"/>
            <a:ext cx="1304469" cy="6858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8036" y="-99392"/>
            <a:ext cx="76403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Абстрактное синтаксическое дерево (AST)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«скелет» программы, в котором остались только важные для выполнения части. Представь, что исходный код — это текст с кучей запятых, скобок и лишних слов, а AST — это конспект: из него выкинули всё декоративное (вроде точек с запятой или лишних скобок), но оставили суть: «тут присваивание», «тут сложение», «тут условие». Узлы дерева — это действия и значения: число, переменная, операция, команда. По этому дереву потом удобно ходить и выполнять программу шаг за шагом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555" y="2762930"/>
            <a:ext cx="4170451" cy="410363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066896" y="2796892"/>
            <a:ext cx="3729658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Синтаксический анализ методом рекурсивного спуска — это способ превратить поток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токенов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(слов и знаков) в AST с помощью набора функций, которые вызывают друг друга. Идея простая: каждое правило грамматики становится своей функцией. Например, «выражение состоит из слагаемых, а слагаемое — из множителей» превращается в функции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parse_expression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parse_term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parse_factor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 Они читают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токены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порядку и сами решают, какую часть разобрать дальше. Если что-то не совпадает с ожидаемым — это ошибка синтаксиса. Главное преимущество: код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парсера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читается почти как сама грамматика, и его легко расширять.</a:t>
            </a:r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28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LINQ</a:t>
            </a:r>
            <a:endParaRPr lang="ru-RU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642918"/>
            <a:ext cx="9144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b="1" dirty="0" smtClean="0">
                <a:latin typeface="Times New Roman" pitchFamily="18" charset="0"/>
                <a:cs typeface="Times New Roman" pitchFamily="18" charset="0"/>
              </a:rPr>
              <a:t>LINQ (</a:t>
            </a:r>
            <a:r>
              <a:rPr lang="ru-RU" sz="2500" b="1" dirty="0" err="1" smtClean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sz="25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 b="1" dirty="0" err="1" smtClean="0">
                <a:latin typeface="Times New Roman" pitchFamily="18" charset="0"/>
                <a:cs typeface="Times New Roman" pitchFamily="18" charset="0"/>
              </a:rPr>
              <a:t>Integrated</a:t>
            </a:r>
            <a:r>
              <a:rPr lang="ru-RU" sz="25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 b="1" dirty="0" err="1" smtClean="0">
                <a:latin typeface="Times New Roman" pitchFamily="18" charset="0"/>
                <a:cs typeface="Times New Roman" pitchFamily="18" charset="0"/>
              </a:rPr>
              <a:t>Query</a:t>
            </a:r>
            <a:r>
              <a:rPr lang="ru-RU" sz="2500" b="1" dirty="0" smtClean="0">
                <a:latin typeface="Times New Roman" pitchFamily="18" charset="0"/>
                <a:cs typeface="Times New Roman" pitchFamily="18" charset="0"/>
              </a:rPr>
              <a:t>) — это способ удобно и понятно работать с коллекциями в C#: фильтровать, сортировать, группировать данные прямо в коде, без громоздких циклов.</a:t>
            </a:r>
            <a:endParaRPr lang="en-US" sz="25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500" dirty="0" err="1" smtClean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— фильтр (как </a:t>
            </a:r>
            <a:r>
              <a:rPr lang="ru-RU" sz="2500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ru-RU" sz="2500" dirty="0" err="1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— преобразование каждого элемента. </a:t>
            </a:r>
            <a:r>
              <a:rPr lang="ru-RU" sz="2500" dirty="0" err="1" smtClean="0">
                <a:latin typeface="Times New Roman" pitchFamily="18" charset="0"/>
                <a:cs typeface="Times New Roman" pitchFamily="18" charset="0"/>
              </a:rPr>
              <a:t>OrderBy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— сортировка.</a:t>
            </a:r>
            <a:endParaRPr lang="ru-RU" sz="25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333706"/>
            <a:ext cx="6728194" cy="352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1389</Words>
  <Application>Microsoft Office PowerPoint</Application>
  <PresentationFormat>Экран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Тема Office</vt:lpstr>
      <vt:lpstr>Роль структур данных в ООП на C#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10</cp:revision>
  <dcterms:created xsi:type="dcterms:W3CDTF">2026-10-23T20:17:09Z</dcterms:created>
  <dcterms:modified xsi:type="dcterms:W3CDTF">2026-10-24T06:23:29Z</dcterms:modified>
</cp:coreProperties>
</file>