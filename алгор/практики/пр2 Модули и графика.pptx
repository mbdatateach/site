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100" d="100"/>
          <a:sy n="100" d="100"/>
        </p:scale>
        <p:origin x="-1860" y="-2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24.09.2026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24.09.2026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24.09.2026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24.09.2026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24.09.2026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24.09.2026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24.09.2026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24.09.2026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24.09.2026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24.09.2026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24.09.2026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24.09.2026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natalia.aclas.ru/wp-content/uploads/2021/10/Python-tk.pdf?ysclid=mtvo4aoky1698679734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metanit.com/python/tkinter/2.10.php?ysclid=mufhcxprrd85937030" TargetMode="Externa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Модули и графика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0"/>
            <a:ext cx="91440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Создание и импорт собственных модулей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позволяют структурировать код, вынося логически связанные функции, классы и переменные в отдельные файлы с расширением .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py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; импортировать такие модули можно разными способами — через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import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для доступа ко всему содержимому, через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from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...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import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для выборочного подключения отдельных элементов либо с псевдонимом для удобства обращения, а благодаря такой организации один и тот же файл выступает и как библиотека функций, и как самостоятельная программа, что повышает модульность, читаемость и удобство поддержки кода — особенно в прикладных задачах экономистов, где важна чёткая организация расчётных блоков и возможность их повторного применения в разных сценариях.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53025" y="2571744"/>
            <a:ext cx="3990975" cy="1476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3643314"/>
            <a:ext cx="3038475" cy="1914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4580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686425" y="4214818"/>
            <a:ext cx="3457575" cy="1247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4581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057775" y="5476875"/>
            <a:ext cx="4086225" cy="1381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9" name="Прямая со стрелкой 8"/>
          <p:cNvCxnSpPr>
            <a:stCxn id="24579" idx="3"/>
            <a:endCxn id="24578" idx="1"/>
          </p:cNvCxnSpPr>
          <p:nvPr/>
        </p:nvCxnSpPr>
        <p:spPr>
          <a:xfrm flipV="1">
            <a:off x="3038475" y="3309932"/>
            <a:ext cx="2114550" cy="1290645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/>
          <p:cNvCxnSpPr>
            <a:stCxn id="24579" idx="3"/>
            <a:endCxn id="24580" idx="1"/>
          </p:cNvCxnSpPr>
          <p:nvPr/>
        </p:nvCxnSpPr>
        <p:spPr>
          <a:xfrm>
            <a:off x="3038475" y="4600577"/>
            <a:ext cx="2647950" cy="238129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2"/>
          <p:cNvCxnSpPr>
            <a:stCxn id="24579" idx="3"/>
            <a:endCxn id="24581" idx="1"/>
          </p:cNvCxnSpPr>
          <p:nvPr/>
        </p:nvCxnSpPr>
        <p:spPr>
          <a:xfrm>
            <a:off x="3038475" y="4600577"/>
            <a:ext cx="2019300" cy="1566861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5786" y="785794"/>
            <a:ext cx="7572428" cy="20365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14414" y="3000372"/>
            <a:ext cx="6786578" cy="26583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0" y="5643578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Дополнительные материалы по работе с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Tkinter</a:t>
            </a: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2400" b="1" dirty="0" smtClean="0">
                <a:latin typeface="Times New Roman" pitchFamily="18" charset="0"/>
                <a:cs typeface="Times New Roman" pitchFamily="18" charset="0"/>
                <a:hlinkClick r:id="rId4"/>
              </a:rPr>
              <a:t>https://natalia.aclas.ru/wp-content/uploads/2021/10/Python-tk.pdf?ysclid=mtvo4aoky1698679734</a:t>
            </a: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Заголовок 1"/>
          <p:cNvSpPr txBox="1">
            <a:spLocks/>
          </p:cNvSpPr>
          <p:nvPr/>
        </p:nvSpPr>
        <p:spPr>
          <a:xfrm>
            <a:off x="0" y="-71454"/>
            <a:ext cx="91440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Графический интерфейс</a:t>
            </a:r>
            <a:endParaRPr kumimoji="0" lang="ru-R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0" y="-71454"/>
            <a:ext cx="91440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Задание 1</a:t>
            </a:r>
            <a:endParaRPr kumimoji="0" lang="ru-R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714356"/>
            <a:ext cx="6572250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572264" y="500041"/>
            <a:ext cx="2571736" cy="20236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0" y="4286256"/>
            <a:ext cx="9144000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40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Вам нужно добавить еще поля ввода веса и расстояния</a:t>
            </a:r>
            <a:endParaRPr lang="ru-RU" sz="40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0" y="-71454"/>
            <a:ext cx="91440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Задание 1</a:t>
            </a:r>
            <a:endParaRPr kumimoji="0" lang="ru-R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0" y="1428736"/>
            <a:ext cx="9144000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40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Так можно получить информацию в функции </a:t>
            </a:r>
            <a:r>
              <a:rPr lang="en-US" sz="40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calculate</a:t>
            </a:r>
            <a:endParaRPr lang="ru-RU" sz="40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0" y="928670"/>
            <a:ext cx="931857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 err="1" smtClean="0">
                <a:latin typeface="Courier New" pitchFamily="49" charset="0"/>
                <a:cs typeface="Courier New" pitchFamily="49" charset="0"/>
              </a:rPr>
              <a:t>base_price</a:t>
            </a:r>
            <a:r>
              <a:rPr lang="en-US" sz="3200" b="1" dirty="0" smtClean="0">
                <a:latin typeface="Courier New" pitchFamily="49" charset="0"/>
                <a:cs typeface="Courier New" pitchFamily="49" charset="0"/>
              </a:rPr>
              <a:t> = float(entry_price.get())</a:t>
            </a:r>
            <a:endParaRPr lang="ru-RU" sz="3200" b="1" dirty="0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847975"/>
            <a:ext cx="1971675" cy="401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Прямоугольник 7"/>
          <p:cNvSpPr/>
          <p:nvPr/>
        </p:nvSpPr>
        <p:spPr>
          <a:xfrm>
            <a:off x="1928794" y="2857496"/>
            <a:ext cx="7215206" cy="10772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32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А вот так начать рисовать черепашкой</a:t>
            </a:r>
            <a:r>
              <a:rPr lang="en-US" sz="32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</a:t>
            </a:r>
            <a:r>
              <a:rPr lang="ru-RU" sz="32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и вывести на экран</a:t>
            </a:r>
            <a:endParaRPr lang="ru-RU" sz="32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143240" y="4643446"/>
            <a:ext cx="5135523" cy="2214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Прямоугольник 9"/>
          <p:cNvSpPr/>
          <p:nvPr/>
        </p:nvSpPr>
        <p:spPr>
          <a:xfrm>
            <a:off x="1500166" y="4000504"/>
            <a:ext cx="7643834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500" b="1" dirty="0" err="1" smtClean="0">
                <a:latin typeface="Courier New" pitchFamily="49" charset="0"/>
                <a:cs typeface="Courier New" pitchFamily="49" charset="0"/>
              </a:rPr>
              <a:t>t.write</a:t>
            </a:r>
            <a:r>
              <a:rPr lang="en-US" sz="1500" b="1" dirty="0" smtClean="0">
                <a:latin typeface="Courier New" pitchFamily="49" charset="0"/>
                <a:cs typeface="Courier New" pitchFamily="49" charset="0"/>
              </a:rPr>
              <a:t>(f"</a:t>
            </a:r>
            <a:r>
              <a:rPr lang="ru-RU" sz="1500" b="1" dirty="0" smtClean="0">
                <a:latin typeface="Courier New" pitchFamily="49" charset="0"/>
                <a:cs typeface="Courier New" pitchFamily="49" charset="0"/>
              </a:rPr>
              <a:t>Стоимость: {</a:t>
            </a:r>
            <a:r>
              <a:rPr lang="en-US" sz="1500" b="1" dirty="0" smtClean="0">
                <a:latin typeface="Courier New" pitchFamily="49" charset="0"/>
                <a:cs typeface="Courier New" pitchFamily="49" charset="0"/>
              </a:rPr>
              <a:t>cost:.2f} </a:t>
            </a:r>
            <a:r>
              <a:rPr lang="ru-RU" sz="1500" b="1" dirty="0" err="1" smtClean="0">
                <a:latin typeface="Courier New" pitchFamily="49" charset="0"/>
                <a:cs typeface="Courier New" pitchFamily="49" charset="0"/>
              </a:rPr>
              <a:t>руб</a:t>
            </a:r>
            <a:r>
              <a:rPr lang="ru-RU" sz="1500" b="1" dirty="0" smtClean="0">
                <a:latin typeface="Courier New" pitchFamily="49" charset="0"/>
                <a:cs typeface="Courier New" pitchFamily="49" charset="0"/>
              </a:rPr>
              <a:t>", </a:t>
            </a:r>
            <a:r>
              <a:rPr lang="en-US" sz="1500" b="1" dirty="0" smtClean="0">
                <a:latin typeface="Courier New" pitchFamily="49" charset="0"/>
                <a:cs typeface="Courier New" pitchFamily="49" charset="0"/>
              </a:rPr>
              <a:t>font=("Arial", 14, "bold"))</a:t>
            </a:r>
            <a:endParaRPr lang="ru-RU" sz="1500" b="1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0" y="-71454"/>
            <a:ext cx="91440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Задание 2</a:t>
            </a:r>
            <a:endParaRPr kumimoji="0" lang="ru-R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0" y="642918"/>
            <a:ext cx="91440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  <a:hlinkClick r:id="rId2"/>
              </a:rPr>
              <a:t>https://metanit.com/python/tkinter/2.10.php?ysclid=mufhcxprrd85937030</a:t>
            </a:r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Виджет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Radiobutton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Tkinter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позволяет создать группу переключателей, из которой можно выбрать только один вариант. Это похоже на кнопки на старых радиоприёмниках: нажатие одной отменяет выбор предыдущей. В коде используются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ttk.Radiobutton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из модуля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ttk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(тематические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виджеты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 они выглядят современнее, чем обычные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tk.Radiobutton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). Главная особенность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радиокнопок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: они работают группой, где в любой момент выбрана ровно одна опция (если не задать специальное поведение).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3357554" y="2786058"/>
            <a:ext cx="23703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from </a:t>
            </a:r>
            <a:r>
              <a:rPr lang="en-US" b="1" dirty="0" err="1" smtClean="0"/>
              <a:t>tkinter</a:t>
            </a:r>
            <a:r>
              <a:rPr lang="en-US" b="1" dirty="0" smtClean="0"/>
              <a:t> import </a:t>
            </a:r>
            <a:r>
              <a:rPr lang="en-US" b="1" dirty="0" err="1" smtClean="0"/>
              <a:t>ttk</a:t>
            </a:r>
            <a:endParaRPr lang="ru-RU" b="1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0" y="3857628"/>
            <a:ext cx="900109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StringVar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 это переменная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Tkinter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для хранения строкового значения. Она нужна, чтобы связать группу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радиокнопок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с одним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состоянием.value=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"0.5" — начальное значение: по умолчанию выбран вариант «50/50».Для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радиокнопок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можно использовать 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DoubleVar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IntVar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но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StringVar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универсален: в него можно положить строку, а потом преобразовать в число.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0" y="5429264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Ключевые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параметры:variable=var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 — указывает, какая переменная хранит текущее состояние группы. Все кнопки в группе должны ссылаться на одну и ту же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переменную.value=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"..." — значение, которое запишется в переменную, если пользователь выберет эту кнопку.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57288" y="3071810"/>
            <a:ext cx="6829425" cy="7810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5786" y="0"/>
            <a:ext cx="7733450" cy="41434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Прямоугольник 2"/>
          <p:cNvSpPr/>
          <p:nvPr/>
        </p:nvSpPr>
        <p:spPr>
          <a:xfrm>
            <a:off x="0" y="4214818"/>
            <a:ext cx="6072198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2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Вот так может выглядеть </a:t>
            </a:r>
            <a:r>
              <a:rPr lang="ru-RU" sz="24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функция </a:t>
            </a:r>
            <a:r>
              <a:rPr lang="en-US" sz="2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calc</a:t>
            </a:r>
            <a:r>
              <a:rPr lang="ru-RU" sz="2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, которая вызывается при нажатии на кнопку с предыдущего слайда</a:t>
            </a:r>
          </a:p>
          <a:p>
            <a:pPr algn="ctr"/>
            <a:endParaRPr lang="ru-RU" sz="2400" b="1" cap="none" spc="0" dirty="0" smtClean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  <a:p>
            <a:pPr algn="ctr"/>
            <a:r>
              <a:rPr lang="en-US" sz="2400" b="1" dirty="0" err="1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Split_budget</a:t>
            </a:r>
            <a:r>
              <a:rPr lang="en-US" sz="24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</a:t>
            </a:r>
            <a:r>
              <a:rPr lang="ru-RU" sz="24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должна быть в отдельном модуле</a:t>
            </a:r>
            <a:endParaRPr lang="ru-RU" sz="2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134100" y="4286256"/>
            <a:ext cx="3009900" cy="2266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/>
          <p:cNvSpPr txBox="1">
            <a:spLocks/>
          </p:cNvSpPr>
          <p:nvPr/>
        </p:nvSpPr>
        <p:spPr>
          <a:xfrm>
            <a:off x="0" y="-71454"/>
            <a:ext cx="91440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Задание </a:t>
            </a:r>
            <a:r>
              <a:rPr kumimoji="0" lang="ru-RU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3</a:t>
            </a:r>
            <a:r>
              <a:rPr lang="en-US" sz="4400" dirty="0" smtClean="0">
                <a:latin typeface="+mj-lt"/>
                <a:ea typeface="+mj-ea"/>
                <a:cs typeface="+mj-cs"/>
              </a:rPr>
              <a:t>: </a:t>
            </a:r>
            <a:r>
              <a:rPr lang="ru-RU" sz="4400" dirty="0" smtClean="0">
                <a:latin typeface="+mj-lt"/>
                <a:ea typeface="+mj-ea"/>
                <a:cs typeface="+mj-cs"/>
              </a:rPr>
              <a:t>дополнительно</a:t>
            </a:r>
            <a:endParaRPr kumimoji="0" lang="ru-R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785794"/>
            <a:ext cx="91440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Canvas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(холст) — это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виджет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Tkinter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для рисования графики: прямоугольников, линий, окружностей, текста и других фигур. В отличие от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Label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или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Button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которые показывают готовый текст,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Canvas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даёт координатную плоскость, где ты сам управляешь положением и размером каждого элемента.</a:t>
            </a: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экономических приложениях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Canvas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удобен для рисования простых диаграмм и графиков без подключения тяжёлых библиотек вроде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matplotlib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643570" y="3191672"/>
            <a:ext cx="2938454" cy="3666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484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3786190"/>
            <a:ext cx="5545988" cy="1285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/>
          <p:cNvSpPr txBox="1">
            <a:spLocks/>
          </p:cNvSpPr>
          <p:nvPr/>
        </p:nvSpPr>
        <p:spPr>
          <a:xfrm>
            <a:off x="0" y="-71454"/>
            <a:ext cx="9144000" cy="1143000"/>
          </a:xfrm>
          <a:prstGeom prst="rect">
            <a:avLst/>
          </a:prstGeom>
        </p:spPr>
        <p:txBody>
          <a:bodyPr/>
          <a:lstStyle/>
          <a:p>
            <a:pPr lvl="0" algn="ctr">
              <a:spcBef>
                <a:spcPct val="0"/>
              </a:spcBef>
              <a:defRPr/>
            </a:pPr>
            <a:r>
              <a:rPr kumimoji="0" lang="ru-RU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Задание </a:t>
            </a:r>
            <a:r>
              <a:rPr kumimoji="0" lang="ru-RU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3: </a:t>
            </a:r>
            <a:r>
              <a:rPr lang="ru-RU" sz="4400" dirty="0" smtClean="0"/>
              <a:t>дополнительно</a:t>
            </a:r>
            <a:endParaRPr kumimoji="0" lang="ru-R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85852" y="642918"/>
            <a:ext cx="7058025" cy="3857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150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0" y="4358328"/>
            <a:ext cx="4572000" cy="24996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1509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5095875"/>
            <a:ext cx="4664371" cy="11192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448300" y="2714620"/>
            <a:ext cx="3695700" cy="5905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211</Words>
  <PresentationFormat>Экран (4:3)</PresentationFormat>
  <Paragraphs>26</Paragraphs>
  <Slides>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0" baseType="lpstr">
      <vt:lpstr>Тема Office</vt:lpstr>
      <vt:lpstr>Модули и графика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Модули и графика</dc:title>
  <dc:creator>user</dc:creator>
  <cp:lastModifiedBy>user</cp:lastModifiedBy>
  <cp:revision>9</cp:revision>
  <dcterms:created xsi:type="dcterms:W3CDTF">2026-09-24T11:36:45Z</dcterms:created>
  <dcterms:modified xsi:type="dcterms:W3CDTF">2026-09-24T13:07:04Z</dcterms:modified>
</cp:coreProperties>
</file>