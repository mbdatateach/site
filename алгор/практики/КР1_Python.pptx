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83" r:id="rId4"/>
    <p:sldId id="261" r:id="rId5"/>
    <p:sldId id="258" r:id="rId6"/>
    <p:sldId id="262" r:id="rId7"/>
    <p:sldId id="259" r:id="rId8"/>
    <p:sldId id="260" r:id="rId9"/>
    <p:sldId id="266" r:id="rId10"/>
    <p:sldId id="263" r:id="rId11"/>
    <p:sldId id="264" r:id="rId12"/>
    <p:sldId id="265" r:id="rId13"/>
    <p:sldId id="267" r:id="rId14"/>
    <p:sldId id="284" r:id="rId15"/>
    <p:sldId id="268" r:id="rId16"/>
    <p:sldId id="269" r:id="rId17"/>
    <p:sldId id="271" r:id="rId18"/>
    <p:sldId id="270" r:id="rId19"/>
    <p:sldId id="272" r:id="rId20"/>
    <p:sldId id="273" r:id="rId21"/>
    <p:sldId id="274" r:id="rId22"/>
    <p:sldId id="275" r:id="rId23"/>
    <p:sldId id="276" r:id="rId24"/>
    <p:sldId id="286" r:id="rId25"/>
    <p:sldId id="287" r:id="rId26"/>
    <p:sldId id="288" r:id="rId27"/>
    <p:sldId id="289" r:id="rId28"/>
    <p:sldId id="290" r:id="rId29"/>
    <p:sldId id="291" r:id="rId30"/>
    <p:sldId id="277" r:id="rId31"/>
    <p:sldId id="285" r:id="rId32"/>
    <p:sldId id="292" r:id="rId33"/>
    <p:sldId id="293" r:id="rId34"/>
    <p:sldId id="279" r:id="rId35"/>
    <p:sldId id="280" r:id="rId36"/>
    <p:sldId id="278" r:id="rId3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13.09.2026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online-python.com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cloud.mail.ru/public/PJ9d/5u7maiHi4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7.png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pt-online.org/1262183?ysclid=mtvoxp88my795753433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python/tutorial/3.3.php?ysclid=mtvpkj4ryf952192747" TargetMode="External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hyperlink" Target="https://metanit.com/python/tutorial/3.4.php?ysclid=mtvpsovcgu52685479" TargetMode="Externa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atalia.aclas.ru/wp-content/uploads/2021/10/Python-tk.pdf?ysclid=mtvo4aoky1698679734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Теоретический материал для выполнения контрольной работы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85984" y="0"/>
            <a:ext cx="49093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Работа с </a:t>
            </a:r>
            <a:r>
              <a:rPr lang="en-US" sz="54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Python</a:t>
            </a:r>
            <a:endParaRPr lang="ru-RU" sz="5400" b="1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Для выполнения первых семи заданий будет достаточно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онлайн-интерпретатора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sz="3600" dirty="0" smtClean="0"/>
          </a:p>
          <a:p>
            <a:pPr marL="342900" indent="-342900" algn="ctr"/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Например</a:t>
            </a:r>
          </a:p>
          <a:p>
            <a:pPr marL="342900" indent="-342900" algn="ctr"/>
            <a:r>
              <a:rPr lang="en-US" sz="36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https://www.online-python.com/</a:t>
            </a:r>
            <a:endParaRPr lang="ru-RU" sz="3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060" y="3786190"/>
            <a:ext cx="9107940" cy="2786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00100" y="0"/>
            <a:ext cx="72652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Установка и запуск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IDLE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Последние два задания требует графического интерфейса и, как следствие, полноценного интерпретатора</a:t>
            </a:r>
          </a:p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Скачать его можно по ссылке</a:t>
            </a:r>
          </a:p>
          <a:p>
            <a:pPr marL="342900" indent="-342900" algn="ctr"/>
            <a:r>
              <a:rPr lang="en-US" sz="36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https://cloud.mail.ru/public/PJ9d/5u7maiHi4</a:t>
            </a:r>
            <a:endParaRPr lang="ru-RU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Потом перейти по пути</a:t>
            </a:r>
          </a:p>
          <a:p>
            <a:pPr marL="342900" indent="-342900" algn="ctr"/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..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\Python37\Lib\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idlelib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и открыть файл 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idle.bat</a:t>
            </a:r>
            <a:endParaRPr lang="ru-RU" sz="36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4636215"/>
            <a:ext cx="2281232" cy="2221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5475916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571472" y="0"/>
            <a:ext cx="767408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Принципы работы в 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IDLE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5572132" y="1785926"/>
            <a:ext cx="357186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Создать новый файл</a:t>
            </a:r>
          </a:p>
          <a:p>
            <a:pPr marL="342900" indent="-342900"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Сохранить его</a:t>
            </a:r>
          </a:p>
          <a:p>
            <a:pPr marL="342900" indent="-342900"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Написать код</a:t>
            </a:r>
          </a:p>
          <a:p>
            <a:pPr marL="342900" indent="-342900">
              <a:buAutoNum type="arabicParenR"/>
            </a:pP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Запустить (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F5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342900" indent="-342900">
              <a:buAutoNum type="arabicParenR"/>
            </a:pP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3500438"/>
            <a:ext cx="2047875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Прямая со стрелкой 6"/>
          <p:cNvCxnSpPr/>
          <p:nvPr/>
        </p:nvCxnSpPr>
        <p:spPr>
          <a:xfrm rot="16200000" flipH="1">
            <a:off x="-71470" y="2357430"/>
            <a:ext cx="4143404" cy="228601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5686425"/>
            <a:ext cx="2943225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Прямая со стрелкой 8"/>
          <p:cNvCxnSpPr>
            <a:endCxn id="1028" idx="0"/>
          </p:cNvCxnSpPr>
          <p:nvPr/>
        </p:nvCxnSpPr>
        <p:spPr>
          <a:xfrm rot="10800000" flipV="1">
            <a:off x="1471614" y="5500701"/>
            <a:ext cx="1671627" cy="18572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ввод/вывод в консоль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65" y="785794"/>
            <a:ext cx="7072330" cy="25241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5" y="3429000"/>
            <a:ext cx="3744667" cy="165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72065" y="4071942"/>
            <a:ext cx="701422" cy="6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29322" y="3286124"/>
            <a:ext cx="2002862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929190" y="5210763"/>
            <a:ext cx="3214678" cy="164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43372" y="5715017"/>
            <a:ext cx="701422" cy="6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285720" y="5857893"/>
            <a:ext cx="371477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Добавление комментариев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 в код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 flipV="1">
            <a:off x="2285984" y="3357562"/>
            <a:ext cx="928694" cy="42862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857488" y="3286124"/>
            <a:ext cx="2143140" cy="30777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Строковая переменная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/>
          <p:nvPr/>
        </p:nvCxnSpPr>
        <p:spPr>
          <a:xfrm rot="10800000" flipV="1">
            <a:off x="2357422" y="3929066"/>
            <a:ext cx="428628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2786050" y="3714752"/>
            <a:ext cx="2500330" cy="307777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Целочисленная переменная</a:t>
            </a: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27860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/>
              <a:t>Форматирование вывода</a:t>
            </a:r>
            <a:endParaRPr lang="ru-RU" sz="2400" b="1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 b="21427"/>
          <a:stretch>
            <a:fillRect/>
          </a:stretch>
        </p:blipFill>
        <p:spPr bwMode="auto">
          <a:xfrm>
            <a:off x="2643174" y="214290"/>
            <a:ext cx="6500826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929058" y="1071546"/>
            <a:ext cx="3368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Ввод данных в нужном формате</a:t>
            </a:r>
            <a:endParaRPr lang="ru-RU" dirty="0"/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1" y="1500174"/>
            <a:ext cx="2643175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2071678"/>
            <a:ext cx="264317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 российских данных часто встречается запятая: 1250,50.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по умолчанию ждёт точку, поэтому запятую нужно заменить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35727" y="1643051"/>
            <a:ext cx="6208274" cy="52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4143381"/>
            <a:ext cx="2928925" cy="17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Основные типы данных</a:t>
            </a:r>
            <a:endParaRPr lang="ru-RU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6791325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5643578"/>
            <a:ext cx="4286248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00496" y="5572140"/>
            <a:ext cx="857288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67500" y="1500174"/>
            <a:ext cx="24765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5143512"/>
            <a:ext cx="40481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Работа с математической библиотекой</a:t>
            </a:r>
            <a:br>
              <a:rPr lang="ru-RU" dirty="0" smtClean="0"/>
            </a:br>
            <a:r>
              <a:rPr lang="ru-RU" dirty="0" smtClean="0"/>
              <a:t>(Задание 1)</a:t>
            </a:r>
            <a:endParaRPr lang="ru-RU" dirty="0"/>
          </a:p>
        </p:txBody>
      </p:sp>
      <p:pic>
        <p:nvPicPr>
          <p:cNvPr id="3075" name="Picture 3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643338" y="1500174"/>
            <a:ext cx="5500662" cy="4125497"/>
          </a:xfrm>
          <a:prstGeom prst="rect">
            <a:avLst/>
          </a:prstGeom>
          <a:noFill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643182"/>
            <a:ext cx="3124200" cy="24860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1142984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Библиотека 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math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 является стандартной в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Python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 и содержит много полезных математических функций и констант.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 smtClean="0"/>
              <a:t>Работа с математической библиотекой</a:t>
            </a:r>
            <a:br>
              <a:rPr lang="ru-RU" sz="3600" dirty="0" smtClean="0"/>
            </a:br>
            <a:r>
              <a:rPr lang="ru-RU" sz="3600" dirty="0" smtClean="0"/>
              <a:t>(Задание 1)</a:t>
            </a:r>
            <a:endParaRPr lang="ru-RU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3929058" y="1357298"/>
            <a:ext cx="52149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Встроенный модуль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math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предоставляет набор функций для выполнения математических, тригонометрических и логарифмических операций.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1285860"/>
            <a:ext cx="3255174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29075" y="2714620"/>
            <a:ext cx="51149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Управляющие конструкции </a:t>
            </a:r>
            <a:br>
              <a:rPr lang="ru-RU" dirty="0" smtClean="0"/>
            </a:br>
            <a:r>
              <a:rPr lang="ru-RU" dirty="0" smtClean="0"/>
              <a:t>(Задание 2)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214422"/>
            <a:ext cx="7063432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Управляющие конструкции </a:t>
            </a:r>
            <a:br>
              <a:rPr lang="ru-RU" dirty="0" smtClean="0"/>
            </a:br>
            <a:r>
              <a:rPr lang="ru-RU" dirty="0" smtClean="0"/>
              <a:t>(Задание 2)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1085850"/>
            <a:ext cx="8172450" cy="577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Управляющие конструкции </a:t>
            </a:r>
            <a:br>
              <a:rPr lang="ru-RU" dirty="0" smtClean="0"/>
            </a:br>
            <a:r>
              <a:rPr lang="ru-RU" dirty="0" smtClean="0"/>
              <a:t>(Задание 2)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214422"/>
            <a:ext cx="7561992" cy="5386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214346" y="-142892"/>
            <a:ext cx="9572692" cy="1143000"/>
          </a:xfrm>
        </p:spPr>
        <p:txBody>
          <a:bodyPr>
            <a:normAutofit fontScale="90000"/>
          </a:bodyPr>
          <a:lstStyle/>
          <a:p>
            <a:r>
              <a:rPr lang="ru-RU" sz="3600" dirty="0" smtClean="0"/>
              <a:t>Работа с переменными для решения задач </a:t>
            </a:r>
            <a:br>
              <a:rPr lang="ru-RU" sz="3600" dirty="0" smtClean="0"/>
            </a:br>
            <a:r>
              <a:rPr lang="ru-RU" sz="3600" dirty="0" smtClean="0"/>
              <a:t>(Задание 3)</a:t>
            </a:r>
            <a:endParaRPr lang="ru-RU" sz="3600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0" y="2571744"/>
            <a:ext cx="9144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б) </a:t>
            </a: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В 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python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2000" b="1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можно ввести две переменные подряд через пробел с помощью 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split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0" y="770263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 smtClean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а) чтобы </a:t>
            </a:r>
            <a:r>
              <a:rPr lang="ru-RU" sz="2000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найти среднее арифметическое двух чисел, нужно сложить эти числа и результат разделить на 2.</a:t>
            </a:r>
          </a:p>
          <a:p>
            <a:pPr algn="just"/>
            <a:r>
              <a:rPr lang="ru-RU" sz="2000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Формула расчёта: (</a:t>
            </a:r>
            <a:r>
              <a:rPr lang="ru-RU" sz="2000" dirty="0" err="1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ru-RU" sz="2000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2000" dirty="0" err="1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2000" dirty="0">
                <a:solidFill>
                  <a:srgbClr val="323232"/>
                </a:solidFill>
                <a:latin typeface="Times New Roman" pitchFamily="18" charset="0"/>
                <a:cs typeface="Times New Roman" pitchFamily="18" charset="0"/>
              </a:rPr>
              <a:t>) / 2.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1571612"/>
            <a:ext cx="2730994" cy="976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3071810"/>
            <a:ext cx="7212491" cy="5000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00364" y="3571876"/>
            <a:ext cx="3223186" cy="897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28662" y="4786322"/>
            <a:ext cx="3576643" cy="1544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4500570"/>
            <a:ext cx="9144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в)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57158" y="6357958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Целочисленное деление (округление</a:t>
            </a:r>
            <a:r>
              <a:rPr kumimoji="0" lang="ru-RU" b="1" i="0" u="none" strike="noStrike" cap="none" normalizeH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 вниз</a:t>
            </a: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/>
          </a:p>
        </p:txBody>
      </p:sp>
      <p:pic>
        <p:nvPicPr>
          <p:cNvPr id="17415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000628" y="4857760"/>
            <a:ext cx="3295650" cy="147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5429256" y="6345816"/>
            <a:ext cx="2357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Остаток от деления</a:t>
            </a:r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Сложные условия (Задание 3)</a:t>
            </a:r>
            <a:endParaRPr lang="ru-RU" sz="3200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369117"/>
            <a:ext cx="6629415" cy="4488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00100" y="571480"/>
            <a:ext cx="7130065" cy="1071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8" y="1643050"/>
            <a:ext cx="32385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5804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Операторы цикла (Задания 4-6)</a:t>
            </a:r>
            <a:endParaRPr lang="ru-RU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85875"/>
            <a:ext cx="8429625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71454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Операторы цикла (Задания 4-6)</a:t>
            </a:r>
            <a:endParaRPr lang="ru-RU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071546"/>
            <a:ext cx="6742917" cy="56483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-285776"/>
            <a:ext cx="9144000" cy="1143000"/>
          </a:xfrm>
        </p:spPr>
        <p:txBody>
          <a:bodyPr>
            <a:normAutofit/>
          </a:bodyPr>
          <a:lstStyle/>
          <a:p>
            <a:r>
              <a:rPr lang="ru-RU" sz="3200" dirty="0" smtClean="0"/>
              <a:t>Операторы цикла (Задания 4-6)</a:t>
            </a:r>
            <a:endParaRPr lang="ru-RU" sz="32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71480"/>
            <a:ext cx="5429256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Цикл 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является наиболее часто используемым способом перебора элементов списка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 прост в использовании и позволяет легко итерировать по каждому элементу списка. Цикл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идеально подходит для ситуаций, когда известно количество итераций заранее, что делает его удобным для работы с фиксированными наборами данных.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40359" y="785794"/>
            <a:ext cx="3603641" cy="12691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23" name="Rectangle 3"/>
          <p:cNvSpPr>
            <a:spLocks noChangeArrowheads="1"/>
          </p:cNvSpPr>
          <p:nvPr/>
        </p:nvSpPr>
        <p:spPr bwMode="auto">
          <a:xfrm>
            <a:off x="0" y="2928934"/>
            <a:ext cx="5429256" cy="20313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Цикл </a:t>
            </a:r>
            <a:r>
              <a:rPr kumimoji="0" lang="ru-RU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while</a:t>
            </a:r>
            <a:r>
              <a:rPr kumimoji="0" lang="ru-RU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 позволяет выполнять перебор элементов списка до тех пор, пока выполняется определенное условие. Этот цикл полезен, когда необходимо контролировать условие завершения итерации.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этом примере цикл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продолжает выполняться до тех пор, пока значение переменной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меньше длины списка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my_list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86446" y="3000372"/>
            <a:ext cx="3357554" cy="1754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5572140"/>
            <a:ext cx="4214810" cy="923330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Разумеется, в тело цикла можно встраивать условия любого вида и сложности, а также другие циклы</a:t>
            </a:r>
            <a:endParaRPr kumimoji="0" 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14810" y="4994867"/>
            <a:ext cx="4929190" cy="18631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en-US" dirty="0" smtClean="0"/>
              <a:t>break </a:t>
            </a:r>
            <a:r>
              <a:rPr lang="ru-RU" dirty="0" smtClean="0"/>
              <a:t>и </a:t>
            </a:r>
            <a:r>
              <a:rPr lang="en-US" dirty="0" smtClean="0"/>
              <a:t>continue</a:t>
            </a:r>
            <a:r>
              <a:rPr lang="ru-RU" dirty="0" smtClean="0"/>
              <a:t> (Задания 4-6)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71480"/>
            <a:ext cx="9144000" cy="230832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используется для немедленного прекращения выполнения цикла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while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или цикла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Он прерывает выполнение текущего цикла и передаёт управление следующей инструкции после цикла. Например, в задачах поиска или сортировки, где после нахождения нужного элемента дальнейшее выполнение цикла не имеет смысла.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Оператор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continue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пропускает оставшуюся часть кода в текущей итерации цикла и переходит к следующей итерации. Его используют, чтобы при определённых условиях пропустить часть действий из тела цикла и сразу начать новое повторение.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004279"/>
            <a:ext cx="5414973" cy="3853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357166"/>
            <a:ext cx="8229600" cy="1143000"/>
          </a:xfrm>
        </p:spPr>
        <p:txBody>
          <a:bodyPr>
            <a:normAutofit/>
          </a:bodyPr>
          <a:lstStyle/>
          <a:p>
            <a:r>
              <a:rPr lang="ru-RU" sz="2700" dirty="0" smtClean="0"/>
              <a:t>основными элементами блок-схемы являются</a:t>
            </a:r>
            <a:r>
              <a:rPr lang="ru-RU" dirty="0" smtClean="0"/>
              <a:t>: 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142984"/>
            <a:ext cx="7598958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Блок-схема(Задание 6)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5"/>
          <p:cNvGrpSpPr/>
          <p:nvPr/>
        </p:nvGrpSpPr>
        <p:grpSpPr>
          <a:xfrm>
            <a:off x="714348" y="1285860"/>
            <a:ext cx="7567454" cy="5214974"/>
            <a:chOff x="1428728" y="1214422"/>
            <a:chExt cx="6219825" cy="4286280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28728" y="1214422"/>
              <a:ext cx="6219825" cy="2924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500166" y="4091002"/>
              <a:ext cx="6076950" cy="14097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7" name="Заголовок 1"/>
          <p:cNvSpPr txBox="1">
            <a:spLocks/>
          </p:cNvSpPr>
          <p:nvPr/>
        </p:nvSpPr>
        <p:spPr>
          <a:xfrm>
            <a:off x="428596" y="35716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7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основными элементами блок-схемы являются</a:t>
            </a:r>
            <a:r>
              <a:rPr kumimoji="0" lang="ru-RU" sz="4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: 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457200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Блок-схема(Задание 6)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214422"/>
            <a:ext cx="6557968" cy="5464973"/>
          </a:xfrm>
          <a:prstGeom prst="rect">
            <a:avLst/>
          </a:prstGeom>
          <a:noFill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Блок-схема(Задание 6)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142984"/>
            <a:ext cx="7858180" cy="5554980"/>
          </a:xfrm>
          <a:prstGeom prst="rect">
            <a:avLst/>
          </a:prstGeom>
          <a:noFill/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Блок-схема(Задание 6)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785794"/>
          <a:ext cx="3286116" cy="5553075"/>
        </p:xfrm>
        <a:graphic>
          <a:graphicData uri="http://schemas.openxmlformats.org/presentationml/2006/ole">
            <p:oleObj spid="_x0000_s1026" name="Точечный рисунок" r:id="rId3" imgW="4667902" imgH="5582429" progId="PBrush">
              <p:embed/>
            </p:oleObj>
          </a:graphicData>
        </a:graphic>
      </p:graphicFrame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3357554" y="785794"/>
          <a:ext cx="2217906" cy="5476872"/>
        </p:xfrm>
        <a:graphic>
          <a:graphicData uri="http://schemas.openxmlformats.org/presentationml/2006/ole">
            <p:oleObj spid="_x0000_s1027" name="Точечный рисунок" r:id="rId4" imgW="2142857" imgH="5266667" progId="PBrush">
              <p:embed/>
            </p:oleObj>
          </a:graphicData>
        </a:graphic>
      </p:graphicFrame>
      <p:pic>
        <p:nvPicPr>
          <p:cNvPr id="8" name="Рисунок 7"/>
          <p:cNvPicPr/>
          <p:nvPr/>
        </p:nvPicPr>
        <p:blipFill>
          <a:blip r:embed="rId5"/>
          <a:stretch>
            <a:fillRect/>
          </a:stretch>
        </p:blipFill>
        <p:spPr bwMode="auto">
          <a:xfrm>
            <a:off x="5731720" y="857232"/>
            <a:ext cx="3412280" cy="55427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457200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Блок-схема: примеры (Задание 6)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571480"/>
            <a:ext cx="7901160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Заголовок 1"/>
          <p:cNvSpPr txBox="1">
            <a:spLocks/>
          </p:cNvSpPr>
          <p:nvPr/>
        </p:nvSpPr>
        <p:spPr>
          <a:xfrm>
            <a:off x="457200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Структуры данных (Задание 7)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5934670"/>
            <a:ext cx="90010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Дополнительный материал</a:t>
            </a: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https://ppt-online.org/1262183?ysclid=mtvoxp88my795753433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3500438"/>
            <a:ext cx="9144000" cy="13573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567638"/>
            <a:ext cx="3286148" cy="932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5" y="3643313"/>
            <a:ext cx="701422" cy="6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5429255" y="3571875"/>
            <a:ext cx="235745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0" lang="en-US" sz="5400" b="1" i="0" u="none" strike="noStrike" cap="none" normalizeH="0" baseline="0" dirty="0" smtClean="0">
                <a:ln>
                  <a:noFill/>
                </a:ln>
                <a:solidFill>
                  <a:srgbClr val="323232"/>
                </a:solidFill>
                <a:effectLst/>
                <a:latin typeface="Times New Roman" pitchFamily="18" charset="0"/>
                <a:cs typeface="Times New Roman" pitchFamily="18" charset="0"/>
              </a:rPr>
              <a:t>True</a:t>
            </a:r>
            <a:endParaRPr lang="ru-RU" sz="54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472" y="2000240"/>
            <a:ext cx="7622435" cy="7858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571480"/>
            <a:ext cx="9144000" cy="1477328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Список 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упорядоченная коллекция элементов, которая позволяет хранить несколько значений в одной переменной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Каждый элемент — это ссылка на данные об этом элементе в памяти компьютера. Поэтому элементы в списках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могут быть любого размера и типа — число, строка или ещё один список.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714612" y="2643182"/>
            <a:ext cx="3310932" cy="824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2714612" y="4500570"/>
            <a:ext cx="3244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 состоит ли строка из цифр?</a:t>
            </a:r>
            <a:endParaRPr lang="ru-RU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5103674"/>
            <a:ext cx="4572000" cy="1754326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Динамическая типизация объектов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тип объекта может произвольно меняться по ходу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выполнения кода, когда ссылка начинает ссылаться на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другой объект (например, в результате операции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присвоения).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5715016"/>
            <a:ext cx="701422" cy="6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286380" y="5357826"/>
            <a:ext cx="3700466" cy="1061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Заголовок 1"/>
          <p:cNvSpPr txBox="1">
            <a:spLocks/>
          </p:cNvSpPr>
          <p:nvPr/>
        </p:nvSpPr>
        <p:spPr>
          <a:xfrm>
            <a:off x="714348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Списки (Задание 7)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18"/>
          <p:cNvSpPr/>
          <p:nvPr/>
        </p:nvSpPr>
        <p:spPr>
          <a:xfrm>
            <a:off x="0" y="2714620"/>
            <a:ext cx="4357686" cy="4143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571480"/>
            <a:ext cx="6872307" cy="1995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285720" y="2643182"/>
            <a:ext cx="400052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Некоторые методы списков: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append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добавляет элемент в конец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списка;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reverse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– разворачивает список;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- возвращает количество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элементов со значением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4572000" y="3500438"/>
            <a:ext cx="4572000" cy="3293209"/>
          </a:xfrm>
          <a:prstGeom prst="rect">
            <a:avLst/>
          </a:prstGeom>
          <a:solidFill>
            <a:schemeClr val="bg2"/>
          </a:solidFill>
        </p:spPr>
        <p:txBody>
          <a:bodyPr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Несколько способов удалить элемент из списка в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remove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(). Удаляет первый совпадающий элемент из списка по указанному значению. Синтаксис: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list.remove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element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pop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(). Удаляет элемент по указанному индексу и возвращает его. Синтаксис: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list.pop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Метод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clear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(). Удаляет все элементы из списка. Синтаксис: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list.clear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Ключевое слово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Позволяет удалить элемент по указанному индексу (или диапазону индексов). Синтаксис: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del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[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index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]. 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352925"/>
            <a:ext cx="3638550" cy="250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457200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ru-RU" sz="4400" dirty="0" smtClean="0"/>
              <a:t>Списки (Задание 7)</a:t>
            </a:r>
            <a:endParaRPr lang="ru-RU" sz="4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1476400"/>
            <a:ext cx="7289886" cy="53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28596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Кортежи(Задание 7)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505406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Кортеж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tuple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представляет последовательность элементов, которая во многом похожа на список за тем исключением, что кортеж является неизменяемым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immutable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типом. Поэтому мы не можем добавлять или удалять элементы в кортеже, изменять его.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952660"/>
            <a:ext cx="6545558" cy="4905340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150017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https://metanit.com/python/tutorial/3.3.php?ysclid=mtvpkj4ryf952192747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42721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Словари (часто их называют ассоциативными массивами)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неупорядоченные коллекции пар «ключ — значение». Они позволяют быстро получать значения по уникальному ключу, что делает их очень удобными для задач, где нужно искать данные по нечисловому идентификатору (например, по названию города или номеру телефона).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500034" y="-35720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Словари(Задание 7)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500174"/>
            <a:ext cx="9144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https://metanit.com/python/tutorial/3.4.php?ysclid=mtvpsovcgu52685479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442721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Множества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неупорядоченные коллекции уникальных элементов. Они основаны на математической концепции множеств и предназначены для хранения данных, где критически важна уникальность и быстрый поиск.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500034" y="-35720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400" dirty="0" smtClean="0">
                <a:latin typeface="+mj-lt"/>
                <a:ea typeface="+mj-ea"/>
                <a:cs typeface="+mj-cs"/>
              </a:rPr>
              <a:t>Множества</a:t>
            </a: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(Задание 7)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7106" name="Picture 2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2000240"/>
            <a:ext cx="7323726" cy="41052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85776"/>
            <a:ext cx="8229600" cy="1143000"/>
          </a:xfrm>
        </p:spPr>
        <p:txBody>
          <a:bodyPr/>
          <a:lstStyle/>
          <a:p>
            <a:r>
              <a:rPr lang="ru-RU" dirty="0" smtClean="0"/>
              <a:t>Функции в </a:t>
            </a:r>
            <a:r>
              <a:rPr lang="en-US" dirty="0" smtClean="0"/>
              <a:t>Python</a:t>
            </a:r>
            <a:r>
              <a:rPr lang="ru-RU" dirty="0" smtClean="0"/>
              <a:t> (Задание 8)</a:t>
            </a:r>
            <a:endParaRPr lang="ru-RU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4357694"/>
            <a:ext cx="5995051" cy="2500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572042"/>
            <a:ext cx="4929190" cy="378565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— </a:t>
            </a:r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ключевое слово, которое обозначает начало определения функции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. В строке </a:t>
            </a:r>
            <a:r>
              <a:rPr lang="ru-RU" sz="1600" dirty="0" err="1">
                <a:latin typeface="Times New Roman" pitchFamily="18" charset="0"/>
                <a:cs typeface="Times New Roman" pitchFamily="18" charset="0"/>
              </a:rPr>
              <a:t>def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 содержатся имя функции и её параметры: </a:t>
            </a:r>
          </a:p>
          <a:p>
            <a:pPr algn="just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Имя функции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 — название, которое будет использовано для определения функции и её вызова. Название прописывается с маленькой буквы. Если в нём несколько слов, их нужно разделять нижним подчёркиванием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1600" b="1" dirty="0">
                <a:latin typeface="Times New Roman" pitchFamily="18" charset="0"/>
                <a:cs typeface="Times New Roman" pitchFamily="18" charset="0"/>
              </a:rPr>
              <a:t>Параметры функции (аргументы)</a:t>
            </a:r>
            <a:r>
              <a:rPr lang="ru-RU" sz="1600" dirty="0">
                <a:latin typeface="Times New Roman" pitchFamily="18" charset="0"/>
                <a:cs typeface="Times New Roman" pitchFamily="18" charset="0"/>
              </a:rPr>
              <a:t> — переменные, которые нужны для создания функции. Если переменных несколько, их нужно прописать через запятую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Важно соблюдать правила форматирования, включая скобки, отступы и двоеточия. Иначе программа вернёт ошибку.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34004" y="1214422"/>
            <a:ext cx="4009996" cy="2325895"/>
          </a:xfrm>
          <a:prstGeom prst="rect">
            <a:avLst/>
          </a:prstGeom>
          <a:noFill/>
          <a:ln w="9525">
            <a:solidFill>
              <a:schemeClr val="accent1">
                <a:shade val="50000"/>
              </a:schemeClr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785794"/>
            <a:ext cx="7572428" cy="2036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3000372"/>
            <a:ext cx="6786578" cy="2658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564357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Дополнительные материалы по работе с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Tkinter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https://natalia.aclas.ru/wp-content/uploads/2021/10/Python-tk.pdf?ysclid=mtvo4aoky1698679734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Графический интерфейс (Задание 8)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Графический интерфейс: примеры (Задание 8)</a:t>
            </a:r>
            <a:endParaRPr kumimoji="0" lang="ru-RU" sz="3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642918"/>
            <a:ext cx="6858046" cy="307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246920"/>
            <a:ext cx="3857620" cy="3611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643306" y="4000504"/>
            <a:ext cx="5500694" cy="1935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 txBox="1">
            <a:spLocks/>
          </p:cNvSpPr>
          <p:nvPr/>
        </p:nvSpPr>
        <p:spPr>
          <a:xfrm>
            <a:off x="0" y="-71454"/>
            <a:ext cx="91440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Графический интерфейс: примеры (Задание 8)</a:t>
            </a:r>
            <a:endParaRPr kumimoji="0" lang="ru-RU" sz="3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500042"/>
            <a:ext cx="6160949" cy="6143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450061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Модуль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отличный инструмент для тех, кто начинает изучать алгоритмизацию и программирование и хочет видеть результаты: с его помощью можно сразу видеть результат своих команд в виде рисунка.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 управляете виртуальной «черепашкой»: даёте ей команды — она движется, поворачивает, поднимает или опускает «перо», — и на экране появляется изображение. Изначально черепашка находится в центре окна (в точке (0, 0)), смотрит вправо, перо опущено.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Сначала нужно импортировать модуль. Есть несколько вариантов: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тогда к функциям нужно обращаться через имя модуля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turtle.forward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(100)).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from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* — импортируются все функции сразу, можно вызывать их напрямую.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import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можно использовать псевдоним, чтобы писать короче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t.forward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(100)).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1670" y="3826398"/>
            <a:ext cx="5389514" cy="3031602"/>
          </a:xfrm>
          <a:prstGeom prst="rect">
            <a:avLst/>
          </a:prstGeom>
          <a:noFill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14290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Turtle </a:t>
            </a:r>
            <a:r>
              <a:rPr lang="ru-RU" sz="4400" dirty="0" smtClean="0">
                <a:latin typeface="+mj-lt"/>
                <a:ea typeface="+mj-ea"/>
                <a:cs typeface="+mj-cs"/>
              </a:rPr>
              <a:t>в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Python</a:t>
            </a: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(Задание 9)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785794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Важное правило: в конце программы обязательно добавьте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turtle.done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(). Эта функция запускает цикл обработки событий и блокирует выполнение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пока пользователь не закроет окно с рисунком. Если её не написать, окно откроется и сразу закроется.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857364"/>
            <a:ext cx="9144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помощью этих команд вы сможете управлять движением и рисованием: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forward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движение вперёд на заданное расстояние (оставляет линию).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backward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distance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движение назад.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поворот направо на указанный угол (в градусах).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left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angle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поворот налево.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penup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поднимает перо (линия не рисуется).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pendown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опускает перо (линия появляется при движении).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goto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перемещение в заданную точку с координатами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без рисования линии.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circle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radius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рисование окружности заданного радиуса. Можно задать и часть окружности (например,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circle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(100, 180) — полуокружность).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или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pencolor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установка цвета пера и, если нужно, цвета заливки. Цвет можно указать строкой (например,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blue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») или HTML-кодом (например, «#FF0000»).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pensize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width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установка толщины линии.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speed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speed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настройка скорости движения (от 1 — медленно до 10 — быстро).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begin_fill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end_fill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включение и отключение заливки замкнутых фигур.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clear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очистка области рисования. 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write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text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вывод текста на экран.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14290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Turtle </a:t>
            </a:r>
            <a:r>
              <a:rPr lang="ru-RU" sz="4400" dirty="0" smtClean="0">
                <a:latin typeface="+mj-lt"/>
                <a:ea typeface="+mj-ea"/>
                <a:cs typeface="+mj-cs"/>
              </a:rPr>
              <a:t>в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Python</a:t>
            </a: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(Задание 9)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2700209"/>
            <a:ext cx="4429124" cy="4157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992" y="500042"/>
            <a:ext cx="5715008" cy="357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68" y="4733925"/>
            <a:ext cx="20669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457200" y="-142900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400" dirty="0" smtClean="0">
                <a:latin typeface="+mj-lt"/>
                <a:ea typeface="+mj-ea"/>
                <a:cs typeface="+mj-cs"/>
              </a:rPr>
              <a:t>Turtle </a:t>
            </a:r>
            <a:r>
              <a:rPr lang="ru-RU" sz="4400" dirty="0" smtClean="0">
                <a:latin typeface="+mj-lt"/>
                <a:ea typeface="+mj-ea"/>
                <a:cs typeface="+mj-cs"/>
              </a:rPr>
              <a:t>в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Python</a:t>
            </a: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(Задание 9)</a:t>
            </a:r>
            <a:endParaRPr kumimoji="0" lang="ru-R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999</Words>
  <PresentationFormat>Экран (4:3)</PresentationFormat>
  <Paragraphs>119</Paragraphs>
  <Slides>36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8" baseType="lpstr">
      <vt:lpstr>Тема Office</vt:lpstr>
      <vt:lpstr>Точечный рисунок</vt:lpstr>
      <vt:lpstr>Теоретический материал для выполнения контрольной работы</vt:lpstr>
      <vt:lpstr>Слайд 2</vt:lpstr>
      <vt:lpstr>Слайд 3</vt:lpstr>
      <vt:lpstr>Слайд 4</vt:lpstr>
      <vt:lpstr>ввод/вывод в консоль</vt:lpstr>
      <vt:lpstr>Слайд 6</vt:lpstr>
      <vt:lpstr>Основные типы данных</vt:lpstr>
      <vt:lpstr>Работа с математической библиотекой (Задание 1)</vt:lpstr>
      <vt:lpstr>Слайд 9</vt:lpstr>
      <vt:lpstr>Управляющие конструкции  (Задание 2)</vt:lpstr>
      <vt:lpstr>Управляющие конструкции  (Задание 2)</vt:lpstr>
      <vt:lpstr>Управляющие конструкции  (Задание 2)</vt:lpstr>
      <vt:lpstr>Работа с переменными для решения задач  (Задание 3)</vt:lpstr>
      <vt:lpstr>Сложные условия (Задание 3)</vt:lpstr>
      <vt:lpstr>Операторы цикла (Задания 4-6)</vt:lpstr>
      <vt:lpstr>Операторы цикла (Задания 4-6)</vt:lpstr>
      <vt:lpstr>Операторы цикла (Задания 4-6)</vt:lpstr>
      <vt:lpstr>break и continue (Задания 4-6)</vt:lpstr>
      <vt:lpstr>основными элементами блок-схемы являются: </vt:lpstr>
      <vt:lpstr>Слайд 20</vt:lpstr>
      <vt:lpstr>Слайд 21</vt:lpstr>
      <vt:lpstr>Слайд 22</vt:lpstr>
      <vt:lpstr>Слайд 23</vt:lpstr>
      <vt:lpstr>Слайд 24</vt:lpstr>
      <vt:lpstr>Слайд 25</vt:lpstr>
      <vt:lpstr>Слайд 26</vt:lpstr>
      <vt:lpstr>Слайд 27</vt:lpstr>
      <vt:lpstr>Слайд 28</vt:lpstr>
      <vt:lpstr>Слайд 29</vt:lpstr>
      <vt:lpstr>Функции в Python (Задание 8)</vt:lpstr>
      <vt:lpstr>Слайд 31</vt:lpstr>
      <vt:lpstr>Слайд 32</vt:lpstr>
      <vt:lpstr>Слайд 33</vt:lpstr>
      <vt:lpstr>Слайд 34</vt:lpstr>
      <vt:lpstr>Слайд 35</vt:lpstr>
      <vt:lpstr>Слайд 36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11</cp:revision>
  <dcterms:created xsi:type="dcterms:W3CDTF">2026-09-10T14:49:01Z</dcterms:created>
  <dcterms:modified xsi:type="dcterms:W3CDTF">2026-09-13T08:41:58Z</dcterms:modified>
</cp:coreProperties>
</file>