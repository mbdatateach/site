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4" r:id="rId5"/>
    <p:sldId id="266" r:id="rId6"/>
    <p:sldId id="259" r:id="rId7"/>
    <p:sldId id="278" r:id="rId8"/>
    <p:sldId id="267" r:id="rId9"/>
    <p:sldId id="277" r:id="rId10"/>
    <p:sldId id="268" r:id="rId11"/>
    <p:sldId id="269" r:id="rId12"/>
    <p:sldId id="272" r:id="rId13"/>
    <p:sldId id="273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FF"/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umpics.ru/calculation-annuity-payment-excel/?ysclid=m74sdzebe9913672666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Расчеты</a:t>
            </a:r>
            <a:r>
              <a:rPr lang="en-US" dirty="0" smtClean="0"/>
              <a:t> </a:t>
            </a:r>
            <a:r>
              <a:rPr lang="ru-RU" dirty="0" smtClean="0"/>
              <a:t>в </a:t>
            </a:r>
            <a:r>
              <a:rPr lang="en-US" dirty="0" smtClean="0"/>
              <a:t>Excel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-32" y="2143140"/>
            <a:ext cx="9144000" cy="27860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00042"/>
            <a:ext cx="9144000" cy="1571636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50004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 БС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рассчитывает будущую стоимость инвестиций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при условии, что процентная ставка является константой (не меняется с течением времени).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Пример использования: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помощью функции БС можно узнать, какой будет сумма вклада через определённое время.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2071678"/>
            <a:ext cx="91439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Её аргументами является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процентная ставка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 период («Ставка»);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общее количество периодов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в случае кредита на 5 лет и ежемесячных платежах, аргумент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будет равен 5*12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постоянная выплата за каждый период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 – если выплата за период является неизвестной величиной, аргумент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принимать значение 0, но при этом следующий аргумент задается явно.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Приведенная стоимость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– Стоимость на текущий момент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- срок выплаты. Если 0 – платеж должен быть произведен в конце периода. Если значение аргумента равно 1, платеж должен быть произведен в начале периода.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143512"/>
            <a:ext cx="91439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Если совсем простыми словами,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возвращает то сколько получится, если уже имея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на своем счёте и внося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за каждый из 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получится при условии, что банк ещё и начисляет процент на Ваши деньги по ставке за каждый период (</a:t>
            </a:r>
            <a:r>
              <a:rPr lang="ru-RU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5572140"/>
            <a:ext cx="9144000" cy="128586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564357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Единицы измерения аргументов "ставка" и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 должны быть согласованы между собой: используйте N%/12 для аргумента "ставка" и N*12 для аргумента "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", если речь идет о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ежемесячных платежах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95718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вкладчик,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как в нашей задаче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открыл вклад (например, на 100000 рублей) и больше его не трогает, 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остается нулем,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(общая сумма, на основе которой будут считаться дальнейшие денежные выплаты) будет равна -100000.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Пс</a:t>
            </a:r>
            <a:endParaRPr lang="ru-RU" sz="2400" b="1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496"/>
            <a:ext cx="23241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2143116"/>
            <a:ext cx="55530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Скругленный прямоугольник 8"/>
          <p:cNvSpPr/>
          <p:nvPr/>
        </p:nvSpPr>
        <p:spPr>
          <a:xfrm>
            <a:off x="3857620" y="4857760"/>
            <a:ext cx="78581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100010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 если, например вкладчик открывает вклад на 12 месяцев под 12%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годовых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собирается каждый месяц  вносить по 1000 рублей, параметр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будет равняться -1000 (знаком минус показывается, что эти деньги нужно отдавать), тогда формула БС выглядит так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blog.sf.education/wp-content/uploads/2020/04/14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500306"/>
            <a:ext cx="5605450" cy="3799571"/>
          </a:xfrm>
          <a:prstGeom prst="rect">
            <a:avLst/>
          </a:prstGeom>
          <a:noFill/>
        </p:spPr>
      </p:pic>
      <p:sp>
        <p:nvSpPr>
          <p:cNvPr id="15" name="Прямоугольник 14"/>
          <p:cNvSpPr/>
          <p:nvPr/>
        </p:nvSpPr>
        <p:spPr>
          <a:xfrm>
            <a:off x="785786" y="500042"/>
            <a:ext cx="7715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Пример применения аргумента </a:t>
            </a:r>
            <a:r>
              <a:rPr lang="ru-RU" sz="2400" b="1" dirty="0" err="1" smtClean="0"/>
              <a:t>Плт</a:t>
            </a:r>
            <a:endParaRPr lang="ru-RU" sz="24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214678" y="5643578"/>
            <a:ext cx="642942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71480"/>
            <a:ext cx="9144000" cy="121444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62300"/>
            <a:ext cx="8991600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1857364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 облигации номиналом 50000 руб., выпущенной 6 лет, предусмотрен следующий порядок начисления процентов: в первый год — 10%, в следующие 2 года — 20%, в оставшиеся три года — 25%. Определить будущую стоимость облигации.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БЗРАСПИС используется для вычисления будущей стоимости инвестиции с переменной процентной ставкой.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Первичное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Стоимость инвестиции на текущий момент.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обязательный аргумент. Массив применяемых процентных ставок.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357166"/>
            <a:ext cx="9144000" cy="3571900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143380"/>
            <a:ext cx="9144000" cy="13573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572140"/>
            <a:ext cx="9144000" cy="1214422"/>
          </a:xfrm>
          <a:prstGeom prst="rect">
            <a:avLst/>
          </a:prstGeom>
          <a:solidFill>
            <a:srgbClr val="E2EEEE"/>
          </a:solidFill>
          <a:ln>
            <a:solidFill>
              <a:srgbClr val="E2E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57166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рассчитать сумму, которую нужно платить периодически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погашения ссуды с учётом процентных переплат за один расчётный период. Предполагается, что объём платежей и ставка не меняются. У функции 3 обязательных аргумента и 2 — необязательных: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Ставка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процент, на который возрастает сумма платежа за один период.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количество выплат или периодов.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общая сумма, которую нужно выплатить.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показывает, сколько останется выплатить после последней выплаты. По умолчанию подразумевается 0 (то есть после последней выплаты стоимость ссуды составит 0 руб.).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Тип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аргумент, который принимает значения: 0 — когда платежи совершаются в конце периода, 1 — если в начале.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вычисляет ту часть очередного платежа, которая приходится на выплату самого кредита (тела кредита)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У функции такие же аргументы, как и у ПЛТ: Ставка,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БС, Тип, ещё добавляется обязательный аргумент — Период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помогает высчитать размер выплат по процентам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выбранный период, предполагая неизменяемыми размер платежей и ставку. У функции такие же аргументы, как и у ОСПЛТ, но ещё есть обязательный параметр — Номер периода (число от 1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Кпер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ОСПЛТ, ПРПЛТ и ПЛТ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финансовые функции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помогают рассчитать различные аспекты платежей по кредиту.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нашем случае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1246046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таком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000372"/>
            <a:ext cx="757242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Прямая со стрелкой 12"/>
          <p:cNvCxnSpPr/>
          <p:nvPr/>
        </p:nvCxnSpPr>
        <p:spPr>
          <a:xfrm rot="16200000" flipV="1">
            <a:off x="3143240" y="3500438"/>
            <a:ext cx="114300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571876"/>
            <a:ext cx="1885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 flipH="1" flipV="1">
            <a:off x="5250661" y="3964785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15250" y="3500438"/>
            <a:ext cx="14287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Прямая со стрелкой 18"/>
          <p:cNvCxnSpPr/>
          <p:nvPr/>
        </p:nvCxnSpPr>
        <p:spPr>
          <a:xfrm rot="5400000" flipH="1" flipV="1">
            <a:off x="7822429" y="3964785"/>
            <a:ext cx="500066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6200000" flipV="1">
            <a:off x="4500562" y="5429264"/>
            <a:ext cx="57150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5400000" flipH="1" flipV="1">
            <a:off x="4929190" y="5500702"/>
            <a:ext cx="642942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V="1">
            <a:off x="5072066" y="5429264"/>
            <a:ext cx="178595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4643438" y="6000768"/>
            <a:ext cx="954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СУММ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-14290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42860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Аннуитетный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платёж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тип расчёта по кредиту, при котором общая сумма задолженности, включая тело долга и начисленные за расчётный период пользования кредитом проценты, разделены на равные части. </a:t>
            </a:r>
            <a:r>
              <a:rPr lang="ru-RU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Заёмщик раз в месяц вносит одну и ту же сумму до тех пор, пока полностью не рассчитается с банком.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3071810"/>
            <a:ext cx="4257659" cy="3371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1582341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аннуитетном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графике погашения в состав каждого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входит сумма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за период 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основного долга. По мере внесения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основной долг уменьшается, а значит — сокращается сумма начисляемых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Поэтому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начале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действия договора в составе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ежемесячного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платежа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бóльшую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составляют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срока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основной долг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5929330"/>
            <a:ext cx="23907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22532" idx="0"/>
          </p:cNvCxnSpPr>
          <p:nvPr/>
        </p:nvCxnSpPr>
        <p:spPr>
          <a:xfrm rot="5400000" flipH="1" flipV="1">
            <a:off x="2562207" y="3348033"/>
            <a:ext cx="2428892" cy="273370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29425" y="5715016"/>
            <a:ext cx="2314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stCxn id="22533" idx="0"/>
          </p:cNvCxnSpPr>
          <p:nvPr/>
        </p:nvCxnSpPr>
        <p:spPr>
          <a:xfrm rot="16200000" flipV="1">
            <a:off x="5886448" y="3614750"/>
            <a:ext cx="2143140" cy="205739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32" y="6488668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hlinkClick r:id="rId5"/>
              </a:rPr>
              <a:t>https://lumpics.ru/calculation-annuity-payment-excel/?ysclid=m74sdzebe9913672666</a:t>
            </a:r>
            <a:endParaRPr lang="en-US" b="1" dirty="0" smtClean="0"/>
          </a:p>
          <a:p>
            <a:pPr algn="ctr"/>
            <a:endParaRPr lang="ru-RU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214554"/>
            <a:ext cx="60007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Копирование таблиц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5400000" flipH="1" flipV="1">
            <a:off x="321439" y="4607727"/>
            <a:ext cx="3000396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596" y="6027003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Выделить столбец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" y="714356"/>
            <a:ext cx="9143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копировании таблиц, например, из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MS Word,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денежный формат может скопировать как текстовый – с буквами «р.»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Можно достаточно быстро удалить лишние символы из целого столбца с помощью функционала «Найти и заменить»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6200000" flipV="1">
            <a:off x="5179223" y="5036355"/>
            <a:ext cx="85725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29190" y="5786454"/>
            <a:ext cx="242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Ctrl+F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(a)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“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”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6286544" cy="252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>
            <a:off x="3357554" y="1643050"/>
            <a:ext cx="3786214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15140" y="2857496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Синтаксис функции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4071942"/>
            <a:ext cx="9143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И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проверяет несколько условий и возвращает значение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только если все условия выполнены.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Функция СУММЕСЛИ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СУММЕСЛИ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функция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 помощью которой можно суммировать не все значения выбранного диапазона, а только те, что соответствуют одному заданному пользователем условию.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Синтаксис функции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СУММЕСЛИ (диапазон; критерий;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диапазон_суммирования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Аргументы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Диапазон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(обязательный) — ячейки таблицы, в которых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искать критерий пользователя.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Критерий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(обязательный) — значение, которое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должен найти в выбранном диапазоне. 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Диапазон суммирования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диапазон ячеек, которые нужно суммировать.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3442360"/>
            <a:ext cx="5257782" cy="34156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latin typeface="Cambria" pitchFamily="18" charset="0"/>
              </a:rPr>
              <a:t>Задание 3</a:t>
            </a:r>
            <a:r>
              <a:rPr lang="en-US" sz="3200" b="1" dirty="0" smtClean="0">
                <a:latin typeface="Cambria" pitchFamily="18" charset="0"/>
              </a:rPr>
              <a:t> (</a:t>
            </a:r>
            <a:r>
              <a:rPr lang="ru-RU" sz="3200" b="1" dirty="0" smtClean="0">
                <a:latin typeface="Cambria" pitchFamily="18" charset="0"/>
              </a:rPr>
              <a:t>б</a:t>
            </a:r>
            <a:r>
              <a:rPr lang="en-US" sz="3200" b="1" dirty="0" smtClean="0">
                <a:latin typeface="Cambria" pitchFamily="18" charset="0"/>
              </a:rPr>
              <a:t>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823383"/>
            <a:ext cx="3517532" cy="2249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1" idx="1"/>
          </p:cNvCxnSpPr>
          <p:nvPr/>
        </p:nvCxnSpPr>
        <p:spPr>
          <a:xfrm rot="10800000">
            <a:off x="4071934" y="2571744"/>
            <a:ext cx="1714512" cy="8562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86446" y="2643182"/>
            <a:ext cx="2428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Диапазон исходной таблицы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 заголовками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72000" y="4396941"/>
            <a:ext cx="457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После создания сводной таблицы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откроет панель «Поля сводной таблицы»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Здесь можно выбрать, какие данные включить в сводную таблицу, перетаскивая поля из списка в одну из четырёх областей: «Строки», «Столбцы», «Значения» и «Фильтры».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357694"/>
            <a:ext cx="4581456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0" y="571480"/>
            <a:ext cx="7143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Сводные таблицы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инструмент для анализа 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собирают информацию из обычных таблиц, обрабатывают её, группируют в блоки, проводят необходимые вычисления и показывают итог в виде наглядного отчёта.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285728"/>
            <a:ext cx="2057400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7" y="285729"/>
            <a:ext cx="1932782" cy="228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0"/>
            <a:ext cx="221413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3200" b="1" dirty="0" smtClean="0">
                <a:latin typeface="Cambria" pitchFamily="18" charset="0"/>
              </a:rPr>
              <a:t>Задание 3</a:t>
            </a:r>
            <a:r>
              <a:rPr lang="en-US" sz="3200" b="1" dirty="0" smtClean="0">
                <a:latin typeface="Cambria" pitchFamily="18" charset="0"/>
              </a:rPr>
              <a:t> (</a:t>
            </a:r>
            <a:r>
              <a:rPr lang="ru-RU" sz="3200" b="1" dirty="0" smtClean="0">
                <a:latin typeface="Cambria" pitchFamily="18" charset="0"/>
              </a:rPr>
              <a:t>б</a:t>
            </a:r>
            <a:r>
              <a:rPr lang="en-US" sz="3200" b="1" dirty="0" smtClean="0">
                <a:latin typeface="Cambria" pitchFamily="18" charset="0"/>
              </a:rPr>
              <a:t>)</a:t>
            </a:r>
          </a:p>
        </p:txBody>
      </p:sp>
      <p:cxnSp>
        <p:nvCxnSpPr>
          <p:cNvPr id="9" name="Прямая со стрелкой 8"/>
          <p:cNvCxnSpPr>
            <a:stCxn id="12" idx="1"/>
          </p:cNvCxnSpPr>
          <p:nvPr/>
        </p:nvCxnSpPr>
        <p:spPr>
          <a:xfrm rot="10800000">
            <a:off x="1071556" y="714356"/>
            <a:ext cx="1500181" cy="14365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71736" y="1643050"/>
            <a:ext cx="3143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выборе данных будет формироваться таблица в выбранном диапазоне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 flipV="1">
            <a:off x="1285852" y="4714884"/>
            <a:ext cx="1500198" cy="1071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71406" y="3714752"/>
            <a:ext cx="2286016" cy="3143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>
            <a:stCxn id="12" idx="3"/>
          </p:cNvCxnSpPr>
          <p:nvPr/>
        </p:nvCxnSpPr>
        <p:spPr>
          <a:xfrm flipV="1">
            <a:off x="5715008" y="1433490"/>
            <a:ext cx="428628" cy="71739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2714620"/>
            <a:ext cx="4528316" cy="3371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4071934" y="5842337"/>
            <a:ext cx="50720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: созданные сводные таблицы можно визуализировать и фильтровать также, как и обычные данные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43108" y="3000372"/>
            <a:ext cx="2000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Выбранные значения заносятся сюда. Их можно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перетаскивать мышкой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479</Words>
  <Application>Microsoft Office PowerPoint</Application>
  <PresentationFormat>Экран (4:3)</PresentationFormat>
  <Paragraphs>67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Практическая работа  Расчеты в Excel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52</cp:revision>
  <dcterms:created xsi:type="dcterms:W3CDTF">2025-01-01T12:55:25Z</dcterms:created>
  <dcterms:modified xsi:type="dcterms:W3CDTF">2026-03-26T18:43:04Z</dcterms:modified>
</cp:coreProperties>
</file>