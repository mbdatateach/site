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9" r:id="rId5"/>
    <p:sldId id="258" r:id="rId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EEEE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aximized">
    <p:restoredLeft sz="34587" autoAdjust="0"/>
    <p:restoredTop sz="94659" autoAdjust="0"/>
  </p:normalViewPr>
  <p:slideViewPr>
    <p:cSldViewPr>
      <p:cViewPr>
        <p:scale>
          <a:sx n="100" d="100"/>
          <a:sy n="100" d="100"/>
        </p:scale>
        <p:origin x="-1860" y="-2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01.03.2026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01.03.2026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01.03.2026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01.03.2026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01.03.2026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01.03.2026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1DBB08-F6AD-4B9E-A2D8-7F4CDC30666D}" type="datetimeFigureOut">
              <a:rPr lang="ru-RU" smtClean="0"/>
              <a:pPr/>
              <a:t>01.03.2026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lumpics.ru/how-to-build-a-trend-line-in-excel/?ysclid=mgrw6jsfc0953713197" TargetMode="External"/><Relationship Id="rId2" Type="http://schemas.openxmlformats.org/officeDocument/2006/relationships/hyperlink" Target="https://lumpics.ru/forecasting-in-excel/?ysclid=mgrvr2lttb858710429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Базовое прогнозирование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Дополнительные материалы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23" name="Прямоугольник 22"/>
          <p:cNvSpPr/>
          <p:nvPr/>
        </p:nvSpPr>
        <p:spPr>
          <a:xfrm>
            <a:off x="0" y="1142984"/>
            <a:ext cx="9144000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Инструменты прогнозирования в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endParaRPr lang="ru-RU" sz="2400" dirty="0" smtClean="0">
              <a:latin typeface="Times New Roman" pitchFamily="18" charset="0"/>
              <a:cs typeface="Times New Roman" pitchFamily="18" charset="0"/>
              <a:hlinkClick r:id="rId2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https://lumpics.ru/forecasting-in-excel/?ysclid=mgrvr2lttb858710429#_3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Построение линии тренда в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endParaRPr lang="ru-RU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  <a:hlinkClick r:id="rId3"/>
              </a:rPr>
              <a:t>https://lumpics.ru/how-to-build-a-trend-line-in-excel/?ysclid=mgrw6jsfc0953713197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0" y="2214554"/>
            <a:ext cx="9144000" cy="450059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Скользящее среднее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0" y="571480"/>
            <a:ext cx="9144000" cy="15696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Прогнозирование в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 —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это процесс предсказания будущих значений на основе исторических данных. С помощью прогноза можно предсказывать, например, будущий объём продаж, потребность в складских запасах или потребительские тенденции.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0" y="3214686"/>
            <a:ext cx="9144000" cy="271464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2158925"/>
            <a:ext cx="9144000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Представьте, что у вас есть таблица с цифрами за прошлые периоды — например, ежемесячные продажи за последний год. Вы хотите понять, сколько примерно продадите в следующие 3 месяца. 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 анализирует эту динамику и выдаёт предполагаемые цифры — это и есть прогнозирование.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Как это работает (на пальцах)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Вы даёте данные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: например, даты в одном столбце и продажи в другом.</a:t>
            </a:r>
          </a:p>
          <a:p>
            <a:pPr algn="just"/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 ищет закономерность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: растёт ли показатель равномерно, есть ли сезонные всплески (например, перед Новым годом).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Строит линию тренда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: как бы «продлевает» существующую динамику в будущее.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Выдаёт прогноз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: таблицу с предполагаемыми значениями и график, где видно, как может измениться показатель.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Пример из жизни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Бизнес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: предсказать выручку на следующий квартал, чтобы запланировать закупки.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Логистика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: оценить, сколько товара нужно держать на складе через месяц.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Маркетинг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: спрогнозировать трафик на сайт после запуска рекламы.</a:t>
            </a:r>
          </a:p>
          <a:p>
            <a:pPr algn="just"/>
            <a:endParaRPr lang="ru-RU" sz="16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Прогноз это предположение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 а не гарантия. </a:t>
            </a:r>
          </a:p>
          <a:p>
            <a:pPr algn="just"/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 показывает вероятный сценарий, но реальные результаты могут отличаться.</a:t>
            </a:r>
          </a:p>
          <a:p>
            <a:pPr algn="just"/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Линия тренда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0" y="785794"/>
            <a:ext cx="9144000" cy="1477328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Одним из самых популярных видов графического прогнозирования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Экселе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является экстраполяция выполненная построением линии тренда. Линия тренда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(также известна как линия наилучшего соответствия) — это визуальное представление общего направления изменения данных на диаграмме. Простыми словами, это математическая функция, которая наилучшим образом описывает тенденцию в имеющихся данных. 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2357430"/>
            <a:ext cx="3428992" cy="3160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/>
          <a:srcRect b="7712"/>
          <a:stretch>
            <a:fillRect/>
          </a:stretch>
        </p:blipFill>
        <p:spPr bwMode="auto">
          <a:xfrm>
            <a:off x="4572000" y="2285992"/>
            <a:ext cx="3953412" cy="3357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Прямоугольник 11"/>
          <p:cNvSpPr/>
          <p:nvPr/>
        </p:nvSpPr>
        <p:spPr>
          <a:xfrm>
            <a:off x="0" y="5688449"/>
            <a:ext cx="9144000" cy="116955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Коэффициент </a:t>
            </a:r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R2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отображает качество линии тренда. Чем выше коэффициент, тем выше достоверность линии. Максимальная величина его может быть равной </a:t>
            </a:r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. Принято считать, что при коэффициенте свыше </a:t>
            </a:r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0,85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 линия тренда является достоверной. Если же вас не устраивает уровень достоверности, то можно вернуться в окно формата линии тренда и выбрать любой другой тип аппроксимации. Можно перепробовать все доступные варианты, чтобы найти наиболее точный.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Функции регрессии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0" y="1526409"/>
            <a:ext cx="9144000" cy="14773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Функция «Тенденция»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инструмент прогнозирования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основанный на методе линейной регрессии. Её основная задача — предсказать поведение зависимой переменной на основе одной или нескольких независимых переменных, используя имеющиеся данные как обучающую выборку. Данный оператор наиболее эффективно используется при наличии линейной зависимости функции.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00663" y="3098045"/>
            <a:ext cx="3643337" cy="2701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Прямоугольник 12"/>
          <p:cNvSpPr/>
          <p:nvPr/>
        </p:nvSpPr>
        <p:spPr>
          <a:xfrm>
            <a:off x="4997929" y="5741251"/>
            <a:ext cx="41460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Предсказание одного нового значения</a:t>
            </a:r>
            <a:endParaRPr lang="ru-RU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0" y="3169483"/>
            <a:ext cx="4214810" cy="230832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Прогнозирование для нескольких периодов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 Для одновременного прогнозирования нескольких периодов используйте функцию ТЕНДЕНЦИЯ как формулу массива. Выделите ячейки для прогнозов (например, B14:B15) и введите: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=ТЕНДЕНЦИЯ(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B2:B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13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; A2:A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13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; A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14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:A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15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Завершите ввод нажатием комбинации клавиш 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Ctrl+Shift+Enter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grpSp>
        <p:nvGrpSpPr>
          <p:cNvPr id="28" name="Группа 27"/>
          <p:cNvGrpSpPr/>
          <p:nvPr/>
        </p:nvGrpSpPr>
        <p:grpSpPr>
          <a:xfrm>
            <a:off x="2428860" y="5241185"/>
            <a:ext cx="3143272" cy="428628"/>
            <a:chOff x="2357422" y="4929198"/>
            <a:chExt cx="2214578" cy="428628"/>
          </a:xfrm>
        </p:grpSpPr>
        <p:cxnSp>
          <p:nvCxnSpPr>
            <p:cNvPr id="16" name="Прямая со стрелкой 15"/>
            <p:cNvCxnSpPr/>
            <p:nvPr/>
          </p:nvCxnSpPr>
          <p:spPr>
            <a:xfrm>
              <a:off x="2357422" y="4929198"/>
              <a:ext cx="2214578" cy="285752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Прямая со стрелкой 21"/>
            <p:cNvCxnSpPr/>
            <p:nvPr/>
          </p:nvCxnSpPr>
          <p:spPr>
            <a:xfrm>
              <a:off x="2357422" y="4929198"/>
              <a:ext cx="2214578" cy="428628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Прямоугольник 26"/>
          <p:cNvSpPr/>
          <p:nvPr/>
        </p:nvSpPr>
        <p:spPr>
          <a:xfrm>
            <a:off x="0" y="6027003"/>
            <a:ext cx="9144000" cy="830997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Ещё одной функцией, с помощью которой можно производить прогнозирование в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Экселе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является оператор РОСТ. Он тоже относится к статистической группе инструментов, но, в отличие от ТЕНДЕНЦИЯ, при расчете применяет не метод линейной зависимости, а экспоненциальной.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Прямоугольник 29"/>
          <p:cNvSpPr/>
          <p:nvPr/>
        </p:nvSpPr>
        <p:spPr>
          <a:xfrm>
            <a:off x="0" y="571480"/>
            <a:ext cx="9144000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Функция ПРЕДСКАЗ в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позволяет с некоторой степенью точности предсказать будущие значения на основе существующих числовых данных.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118</Words>
  <Application>Microsoft Office PowerPoint</Application>
  <PresentationFormat>Экран (4:3)</PresentationFormat>
  <Paragraphs>33</Paragraphs>
  <Slides>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Тема Office</vt:lpstr>
      <vt:lpstr>Базовое прогнозирование</vt:lpstr>
      <vt:lpstr>Слайд 2</vt:lpstr>
      <vt:lpstr>Слайд 3</vt:lpstr>
      <vt:lpstr>Слайд 4</vt:lpstr>
      <vt:lpstr>Слайд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Практическая работа Excel</dc:title>
  <dc:creator>user</dc:creator>
  <cp:lastModifiedBy>user</cp:lastModifiedBy>
  <cp:revision>37</cp:revision>
  <dcterms:created xsi:type="dcterms:W3CDTF">2025-01-01T12:55:25Z</dcterms:created>
  <dcterms:modified xsi:type="dcterms:W3CDTF">2026-03-01T11:57:57Z</dcterms:modified>
</cp:coreProperties>
</file>