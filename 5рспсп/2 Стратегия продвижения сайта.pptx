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8" r:id="rId5"/>
    <p:sldId id="270" r:id="rId6"/>
    <p:sldId id="271" r:id="rId7"/>
    <p:sldId id="266" r:id="rId8"/>
    <p:sldId id="269" r:id="rId9"/>
    <p:sldId id="267" r:id="rId10"/>
    <p:sldId id="272" r:id="rId11"/>
    <p:sldId id="273" r:id="rId12"/>
    <p:sldId id="274" r:id="rId13"/>
    <p:sldId id="275" r:id="rId14"/>
    <p:sldId id="276" r:id="rId15"/>
    <p:sldId id="277" r:id="rId16"/>
    <p:sldId id="278" r:id="rId1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1860" y="-2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01.10.2026</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ilda.education/articles-semantika-for-ad" TargetMode="External"/><Relationship Id="rId2" Type="http://schemas.openxmlformats.org/officeDocument/2006/relationships/hyperlink" Target="https://www.insales.ru/blogs/university/offer-deadline-call-to-action?ysclid=m0jydf3g5x978726361" TargetMode="External"/><Relationship Id="rId1" Type="http://schemas.openxmlformats.org/officeDocument/2006/relationships/slideLayout" Target="../slideLayouts/slideLayout6.xml"/><Relationship Id="rId5" Type="http://schemas.openxmlformats.org/officeDocument/2006/relationships/hyperlink" Target="https://skillbox.ru/media/marketing/gayd-po-yandeksvordstatu-kak-podbirat-klyuchevye-slova-dlya-reklamy-seo-i-kontenta/?ysclid=m0jyagpxy9454201075" TargetMode="External"/><Relationship Id="rId4" Type="http://schemas.openxmlformats.org/officeDocument/2006/relationships/hyperlink" Target="https://habr.com/ru/companies/click/articles/50400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freefrontend.com/html-resume-templates/" TargetMode="External"/><Relationship Id="rId2" Type="http://schemas.openxmlformats.org/officeDocument/2006/relationships/hyperlink" Target="https://lifehacker.ru/sajt-rezyume/" TargetMode="External"/><Relationship Id="rId1" Type="http://schemas.openxmlformats.org/officeDocument/2006/relationships/slideLayout" Target="../slideLayouts/slideLayout6.xml"/><Relationship Id="rId4" Type="http://schemas.openxmlformats.org/officeDocument/2006/relationships/hyperlink" Target="https://www.geeksforgeeks.org/how-to-deploy-website-on-netlify/"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smtClean="0"/>
              <a:t>Сервис </a:t>
            </a:r>
            <a:r>
              <a:rPr lang="en-US" b="1" dirty="0" err="1" smtClean="0"/>
              <a:t>Wordstat</a:t>
            </a:r>
            <a:r>
              <a:rPr lang="en-US" b="1" dirty="0" smtClean="0"/>
              <a:t> </a:t>
            </a:r>
            <a:r>
              <a:rPr lang="ru-RU" b="1" dirty="0" smtClean="0"/>
              <a:t>для продвижения сайта</a:t>
            </a:r>
            <a:r>
              <a:rPr lang="ru-RU" dirty="0"/>
              <a:t/>
            </a:r>
            <a:br>
              <a:rPr lang="ru-RU" dirty="0"/>
            </a:b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857232"/>
            <a:ext cx="9144000" cy="6370975"/>
          </a:xfrm>
          <a:prstGeom prst="rect">
            <a:avLst/>
          </a:prstGeom>
          <a:ln>
            <a:noFill/>
          </a:ln>
        </p:spPr>
        <p:txBody>
          <a:bodyPr wrap="square">
            <a:spAutoFit/>
          </a:bodyPr>
          <a:lstStyle/>
          <a:p>
            <a:pPr algn="just"/>
            <a:r>
              <a:rPr lang="ru-RU" sz="2400" i="1" dirty="0" smtClean="0">
                <a:latin typeface="Cambria" pitchFamily="18" charset="0"/>
              </a:rPr>
              <a:t>Как написать продающее объявление: </a:t>
            </a:r>
            <a:r>
              <a:rPr lang="ru-RU" sz="2400" b="1" i="1" dirty="0" err="1" smtClean="0">
                <a:latin typeface="Cambria" pitchFamily="18" charset="0"/>
              </a:rPr>
              <a:t>Offer</a:t>
            </a:r>
            <a:r>
              <a:rPr lang="ru-RU" sz="2400" b="1" i="1" dirty="0" smtClean="0">
                <a:latin typeface="Cambria" pitchFamily="18" charset="0"/>
              </a:rPr>
              <a:t> </a:t>
            </a:r>
            <a:r>
              <a:rPr lang="ru-RU" sz="2400" b="1" i="1" dirty="0" err="1" smtClean="0">
                <a:latin typeface="Cambria" pitchFamily="18" charset="0"/>
              </a:rPr>
              <a:t>Deadline</a:t>
            </a:r>
            <a:r>
              <a:rPr lang="ru-RU" sz="2400" b="1" i="1" dirty="0" smtClean="0">
                <a:latin typeface="Cambria" pitchFamily="18" charset="0"/>
              </a:rPr>
              <a:t> </a:t>
            </a:r>
            <a:r>
              <a:rPr lang="ru-RU" sz="2400" b="1" i="1" dirty="0" err="1" smtClean="0">
                <a:latin typeface="Cambria" pitchFamily="18" charset="0"/>
              </a:rPr>
              <a:t>Call</a:t>
            </a:r>
            <a:r>
              <a:rPr lang="ru-RU" sz="2400" b="1" i="1" dirty="0" smtClean="0">
                <a:latin typeface="Cambria" pitchFamily="18" charset="0"/>
              </a:rPr>
              <a:t> </a:t>
            </a:r>
            <a:r>
              <a:rPr lang="ru-RU" sz="2400" b="1" i="1" dirty="0" err="1" smtClean="0">
                <a:latin typeface="Cambria" pitchFamily="18" charset="0"/>
              </a:rPr>
              <a:t>to</a:t>
            </a:r>
            <a:r>
              <a:rPr lang="ru-RU" sz="2400" b="1" i="1" dirty="0" smtClean="0">
                <a:latin typeface="Cambria" pitchFamily="18" charset="0"/>
              </a:rPr>
              <a:t> </a:t>
            </a:r>
            <a:r>
              <a:rPr lang="ru-RU" sz="2400" b="1" i="1" dirty="0" err="1" smtClean="0">
                <a:latin typeface="Cambria" pitchFamily="18" charset="0"/>
              </a:rPr>
              <a:t>action</a:t>
            </a:r>
            <a:r>
              <a:rPr lang="ru-RU" sz="2400" i="1" dirty="0" smtClean="0">
                <a:latin typeface="Cambria" pitchFamily="18" charset="0"/>
              </a:rPr>
              <a:t> - главный закон рекламы</a:t>
            </a:r>
          </a:p>
          <a:p>
            <a:pPr algn="just"/>
            <a:r>
              <a:rPr lang="en-US" sz="2400" b="1" dirty="0" smtClean="0">
                <a:latin typeface="Cambria" pitchFamily="18" charset="0"/>
                <a:hlinkClick r:id="rId2"/>
              </a:rPr>
              <a:t>https://www.insales.ru/blogs/university/offer-deadline-call-to-action?ysclid=m0jydf3g5x978726361</a:t>
            </a:r>
            <a:endParaRPr lang="ru-RU" sz="2400" b="1" dirty="0" smtClean="0">
              <a:latin typeface="Cambria" pitchFamily="18" charset="0"/>
              <a:hlinkClick r:id="rId3"/>
            </a:endParaRPr>
          </a:p>
          <a:p>
            <a:pPr algn="just"/>
            <a:endParaRPr lang="ru-RU" sz="2400" i="1" dirty="0" smtClean="0">
              <a:latin typeface="Cambria" pitchFamily="18" charset="0"/>
            </a:endParaRPr>
          </a:p>
          <a:p>
            <a:pPr algn="just"/>
            <a:r>
              <a:rPr lang="ru-RU" sz="2400" i="1" dirty="0" smtClean="0">
                <a:latin typeface="Cambria" pitchFamily="18" charset="0"/>
              </a:rPr>
              <a:t>Как собрать список ключевых фраз для поисковой рекламы</a:t>
            </a:r>
            <a:endParaRPr lang="en-US" sz="2400" i="1" dirty="0" smtClean="0">
              <a:latin typeface="Cambria" pitchFamily="18" charset="0"/>
            </a:endParaRPr>
          </a:p>
          <a:p>
            <a:pPr algn="just"/>
            <a:r>
              <a:rPr lang="en-US" sz="2400" b="1" dirty="0" smtClean="0">
                <a:latin typeface="Cambria" pitchFamily="18" charset="0"/>
                <a:hlinkClick r:id="rId3"/>
              </a:rPr>
              <a:t>https://tilda.education/articles-semantika-for-ad</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Как использовать </a:t>
            </a:r>
            <a:r>
              <a:rPr lang="ru-RU" sz="2400" i="1" dirty="0" err="1" smtClean="0">
                <a:latin typeface="Cambria" pitchFamily="18" charset="0"/>
              </a:rPr>
              <a:t>Яндекс.Вордстат</a:t>
            </a:r>
            <a:r>
              <a:rPr lang="ru-RU" sz="2400" i="1" dirty="0" smtClean="0">
                <a:latin typeface="Cambria" pitchFamily="18" charset="0"/>
              </a:rPr>
              <a:t> для контекстной рекламы</a:t>
            </a:r>
          </a:p>
          <a:p>
            <a:pPr algn="just"/>
            <a:r>
              <a:rPr lang="en-US" sz="2400" b="1" dirty="0" smtClean="0">
                <a:latin typeface="Cambria" pitchFamily="18" charset="0"/>
                <a:hlinkClick r:id="rId4"/>
              </a:rPr>
              <a:t>https://habr.com/ru/companies/click/articles/504002/</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err="1" smtClean="0">
                <a:latin typeface="Cambria" pitchFamily="18" charset="0"/>
              </a:rPr>
              <a:t>Гайд</a:t>
            </a:r>
            <a:r>
              <a:rPr lang="ru-RU" sz="2400" i="1" dirty="0" smtClean="0">
                <a:latin typeface="Cambria" pitchFamily="18" charset="0"/>
              </a:rPr>
              <a:t> по «Яндекс </a:t>
            </a:r>
            <a:r>
              <a:rPr lang="ru-RU" sz="2400" i="1" dirty="0" err="1" smtClean="0">
                <a:latin typeface="Cambria" pitchFamily="18" charset="0"/>
              </a:rPr>
              <a:t>Вордстату</a:t>
            </a:r>
            <a:r>
              <a:rPr lang="ru-RU" sz="2400" i="1" dirty="0" smtClean="0">
                <a:latin typeface="Cambria" pitchFamily="18" charset="0"/>
              </a:rPr>
              <a:t>». Как подбирать ключевые слова для рекламы, SEO и </a:t>
            </a:r>
            <a:r>
              <a:rPr lang="ru-RU" sz="2400" i="1" dirty="0" err="1" smtClean="0">
                <a:latin typeface="Cambria" pitchFamily="18" charset="0"/>
              </a:rPr>
              <a:t>контента</a:t>
            </a:r>
            <a:endParaRPr lang="ru-RU" sz="2400" i="1" dirty="0" smtClean="0">
              <a:latin typeface="Cambria" pitchFamily="18" charset="0"/>
            </a:endParaRPr>
          </a:p>
          <a:p>
            <a:pPr algn="just"/>
            <a:r>
              <a:rPr lang="en-US" sz="2400" b="1" dirty="0" smtClean="0">
                <a:latin typeface="Cambria" pitchFamily="18" charset="0"/>
                <a:hlinkClick r:id="rId5"/>
              </a:rPr>
              <a:t>https://skillbox.ru/media/marketing/gayd-po-yandeksvordstatu-kak-podbirat-klyuchevye-slova-dlya-reklamy-seo-i-kontenta/?ysclid=m0jyagpxy9454201075</a:t>
            </a:r>
            <a:endParaRPr lang="en-US" sz="2400" b="1" dirty="0" smtClean="0">
              <a:latin typeface="Cambria" pitchFamily="18" charset="0"/>
            </a:endParaRPr>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2928934"/>
            <a:ext cx="9144000" cy="13573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sp>
        <p:nvSpPr>
          <p:cNvPr id="4" name="Прямоугольник 3"/>
          <p:cNvSpPr/>
          <p:nvPr/>
        </p:nvSpPr>
        <p:spPr>
          <a:xfrm>
            <a:off x="0" y="1500174"/>
            <a:ext cx="9144000" cy="4493538"/>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«Яндекс </a:t>
            </a:r>
            <a:r>
              <a:rPr lang="ru-RU" sz="2200" b="1" dirty="0" err="1" smtClean="0">
                <a:latin typeface="Times New Roman" pitchFamily="18" charset="0"/>
                <a:cs typeface="Times New Roman" pitchFamily="18" charset="0"/>
              </a:rPr>
              <a:t>Вордстат</a:t>
            </a:r>
            <a:r>
              <a:rPr lang="ru-RU" sz="2200" b="1" dirty="0" smtClean="0">
                <a:latin typeface="Times New Roman" pitchFamily="18" charset="0"/>
                <a:cs typeface="Times New Roman" pitchFamily="18" charset="0"/>
              </a:rPr>
              <a:t>»</a:t>
            </a:r>
            <a:r>
              <a:rPr lang="ru-RU" sz="2200" dirty="0" smtClean="0">
                <a:latin typeface="Times New Roman" pitchFamily="18" charset="0"/>
                <a:cs typeface="Times New Roman" pitchFamily="18" charset="0"/>
              </a:rPr>
              <a:t> — бесплатный сервис для подбора ключевых слов, который помогает оценить интерес пользователей к теме. С помощью него можно:</a:t>
            </a:r>
            <a:endParaRPr lang="en-US" sz="2200" dirty="0" smtClean="0">
              <a:latin typeface="Times New Roman" pitchFamily="18" charset="0"/>
              <a:cs typeface="Times New Roman" pitchFamily="18" charset="0"/>
            </a:endParaRPr>
          </a:p>
          <a:p>
            <a:pPr algn="just" fontAlgn="base"/>
            <a:endParaRPr lang="ru-RU" sz="2200" dirty="0" smtClean="0">
              <a:latin typeface="Times New Roman" pitchFamily="18" charset="0"/>
              <a:cs typeface="Times New Roman" pitchFamily="18" charset="0"/>
            </a:endParaRPr>
          </a:p>
          <a:p>
            <a:pPr algn="just" fontAlgn="base">
              <a:buFont typeface="Arial" pitchFamily="34" charset="0"/>
              <a:buChar char="•"/>
            </a:pPr>
            <a:r>
              <a:rPr lang="ru-RU" sz="2200" dirty="0" smtClean="0">
                <a:latin typeface="Times New Roman" pitchFamily="18" charset="0"/>
                <a:cs typeface="Times New Roman" pitchFamily="18" charset="0"/>
              </a:rPr>
              <a:t>собрать ключевые слова для рекламы и продвижения бизнеса;</a:t>
            </a:r>
          </a:p>
          <a:p>
            <a:pPr algn="just" fontAlgn="base">
              <a:buFont typeface="Arial" pitchFamily="34" charset="0"/>
              <a:buChar char="•"/>
            </a:pPr>
            <a:r>
              <a:rPr lang="ru-RU" sz="2200" dirty="0" smtClean="0">
                <a:latin typeface="Times New Roman" pitchFamily="18" charset="0"/>
                <a:cs typeface="Times New Roman" pitchFamily="18" charset="0"/>
              </a:rPr>
              <a:t>понять, в какие месяцы и в каких регионах больше и меньше интересуются темой;</a:t>
            </a:r>
          </a:p>
          <a:p>
            <a:pPr algn="just" fontAlgn="base">
              <a:buFont typeface="Arial" pitchFamily="34" charset="0"/>
              <a:buChar char="•"/>
            </a:pPr>
            <a:r>
              <a:rPr lang="ru-RU" sz="2200" dirty="0" smtClean="0">
                <a:latin typeface="Times New Roman" pitchFamily="18" charset="0"/>
                <a:cs typeface="Times New Roman" pitchFamily="18" charset="0"/>
              </a:rPr>
              <a:t>разобраться, по каким ещё запросам ищут продукт или услугу.</a:t>
            </a:r>
          </a:p>
          <a:p>
            <a:pPr algn="just" fontAlgn="base"/>
            <a:endParaRPr lang="en-US" sz="2200" dirty="0" smtClean="0">
              <a:latin typeface="Times New Roman" pitchFamily="18" charset="0"/>
              <a:cs typeface="Times New Roman" pitchFamily="18" charset="0"/>
            </a:endParaRPr>
          </a:p>
          <a:p>
            <a:pPr algn="just" fontAlgn="base"/>
            <a:r>
              <a:rPr lang="ru-RU" sz="2200" dirty="0" smtClean="0">
                <a:latin typeface="Times New Roman" pitchFamily="18" charset="0"/>
                <a:cs typeface="Times New Roman" pitchFamily="18" charset="0"/>
              </a:rPr>
              <a:t>Инструмент полезен для бизнеса и </a:t>
            </a:r>
            <a:r>
              <a:rPr lang="ru-RU" sz="2200" dirty="0" err="1" smtClean="0">
                <a:latin typeface="Times New Roman" pitchFamily="18" charset="0"/>
                <a:cs typeface="Times New Roman" pitchFamily="18" charset="0"/>
              </a:rPr>
              <a:t>маркетологов</a:t>
            </a:r>
            <a:r>
              <a:rPr lang="ru-RU" sz="2200" dirty="0" smtClean="0">
                <a:latin typeface="Times New Roman" pitchFamily="18" charset="0"/>
                <a:cs typeface="Times New Roman" pitchFamily="18" charset="0"/>
              </a:rPr>
              <a:t>. Найдя все релевантные запросы, можно обойти конкурентов в поиске. Зная, в какой сезон пользователи больше интересуются продуктом, можно распределить бюджет на рекламу.</a:t>
            </a:r>
            <a:endParaRPr lang="ru-RU"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pic>
        <p:nvPicPr>
          <p:cNvPr id="18434" name="Picture 2" descr="https://skilma.ru/wp-content/uploads/2023/11/17f42d8bd2c714e1cfd62d358a022923.jpg"/>
          <p:cNvPicPr>
            <a:picLocks noChangeAspect="1" noChangeArrowheads="1"/>
          </p:cNvPicPr>
          <p:nvPr/>
        </p:nvPicPr>
        <p:blipFill>
          <a:blip r:embed="rId2"/>
          <a:srcRect/>
          <a:stretch>
            <a:fillRect/>
          </a:stretch>
        </p:blipFill>
        <p:spPr bwMode="auto">
          <a:xfrm>
            <a:off x="0" y="1500174"/>
            <a:ext cx="9144000" cy="4714631"/>
          </a:xfrm>
          <a:prstGeom prst="rect">
            <a:avLst/>
          </a:prstGeom>
          <a:noFill/>
        </p:spPr>
      </p:pic>
      <p:sp>
        <p:nvSpPr>
          <p:cNvPr id="5" name="TextBox 4"/>
          <p:cNvSpPr txBox="1"/>
          <p:nvPr/>
        </p:nvSpPr>
        <p:spPr>
          <a:xfrm>
            <a:off x="117150" y="4000504"/>
            <a:ext cx="1311578" cy="369332"/>
          </a:xfrm>
          <a:prstGeom prst="rect">
            <a:avLst/>
          </a:prstGeom>
          <a:noFill/>
        </p:spPr>
        <p:txBody>
          <a:bodyPr wrap="none" rtlCol="0">
            <a:spAutoFit/>
          </a:bodyPr>
          <a:lstStyle/>
          <a:p>
            <a:r>
              <a:rPr lang="ru-RU" dirty="0" smtClean="0">
                <a:solidFill>
                  <a:srgbClr val="C00000"/>
                </a:solidFill>
              </a:rPr>
              <a:t>Ваш запрос</a:t>
            </a:r>
            <a:endParaRPr lang="ru-RU" dirty="0">
              <a:solidFill>
                <a:srgbClr val="C00000"/>
              </a:solidFill>
            </a:endParaRPr>
          </a:p>
        </p:txBody>
      </p:sp>
      <p:sp>
        <p:nvSpPr>
          <p:cNvPr id="6" name="TextBox 5"/>
          <p:cNvSpPr txBox="1"/>
          <p:nvPr/>
        </p:nvSpPr>
        <p:spPr>
          <a:xfrm>
            <a:off x="7475264" y="3854239"/>
            <a:ext cx="1740206" cy="646331"/>
          </a:xfrm>
          <a:prstGeom prst="rect">
            <a:avLst/>
          </a:prstGeom>
          <a:noFill/>
        </p:spPr>
        <p:txBody>
          <a:bodyPr wrap="square" rtlCol="0">
            <a:spAutoFit/>
          </a:bodyPr>
          <a:lstStyle/>
          <a:p>
            <a:pPr algn="ctr"/>
            <a:r>
              <a:rPr lang="ru-RU" dirty="0" smtClean="0">
                <a:solidFill>
                  <a:srgbClr val="C00000"/>
                </a:solidFill>
              </a:rPr>
              <a:t>Ищут вместе с этим</a:t>
            </a:r>
            <a:endParaRPr lang="ru-RU"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85984" y="3344084"/>
            <a:ext cx="4429156" cy="3513916"/>
          </a:xfrm>
          <a:prstGeom prst="rect">
            <a:avLst/>
          </a:prstGeom>
          <a:noFill/>
          <a:ln w="9525">
            <a:noFill/>
            <a:miter lim="800000"/>
            <a:headEnd/>
            <a:tailEnd/>
          </a:ln>
          <a:effectLst/>
        </p:spPr>
      </p:pic>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sp>
        <p:nvSpPr>
          <p:cNvPr id="8" name="Прямоугольник 7"/>
          <p:cNvSpPr/>
          <p:nvPr/>
        </p:nvSpPr>
        <p:spPr>
          <a:xfrm>
            <a:off x="0" y="785794"/>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С помощью операторов поиска можно уточнить запрос и посмотреть точную статистику показов по фразе в нужной форме или с определенным порядком слов. Использование операторов доступно в разделах «По словам» и «По регионам».</a:t>
            </a:r>
            <a:endParaRPr lang="ru-RU"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3"/>
          <a:srcRect/>
          <a:stretch>
            <a:fillRect/>
          </a:stretch>
        </p:blipFill>
        <p:spPr bwMode="auto">
          <a:xfrm>
            <a:off x="1857356" y="1785926"/>
            <a:ext cx="2403907" cy="1500198"/>
          </a:xfrm>
          <a:prstGeom prst="rect">
            <a:avLst/>
          </a:prstGeom>
          <a:noFill/>
          <a:ln w="9525">
            <a:noFill/>
            <a:miter lim="800000"/>
            <a:headEnd/>
            <a:tailEnd/>
          </a:ln>
          <a:effectLst/>
        </p:spPr>
      </p:pic>
      <p:pic>
        <p:nvPicPr>
          <p:cNvPr id="12" name="Picture 5"/>
          <p:cNvPicPr>
            <a:picLocks noChangeAspect="1" noChangeArrowheads="1"/>
          </p:cNvPicPr>
          <p:nvPr/>
        </p:nvPicPr>
        <p:blipFill>
          <a:blip r:embed="rId4"/>
          <a:srcRect/>
          <a:stretch>
            <a:fillRect/>
          </a:stretch>
        </p:blipFill>
        <p:spPr bwMode="auto">
          <a:xfrm>
            <a:off x="4286248" y="1785926"/>
            <a:ext cx="2428892" cy="15062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pic>
        <p:nvPicPr>
          <p:cNvPr id="1027" name="Picture 3"/>
          <p:cNvPicPr>
            <a:picLocks noChangeAspect="1" noChangeArrowheads="1"/>
          </p:cNvPicPr>
          <p:nvPr/>
        </p:nvPicPr>
        <p:blipFill>
          <a:blip r:embed="rId2"/>
          <a:srcRect/>
          <a:stretch>
            <a:fillRect/>
          </a:stretch>
        </p:blipFill>
        <p:spPr bwMode="auto">
          <a:xfrm>
            <a:off x="2093629" y="2357430"/>
            <a:ext cx="4478635" cy="37528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701328" y="4143380"/>
            <a:ext cx="2442672" cy="214314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0" y="4500570"/>
            <a:ext cx="2166894" cy="1564814"/>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3214678" y="928670"/>
            <a:ext cx="2434496"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smtClean="0">
                <a:latin typeface="Cambria" pitchFamily="18" charset="0"/>
              </a:rPr>
              <a:t>Поисковая реклама</a:t>
            </a:r>
            <a:endParaRPr lang="ru-RU" sz="3200" b="1" dirty="0">
              <a:latin typeface="Cambria" pitchFamily="18" charset="0"/>
            </a:endParaRPr>
          </a:p>
        </p:txBody>
      </p:sp>
      <p:sp>
        <p:nvSpPr>
          <p:cNvPr id="4" name="Прямоугольник 3"/>
          <p:cNvSpPr/>
          <p:nvPr/>
        </p:nvSpPr>
        <p:spPr>
          <a:xfrm>
            <a:off x="0" y="1071546"/>
            <a:ext cx="9144000" cy="1446550"/>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Поисковая реклама </a:t>
            </a:r>
            <a:r>
              <a:rPr lang="ru-RU" sz="2200" dirty="0" smtClean="0">
                <a:latin typeface="Times New Roman" pitchFamily="18" charset="0"/>
                <a:cs typeface="Times New Roman" pitchFamily="18" charset="0"/>
              </a:rPr>
              <a:t>— это объявления, которые пользователь видит, когда ищет что-то в </a:t>
            </a:r>
            <a:r>
              <a:rPr lang="ru-RU" sz="2200" dirty="0" err="1" smtClean="0">
                <a:latin typeface="Times New Roman" pitchFamily="18" charset="0"/>
                <a:cs typeface="Times New Roman" pitchFamily="18" charset="0"/>
              </a:rPr>
              <a:t>Яндексе</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Гугле</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или любой другой поисковой системе. Обычно она выглядит как результаты запросов и размещается в верхней и нижней частях выдачи</a:t>
            </a:r>
            <a:r>
              <a:rPr lang="en-US" sz="2200" dirty="0" smtClean="0">
                <a:latin typeface="Times New Roman" pitchFamily="18" charset="0"/>
                <a:cs typeface="Times New Roman" pitchFamily="18" charset="0"/>
              </a:rPr>
              <a:t>.</a:t>
            </a:r>
          </a:p>
        </p:txBody>
      </p:sp>
      <p:pic>
        <p:nvPicPr>
          <p:cNvPr id="1026" name="Picture 2" descr="https://static.tildacdn.com/tild6334-6661-4636-b066-393262346163/Screen_Shot_2021-02-.png"/>
          <p:cNvPicPr>
            <a:picLocks noChangeAspect="1" noChangeArrowheads="1"/>
          </p:cNvPicPr>
          <p:nvPr/>
        </p:nvPicPr>
        <p:blipFill>
          <a:blip r:embed="rId2" cstate="print"/>
          <a:srcRect/>
          <a:stretch>
            <a:fillRect/>
          </a:stretch>
        </p:blipFill>
        <p:spPr bwMode="auto">
          <a:xfrm>
            <a:off x="3500430" y="2571744"/>
            <a:ext cx="5826011" cy="3571900"/>
          </a:xfrm>
          <a:prstGeom prst="rect">
            <a:avLst/>
          </a:prstGeom>
          <a:noFill/>
        </p:spPr>
      </p:pic>
      <p:sp>
        <p:nvSpPr>
          <p:cNvPr id="5" name="Прямоугольник 4"/>
          <p:cNvSpPr/>
          <p:nvPr/>
        </p:nvSpPr>
        <p:spPr>
          <a:xfrm>
            <a:off x="0" y="2571745"/>
            <a:ext cx="3714744" cy="3816429"/>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Она работает так:</a:t>
            </a:r>
          </a:p>
          <a:p>
            <a:pPr algn="just" fontAlgn="base"/>
            <a:r>
              <a:rPr lang="ru-RU" sz="22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Рекламодатель собирает список запросов, по которым хочет показать свои рекламные объявления.</a:t>
            </a:r>
          </a:p>
          <a:p>
            <a:pPr algn="just" fontAlgn="base"/>
            <a:r>
              <a:rPr lang="ru-RU" sz="22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Под запросы он создаёт объявления, описывает товар или услугу.</a:t>
            </a:r>
          </a:p>
          <a:p>
            <a:pPr algn="just" fontAlgn="base"/>
            <a:r>
              <a:rPr lang="ru-RU" sz="2200" dirty="0" smtClean="0">
                <a:latin typeface="Times New Roman" pitchFamily="18" charset="0"/>
                <a:cs typeface="Times New Roman" pitchFamily="18" charset="0"/>
              </a:rPr>
              <a:t>3</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Когда пользователь вводит запрос, он видит объявления, которые под него подходят.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12" name="Прямоугольник 11"/>
          <p:cNvSpPr/>
          <p:nvPr/>
        </p:nvSpPr>
        <p:spPr>
          <a:xfrm>
            <a:off x="0" y="221455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 это ваше «вкусное» предложение. И это далеко не банальные скидки, которые работают все хуже. Предложение может быть материальным (</a:t>
            </a:r>
            <a:r>
              <a:rPr lang="ru-RU" sz="2000" dirty="0" err="1" smtClean="0">
                <a:latin typeface="Times New Roman" pitchFamily="18" charset="0"/>
                <a:cs typeface="Times New Roman" pitchFamily="18" charset="0"/>
              </a:rPr>
              <a:t>флешка</a:t>
            </a:r>
            <a:r>
              <a:rPr lang="ru-RU" sz="2000" dirty="0" smtClean="0">
                <a:latin typeface="Times New Roman" pitchFamily="18" charset="0"/>
                <a:cs typeface="Times New Roman" pitchFamily="18" charset="0"/>
              </a:rPr>
              <a:t> в подарок) или нематериальным (бесплатная доставка) стимулом к покупке. Или в виде предоставления скидки после выполнения условий («купи три – четвертый в подарок»). Фактически это причина купить именно у вас. </a:t>
            </a:r>
          </a:p>
        </p:txBody>
      </p:sp>
      <p:sp>
        <p:nvSpPr>
          <p:cNvPr id="14" name="Прямоугольник 13"/>
          <p:cNvSpPr/>
          <p:nvPr/>
        </p:nvSpPr>
        <p:spPr>
          <a:xfrm>
            <a:off x="0" y="400050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это ограничитель. Давно замечено, что без ограничителя реклама не так эффективная. Ограничивать можно по времени («до завтрашнего утра»), по количеству («только первые пять заказов») или комбинированным способом («первые пять заказов до завтрашнего утра»). Это веская причина купить у вас прямо сейчас. </a:t>
            </a:r>
          </a:p>
        </p:txBody>
      </p:sp>
      <p:sp>
        <p:nvSpPr>
          <p:cNvPr id="16" name="Прямоугольник 15"/>
          <p:cNvSpPr/>
          <p:nvPr/>
        </p:nvSpPr>
        <p:spPr>
          <a:xfrm>
            <a:off x="0" y="5786454"/>
            <a:ext cx="9144000" cy="70788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Call-to-action</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 дословно это призыв к действию: «купи!», «зайди!». Все это, как ни странно, работает и существенно повышает отклик на рекламу.</a:t>
            </a:r>
          </a:p>
        </p:txBody>
      </p:sp>
      <p:sp>
        <p:nvSpPr>
          <p:cNvPr id="17" name="Прямоугольник 16"/>
          <p:cNvSpPr/>
          <p:nvPr/>
        </p:nvSpPr>
        <p:spPr>
          <a:xfrm>
            <a:off x="0" y="928670"/>
            <a:ext cx="9144000" cy="1015663"/>
          </a:xfrm>
          <a:prstGeom prst="rect">
            <a:avLst/>
          </a:prstGeom>
          <a:solidFill>
            <a:schemeClr val="tx2">
              <a:lumMod val="20000"/>
              <a:lumOff val="80000"/>
            </a:schemeClr>
          </a:solidFill>
          <a:ln>
            <a:solidFill>
              <a:schemeClr val="tx1"/>
            </a:solidFill>
          </a:ln>
        </p:spPr>
        <p:txBody>
          <a:bodyPr wrap="square">
            <a:spAutoFit/>
          </a:bodyPr>
          <a:lstStyle/>
          <a:p>
            <a:pPr algn="just" fontAlgn="base"/>
            <a:r>
              <a:rPr lang="ru-RU" sz="2000" b="1" dirty="0" smtClean="0">
                <a:latin typeface="Times New Roman" pitchFamily="18" charset="0"/>
                <a:cs typeface="Times New Roman" pitchFamily="18" charset="0"/>
              </a:rPr>
              <a:t>Принцип ODC (</a:t>
            </a:r>
            <a:r>
              <a:rPr lang="ru-RU" sz="2000" b="1" dirty="0" err="1" smtClean="0">
                <a:latin typeface="Times New Roman" pitchFamily="18" charset="0"/>
                <a:cs typeface="Times New Roman" pitchFamily="18" charset="0"/>
              </a:rPr>
              <a:t>Offer</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Call</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to</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Action</a:t>
            </a:r>
            <a:r>
              <a:rPr lang="ru-RU" sz="2000" b="1" dirty="0" smtClean="0">
                <a:latin typeface="Times New Roman" pitchFamily="18" charset="0"/>
                <a:cs typeface="Times New Roman" pitchFamily="18" charset="0"/>
              </a:rPr>
              <a:t>) - </a:t>
            </a:r>
            <a:r>
              <a:rPr lang="ru-RU" sz="2000" dirty="0" smtClean="0">
                <a:latin typeface="Times New Roman" pitchFamily="18" charset="0"/>
                <a:cs typeface="Times New Roman" pitchFamily="18" charset="0"/>
              </a:rPr>
              <a:t>это метод создания рекламных объявлений, который включает в себя предложение (</a:t>
            </a:r>
            <a:r>
              <a:rPr lang="ru-RU" sz="2000"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ограничение по времени (</a:t>
            </a:r>
            <a:r>
              <a:rPr lang="ru-RU" sz="2000" dirty="0" err="1" smtClean="0">
                <a:latin typeface="Times New Roman" pitchFamily="18" charset="0"/>
                <a:cs typeface="Times New Roman" pitchFamily="18" charset="0"/>
              </a:rPr>
              <a:t>deadline</a:t>
            </a:r>
            <a:r>
              <a:rPr lang="ru-RU" sz="2000" dirty="0" smtClean="0">
                <a:latin typeface="Times New Roman" pitchFamily="18" charset="0"/>
                <a:cs typeface="Times New Roman" pitchFamily="18" charset="0"/>
              </a:rPr>
              <a:t>) и призыв к действию (</a:t>
            </a:r>
            <a:r>
              <a:rPr lang="ru-RU" sz="2000" dirty="0" err="1" smtClean="0">
                <a:latin typeface="Times New Roman" pitchFamily="18" charset="0"/>
                <a:cs typeface="Times New Roman" pitchFamily="18" charset="0"/>
              </a:rPr>
              <a:t>call</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to</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action</a:t>
            </a:r>
            <a:r>
              <a:rPr lang="ru-RU"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4" name="Прямоугольник 3"/>
          <p:cNvSpPr/>
          <p:nvPr/>
        </p:nvSpPr>
        <p:spPr>
          <a:xfrm>
            <a:off x="0" y="1500174"/>
            <a:ext cx="9144000" cy="2369880"/>
          </a:xfrm>
          <a:prstGeom prst="rect">
            <a:avLst/>
          </a:prstGeom>
        </p:spPr>
        <p:txBody>
          <a:bodyPr wrap="square">
            <a:spAutoFit/>
          </a:bodyPr>
          <a:lstStyle/>
          <a:p>
            <a:pPr algn="just" fontAlgn="base"/>
            <a:r>
              <a:rPr lang="ru-RU" sz="2200" dirty="0" smtClean="0">
                <a:latin typeface="Times New Roman" pitchFamily="18" charset="0"/>
                <a:cs typeface="Times New Roman" pitchFamily="18" charset="0"/>
              </a:rPr>
              <a:t>Пример объявления, использующего принцип ODC:  </a:t>
            </a:r>
            <a:endParaRPr lang="en-US" sz="2200" dirty="0" smtClean="0">
              <a:latin typeface="Times New Roman" pitchFamily="18" charset="0"/>
              <a:cs typeface="Times New Roman" pitchFamily="18" charset="0"/>
            </a:endParaRPr>
          </a:p>
          <a:p>
            <a:pPr algn="just" fontAlgn="base"/>
            <a:endParaRPr lang="ru-RU" sz="1900" b="1" dirty="0" smtClean="0">
              <a:latin typeface="Times New Roman" pitchFamily="18" charset="0"/>
              <a:cs typeface="Times New Roman" pitchFamily="18" charset="0"/>
            </a:endParaRPr>
          </a:p>
          <a:p>
            <a:pPr algn="ctr" fontAlgn="base"/>
            <a:r>
              <a:rPr lang="ru-RU" sz="1900" b="1" dirty="0" smtClean="0">
                <a:latin typeface="Times New Roman" pitchFamily="18" charset="0"/>
                <a:cs typeface="Times New Roman" pitchFamily="18" charset="0"/>
              </a:rPr>
              <a:t>Ночью </a:t>
            </a:r>
            <a:r>
              <a:rPr lang="ru-RU" sz="1900" b="1" dirty="0" err="1" smtClean="0">
                <a:latin typeface="Times New Roman" pitchFamily="18" charset="0"/>
                <a:cs typeface="Times New Roman" pitchFamily="18" charset="0"/>
              </a:rPr>
              <a:t>iPhone</a:t>
            </a:r>
            <a:r>
              <a:rPr lang="ru-RU" sz="1900" b="1" dirty="0" smtClean="0">
                <a:latin typeface="Times New Roman" pitchFamily="18" charset="0"/>
                <a:cs typeface="Times New Roman" pitchFamily="18" charset="0"/>
              </a:rPr>
              <a:t> 5 дешевле! При заказе сейчас бесплатная доставка утром. Оцени!</a:t>
            </a: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ru-RU" sz="2200" dirty="0">
              <a:latin typeface="Times New Roman" pitchFamily="18" charset="0"/>
              <a:cs typeface="Times New Roman" pitchFamily="18" charset="0"/>
            </a:endParaRPr>
          </a:p>
        </p:txBody>
      </p:sp>
      <p:sp>
        <p:nvSpPr>
          <p:cNvPr id="5" name="Скругленный прямоугольник 4"/>
          <p:cNvSpPr/>
          <p:nvPr/>
        </p:nvSpPr>
        <p:spPr>
          <a:xfrm>
            <a:off x="85722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 (</a:t>
            </a:r>
            <a:r>
              <a:rPr lang="ru-RU" dirty="0" smtClean="0"/>
              <a:t>Предложение</a:t>
            </a:r>
            <a:r>
              <a:rPr lang="en-US" dirty="0" smtClean="0"/>
              <a:t>)</a:t>
            </a:r>
            <a:endParaRPr lang="ru-RU" dirty="0"/>
          </a:p>
        </p:txBody>
      </p:sp>
      <p:sp>
        <p:nvSpPr>
          <p:cNvPr id="6" name="Скругленный прямоугольник 5"/>
          <p:cNvSpPr/>
          <p:nvPr/>
        </p:nvSpPr>
        <p:spPr>
          <a:xfrm>
            <a:off x="3571868"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Deadline</a:t>
            </a:r>
            <a:r>
              <a:rPr lang="ru-RU" dirty="0" smtClean="0"/>
              <a:t> </a:t>
            </a:r>
            <a:r>
              <a:rPr lang="en-US" dirty="0" smtClean="0"/>
              <a:t>(</a:t>
            </a:r>
            <a:r>
              <a:rPr lang="ru-RU" dirty="0" smtClean="0"/>
              <a:t>ограничение</a:t>
            </a:r>
            <a:r>
              <a:rPr lang="en-US" dirty="0" smtClean="0"/>
              <a:t>)</a:t>
            </a:r>
            <a:endParaRPr lang="ru-RU" dirty="0"/>
          </a:p>
        </p:txBody>
      </p:sp>
      <p:sp>
        <p:nvSpPr>
          <p:cNvPr id="7" name="Скругленный прямоугольник 6"/>
          <p:cNvSpPr/>
          <p:nvPr/>
        </p:nvSpPr>
        <p:spPr>
          <a:xfrm>
            <a:off x="621507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latin typeface="Times New Roman" pitchFamily="18" charset="0"/>
                <a:cs typeface="Times New Roman" pitchFamily="18" charset="0"/>
              </a:rPr>
              <a:t>Call-to-action</a:t>
            </a:r>
            <a:endParaRPr lang="ru-RU" dirty="0" smtClean="0">
              <a:latin typeface="Times New Roman" pitchFamily="18" charset="0"/>
              <a:cs typeface="Times New Roman" pitchFamily="18" charset="0"/>
            </a:endParaRPr>
          </a:p>
          <a:p>
            <a:pPr algn="ctr"/>
            <a:r>
              <a:rPr lang="en-US" dirty="0" smtClean="0"/>
              <a:t>(</a:t>
            </a:r>
            <a:r>
              <a:rPr lang="ru-RU" dirty="0" smtClean="0"/>
              <a:t>призыв к действию</a:t>
            </a:r>
            <a:r>
              <a:rPr lang="en-US" dirty="0" smtClean="0"/>
              <a:t>)</a:t>
            </a:r>
            <a:endParaRPr lang="ru-RU" dirty="0"/>
          </a:p>
        </p:txBody>
      </p:sp>
      <p:cxnSp>
        <p:nvCxnSpPr>
          <p:cNvPr id="9" name="Прямая со стрелкой 8"/>
          <p:cNvCxnSpPr>
            <a:endCxn id="5" idx="0"/>
          </p:cNvCxnSpPr>
          <p:nvPr/>
        </p:nvCxnSpPr>
        <p:spPr>
          <a:xfrm rot="16200000" flipH="1">
            <a:off x="1142976" y="3000372"/>
            <a:ext cx="1214446" cy="21431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endCxn id="6" idx="0"/>
          </p:cNvCxnSpPr>
          <p:nvPr/>
        </p:nvCxnSpPr>
        <p:spPr>
          <a:xfrm rot="5400000">
            <a:off x="4000496" y="3071810"/>
            <a:ext cx="1214446" cy="714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0"/>
          </p:cNvCxnSpPr>
          <p:nvPr/>
        </p:nvCxnSpPr>
        <p:spPr>
          <a:xfrm rot="5400000">
            <a:off x="7215206" y="2500306"/>
            <a:ext cx="1214446" cy="1214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Сайт-резюме</a:t>
            </a:r>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1428736"/>
            <a:ext cx="9144000" cy="4524315"/>
          </a:xfrm>
          <a:prstGeom prst="rect">
            <a:avLst/>
          </a:prstGeom>
          <a:ln>
            <a:noFill/>
          </a:ln>
        </p:spPr>
        <p:txBody>
          <a:bodyPr wrap="square">
            <a:spAutoFit/>
          </a:bodyPr>
          <a:lstStyle/>
          <a:p>
            <a:pPr algn="just"/>
            <a:endParaRPr lang="ru-RU" sz="2400" b="1" dirty="0" smtClean="0">
              <a:latin typeface="Cambria" pitchFamily="18" charset="0"/>
            </a:endParaRPr>
          </a:p>
          <a:p>
            <a:pPr algn="just"/>
            <a:r>
              <a:rPr lang="ru-RU" sz="2400" i="1" dirty="0" smtClean="0">
                <a:latin typeface="Cambria" pitchFamily="18" charset="0"/>
              </a:rPr>
              <a:t>Каким должен быть сайт-резюме</a:t>
            </a:r>
          </a:p>
          <a:p>
            <a:pPr algn="just"/>
            <a:r>
              <a:rPr lang="en-US" sz="2400" b="1" dirty="0" smtClean="0">
                <a:latin typeface="Cambria" pitchFamily="18" charset="0"/>
                <a:hlinkClick r:id="rId2"/>
              </a:rPr>
              <a:t>https://lifehacker.ru/sajt-rezyume/</a:t>
            </a:r>
            <a:endParaRPr lang="en-US" sz="2400" b="1" dirty="0" smtClean="0">
              <a:latin typeface="Cambria" pitchFamily="18" charset="0"/>
            </a:endParaRPr>
          </a:p>
          <a:p>
            <a:pPr algn="just"/>
            <a:endParaRPr lang="ru-RU" sz="2400" b="1" dirty="0" smtClean="0">
              <a:latin typeface="Cambria" pitchFamily="18" charset="0"/>
            </a:endParaRPr>
          </a:p>
          <a:p>
            <a:pPr algn="just"/>
            <a:r>
              <a:rPr lang="en-US" sz="2400" i="1" dirty="0" smtClean="0">
                <a:latin typeface="Cambria" pitchFamily="18" charset="0"/>
              </a:rPr>
              <a:t>14 HTML Resume Templates</a:t>
            </a:r>
          </a:p>
          <a:p>
            <a:pPr algn="just"/>
            <a:r>
              <a:rPr lang="en-US" sz="2400" b="1" dirty="0" smtClean="0">
                <a:hlinkClick r:id="rId3"/>
              </a:rPr>
              <a:t>https://freefrontend.com/html-resume-templates/</a:t>
            </a:r>
            <a:endParaRPr lang="en-US" sz="2400" b="1" dirty="0" smtClean="0"/>
          </a:p>
          <a:p>
            <a:pPr algn="just"/>
            <a:endParaRPr lang="en-US" sz="2400" b="1" dirty="0" smtClean="0"/>
          </a:p>
          <a:p>
            <a:pPr algn="just"/>
            <a:r>
              <a:rPr lang="en-US" sz="2400" i="1" dirty="0" smtClean="0">
                <a:latin typeface="Cambria" pitchFamily="18" charset="0"/>
              </a:rPr>
              <a:t>How to Deploy website on </a:t>
            </a:r>
            <a:r>
              <a:rPr lang="en-US" sz="2400" i="1" dirty="0" err="1" smtClean="0">
                <a:latin typeface="Cambria" pitchFamily="18" charset="0"/>
              </a:rPr>
              <a:t>Netlify</a:t>
            </a:r>
            <a:r>
              <a:rPr lang="en-US" sz="2400" i="1" dirty="0" smtClean="0">
                <a:latin typeface="Cambria" pitchFamily="18" charset="0"/>
              </a:rPr>
              <a:t> ?</a:t>
            </a:r>
          </a:p>
          <a:p>
            <a:pPr algn="just"/>
            <a:r>
              <a:rPr lang="en-US" sz="2400" b="1" dirty="0" smtClean="0">
                <a:hlinkClick r:id="rId4"/>
              </a:rPr>
              <a:t>https://www.geeksforgeeks.org/how-to-deploy-website-on-netlify/</a:t>
            </a:r>
            <a:endParaRPr lang="en-US" sz="2400" b="1" dirty="0" smtClean="0">
              <a:hlinkClick r:id="rId3"/>
            </a:endParaRPr>
          </a:p>
          <a:p>
            <a:pPr algn="just"/>
            <a:endParaRPr lang="en-US" sz="2400" i="1" dirty="0" smtClean="0">
              <a:latin typeface="Cambria" pitchFamily="18" charset="0"/>
            </a:endParaRPr>
          </a:p>
          <a:p>
            <a:pPr algn="just"/>
            <a:endParaRPr lang="ru-RU" sz="2400" b="1" dirty="0" smtClean="0"/>
          </a:p>
          <a:p>
            <a:pPr algn="just"/>
            <a:endParaRPr lang="en-US" sz="2400" dirty="0" smtClean="0">
              <a:latin typeface="Cambria"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Что такое сайт резюме?</a:t>
            </a:r>
            <a:endParaRPr lang="ru-RU" b="1" dirty="0"/>
          </a:p>
        </p:txBody>
      </p:sp>
      <p:sp>
        <p:nvSpPr>
          <p:cNvPr id="5" name="Прямоугольник 4"/>
          <p:cNvSpPr/>
          <p:nvPr/>
        </p:nvSpPr>
        <p:spPr>
          <a:xfrm>
            <a:off x="0" y="1000108"/>
            <a:ext cx="9144000" cy="1446550"/>
          </a:xfrm>
          <a:prstGeom prst="rect">
            <a:avLst/>
          </a:prstGeom>
        </p:spPr>
        <p:txBody>
          <a:bodyPr wrap="square">
            <a:spAutoFit/>
          </a:bodyPr>
          <a:lstStyle/>
          <a:p>
            <a:pPr algn="just"/>
            <a:r>
              <a:rPr lang="ru-RU" sz="2200" dirty="0" smtClean="0">
                <a:latin typeface="Times New Roman" pitchFamily="18" charset="0"/>
                <a:cs typeface="Times New Roman" pitchFamily="18" charset="0"/>
              </a:rPr>
              <a:t>Это современный формат оформления </a:t>
            </a:r>
            <a:r>
              <a:rPr lang="ru-RU" sz="2200" dirty="0" err="1" smtClean="0">
                <a:latin typeface="Times New Roman" pitchFamily="18" charset="0"/>
                <a:cs typeface="Times New Roman" pitchFamily="18" charset="0"/>
              </a:rPr>
              <a:t>онлайн</a:t>
            </a:r>
            <a:r>
              <a:rPr lang="ru-RU" sz="2200" dirty="0" smtClean="0">
                <a:latin typeface="Times New Roman" pitchFamily="18" charset="0"/>
                <a:cs typeface="Times New Roman" pitchFamily="18" charset="0"/>
              </a:rPr>
              <a:t> резюме на </a:t>
            </a:r>
            <a:r>
              <a:rPr lang="ru-RU" sz="2200" dirty="0" err="1" smtClean="0">
                <a:latin typeface="Times New Roman" pitchFamily="18" charset="0"/>
                <a:cs typeface="Times New Roman" pitchFamily="18" charset="0"/>
              </a:rPr>
              <a:t>веб</a:t>
            </a:r>
            <a:r>
              <a:rPr lang="ru-RU" sz="2200" dirty="0" smtClean="0">
                <a:latin typeface="Times New Roman" pitchFamily="18" charset="0"/>
                <a:cs typeface="Times New Roman" pitchFamily="18" charset="0"/>
              </a:rPr>
              <a:t> странице. Иными словами, это персональный сайт в формате резюме или </a:t>
            </a:r>
            <a:r>
              <a:rPr lang="ru-RU" sz="2200" dirty="0" err="1" smtClean="0">
                <a:latin typeface="Times New Roman" pitchFamily="18" charset="0"/>
                <a:cs typeface="Times New Roman" pitchFamily="18" charset="0"/>
              </a:rPr>
              <a:t>портфолио</a:t>
            </a:r>
            <a:r>
              <a:rPr lang="ru-RU" sz="2200" dirty="0" smtClean="0">
                <a:latin typeface="Times New Roman" pitchFamily="18" charset="0"/>
                <a:cs typeface="Times New Roman" pitchFamily="18" charset="0"/>
              </a:rPr>
              <a:t>, на котором размещается опыт работы, образование, навыки, языки, достижения, возможно, примеры работ и даже рекомендации.</a:t>
            </a:r>
            <a:endParaRPr lang="ru-RU" sz="2200" dirty="0">
              <a:latin typeface="Times New Roman" pitchFamily="18" charset="0"/>
              <a:cs typeface="Times New Roman" pitchFamily="18" charset="0"/>
            </a:endParaRPr>
          </a:p>
        </p:txBody>
      </p:sp>
      <p:pic>
        <p:nvPicPr>
          <p:cNvPr id="5124" name="Picture 4" descr="https://cdn.lifehacker.ru/wp-content/uploads/2015/08/aktrisa_1439882910-630x335.png"/>
          <p:cNvPicPr>
            <a:picLocks noChangeAspect="1" noChangeArrowheads="1"/>
          </p:cNvPicPr>
          <p:nvPr/>
        </p:nvPicPr>
        <p:blipFill>
          <a:blip r:embed="rId2"/>
          <a:srcRect/>
          <a:stretch>
            <a:fillRect/>
          </a:stretch>
        </p:blipFill>
        <p:spPr bwMode="auto">
          <a:xfrm>
            <a:off x="3143250" y="3357562"/>
            <a:ext cx="6000750" cy="3190876"/>
          </a:xfrm>
          <a:prstGeom prst="rect">
            <a:avLst/>
          </a:prstGeom>
          <a:noFill/>
        </p:spPr>
      </p:pic>
      <p:pic>
        <p:nvPicPr>
          <p:cNvPr id="5122" name="Picture 2" descr="https://cdn.lifehacker.ru/wp-content/uploads/2015/08/marketing_1439883045-630x336.png"/>
          <p:cNvPicPr>
            <a:picLocks noChangeAspect="1" noChangeArrowheads="1"/>
          </p:cNvPicPr>
          <p:nvPr/>
        </p:nvPicPr>
        <p:blipFill>
          <a:blip r:embed="rId3"/>
          <a:srcRect/>
          <a:stretch>
            <a:fillRect/>
          </a:stretch>
        </p:blipFill>
        <p:spPr bwMode="auto">
          <a:xfrm>
            <a:off x="0" y="2714620"/>
            <a:ext cx="6000750" cy="320040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Возможная структура резюме</a:t>
            </a:r>
            <a:endParaRPr lang="ru-RU" b="1" dirty="0"/>
          </a:p>
        </p:txBody>
      </p:sp>
      <p:pic>
        <p:nvPicPr>
          <p:cNvPr id="20483" name="Picture 3"/>
          <p:cNvPicPr>
            <a:picLocks noChangeAspect="1" noChangeArrowheads="1"/>
          </p:cNvPicPr>
          <p:nvPr/>
        </p:nvPicPr>
        <p:blipFill>
          <a:blip r:embed="rId2"/>
          <a:srcRect/>
          <a:stretch>
            <a:fillRect/>
          </a:stretch>
        </p:blipFill>
        <p:spPr bwMode="auto">
          <a:xfrm>
            <a:off x="0" y="1357298"/>
            <a:ext cx="4335786" cy="4286280"/>
          </a:xfrm>
          <a:prstGeom prst="rect">
            <a:avLst/>
          </a:prstGeom>
          <a:noFill/>
          <a:ln w="9525">
            <a:noFill/>
            <a:miter lim="800000"/>
            <a:headEnd/>
            <a:tailEnd/>
          </a:ln>
          <a:effectLst/>
        </p:spPr>
      </p:pic>
      <p:pic>
        <p:nvPicPr>
          <p:cNvPr id="20484" name="Picture 4"/>
          <p:cNvPicPr>
            <a:picLocks noChangeAspect="1" noChangeArrowheads="1"/>
          </p:cNvPicPr>
          <p:nvPr/>
        </p:nvPicPr>
        <p:blipFill>
          <a:blip r:embed="rId3" cstate="print"/>
          <a:srcRect/>
          <a:stretch>
            <a:fillRect/>
          </a:stretch>
        </p:blipFill>
        <p:spPr bwMode="auto">
          <a:xfrm>
            <a:off x="4445058" y="1785926"/>
            <a:ext cx="4698942" cy="35719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Преимущества сайта резюме</a:t>
            </a:r>
            <a:endParaRPr lang="ru-RU" b="1" dirty="0"/>
          </a:p>
        </p:txBody>
      </p:sp>
      <p:sp>
        <p:nvSpPr>
          <p:cNvPr id="5" name="Прямоугольник 4"/>
          <p:cNvSpPr/>
          <p:nvPr/>
        </p:nvSpPr>
        <p:spPr>
          <a:xfrm>
            <a:off x="0" y="928670"/>
            <a:ext cx="9144000" cy="1631216"/>
          </a:xfrm>
          <a:prstGeom prst="rect">
            <a:avLst/>
          </a:prstGeom>
        </p:spPr>
        <p:txBody>
          <a:bodyPr wrap="square">
            <a:spAutoFit/>
          </a:bodyPr>
          <a:lstStyle/>
          <a:p>
            <a:pPr algn="just"/>
            <a:r>
              <a:rPr lang="ru-RU" sz="2000" dirty="0" smtClean="0">
                <a:latin typeface="Times New Roman" pitchFamily="18" charset="0"/>
                <a:cs typeface="Times New Roman" pitchFamily="18" charset="0"/>
              </a:rPr>
              <a:t>На </a:t>
            </a:r>
            <a:r>
              <a:rPr lang="ru-RU" sz="2000" dirty="0" err="1" smtClean="0">
                <a:latin typeface="Times New Roman" pitchFamily="18" charset="0"/>
                <a:cs typeface="Times New Roman" pitchFamily="18" charset="0"/>
              </a:rPr>
              <a:t>веб</a:t>
            </a:r>
            <a:r>
              <a:rPr lang="ru-RU" sz="2000" dirty="0" smtClean="0">
                <a:latin typeface="Times New Roman" pitchFamily="18" charset="0"/>
                <a:cs typeface="Times New Roman" pitchFamily="18" charset="0"/>
              </a:rPr>
              <a:t> странице можно чётко структурировать всю информацию, которую вы хотите сообщить о себе работодателю. Есть готовые шаблоны резюме, которые существенно упростят процесс форматирования (самые яркие примеры мы покажем ниже). Ведь все, что вам нужно — просто наполнить готовую структуру информацией о себе.</a:t>
            </a:r>
          </a:p>
        </p:txBody>
      </p:sp>
      <p:pic>
        <p:nvPicPr>
          <p:cNvPr id="21506" name="Picture 2"/>
          <p:cNvPicPr>
            <a:picLocks noChangeAspect="1" noChangeArrowheads="1"/>
          </p:cNvPicPr>
          <p:nvPr/>
        </p:nvPicPr>
        <p:blipFill>
          <a:blip r:embed="rId2"/>
          <a:srcRect/>
          <a:stretch>
            <a:fillRect/>
          </a:stretch>
        </p:blipFill>
        <p:spPr bwMode="auto">
          <a:xfrm>
            <a:off x="3580797" y="2714620"/>
            <a:ext cx="5563203" cy="3152773"/>
          </a:xfrm>
          <a:prstGeom prst="rect">
            <a:avLst/>
          </a:prstGeom>
          <a:noFill/>
          <a:ln w="9525">
            <a:noFill/>
            <a:miter lim="800000"/>
            <a:headEnd/>
            <a:tailEnd/>
          </a:ln>
          <a:effectLst/>
        </p:spPr>
      </p:pic>
      <p:sp>
        <p:nvSpPr>
          <p:cNvPr id="7" name="Прямоугольник 6"/>
          <p:cNvSpPr/>
          <p:nvPr/>
        </p:nvSpPr>
        <p:spPr>
          <a:xfrm>
            <a:off x="0" y="2456795"/>
            <a:ext cx="3643306" cy="4401205"/>
          </a:xfrm>
          <a:prstGeom prst="rect">
            <a:avLst/>
          </a:prstGeom>
        </p:spPr>
        <p:txBody>
          <a:bodyPr wrap="square">
            <a:spAutoFit/>
          </a:bodyPr>
          <a:lstStyle/>
          <a:p>
            <a:pPr algn="just"/>
            <a:r>
              <a:rPr lang="ru-RU" sz="2000" dirty="0" smtClean="0">
                <a:latin typeface="Times New Roman" pitchFamily="18" charset="0"/>
                <a:cs typeface="Times New Roman" pitchFamily="18" charset="0"/>
              </a:rPr>
              <a:t>Кроме того, с помощью </a:t>
            </a:r>
            <a:r>
              <a:rPr lang="ru-RU" sz="2000" dirty="0" err="1" smtClean="0">
                <a:latin typeface="Times New Roman" pitchFamily="18" charset="0"/>
                <a:cs typeface="Times New Roman" pitchFamily="18" charset="0"/>
              </a:rPr>
              <a:t>онлайн-резюме</a:t>
            </a:r>
            <a:r>
              <a:rPr lang="ru-RU" sz="2000" dirty="0" smtClean="0">
                <a:latin typeface="Times New Roman" pitchFamily="18" charset="0"/>
                <a:cs typeface="Times New Roman" pitchFamily="18" charset="0"/>
              </a:rPr>
              <a:t> можно легко произвести впечатление </a:t>
            </a:r>
            <a:r>
              <a:rPr lang="ru-RU" sz="2000" dirty="0" err="1" smtClean="0">
                <a:latin typeface="Times New Roman" pitchFamily="18" charset="0"/>
                <a:cs typeface="Times New Roman" pitchFamily="18" charset="0"/>
              </a:rPr>
              <a:t>креативного</a:t>
            </a:r>
            <a:r>
              <a:rPr lang="ru-RU" sz="2000" dirty="0" smtClean="0">
                <a:latin typeface="Times New Roman" pitchFamily="18" charset="0"/>
                <a:cs typeface="Times New Roman" pitchFamily="18" charset="0"/>
              </a:rPr>
              <a:t> и технически подкованного кандидата! </a:t>
            </a:r>
          </a:p>
          <a:p>
            <a:pPr algn="just"/>
            <a:r>
              <a:rPr lang="ru-RU" sz="2000" dirty="0" smtClean="0">
                <a:latin typeface="Times New Roman" pitchFamily="18" charset="0"/>
                <a:cs typeface="Times New Roman" pitchFamily="18" charset="0"/>
              </a:rPr>
              <a:t>Наконец, с помощью персонального сайта резюме можно построить свой личный бренд в интернете. Работодатели или заказчики смогут сами находить ваше </a:t>
            </a:r>
            <a:r>
              <a:rPr lang="ru-RU" sz="2000" dirty="0" err="1" smtClean="0">
                <a:latin typeface="Times New Roman" pitchFamily="18" charset="0"/>
                <a:cs typeface="Times New Roman" pitchFamily="18" charset="0"/>
              </a:rPr>
              <a:t>онлайн</a:t>
            </a:r>
            <a:r>
              <a:rPr lang="ru-RU" sz="2000" dirty="0" smtClean="0">
                <a:latin typeface="Times New Roman" pitchFamily="18" charset="0"/>
                <a:cs typeface="Times New Roman" pitchFamily="18" charset="0"/>
              </a:rPr>
              <a:t> резюме или </a:t>
            </a:r>
            <a:r>
              <a:rPr lang="ru-RU" sz="2000" dirty="0" err="1" smtClean="0">
                <a:latin typeface="Times New Roman" pitchFamily="18" charset="0"/>
                <a:cs typeface="Times New Roman" pitchFamily="18" charset="0"/>
              </a:rPr>
              <a:t>портфолио</a:t>
            </a:r>
            <a:r>
              <a:rPr lang="ru-RU" sz="2000" dirty="0" smtClean="0">
                <a:latin typeface="Times New Roman" pitchFamily="18" charset="0"/>
                <a:cs typeface="Times New Roman" pitchFamily="18" charset="0"/>
              </a:rPr>
              <a:t> при поиске </a:t>
            </a:r>
            <a:r>
              <a:rPr lang="ru-RU" sz="2000" dirty="0" err="1" smtClean="0">
                <a:latin typeface="Times New Roman" pitchFamily="18" charset="0"/>
                <a:cs typeface="Times New Roman" pitchFamily="18" charset="0"/>
              </a:rPr>
              <a:t>специста</a:t>
            </a:r>
            <a:r>
              <a:rPr lang="ru-RU" sz="2000" dirty="0" smtClean="0">
                <a:latin typeface="Times New Roman" pitchFamily="18" charset="0"/>
                <a:cs typeface="Times New Roman" pitchFamily="18" charset="0"/>
              </a:rPr>
              <a:t> вашего профиля.</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a:bodyPr>
          <a:lstStyle/>
          <a:p>
            <a:r>
              <a:rPr lang="ru-RU" b="1" dirty="0" smtClean="0"/>
              <a:t>Для чего используется </a:t>
            </a:r>
            <a:r>
              <a:rPr lang="en-US" b="1" dirty="0" err="1" smtClean="0"/>
              <a:t>Netlify</a:t>
            </a:r>
            <a:r>
              <a:rPr lang="ru-RU" b="1" dirty="0" smtClean="0"/>
              <a:t>?</a:t>
            </a:r>
            <a:endParaRPr lang="ru-RU" b="1" dirty="0"/>
          </a:p>
        </p:txBody>
      </p:sp>
      <p:sp>
        <p:nvSpPr>
          <p:cNvPr id="7" name="Прямоугольник 6"/>
          <p:cNvSpPr/>
          <p:nvPr/>
        </p:nvSpPr>
        <p:spPr>
          <a:xfrm>
            <a:off x="0" y="785794"/>
            <a:ext cx="9144000" cy="3139321"/>
          </a:xfrm>
          <a:prstGeom prst="rect">
            <a:avLst/>
          </a:prstGeom>
        </p:spPr>
        <p:txBody>
          <a:bodyPr wrap="square">
            <a:spAutoFit/>
          </a:bodyPr>
          <a:lstStyle/>
          <a:p>
            <a:pPr algn="just"/>
            <a:r>
              <a:rPr lang="ru-RU" sz="2200" b="1" dirty="0" err="1" smtClean="0">
                <a:latin typeface="Times New Roman" pitchFamily="18" charset="0"/>
                <a:cs typeface="Times New Roman" pitchFamily="18" charset="0"/>
              </a:rPr>
              <a:t>Netlify</a:t>
            </a:r>
            <a:r>
              <a:rPr lang="ru-RU" sz="2200" b="1"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 это платформа для публикации статических сайтов, предоставляющая инструменты для автоматизации процесса разработки, тестирования и развертывания </a:t>
            </a:r>
            <a:r>
              <a:rPr lang="ru-RU" sz="2200" dirty="0" err="1" smtClean="0">
                <a:latin typeface="Times New Roman" pitchFamily="18" charset="0"/>
                <a:cs typeface="Times New Roman" pitchFamily="18" charset="0"/>
              </a:rPr>
              <a:t>веб-приложений</a:t>
            </a:r>
            <a:r>
              <a:rPr lang="ru-RU" sz="2200" dirty="0" smtClean="0">
                <a:latin typeface="Times New Roman" pitchFamily="18" charset="0"/>
                <a:cs typeface="Times New Roman" pitchFamily="18" charset="0"/>
              </a:rPr>
              <a:t>. Она также поддерживает работу с динамическими сайтами через интеграцию с различными облачными сервисами.</a:t>
            </a:r>
            <a:endParaRPr lang="en-US" sz="2200" dirty="0" smtClean="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ru-RU" sz="2200" dirty="0" err="1" smtClean="0">
                <a:latin typeface="Times New Roman" pitchFamily="18" charset="0"/>
                <a:cs typeface="Times New Roman" pitchFamily="18" charset="0"/>
              </a:rPr>
              <a:t>Netlify</a:t>
            </a:r>
            <a:r>
              <a:rPr lang="ru-RU" sz="2200" dirty="0" smtClean="0">
                <a:latin typeface="Times New Roman" pitchFamily="18" charset="0"/>
                <a:cs typeface="Times New Roman" pitchFamily="18" charset="0"/>
              </a:rPr>
              <a:t> предоставляет бесплатный план для небольших проектов и несколько платных тарифных планов для крупных проектов с большим объемом трафика и расширенными возможностями.</a:t>
            </a:r>
            <a:endParaRPr lang="ru-RU" sz="22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428596" y="3885976"/>
            <a:ext cx="8110531" cy="2972024"/>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285776"/>
            <a:ext cx="8229600" cy="1143000"/>
          </a:xfrm>
        </p:spPr>
        <p:txBody>
          <a:bodyPr>
            <a:normAutofit/>
          </a:bodyPr>
          <a:lstStyle/>
          <a:p>
            <a:r>
              <a:rPr lang="ru-RU" b="1" dirty="0" smtClean="0"/>
              <a:t>Для чего используется </a:t>
            </a:r>
            <a:r>
              <a:rPr lang="en-US" b="1" dirty="0" err="1" smtClean="0"/>
              <a:t>Netlify</a:t>
            </a:r>
            <a:r>
              <a:rPr lang="ru-RU" b="1" dirty="0" smtClean="0"/>
              <a:t>?</a:t>
            </a:r>
            <a:endParaRPr lang="ru-RU" b="1" dirty="0"/>
          </a:p>
        </p:txBody>
      </p:sp>
      <p:sp>
        <p:nvSpPr>
          <p:cNvPr id="7" name="Прямоугольник 6"/>
          <p:cNvSpPr/>
          <p:nvPr/>
        </p:nvSpPr>
        <p:spPr>
          <a:xfrm>
            <a:off x="0" y="1071546"/>
            <a:ext cx="9144000" cy="4493538"/>
          </a:xfrm>
          <a:prstGeom prst="rect">
            <a:avLst/>
          </a:prstGeom>
        </p:spPr>
        <p:txBody>
          <a:bodyPr wrap="square">
            <a:spAutoFit/>
          </a:bodyPr>
          <a:lstStyle/>
          <a:p>
            <a:pPr algn="just"/>
            <a:r>
              <a:rPr lang="ru-RU" sz="2200" b="1" dirty="0" smtClean="0">
                <a:latin typeface="Times New Roman" pitchFamily="18" charset="0"/>
                <a:cs typeface="Times New Roman" pitchFamily="18" charset="0"/>
              </a:rPr>
              <a:t>Основные возможности платформы включают:</a:t>
            </a:r>
          </a:p>
          <a:p>
            <a:pPr algn="just"/>
            <a:endParaRPr lang="ru-RU" sz="2200" dirty="0" smtClean="0">
              <a:latin typeface="Times New Roman" pitchFamily="18" charset="0"/>
              <a:cs typeface="Times New Roman" pitchFamily="18" charset="0"/>
            </a:endParaRPr>
          </a:p>
          <a:p>
            <a:pPr algn="just"/>
            <a:r>
              <a:rPr lang="ru-RU" sz="2200" dirty="0" smtClean="0">
                <a:latin typeface="Times New Roman" pitchFamily="18" charset="0"/>
                <a:cs typeface="Times New Roman" pitchFamily="18" charset="0"/>
              </a:rPr>
              <a:t>1. Автоматизация </a:t>
            </a:r>
            <a:r>
              <a:rPr lang="ru-RU" sz="2200" dirty="0" err="1" smtClean="0">
                <a:latin typeface="Times New Roman" pitchFamily="18" charset="0"/>
                <a:cs typeface="Times New Roman" pitchFamily="18" charset="0"/>
              </a:rPr>
              <a:t>деплоя</a:t>
            </a:r>
            <a:r>
              <a:rPr lang="ru-RU" sz="2200" dirty="0" smtClean="0">
                <a:latin typeface="Times New Roman" pitchFamily="18" charset="0"/>
                <a:cs typeface="Times New Roman" pitchFamily="18" charset="0"/>
              </a:rPr>
              <a:t>: Платформа позволяет настроить автоматическое развертывание вашего сайта при каждом изменении в </a:t>
            </a:r>
            <a:r>
              <a:rPr lang="ru-RU" sz="2200" dirty="0" err="1" smtClean="0">
                <a:latin typeface="Times New Roman" pitchFamily="18" charset="0"/>
                <a:cs typeface="Times New Roman" pitchFamily="18" charset="0"/>
              </a:rPr>
              <a:t>репозитории</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GitHub</a:t>
            </a:r>
            <a:r>
              <a:rPr lang="ru-RU" sz="2200" dirty="0" smtClean="0">
                <a:latin typeface="Times New Roman" pitchFamily="18" charset="0"/>
                <a:cs typeface="Times New Roman" pitchFamily="18" charset="0"/>
              </a:rPr>
              <a:t> или </a:t>
            </a:r>
            <a:r>
              <a:rPr lang="ru-RU" sz="2200" dirty="0" err="1" smtClean="0">
                <a:latin typeface="Times New Roman" pitchFamily="18" charset="0"/>
                <a:cs typeface="Times New Roman" pitchFamily="18" charset="0"/>
              </a:rPr>
              <a:t>Bitbucket</a:t>
            </a:r>
            <a:r>
              <a:rPr lang="ru-RU" sz="2200" dirty="0" smtClean="0">
                <a:latin typeface="Times New Roman" pitchFamily="18" charset="0"/>
                <a:cs typeface="Times New Roman" pitchFamily="18" charset="0"/>
              </a:rPr>
              <a:t>.</a:t>
            </a:r>
          </a:p>
          <a:p>
            <a:pPr algn="just"/>
            <a:r>
              <a:rPr lang="ru-RU" sz="2200" dirty="0" smtClean="0">
                <a:latin typeface="Times New Roman" pitchFamily="18" charset="0"/>
                <a:cs typeface="Times New Roman" pitchFamily="18" charset="0"/>
              </a:rPr>
              <a:t>2. Функции </a:t>
            </a:r>
            <a:r>
              <a:rPr lang="ru-RU" sz="2200" dirty="0" err="1" smtClean="0">
                <a:latin typeface="Times New Roman" pitchFamily="18" charset="0"/>
                <a:cs typeface="Times New Roman" pitchFamily="18" charset="0"/>
              </a:rPr>
              <a:t>JavaScript</a:t>
            </a:r>
            <a:r>
              <a:rPr lang="ru-RU" sz="2200" dirty="0" smtClean="0">
                <a:latin typeface="Times New Roman" pitchFamily="18" charset="0"/>
                <a:cs typeface="Times New Roman" pitchFamily="18" charset="0"/>
              </a:rPr>
              <a:t>: Возможность использовать функции </a:t>
            </a:r>
            <a:r>
              <a:rPr lang="ru-RU" sz="2200" dirty="0" err="1" smtClean="0">
                <a:latin typeface="Times New Roman" pitchFamily="18" charset="0"/>
                <a:cs typeface="Times New Roman" pitchFamily="18" charset="0"/>
              </a:rPr>
              <a:t>JavaScript</a:t>
            </a:r>
            <a:r>
              <a:rPr lang="ru-RU" sz="2200" dirty="0" smtClean="0">
                <a:latin typeface="Times New Roman" pitchFamily="18" charset="0"/>
                <a:cs typeface="Times New Roman" pitchFamily="18" charset="0"/>
              </a:rPr>
              <a:t> для обработки данных и логики перед их отправкой на сервер.</a:t>
            </a:r>
          </a:p>
          <a:p>
            <a:pPr algn="just"/>
            <a:r>
              <a:rPr lang="ru-RU" sz="2200" dirty="0" smtClean="0">
                <a:latin typeface="Times New Roman" pitchFamily="18" charset="0"/>
                <a:cs typeface="Times New Roman" pitchFamily="18" charset="0"/>
              </a:rPr>
              <a:t>3. Аналитика: Интеграция с </a:t>
            </a:r>
            <a:r>
              <a:rPr lang="ru-RU" sz="2200" dirty="0" err="1" smtClean="0">
                <a:latin typeface="Times New Roman" pitchFamily="18" charset="0"/>
                <a:cs typeface="Times New Roman" pitchFamily="18" charset="0"/>
              </a:rPr>
              <a:t>Google</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Analytics</a:t>
            </a:r>
            <a:r>
              <a:rPr lang="ru-RU" sz="2200" dirty="0" smtClean="0">
                <a:latin typeface="Times New Roman" pitchFamily="18" charset="0"/>
                <a:cs typeface="Times New Roman" pitchFamily="18" charset="0"/>
              </a:rPr>
              <a:t> и другими инструментами аналитики для отслеживания посещаемости сайта.</a:t>
            </a:r>
          </a:p>
          <a:p>
            <a:pPr algn="just"/>
            <a:r>
              <a:rPr lang="ru-RU" sz="2200" dirty="0" smtClean="0">
                <a:latin typeface="Times New Roman" pitchFamily="18" charset="0"/>
                <a:cs typeface="Times New Roman" pitchFamily="18" charset="0"/>
              </a:rPr>
              <a:t>4. Интерактивная документация: Встроенная интерактивная документация для разработчиков, которая помогает быстро освоить платформу.</a:t>
            </a:r>
          </a:p>
          <a:p>
            <a:pPr algn="just"/>
            <a:r>
              <a:rPr lang="ru-RU" sz="2200" dirty="0" smtClean="0">
                <a:latin typeface="Times New Roman" pitchFamily="18" charset="0"/>
                <a:cs typeface="Times New Roman" pitchFamily="18" charset="0"/>
              </a:rPr>
              <a:t>5. Мониторинг и отладка: Инструменты для мониторинга производительности и отладки ошибок в реальном времени.</a:t>
            </a:r>
            <a:endParaRPr lang="ru-RU"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TotalTime>
  <Words>583</Words>
  <Application>Microsoft Office PowerPoint</Application>
  <PresentationFormat>Экран (4:3)</PresentationFormat>
  <Paragraphs>79</Paragraphs>
  <Slides>16</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16</vt:i4>
      </vt:variant>
    </vt:vector>
  </HeadingPairs>
  <TitlesOfParts>
    <vt:vector size="17" baseType="lpstr">
      <vt:lpstr>Тема Office</vt:lpstr>
      <vt:lpstr>Сервис Wordstat для продвижения сайта </vt:lpstr>
      <vt:lpstr>Дополнительные материалы</vt:lpstr>
      <vt:lpstr>Яндекс Вордстат</vt:lpstr>
      <vt:lpstr>Яндекс Вордстат</vt:lpstr>
      <vt:lpstr>Яндекс Вордстат: Операторы поиска</vt:lpstr>
      <vt:lpstr>Яндекс Вордстат: Операторы поиска</vt:lpstr>
      <vt:lpstr>Поисковая реклама</vt:lpstr>
      <vt:lpstr>Offer Deadline Call to action</vt:lpstr>
      <vt:lpstr>Offer Deadline Call to action</vt:lpstr>
      <vt:lpstr>Сайт-резюме</vt:lpstr>
      <vt:lpstr>Дополнительные материалы</vt:lpstr>
      <vt:lpstr>Что такое сайт резюме?</vt:lpstr>
      <vt:lpstr>Возможная структура резюме</vt:lpstr>
      <vt:lpstr>Преимущества сайта резюме</vt:lpstr>
      <vt:lpstr>Для чего используется Netlify?</vt:lpstr>
      <vt:lpstr>Для чего используется Netlify?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Язык С++: основные операции, ветвления и циклы</dc:title>
  <dc:creator>user</dc:creator>
  <cp:lastModifiedBy>user</cp:lastModifiedBy>
  <cp:revision>56</cp:revision>
  <dcterms:created xsi:type="dcterms:W3CDTF">2024-02-01T09:49:19Z</dcterms:created>
  <dcterms:modified xsi:type="dcterms:W3CDTF">2026-10-01T15:12:50Z</dcterms:modified>
</cp:coreProperties>
</file>