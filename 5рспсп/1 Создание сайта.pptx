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5" r:id="rId3"/>
    <p:sldId id="266" r:id="rId4"/>
    <p:sldId id="275" r:id="rId5"/>
    <p:sldId id="279" r:id="rId6"/>
    <p:sldId id="276" r:id="rId7"/>
    <p:sldId id="277" r:id="rId8"/>
    <p:sldId id="278" r:id="rId9"/>
    <p:sldId id="269" r:id="rId10"/>
    <p:sldId id="272" r:id="rId11"/>
    <p:sldId id="270" r:id="rId12"/>
    <p:sldId id="271" r:id="rId13"/>
    <p:sldId id="273"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0114" autoAdjust="0"/>
  </p:normalViewPr>
  <p:slideViewPr>
    <p:cSldViewPr>
      <p:cViewPr>
        <p:scale>
          <a:sx n="75" d="100"/>
          <a:sy n="75" d="100"/>
        </p:scale>
        <p:origin x="-2580" y="-4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13B1A1-4C80-4C06-9A5F-0DD035C47709}" type="datetimeFigureOut">
              <a:rPr lang="ru-RU" smtClean="0"/>
              <a:t>21.08.2026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680D2C-4E52-40A7-859F-9E1F92291039}" type="slidenum">
              <a:rPr lang="ru-RU" smtClean="0"/>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Коротко: &lt;</a:t>
            </a:r>
            <a:r>
              <a:rPr lang="ru-RU" dirty="0" err="1" smtClean="0"/>
              <a:t>section</a:t>
            </a:r>
            <a:r>
              <a:rPr lang="ru-RU" dirty="0" smtClean="0"/>
              <a:t>&gt; — это тег для выделения на </a:t>
            </a:r>
            <a:r>
              <a:rPr lang="ru-RU" dirty="0" err="1" smtClean="0"/>
              <a:t>веб‑странице</a:t>
            </a:r>
            <a:r>
              <a:rPr lang="ru-RU" dirty="0" smtClean="0"/>
              <a:t> отдельного смыслового блока с общей темой. Представьте, что вы делите страницу на главы или разделы — вот для этого он и нужен. Проще говоря: если у вас на странице есть блоки вроде «О компании», «Наши услуги», «Отзывы клиентов» или «Контакты», каждый из них логично обернуть в &lt;</a:t>
            </a:r>
            <a:r>
              <a:rPr lang="ru-RU" dirty="0" err="1" smtClean="0"/>
              <a:t>section</a:t>
            </a:r>
            <a:r>
              <a:rPr lang="ru-RU" dirty="0" smtClean="0"/>
              <a:t>&gt;.</a:t>
            </a:r>
          </a:p>
          <a:p>
            <a:r>
              <a:rPr lang="ru-RU" dirty="0" smtClean="0"/>
              <a:t>Тег &lt;</a:t>
            </a:r>
            <a:r>
              <a:rPr lang="ru-RU" dirty="0" err="1" smtClean="0"/>
              <a:t>article</a:t>
            </a:r>
            <a:r>
              <a:rPr lang="ru-RU" dirty="0" smtClean="0"/>
              <a:t>&gt; предназначен для независимого блока </a:t>
            </a:r>
            <a:r>
              <a:rPr lang="ru-RU" dirty="0" err="1" smtClean="0"/>
              <a:t>контента</a:t>
            </a:r>
            <a:r>
              <a:rPr lang="ru-RU" dirty="0" smtClean="0"/>
              <a:t>, который сохраняет смысл даже вне контекста страницы. Его можно: использовать отдельно без потери смысла. Примеры использования &lt;</a:t>
            </a:r>
            <a:r>
              <a:rPr lang="ru-RU" dirty="0" err="1" smtClean="0"/>
              <a:t>article</a:t>
            </a:r>
            <a:r>
              <a:rPr lang="ru-RU" dirty="0" smtClean="0"/>
              <a:t>&gt;: пост в </a:t>
            </a:r>
            <a:r>
              <a:rPr lang="ru-RU" dirty="0" err="1" smtClean="0"/>
              <a:t>блоге</a:t>
            </a:r>
            <a:r>
              <a:rPr lang="ru-RU" dirty="0" smtClean="0"/>
              <a:t>; новость на сайте; статья в энциклопедии; комментарий пользователя; карточка товара в </a:t>
            </a:r>
            <a:r>
              <a:rPr lang="ru-RU" dirty="0" err="1" smtClean="0"/>
              <a:t>интернет‑магазине</a:t>
            </a:r>
            <a:r>
              <a:rPr lang="ru-RU" dirty="0" smtClean="0"/>
              <a:t>; видео на (каждый ролик — отдельный &lt;</a:t>
            </a:r>
            <a:r>
              <a:rPr lang="ru-RU" dirty="0" err="1" smtClean="0"/>
              <a:t>article</a:t>
            </a:r>
            <a:r>
              <a:rPr lang="ru-RU" dirty="0" smtClean="0"/>
              <a:t>&gt;).</a:t>
            </a:r>
          </a:p>
          <a:p>
            <a:endParaRPr lang="ru-RU" dirty="0"/>
          </a:p>
        </p:txBody>
      </p:sp>
      <p:sp>
        <p:nvSpPr>
          <p:cNvPr id="4" name="Номер слайда 3"/>
          <p:cNvSpPr>
            <a:spLocks noGrp="1"/>
          </p:cNvSpPr>
          <p:nvPr>
            <p:ph type="sldNum" sz="quarter" idx="10"/>
          </p:nvPr>
        </p:nvSpPr>
        <p:spPr/>
        <p:txBody>
          <a:bodyPr/>
          <a:lstStyle/>
          <a:p>
            <a:fld id="{42680D2C-4E52-40A7-859F-9E1F92291039}" type="slidenum">
              <a:rPr lang="ru-RU" smtClean="0"/>
              <a:t>5</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21.08.2026</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tmlbook.ru/?ysclid=m13cflot72936777122" TargetMode="External"/><Relationship Id="rId2" Type="http://schemas.openxmlformats.org/officeDocument/2006/relationships/hyperlink" Target="https://hcdev.ru/learn/html5/headings-and-sections/" TargetMode="External"/><Relationship Id="rId1" Type="http://schemas.openxmlformats.org/officeDocument/2006/relationships/slideLayout" Target="../slideLayouts/slideLayout6.xml"/><Relationship Id="rId4" Type="http://schemas.openxmlformats.org/officeDocument/2006/relationships/hyperlink" Target="https://superbwebsitebuilders.com/ru/kak-sozdat-svoj-prostoj-html-sajt-v-bloknote/?ysclid=m13cihn8w259891343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mbdatateach.github.io/site/"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hcdev.ru/learn/html5/headings-and-sections/"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smtClean="0"/>
              <a:t>Разработка одностраничного сайта</a:t>
            </a:r>
            <a:r>
              <a:rPr lang="ru-RU" dirty="0"/>
              <a:t/>
            </a:r>
            <a:br>
              <a:rPr lang="ru-RU" dirty="0"/>
            </a:b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1285860"/>
            <a:ext cx="9144000" cy="3785652"/>
          </a:xfrm>
          <a:prstGeom prst="rect">
            <a:avLst/>
          </a:prstGeom>
          <a:ln>
            <a:noFill/>
          </a:ln>
        </p:spPr>
        <p:txBody>
          <a:bodyPr wrap="square">
            <a:spAutoFit/>
          </a:bodyPr>
          <a:lstStyle/>
          <a:p>
            <a:r>
              <a:rPr lang="ru-RU" sz="2400" i="1" dirty="0" smtClean="0">
                <a:latin typeface="Cambria" pitchFamily="18" charset="0"/>
              </a:rPr>
              <a:t>Заголовки и разделы</a:t>
            </a:r>
          </a:p>
          <a:p>
            <a:pPr algn="just"/>
            <a:r>
              <a:rPr lang="en-US" sz="2400" b="1" dirty="0" smtClean="0">
                <a:latin typeface="Cambria" pitchFamily="18" charset="0"/>
                <a:hlinkClick r:id="rId2"/>
              </a:rPr>
              <a:t>https://hcdev.ru/learn/html5/headings-and-sections/</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Сайт для </a:t>
            </a:r>
            <a:r>
              <a:rPr lang="ru-RU" sz="2400" i="1" dirty="0" err="1" smtClean="0">
                <a:latin typeface="Cambria" pitchFamily="18" charset="0"/>
              </a:rPr>
              <a:t>веб-разработчика</a:t>
            </a:r>
            <a:endParaRPr lang="ru-RU" sz="2400" i="1" dirty="0" smtClean="0">
              <a:latin typeface="Cambria" pitchFamily="18" charset="0"/>
            </a:endParaRPr>
          </a:p>
          <a:p>
            <a:pPr algn="just"/>
            <a:r>
              <a:rPr lang="en-US" sz="2400" b="1" dirty="0" smtClean="0">
                <a:latin typeface="Cambria" pitchFamily="18" charset="0"/>
                <a:hlinkClick r:id="rId3"/>
              </a:rPr>
              <a:t>https://htmlbook.ru/?ysclid=m13cflot72936777122</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Как создать простой HTML сайт в блокноте</a:t>
            </a:r>
          </a:p>
          <a:p>
            <a:pPr algn="just"/>
            <a:r>
              <a:rPr lang="en-US" sz="2400" b="1" dirty="0" smtClean="0">
                <a:hlinkClick r:id="rId4"/>
              </a:rPr>
              <a:t>https://superbwebsitebuilders.com/ru/kak-sozdat-svoj-prostoj-html-sajt-v-bloknote/?ysclid=m13cihn8w2598913438</a:t>
            </a:r>
            <a:endParaRPr lang="ru-RU" sz="2400" b="1" dirty="0" smtClean="0">
              <a:latin typeface="Cambria" pitchFamily="18" charset="0"/>
            </a:endParaRPr>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lstStyle/>
          <a:p>
            <a:r>
              <a:rPr lang="ru-RU" b="1" dirty="0" smtClean="0"/>
              <a:t>Основные определения</a:t>
            </a:r>
            <a:endParaRPr lang="ru-RU" b="1" dirty="0"/>
          </a:p>
        </p:txBody>
      </p:sp>
      <p:sp>
        <p:nvSpPr>
          <p:cNvPr id="14" name="Прямоугольник 13"/>
          <p:cNvSpPr/>
          <p:nvPr/>
        </p:nvSpPr>
        <p:spPr>
          <a:xfrm>
            <a:off x="0" y="785794"/>
            <a:ext cx="9144000" cy="27146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0" y="785794"/>
            <a:ext cx="9144000" cy="2800767"/>
          </a:xfrm>
          <a:prstGeom prst="rect">
            <a:avLst/>
          </a:prstGeom>
        </p:spPr>
        <p:txBody>
          <a:bodyPr wrap="square">
            <a:spAutoFit/>
          </a:bodyPr>
          <a:lstStyle/>
          <a:p>
            <a:pPr algn="just"/>
            <a:r>
              <a:rPr lang="ru-RU" sz="2200" b="1" dirty="0" smtClean="0">
                <a:latin typeface="Times New Roman" pitchFamily="18" charset="0"/>
                <a:cs typeface="Times New Roman" pitchFamily="18" charset="0"/>
              </a:rPr>
              <a:t>Сайт</a:t>
            </a:r>
            <a:r>
              <a:rPr lang="ru-RU" sz="2200" dirty="0" smtClean="0">
                <a:latin typeface="Times New Roman" pitchFamily="18" charset="0"/>
                <a:cs typeface="Times New Roman" pitchFamily="18" charset="0"/>
              </a:rPr>
              <a:t> — это набор связанных </a:t>
            </a:r>
            <a:r>
              <a:rPr lang="ru-RU" sz="2200" dirty="0" err="1" smtClean="0">
                <a:latin typeface="Times New Roman" pitchFamily="18" charset="0"/>
                <a:cs typeface="Times New Roman" pitchFamily="18" charset="0"/>
              </a:rPr>
              <a:t>веб-страниц</a:t>
            </a:r>
            <a:r>
              <a:rPr lang="ru-RU" sz="2200" dirty="0" smtClean="0">
                <a:latin typeface="Times New Roman" pitchFamily="18" charset="0"/>
                <a:cs typeface="Times New Roman" pitchFamily="18" charset="0"/>
              </a:rPr>
              <a:t>, которые обычно имеют общий домен и предназначены для предоставления информации пользователям. Сайты могут быть статическими или динамическими, но их основная цель — представление </a:t>
            </a:r>
            <a:r>
              <a:rPr lang="ru-RU" sz="2200" dirty="0" err="1" smtClean="0">
                <a:latin typeface="Times New Roman" pitchFamily="18" charset="0"/>
                <a:cs typeface="Times New Roman" pitchFamily="18" charset="0"/>
              </a:rPr>
              <a:t>контента</a:t>
            </a:r>
            <a:r>
              <a:rPr lang="ru-RU" sz="2200" dirty="0" smtClean="0">
                <a:latin typeface="Times New Roman" pitchFamily="18" charset="0"/>
                <a:cs typeface="Times New Roman" pitchFamily="18" charset="0"/>
              </a:rPr>
              <a:t>. Они могут включать текст, изображения, видео и другие </a:t>
            </a:r>
            <a:r>
              <a:rPr lang="ru-RU" sz="2200" dirty="0" err="1" smtClean="0">
                <a:latin typeface="Times New Roman" pitchFamily="18" charset="0"/>
                <a:cs typeface="Times New Roman" pitchFamily="18" charset="0"/>
              </a:rPr>
              <a:t>мультимедийные</a:t>
            </a:r>
            <a:r>
              <a:rPr lang="ru-RU" sz="2200" dirty="0" smtClean="0">
                <a:latin typeface="Times New Roman" pitchFamily="18" charset="0"/>
                <a:cs typeface="Times New Roman" pitchFamily="18" charset="0"/>
              </a:rPr>
              <a:t> элементы. Сайты часто создаются с использованием HTML, CSS и базового </a:t>
            </a:r>
            <a:r>
              <a:rPr lang="ru-RU" sz="2200" dirty="0" err="1" smtClean="0">
                <a:latin typeface="Times New Roman" pitchFamily="18" charset="0"/>
                <a:cs typeface="Times New Roman" pitchFamily="18" charset="0"/>
              </a:rPr>
              <a:t>JavaScript</a:t>
            </a:r>
            <a:r>
              <a:rPr lang="ru-RU" sz="2200" dirty="0" smtClean="0">
                <a:latin typeface="Times New Roman" pitchFamily="18" charset="0"/>
                <a:cs typeface="Times New Roman" pitchFamily="18" charset="0"/>
              </a:rPr>
              <a:t>, что делает их относительно простыми в разработке и поддержке. </a:t>
            </a:r>
            <a:r>
              <a:rPr lang="ru-RU" sz="2200" b="1" dirty="0" smtClean="0">
                <a:latin typeface="Times New Roman" pitchFamily="18" charset="0"/>
                <a:cs typeface="Times New Roman" pitchFamily="18" charset="0"/>
              </a:rPr>
              <a:t>Примеры</a:t>
            </a:r>
            <a:r>
              <a:rPr lang="ru-RU" sz="2200" dirty="0" smtClean="0">
                <a:latin typeface="Times New Roman" pitchFamily="18" charset="0"/>
                <a:cs typeface="Times New Roman" pitchFamily="18" charset="0"/>
              </a:rPr>
              <a:t>: Личный </a:t>
            </a:r>
            <a:r>
              <a:rPr lang="ru-RU" sz="2200" dirty="0" err="1" smtClean="0">
                <a:latin typeface="Times New Roman" pitchFamily="18" charset="0"/>
                <a:cs typeface="Times New Roman" pitchFamily="18" charset="0"/>
              </a:rPr>
              <a:t>блог</a:t>
            </a:r>
            <a:r>
              <a:rPr lang="ru-RU" sz="2200" dirty="0" smtClean="0">
                <a:latin typeface="Times New Roman" pitchFamily="18" charset="0"/>
                <a:cs typeface="Times New Roman" pitchFamily="18" charset="0"/>
              </a:rPr>
              <a:t>, новостной портал, корпоративный сайт.</a:t>
            </a:r>
            <a:endParaRPr lang="ru-RU" sz="2200" dirty="0">
              <a:latin typeface="Times New Roman" pitchFamily="18" charset="0"/>
              <a:cs typeface="Times New Roman" pitchFamily="18" charset="0"/>
            </a:endParaRPr>
          </a:p>
        </p:txBody>
      </p:sp>
      <p:sp>
        <p:nvSpPr>
          <p:cNvPr id="6" name="Прямоугольник 5"/>
          <p:cNvSpPr/>
          <p:nvPr/>
        </p:nvSpPr>
        <p:spPr>
          <a:xfrm>
            <a:off x="0" y="3647265"/>
            <a:ext cx="9144000" cy="307183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p:nvPr/>
        </p:nvSpPr>
        <p:spPr>
          <a:xfrm>
            <a:off x="0" y="3647265"/>
            <a:ext cx="9144000" cy="3139321"/>
          </a:xfrm>
          <a:prstGeom prst="rect">
            <a:avLst/>
          </a:prstGeom>
        </p:spPr>
        <p:txBody>
          <a:bodyPr wrap="square">
            <a:spAutoFit/>
          </a:bodyPr>
          <a:lstStyle/>
          <a:p>
            <a:pPr algn="just"/>
            <a:r>
              <a:rPr lang="ru-RU" sz="2200" b="1" dirty="0" err="1" smtClean="0">
                <a:latin typeface="Times New Roman" pitchFamily="18" charset="0"/>
                <a:cs typeface="Times New Roman" pitchFamily="18" charset="0"/>
              </a:rPr>
              <a:t>Веб-приложение</a:t>
            </a:r>
            <a:r>
              <a:rPr lang="ru-RU" sz="2200" dirty="0" smtClean="0">
                <a:latin typeface="Times New Roman" pitchFamily="18" charset="0"/>
                <a:cs typeface="Times New Roman" pitchFamily="18" charset="0"/>
              </a:rPr>
              <a:t> — это интерактивное программное обеспечение, доступное через </a:t>
            </a:r>
            <a:r>
              <a:rPr lang="ru-RU" sz="2200" dirty="0" err="1" smtClean="0">
                <a:latin typeface="Times New Roman" pitchFamily="18" charset="0"/>
                <a:cs typeface="Times New Roman" pitchFamily="18" charset="0"/>
              </a:rPr>
              <a:t>веб-браузер</a:t>
            </a:r>
            <a:r>
              <a:rPr lang="ru-RU" sz="2200" dirty="0" smtClean="0">
                <a:latin typeface="Times New Roman" pitchFamily="18" charset="0"/>
                <a:cs typeface="Times New Roman" pitchFamily="18" charset="0"/>
              </a:rPr>
              <a:t>. Оно предназначено для выполнения конкретных задач и часто требует взаимодействия с пользователем. </a:t>
            </a:r>
            <a:r>
              <a:rPr lang="ru-RU" sz="2200" dirty="0" err="1" smtClean="0">
                <a:latin typeface="Times New Roman" pitchFamily="18" charset="0"/>
                <a:cs typeface="Times New Roman" pitchFamily="18" charset="0"/>
              </a:rPr>
              <a:t>Веб-приложения</a:t>
            </a:r>
            <a:r>
              <a:rPr lang="ru-RU" sz="2200" dirty="0" smtClean="0">
                <a:latin typeface="Times New Roman" pitchFamily="18" charset="0"/>
                <a:cs typeface="Times New Roman" pitchFamily="18" charset="0"/>
              </a:rPr>
              <a:t> могут включать сложные интерфейсы и </a:t>
            </a:r>
            <a:r>
              <a:rPr lang="ru-RU" sz="2200" dirty="0" smtClean="0">
                <a:latin typeface="Times New Roman" pitchFamily="18" charset="0"/>
                <a:cs typeface="Times New Roman" pitchFamily="18" charset="0"/>
              </a:rPr>
              <a:t>функциональность. </a:t>
            </a:r>
            <a:r>
              <a:rPr lang="ru-RU" sz="2200" dirty="0" smtClean="0">
                <a:latin typeface="Times New Roman" pitchFamily="18" charset="0"/>
                <a:cs typeface="Times New Roman" pitchFamily="18" charset="0"/>
              </a:rPr>
              <a:t>Они часто разрабатываются с использованием </a:t>
            </a:r>
            <a:r>
              <a:rPr lang="ru-RU" sz="2200" dirty="0" smtClean="0">
                <a:latin typeface="Times New Roman" pitchFamily="18" charset="0"/>
                <a:cs typeface="Times New Roman" pitchFamily="18" charset="0"/>
              </a:rPr>
              <a:t>серверных языков </a:t>
            </a:r>
            <a:r>
              <a:rPr lang="ru-RU" sz="2200" dirty="0" smtClean="0">
                <a:latin typeface="Times New Roman" pitchFamily="18" charset="0"/>
                <a:cs typeface="Times New Roman" pitchFamily="18" charset="0"/>
              </a:rPr>
              <a:t>программирования (например, </a:t>
            </a:r>
            <a:r>
              <a:rPr lang="ru-RU" sz="2200" dirty="0" err="1" smtClean="0">
                <a:latin typeface="Times New Roman" pitchFamily="18" charset="0"/>
                <a:cs typeface="Times New Roman" pitchFamily="18" charset="0"/>
              </a:rPr>
              <a:t>Python</a:t>
            </a:r>
            <a:r>
              <a:rPr lang="ru-RU" sz="2200"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Но можно использовать и </a:t>
            </a:r>
            <a:r>
              <a:rPr lang="ru-RU" sz="2200" dirty="0" err="1" smtClean="0">
                <a:latin typeface="Times New Roman" pitchFamily="18" charset="0"/>
                <a:cs typeface="Times New Roman" pitchFamily="18" charset="0"/>
              </a:rPr>
              <a:t>JavaScript</a:t>
            </a:r>
            <a:r>
              <a:rPr lang="ru-RU" sz="2200" dirty="0" smtClean="0">
                <a:latin typeface="Times New Roman" pitchFamily="18" charset="0"/>
                <a:cs typeface="Times New Roman" pitchFamily="18" charset="0"/>
              </a:rPr>
              <a:t> (в том числе, его </a:t>
            </a:r>
            <a:r>
              <a:rPr lang="ru-RU" sz="2200" dirty="0" smtClean="0">
                <a:latin typeface="Times New Roman" pitchFamily="18" charset="0"/>
                <a:cs typeface="Times New Roman" pitchFamily="18" charset="0"/>
              </a:rPr>
              <a:t>продвинутый шаблон, </a:t>
            </a:r>
            <a:r>
              <a:rPr lang="ru-RU" sz="2200" dirty="0" err="1" smtClean="0">
                <a:latin typeface="Times New Roman" pitchFamily="18" charset="0"/>
                <a:cs typeface="Times New Roman" pitchFamily="18" charset="0"/>
              </a:rPr>
              <a:t>React</a:t>
            </a:r>
            <a:r>
              <a:rPr lang="ru-RU"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и готовые системы управления </a:t>
            </a:r>
            <a:r>
              <a:rPr lang="ru-RU" sz="2200" dirty="0" err="1" smtClean="0">
                <a:latin typeface="Times New Roman" pitchFamily="18" charset="0"/>
                <a:cs typeface="Times New Roman" pitchFamily="18" charset="0"/>
              </a:rPr>
              <a:t>контентом</a:t>
            </a:r>
            <a:r>
              <a:rPr lang="ru-RU" sz="2200"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CMS</a:t>
            </a:r>
            <a:r>
              <a:rPr lang="ru-RU"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в сети Интернет. Примеры: Интернет-магазин, социальная </a:t>
            </a:r>
            <a:r>
              <a:rPr lang="ru-RU" sz="2200" dirty="0" smtClean="0">
                <a:latin typeface="Times New Roman" pitchFamily="18" charset="0"/>
                <a:cs typeface="Times New Roman" pitchFamily="18" charset="0"/>
              </a:rPr>
              <a:t>сеть.</a:t>
            </a:r>
            <a:endParaRPr lang="ru-RU"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357430"/>
            <a:ext cx="9144000" cy="4154984"/>
          </a:xfrm>
          <a:prstGeom prst="rect">
            <a:avLst/>
          </a:prstGeom>
          <a:solidFill>
            <a:schemeClr val="accent3">
              <a:lumMod val="20000"/>
              <a:lumOff val="80000"/>
            </a:schemeClr>
          </a:solidFill>
        </p:spPr>
        <p:txBody>
          <a:bodyPr wrap="square">
            <a:spAutoFit/>
          </a:bodyPr>
          <a:lstStyle/>
          <a:p>
            <a:pPr algn="just"/>
            <a:r>
              <a:rPr lang="ru-RU" sz="2200" dirty="0" smtClean="0">
                <a:latin typeface="Times New Roman" pitchFamily="18" charset="0"/>
                <a:cs typeface="Times New Roman" pitchFamily="18" charset="0"/>
              </a:rPr>
              <a:t>Навык создания одностраничных сайтов полезен по нескольким причинам: </a:t>
            </a:r>
          </a:p>
          <a:p>
            <a:pPr marL="342900" indent="-342900" algn="just">
              <a:buAutoNum type="arabicPeriod"/>
            </a:pPr>
            <a:r>
              <a:rPr lang="ru-RU" sz="2200" b="1" dirty="0" smtClean="0">
                <a:latin typeface="Times New Roman" pitchFamily="18" charset="0"/>
                <a:cs typeface="Times New Roman" pitchFamily="18" charset="0"/>
              </a:rPr>
              <a:t>Эффективное продвижение продуктов и услуг. </a:t>
            </a:r>
            <a:r>
              <a:rPr lang="ru-RU" sz="2200" dirty="0" smtClean="0">
                <a:latin typeface="Times New Roman" pitchFamily="18" charset="0"/>
                <a:cs typeface="Times New Roman" pitchFamily="18" charset="0"/>
              </a:rPr>
              <a:t>Сайты позволяют сосредоточиться на одной конкретной цели, будь то продажа товара, сбор заявок или информирование о компании. Это помогает быстро донести ключевое сообщение до аудитории.</a:t>
            </a:r>
          </a:p>
          <a:p>
            <a:pPr marL="342900" indent="-342900" algn="just">
              <a:buAutoNum type="arabicPeriod"/>
            </a:pPr>
            <a:r>
              <a:rPr lang="ru-RU" sz="2200" b="1" dirty="0" smtClean="0">
                <a:latin typeface="Times New Roman" pitchFamily="18" charset="0"/>
                <a:cs typeface="Times New Roman" pitchFamily="18" charset="0"/>
              </a:rPr>
              <a:t>Гибкость и </a:t>
            </a:r>
            <a:r>
              <a:rPr lang="ru-RU" sz="2200" b="1" dirty="0" err="1" smtClean="0">
                <a:latin typeface="Times New Roman" pitchFamily="18" charset="0"/>
                <a:cs typeface="Times New Roman" pitchFamily="18" charset="0"/>
              </a:rPr>
              <a:t>масштабируемость</a:t>
            </a:r>
            <a:r>
              <a:rPr lang="ru-RU" sz="2200" b="1"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Сайты легко адаптировать под разные задачи и целевые аудитории. Менеджеры могут быстро тестировать новые идеи, собирать обратную связь и вносить изменения.</a:t>
            </a:r>
          </a:p>
          <a:p>
            <a:pPr marL="342900" indent="-342900" algn="just">
              <a:buAutoNum type="arabicPeriod"/>
            </a:pPr>
            <a:r>
              <a:rPr lang="ru-RU" sz="2200" b="1" dirty="0" smtClean="0">
                <a:latin typeface="Times New Roman" pitchFamily="18" charset="0"/>
                <a:cs typeface="Times New Roman" pitchFamily="18" charset="0"/>
              </a:rPr>
              <a:t>Экономия времени и ресурсов. </a:t>
            </a:r>
            <a:r>
              <a:rPr lang="ru-RU" sz="2200" dirty="0" smtClean="0">
                <a:latin typeface="Times New Roman" pitchFamily="18" charset="0"/>
                <a:cs typeface="Times New Roman" pitchFamily="18" charset="0"/>
              </a:rPr>
              <a:t>Создание сайта занимает меньше времени и требует меньших затрат по сравнению с разработкой полноценного многостраничного ресурса.</a:t>
            </a:r>
          </a:p>
        </p:txBody>
      </p:sp>
      <p:sp>
        <p:nvSpPr>
          <p:cNvPr id="3" name="Прямоугольник 2"/>
          <p:cNvSpPr/>
          <p:nvPr/>
        </p:nvSpPr>
        <p:spPr>
          <a:xfrm>
            <a:off x="0" y="785794"/>
            <a:ext cx="9144000" cy="1446550"/>
          </a:xfrm>
          <a:prstGeom prst="rect">
            <a:avLst/>
          </a:prstGeom>
          <a:solidFill>
            <a:schemeClr val="bg2"/>
          </a:solidFill>
        </p:spPr>
        <p:txBody>
          <a:bodyPr wrap="square">
            <a:spAutoFit/>
          </a:bodyPr>
          <a:lstStyle/>
          <a:p>
            <a:pPr algn="just"/>
            <a:r>
              <a:rPr lang="ru-RU" sz="2200" dirty="0" smtClean="0">
                <a:latin typeface="Times New Roman" pitchFamily="18" charset="0"/>
                <a:cs typeface="Times New Roman" pitchFamily="18" charset="0"/>
              </a:rPr>
              <a:t>Продвижение сайта</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это набор действий, которые помогают сделать сайт более заметным в интернете и привлечь как можно больше аудитории</a:t>
            </a:r>
            <a:r>
              <a:rPr lang="ru-RU" sz="2200" dirty="0" smtClean="0">
                <a:latin typeface="Times New Roman" pitchFamily="18" charset="0"/>
                <a:cs typeface="Times New Roman" pitchFamily="18" charset="0"/>
              </a:rPr>
              <a:t>, которая заинтересована в потреблении </a:t>
            </a:r>
            <a:r>
              <a:rPr lang="ru-RU" sz="2200" dirty="0" err="1" smtClean="0">
                <a:latin typeface="Times New Roman" pitchFamily="18" charset="0"/>
                <a:cs typeface="Times New Roman" pitchFamily="18" charset="0"/>
              </a:rPr>
              <a:t>контента</a:t>
            </a:r>
            <a:r>
              <a:rPr lang="ru-RU" sz="2200" dirty="0" smtClean="0">
                <a:latin typeface="Times New Roman" pitchFamily="18" charset="0"/>
                <a:cs typeface="Times New Roman" pitchFamily="18" charset="0"/>
              </a:rPr>
              <a:t>, покупке товаров или услуг.</a:t>
            </a:r>
            <a:endParaRPr lang="ru-RU" sz="2200" dirty="0">
              <a:latin typeface="Times New Roman" pitchFamily="18" charset="0"/>
              <a:cs typeface="Times New Roman" pitchFamily="18" charset="0"/>
            </a:endParaRPr>
          </a:p>
        </p:txBody>
      </p:sp>
      <p:sp>
        <p:nvSpPr>
          <p:cNvPr id="4" name="Заголовок 1"/>
          <p:cNvSpPr txBox="1">
            <a:spLocks/>
          </p:cNvSpPr>
          <p:nvPr/>
        </p:nvSpPr>
        <p:spPr>
          <a:xfrm>
            <a:off x="500034" y="-142892"/>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1" i="0" u="none" strike="noStrike" kern="1200" cap="none" spc="0" normalizeH="0" baseline="0" noProof="0" dirty="0" smtClean="0">
                <a:ln>
                  <a:noFill/>
                </a:ln>
                <a:solidFill>
                  <a:schemeClr val="tx1"/>
                </a:solidFill>
                <a:effectLst/>
                <a:uLnTx/>
                <a:uFillTx/>
                <a:latin typeface="+mj-lt"/>
                <a:ea typeface="+mj-ea"/>
                <a:cs typeface="+mj-cs"/>
              </a:rPr>
              <a:t>Основные определения</a:t>
            </a:r>
            <a:endParaRPr kumimoji="0" lang="ru-RU"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85786" y="1571612"/>
            <a:ext cx="4314825" cy="3238500"/>
          </a:xfrm>
          <a:prstGeom prst="rect">
            <a:avLst/>
          </a:prstGeom>
          <a:noFill/>
          <a:ln w="9525">
            <a:noFill/>
            <a:miter lim="800000"/>
            <a:headEnd/>
            <a:tailEnd/>
          </a:ln>
          <a:effectLst/>
        </p:spPr>
      </p:pic>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Основные разделы </a:t>
            </a:r>
            <a:r>
              <a:rPr lang="ru-RU" b="1" dirty="0" err="1" smtClean="0"/>
              <a:t>веб-страницы</a:t>
            </a:r>
            <a:endParaRPr lang="ru-RU" b="1" dirty="0"/>
          </a:p>
        </p:txBody>
      </p:sp>
      <p:sp>
        <p:nvSpPr>
          <p:cNvPr id="5" name="Прямоугольник 4"/>
          <p:cNvSpPr/>
          <p:nvPr/>
        </p:nvSpPr>
        <p:spPr>
          <a:xfrm>
            <a:off x="4929190" y="642918"/>
            <a:ext cx="4214810" cy="830997"/>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Шапка</a:t>
            </a:r>
            <a:r>
              <a:rPr lang="ru-RU" sz="1600" dirty="0" smtClean="0">
                <a:latin typeface="Times New Roman" pitchFamily="18" charset="0"/>
                <a:cs typeface="Times New Roman" pitchFamily="18" charset="0"/>
              </a:rPr>
              <a:t> — размещается в верхней части страницы и содержит название сайта, главное меню и поисковую форму.</a:t>
            </a:r>
            <a:endParaRPr lang="ru-RU" sz="1600" dirty="0">
              <a:latin typeface="Times New Roman" pitchFamily="18" charset="0"/>
              <a:cs typeface="Times New Roman" pitchFamily="18" charset="0"/>
            </a:endParaRPr>
          </a:p>
        </p:txBody>
      </p:sp>
      <p:sp>
        <p:nvSpPr>
          <p:cNvPr id="6" name="Прямоугольник 5"/>
          <p:cNvSpPr/>
          <p:nvPr/>
        </p:nvSpPr>
        <p:spPr>
          <a:xfrm>
            <a:off x="5643570" y="1857364"/>
            <a:ext cx="3500430" cy="830997"/>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Навигация</a:t>
            </a:r>
            <a:r>
              <a:rPr lang="ru-RU" sz="1600" dirty="0" smtClean="0">
                <a:latin typeface="Times New Roman" pitchFamily="18" charset="0"/>
                <a:cs typeface="Times New Roman" pitchFamily="18" charset="0"/>
              </a:rPr>
              <a:t> — главное меню сайта, ссылки для перехода к основным разделам сайта.</a:t>
            </a:r>
          </a:p>
        </p:txBody>
      </p:sp>
      <p:sp>
        <p:nvSpPr>
          <p:cNvPr id="7" name="Прямоугольник 6"/>
          <p:cNvSpPr/>
          <p:nvPr/>
        </p:nvSpPr>
        <p:spPr>
          <a:xfrm>
            <a:off x="4857752" y="5429264"/>
            <a:ext cx="3786214" cy="1077218"/>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Футер</a:t>
            </a:r>
            <a:r>
              <a:rPr lang="ru-RU" sz="1600" dirty="0" smtClean="0">
                <a:latin typeface="Times New Roman" pitchFamily="18" charset="0"/>
                <a:cs typeface="Times New Roman" pitchFamily="18" charset="0"/>
              </a:rPr>
              <a:t> сайта — находится внизу страницы и содержит дополнительную информацию, такую как </a:t>
            </a:r>
            <a:r>
              <a:rPr lang="ru-RU" sz="1600" dirty="0" err="1" smtClean="0">
                <a:latin typeface="Times New Roman" pitchFamily="18" charset="0"/>
                <a:cs typeface="Times New Roman" pitchFamily="18" charset="0"/>
              </a:rPr>
              <a:t>копирайты</a:t>
            </a:r>
            <a:r>
              <a:rPr lang="ru-RU" sz="1600" dirty="0" smtClean="0">
                <a:latin typeface="Times New Roman" pitchFamily="18" charset="0"/>
                <a:cs typeface="Times New Roman" pitchFamily="18" charset="0"/>
              </a:rPr>
              <a:t>, контакты, ссылки на социальные сети</a:t>
            </a:r>
          </a:p>
        </p:txBody>
      </p:sp>
      <p:sp>
        <p:nvSpPr>
          <p:cNvPr id="8" name="Прямоугольник 7"/>
          <p:cNvSpPr/>
          <p:nvPr/>
        </p:nvSpPr>
        <p:spPr>
          <a:xfrm>
            <a:off x="5643570" y="2928934"/>
            <a:ext cx="3500430" cy="1569660"/>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Боковая панель </a:t>
            </a:r>
            <a:r>
              <a:rPr lang="ru-RU" sz="1600" dirty="0" smtClean="0">
                <a:latin typeface="Times New Roman" pitchFamily="18" charset="0"/>
                <a:cs typeface="Times New Roman" pitchFamily="18" charset="0"/>
              </a:rPr>
              <a:t>часто используется для размещения вспомогательной информации, такой как навигационные ссылки, список категорий, последние новости или дополнительные ресурсы.</a:t>
            </a:r>
          </a:p>
        </p:txBody>
      </p:sp>
      <p:sp>
        <p:nvSpPr>
          <p:cNvPr id="10" name="Прямоугольник 9"/>
          <p:cNvSpPr/>
          <p:nvPr/>
        </p:nvSpPr>
        <p:spPr>
          <a:xfrm>
            <a:off x="428596" y="5288340"/>
            <a:ext cx="3571868" cy="1569660"/>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Основной блок </a:t>
            </a:r>
            <a:r>
              <a:rPr lang="ru-RU" sz="1600" dirty="0" smtClean="0">
                <a:latin typeface="Times New Roman" pitchFamily="18" charset="0"/>
                <a:cs typeface="Times New Roman" pitchFamily="18" charset="0"/>
              </a:rPr>
              <a:t>содержит основное содержимое страницы, которое представляет главную цель и суть вашего сайта. Здесь размещаются тексты, изображения, видео, формы и другие важные элементы </a:t>
            </a:r>
            <a:r>
              <a:rPr lang="ru-RU" sz="1600" dirty="0" err="1" smtClean="0">
                <a:latin typeface="Times New Roman" pitchFamily="18" charset="0"/>
                <a:cs typeface="Times New Roman" pitchFamily="18" charset="0"/>
              </a:rPr>
              <a:t>контента</a:t>
            </a:r>
            <a:r>
              <a:rPr lang="ru-RU" sz="1600" dirty="0" smtClean="0">
                <a:latin typeface="Times New Roman" pitchFamily="18" charset="0"/>
                <a:cs typeface="Times New Roman" pitchFamily="18" charset="0"/>
              </a:rPr>
              <a:t>.</a:t>
            </a:r>
          </a:p>
        </p:txBody>
      </p:sp>
      <p:cxnSp>
        <p:nvCxnSpPr>
          <p:cNvPr id="12" name="Shape 11"/>
          <p:cNvCxnSpPr>
            <a:stCxn id="5" idx="1"/>
          </p:cNvCxnSpPr>
          <p:nvPr/>
        </p:nvCxnSpPr>
        <p:spPr>
          <a:xfrm rot="10800000" flipV="1">
            <a:off x="2928926" y="1058416"/>
            <a:ext cx="2000264" cy="513195"/>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hape 16"/>
          <p:cNvCxnSpPr>
            <a:stCxn id="8" idx="1"/>
          </p:cNvCxnSpPr>
          <p:nvPr/>
        </p:nvCxnSpPr>
        <p:spPr>
          <a:xfrm rot="10800000">
            <a:off x="5072066" y="3181646"/>
            <a:ext cx="571504" cy="532118"/>
          </a:xfrm>
          <a:prstGeom prst="bentConnector3">
            <a:avLst>
              <a:gd name="adj1" fmla="val 50000"/>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a:stCxn id="6" idx="1"/>
          </p:cNvCxnSpPr>
          <p:nvPr/>
        </p:nvCxnSpPr>
        <p:spPr>
          <a:xfrm rot="10800000" flipV="1">
            <a:off x="5000628" y="2272862"/>
            <a:ext cx="642942" cy="13129"/>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hape 16"/>
          <p:cNvCxnSpPr>
            <a:stCxn id="7" idx="0"/>
          </p:cNvCxnSpPr>
          <p:nvPr/>
        </p:nvCxnSpPr>
        <p:spPr>
          <a:xfrm rot="16200000" flipV="1">
            <a:off x="4521101" y="3199505"/>
            <a:ext cx="637584" cy="3821933"/>
          </a:xfrm>
          <a:prstGeom prst="bentConnector3">
            <a:avLst>
              <a:gd name="adj1" fmla="val 50000"/>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hape 16"/>
          <p:cNvCxnSpPr>
            <a:stCxn id="10" idx="0"/>
          </p:cNvCxnSpPr>
          <p:nvPr/>
        </p:nvCxnSpPr>
        <p:spPr>
          <a:xfrm rot="16200000" flipV="1">
            <a:off x="446811" y="3520621"/>
            <a:ext cx="2106694" cy="1428744"/>
          </a:xfrm>
          <a:prstGeom prst="bentConnector4">
            <a:avLst>
              <a:gd name="adj1" fmla="val 11788"/>
              <a:gd name="adj2" fmla="val 141000"/>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4"/>
          <a:srcRect l="5351" t="11719" r="3675" b="17968"/>
          <a:stretch>
            <a:fillRect/>
          </a:stretch>
        </p:blipFill>
        <p:spPr bwMode="auto">
          <a:xfrm>
            <a:off x="1071538" y="3643314"/>
            <a:ext cx="1214446" cy="428628"/>
          </a:xfrm>
          <a:prstGeom prst="rect">
            <a:avLst/>
          </a:prstGeom>
          <a:noFill/>
          <a:ln w="9525">
            <a:noFill/>
            <a:miter lim="800000"/>
            <a:headEnd/>
            <a:tailEnd/>
          </a:ln>
          <a:effectLst/>
        </p:spPr>
      </p:pic>
      <p:pic>
        <p:nvPicPr>
          <p:cNvPr id="15" name="Picture 2"/>
          <p:cNvPicPr>
            <a:picLocks noChangeAspect="1" noChangeArrowheads="1"/>
          </p:cNvPicPr>
          <p:nvPr/>
        </p:nvPicPr>
        <p:blipFill>
          <a:blip r:embed="rId4"/>
          <a:srcRect l="5351" t="11719" r="3675" b="17968"/>
          <a:stretch>
            <a:fillRect/>
          </a:stretch>
        </p:blipFill>
        <p:spPr bwMode="auto">
          <a:xfrm>
            <a:off x="2500298" y="3643314"/>
            <a:ext cx="1214446" cy="428628"/>
          </a:xfrm>
          <a:prstGeom prst="rect">
            <a:avLst/>
          </a:prstGeom>
          <a:noFill/>
          <a:ln w="9525">
            <a:noFill/>
            <a:miter lim="800000"/>
            <a:headEnd/>
            <a:tailEnd/>
          </a:ln>
          <a:effectLst/>
        </p:spPr>
      </p:pic>
      <p:pic>
        <p:nvPicPr>
          <p:cNvPr id="2050" name="Picture 2"/>
          <p:cNvPicPr>
            <a:picLocks noChangeAspect="1" noChangeArrowheads="1"/>
          </p:cNvPicPr>
          <p:nvPr/>
        </p:nvPicPr>
        <p:blipFill>
          <a:blip r:embed="rId5"/>
          <a:srcRect/>
          <a:stretch>
            <a:fillRect/>
          </a:stretch>
        </p:blipFill>
        <p:spPr bwMode="auto">
          <a:xfrm>
            <a:off x="1714480" y="2786058"/>
            <a:ext cx="1362075" cy="3333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3998" cy="1077218"/>
          </a:xfrm>
          <a:prstGeom prst="rect">
            <a:avLst/>
          </a:prstGeom>
        </p:spPr>
        <p:txBody>
          <a:bodyPr wrap="square">
            <a:spAutoFit/>
          </a:bodyPr>
          <a:lstStyle/>
          <a:p>
            <a:pPr algn="ctr"/>
            <a:r>
              <a:rPr lang="en-US" sz="3200" dirty="0" smtClean="0">
                <a:latin typeface="Times New Roman" pitchFamily="18" charset="0"/>
                <a:cs typeface="Times New Roman" pitchFamily="18" charset="0"/>
                <a:hlinkClick r:id="rId2"/>
              </a:rPr>
              <a:t>https://mbdatateach.github.io/site/</a:t>
            </a:r>
            <a:endParaRPr lang="en-US" sz="3200" dirty="0" smtClean="0">
              <a:latin typeface="Times New Roman" pitchFamily="18" charset="0"/>
              <a:cs typeface="Times New Roman" pitchFamily="18" charset="0"/>
            </a:endParaRPr>
          </a:p>
          <a:p>
            <a:pPr algn="ctr"/>
            <a:endParaRPr lang="ru-RU" sz="3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srcRect l="11702"/>
          <a:stretch>
            <a:fillRect/>
          </a:stretch>
        </p:blipFill>
        <p:spPr bwMode="auto">
          <a:xfrm>
            <a:off x="1" y="857232"/>
            <a:ext cx="4214810" cy="4714908"/>
          </a:xfrm>
          <a:prstGeom prst="rect">
            <a:avLst/>
          </a:prstGeom>
          <a:noFill/>
          <a:ln w="9525">
            <a:noFill/>
            <a:miter lim="800000"/>
            <a:headEnd/>
            <a:tailEnd/>
          </a:ln>
          <a:effectLst/>
        </p:spPr>
      </p:pic>
      <p:sp>
        <p:nvSpPr>
          <p:cNvPr id="5" name="Прямоугольник 4"/>
          <p:cNvSpPr/>
          <p:nvPr/>
        </p:nvSpPr>
        <p:spPr>
          <a:xfrm>
            <a:off x="4214810" y="785794"/>
            <a:ext cx="4929190" cy="5863144"/>
          </a:xfrm>
          <a:prstGeom prst="rect">
            <a:avLst/>
          </a:prstGeom>
        </p:spPr>
        <p:txBody>
          <a:bodyPr wrap="square">
            <a:spAutoFit/>
          </a:bodyPr>
          <a:lstStyle/>
          <a:p>
            <a:pPr algn="just"/>
            <a:r>
              <a:rPr lang="ru-RU" sz="1500" dirty="0" smtClean="0">
                <a:latin typeface="Times New Roman" pitchFamily="18" charset="0"/>
                <a:cs typeface="Times New Roman" pitchFamily="18" charset="0"/>
              </a:rPr>
              <a:t>В </a:t>
            </a:r>
            <a:r>
              <a:rPr lang="ru-RU" sz="1500" dirty="0" smtClean="0">
                <a:latin typeface="Times New Roman" pitchFamily="18" charset="0"/>
                <a:cs typeface="Times New Roman" pitchFamily="18" charset="0"/>
              </a:rPr>
              <a:t>каждом современном браузере есть очень полезная штука — инструменты разработчика. Чтобы их открыть, достаточно нажать клавишу F12. С их помощью можно посмотреть код любой страницы в интернете и даже поэкспериментировать со стилями прямо в браузере — это поможет лучше понять, как всё устроено. Вы можете и сами это попробовать и посмотреть результат на любой </a:t>
            </a:r>
            <a:r>
              <a:rPr lang="ru-RU" sz="1500" dirty="0" smtClean="0">
                <a:latin typeface="Times New Roman" pitchFamily="18" charset="0"/>
                <a:cs typeface="Times New Roman" pitchFamily="18" charset="0"/>
              </a:rPr>
              <a:t>странице. Если </a:t>
            </a:r>
            <a:r>
              <a:rPr lang="ru-RU" sz="1500" dirty="0" smtClean="0">
                <a:latin typeface="Times New Roman" pitchFamily="18" charset="0"/>
                <a:cs typeface="Times New Roman" pitchFamily="18" charset="0"/>
              </a:rPr>
              <a:t>браузер </a:t>
            </a:r>
            <a:r>
              <a:rPr lang="ru-RU" sz="1500" dirty="0" err="1" smtClean="0">
                <a:latin typeface="Times New Roman" pitchFamily="18" charset="0"/>
                <a:cs typeface="Times New Roman" pitchFamily="18" charset="0"/>
              </a:rPr>
              <a:t>Chrome</a:t>
            </a:r>
            <a:r>
              <a:rPr lang="ru-RU" sz="1500" dirty="0" smtClean="0">
                <a:latin typeface="Times New Roman" pitchFamily="18" charset="0"/>
                <a:cs typeface="Times New Roman" pitchFamily="18" charset="0"/>
              </a:rPr>
              <a:t>, то чаще всего сбоку справа, если </a:t>
            </a:r>
            <a:r>
              <a:rPr lang="ru-RU" sz="1500" dirty="0" err="1" smtClean="0">
                <a:latin typeface="Times New Roman" pitchFamily="18" charset="0"/>
                <a:cs typeface="Times New Roman" pitchFamily="18" charset="0"/>
              </a:rPr>
              <a:t>Firefox</a:t>
            </a:r>
            <a:r>
              <a:rPr lang="ru-RU" sz="1500" dirty="0" smtClean="0">
                <a:latin typeface="Times New Roman" pitchFamily="18" charset="0"/>
                <a:cs typeface="Times New Roman" pitchFamily="18" charset="0"/>
              </a:rPr>
              <a:t>, то обычно снизу и нужно переключиться на вкладку Инспектор.</a:t>
            </a:r>
          </a:p>
          <a:p>
            <a:pPr algn="just"/>
            <a:r>
              <a:rPr lang="ru-RU" sz="1500" dirty="0" smtClean="0">
                <a:latin typeface="Times New Roman" pitchFamily="18" charset="0"/>
                <a:cs typeface="Times New Roman" pitchFamily="18" charset="0"/>
              </a:rPr>
              <a:t>При беглом просмотре сайта можно заметить, что структура кода (или верстки) поделена на блоки, то есть каждый смысловой раздел страницы выделен в отдельный блок. И это основа при создании страниц подобным способом.</a:t>
            </a:r>
          </a:p>
          <a:p>
            <a:pPr algn="just"/>
            <a:r>
              <a:rPr lang="ru-RU" sz="1500" dirty="0" smtClean="0">
                <a:latin typeface="Times New Roman" pitchFamily="18" charset="0"/>
                <a:cs typeface="Times New Roman" pitchFamily="18" charset="0"/>
              </a:rPr>
              <a:t>Также можно заметить, что в отдельном пространстве (ниже или сбоку) расположен как раз язык стилей, который как раз отвечает за то, чтобы эти блоки выглядели адекватно. Именно здесь можно задать их расположение, цвет, шрифты. размеры. отступы. При этом стили можно изменить прямо здесь. Например, если нажать на тег </a:t>
            </a:r>
            <a:r>
              <a:rPr lang="ru-RU" sz="1500" dirty="0" err="1" smtClean="0">
                <a:latin typeface="Times New Roman" pitchFamily="18" charset="0"/>
                <a:cs typeface="Times New Roman" pitchFamily="18" charset="0"/>
              </a:rPr>
              <a:t>body</a:t>
            </a:r>
            <a:r>
              <a:rPr lang="ru-RU" sz="1500" dirty="0" smtClean="0">
                <a:latin typeface="Times New Roman" pitchFamily="18" charset="0"/>
                <a:cs typeface="Times New Roman" pitchFamily="18" charset="0"/>
              </a:rPr>
              <a:t>, то в стилях в самом верху отобразится параметр </a:t>
            </a:r>
            <a:r>
              <a:rPr lang="ru-RU" sz="1500" dirty="0" err="1" smtClean="0">
                <a:latin typeface="Times New Roman" pitchFamily="18" charset="0"/>
                <a:cs typeface="Times New Roman" pitchFamily="18" charset="0"/>
              </a:rPr>
              <a:t>background</a:t>
            </a:r>
            <a:r>
              <a:rPr lang="ru-RU" sz="1500" dirty="0" smtClean="0">
                <a:latin typeface="Times New Roman" pitchFamily="18" charset="0"/>
                <a:cs typeface="Times New Roman" pitchFamily="18" charset="0"/>
              </a:rPr>
              <a:t> (то есть цвет фона). Нажав на квадратик с выбором цвета можно изменить цвет сайта прямо здесь.</a:t>
            </a:r>
            <a:endParaRPr lang="ru-RU" sz="15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srcRect/>
          <a:stretch>
            <a:fillRect/>
          </a:stretch>
        </p:blipFill>
        <p:spPr bwMode="auto">
          <a:xfrm>
            <a:off x="0" y="1558317"/>
            <a:ext cx="3714744" cy="2714644"/>
          </a:xfrm>
          <a:prstGeom prst="rect">
            <a:avLst/>
          </a:prstGeom>
          <a:noFill/>
          <a:ln w="9525">
            <a:noFill/>
            <a:miter lim="800000"/>
            <a:headEnd/>
            <a:tailEnd/>
          </a:ln>
          <a:effectLst/>
        </p:spPr>
      </p:pic>
      <p:sp>
        <p:nvSpPr>
          <p:cNvPr id="3" name="Прямоугольник 2"/>
          <p:cNvSpPr/>
          <p:nvPr/>
        </p:nvSpPr>
        <p:spPr>
          <a:xfrm>
            <a:off x="3500430" y="701085"/>
            <a:ext cx="5643570" cy="646331"/>
          </a:xfrm>
          <a:prstGeom prst="rect">
            <a:avLst/>
          </a:prstGeom>
        </p:spPr>
        <p:txBody>
          <a:bodyPr wrap="square">
            <a:spAutoFit/>
          </a:bodyPr>
          <a:lstStyle/>
          <a:p>
            <a:pPr algn="just"/>
            <a:r>
              <a:rPr lang="ru-RU" dirty="0" smtClean="0">
                <a:latin typeface="Times New Roman" pitchFamily="18" charset="0"/>
                <a:cs typeface="Times New Roman" pitchFamily="18" charset="0"/>
              </a:rPr>
              <a:t>Первый тег, который нужно добавить, указывает всему документу, что будет использоваться язык HTML</a:t>
            </a:r>
            <a:endParaRPr lang="ru-RU" dirty="0"/>
          </a:p>
        </p:txBody>
      </p:sp>
      <p:cxnSp>
        <p:nvCxnSpPr>
          <p:cNvPr id="4" name="Прямая со стрелкой 3"/>
          <p:cNvCxnSpPr>
            <a:stCxn id="3" idx="1"/>
          </p:cNvCxnSpPr>
          <p:nvPr/>
        </p:nvCxnSpPr>
        <p:spPr>
          <a:xfrm rot="10800000" flipV="1">
            <a:off x="642910" y="1024251"/>
            <a:ext cx="2857520" cy="74838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Прямоугольник 5"/>
          <p:cNvSpPr/>
          <p:nvPr/>
        </p:nvSpPr>
        <p:spPr>
          <a:xfrm>
            <a:off x="4071934" y="1415441"/>
            <a:ext cx="5072066" cy="1477328"/>
          </a:xfrm>
          <a:prstGeom prst="rect">
            <a:avLst/>
          </a:prstGeom>
        </p:spPr>
        <p:txBody>
          <a:bodyPr wrap="square">
            <a:spAutoFit/>
          </a:bodyPr>
          <a:lstStyle/>
          <a:p>
            <a:pPr algn="just"/>
            <a:r>
              <a:rPr lang="ru-RU" dirty="0" smtClean="0">
                <a:latin typeface="Times New Roman" pitchFamily="18" charset="0"/>
                <a:cs typeface="Times New Roman" pitchFamily="18" charset="0"/>
              </a:rPr>
              <a:t>Этот раздел HTML-документа содержит метаданные </a:t>
            </a:r>
            <a:r>
              <a:rPr lang="ru-RU" dirty="0" err="1" smtClean="0">
                <a:latin typeface="Times New Roman" pitchFamily="18" charset="0"/>
                <a:cs typeface="Times New Roman" pitchFamily="18" charset="0"/>
              </a:rPr>
              <a:t>веб-страницы</a:t>
            </a:r>
            <a:r>
              <a:rPr lang="ru-RU" dirty="0" smtClean="0">
                <a:latin typeface="Times New Roman" pitchFamily="18" charset="0"/>
                <a:cs typeface="Times New Roman" pitchFamily="18" charset="0"/>
              </a:rPr>
              <a:t>. В </a:t>
            </a:r>
            <a:r>
              <a:rPr lang="ru-RU" dirty="0" err="1" smtClean="0">
                <a:latin typeface="Times New Roman" pitchFamily="18" charset="0"/>
                <a:cs typeface="Times New Roman" pitchFamily="18" charset="0"/>
              </a:rPr>
              <a:t>веб-браузере</a:t>
            </a:r>
            <a:r>
              <a:rPr lang="ru-RU" dirty="0" smtClean="0">
                <a:latin typeface="Times New Roman" pitchFamily="18" charset="0"/>
                <a:cs typeface="Times New Roman" pitchFamily="18" charset="0"/>
              </a:rPr>
              <a:t> они не отображаются. Здесь может содержаться такая информация, как имя страницы, таблицы стилей (CSS), </a:t>
            </a:r>
            <a:r>
              <a:rPr lang="ru-RU" dirty="0" err="1" smtClean="0">
                <a:latin typeface="Times New Roman" pitchFamily="18" charset="0"/>
                <a:cs typeface="Times New Roman" pitchFamily="18" charset="0"/>
              </a:rPr>
              <a:t>скрипты</a:t>
            </a:r>
            <a:r>
              <a:rPr lang="ru-RU" dirty="0" smtClean="0">
                <a:latin typeface="Times New Roman" pitchFamily="18" charset="0"/>
                <a:cs typeface="Times New Roman" pitchFamily="18" charset="0"/>
              </a:rPr>
              <a:t> и так далее.</a:t>
            </a:r>
            <a:endParaRPr lang="ru-RU" dirty="0"/>
          </a:p>
        </p:txBody>
      </p:sp>
      <p:cxnSp>
        <p:nvCxnSpPr>
          <p:cNvPr id="11" name="Прямая со стрелкой 10"/>
          <p:cNvCxnSpPr>
            <a:stCxn id="6" idx="1"/>
          </p:cNvCxnSpPr>
          <p:nvPr/>
        </p:nvCxnSpPr>
        <p:spPr>
          <a:xfrm rot="10800000">
            <a:off x="714348" y="1986945"/>
            <a:ext cx="3357586" cy="16716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Прямоугольник 13"/>
          <p:cNvSpPr/>
          <p:nvPr/>
        </p:nvSpPr>
        <p:spPr>
          <a:xfrm>
            <a:off x="3929058" y="2915639"/>
            <a:ext cx="5214942" cy="1323439"/>
          </a:xfrm>
          <a:prstGeom prst="rect">
            <a:avLst/>
          </a:prstGeom>
          <a:ln>
            <a:solidFill>
              <a:schemeClr val="tx1"/>
            </a:solidFill>
          </a:ln>
        </p:spPr>
        <p:txBody>
          <a:bodyPr wrap="square">
            <a:spAutoFit/>
          </a:bodyPr>
          <a:lstStyle/>
          <a:p>
            <a:pPr algn="just" fontAlgn="base"/>
            <a:r>
              <a:rPr lang="ru-RU" sz="1600" b="1" dirty="0" smtClean="0">
                <a:latin typeface="Times New Roman" pitchFamily="18" charset="0"/>
                <a:cs typeface="Times New Roman" pitchFamily="18" charset="0"/>
              </a:rPr>
              <a:t>Примечание:</a:t>
            </a:r>
            <a:r>
              <a:rPr lang="ru-RU" sz="1600" dirty="0" smtClean="0">
                <a:latin typeface="Times New Roman" pitchFamily="18" charset="0"/>
                <a:cs typeface="Times New Roman" pitchFamily="18" charset="0"/>
              </a:rPr>
              <a:t> Каждый HTML-элемент должен находиться между двумя тегами. Когда мы добавляем новый элемент, например тег «&lt;</a:t>
            </a:r>
            <a:r>
              <a:rPr lang="ru-RU" sz="1600" dirty="0" err="1" smtClean="0">
                <a:latin typeface="Times New Roman" pitchFamily="18" charset="0"/>
                <a:cs typeface="Times New Roman" pitchFamily="18" charset="0"/>
              </a:rPr>
              <a:t>head</a:t>
            </a:r>
            <a:r>
              <a:rPr lang="ru-RU" sz="1600" dirty="0" smtClean="0">
                <a:latin typeface="Times New Roman" pitchFamily="18" charset="0"/>
                <a:cs typeface="Times New Roman" pitchFamily="18" charset="0"/>
              </a:rPr>
              <a:t>&gt;», открывающий соответствующий раздел, нам нужно добавить и закрывающий тег. В данном случае это «&lt;/</a:t>
            </a:r>
            <a:r>
              <a:rPr lang="ru-RU" sz="1600" dirty="0" err="1" smtClean="0">
                <a:latin typeface="Times New Roman" pitchFamily="18" charset="0"/>
                <a:cs typeface="Times New Roman" pitchFamily="18" charset="0"/>
              </a:rPr>
              <a:t>head</a:t>
            </a:r>
            <a:r>
              <a:rPr lang="ru-RU" sz="1600" dirty="0" smtClean="0">
                <a:latin typeface="Times New Roman" pitchFamily="18" charset="0"/>
                <a:cs typeface="Times New Roman" pitchFamily="18" charset="0"/>
              </a:rPr>
              <a:t>&gt;».</a:t>
            </a:r>
            <a:endParaRPr lang="ru-RU" sz="1600" dirty="0">
              <a:latin typeface="Times New Roman" pitchFamily="18" charset="0"/>
              <a:cs typeface="Times New Roman" pitchFamily="18" charset="0"/>
            </a:endParaRPr>
          </a:p>
        </p:txBody>
      </p:sp>
      <p:cxnSp>
        <p:nvCxnSpPr>
          <p:cNvPr id="16" name="Прямая со стрелкой 15"/>
          <p:cNvCxnSpPr/>
          <p:nvPr/>
        </p:nvCxnSpPr>
        <p:spPr>
          <a:xfrm rot="10800000">
            <a:off x="785786" y="2772763"/>
            <a:ext cx="3089446" cy="96440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Прямоугольник 18"/>
          <p:cNvSpPr/>
          <p:nvPr/>
        </p:nvSpPr>
        <p:spPr>
          <a:xfrm>
            <a:off x="3286116" y="4344399"/>
            <a:ext cx="5857884" cy="1754326"/>
          </a:xfrm>
          <a:prstGeom prst="rect">
            <a:avLst/>
          </a:prstGeom>
        </p:spPr>
        <p:txBody>
          <a:bodyPr wrap="square">
            <a:spAutoFit/>
          </a:bodyPr>
          <a:lstStyle/>
          <a:p>
            <a:pPr algn="just"/>
            <a:r>
              <a:rPr lang="ru-RU" b="1" dirty="0" smtClean="0">
                <a:latin typeface="Times New Roman" pitchFamily="18" charset="0"/>
                <a:cs typeface="Times New Roman" pitchFamily="18" charset="0"/>
              </a:rPr>
              <a:t>Имя страницы.</a:t>
            </a:r>
            <a:r>
              <a:rPr lang="ru-RU" dirty="0" smtClean="0">
                <a:latin typeface="Times New Roman" pitchFamily="18" charset="0"/>
                <a:cs typeface="Times New Roman" pitchFamily="18" charset="0"/>
              </a:rPr>
              <a:t> Оно должно находиться внутри раздела «</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 так что его нужно ввести между открывающим тегом «&lt;</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&gt;» и закрывающим «&lt;/</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&gt;». Чтобы добавить имя, наберите открывающий тег &lt;</a:t>
            </a:r>
            <a:r>
              <a:rPr lang="ru-RU" dirty="0" err="1" smtClean="0">
                <a:latin typeface="Times New Roman" pitchFamily="18" charset="0"/>
                <a:cs typeface="Times New Roman" pitchFamily="18" charset="0"/>
              </a:rPr>
              <a:t>title</a:t>
            </a:r>
            <a:r>
              <a:rPr lang="ru-RU" dirty="0" smtClean="0">
                <a:latin typeface="Times New Roman" pitchFamily="18" charset="0"/>
                <a:cs typeface="Times New Roman" pitchFamily="18" charset="0"/>
              </a:rPr>
              <a:t>&gt;, затем введите текст (</a:t>
            </a:r>
            <a:r>
              <a:rPr lang="ru-RU" dirty="0" err="1" smtClean="0">
                <a:latin typeface="Times New Roman" pitchFamily="18" charset="0"/>
                <a:cs typeface="Times New Roman" pitchFamily="18" charset="0"/>
              </a:rPr>
              <a:t>собствнно</a:t>
            </a:r>
            <a:r>
              <a:rPr lang="ru-RU" dirty="0" smtClean="0">
                <a:latin typeface="Times New Roman" pitchFamily="18" charset="0"/>
                <a:cs typeface="Times New Roman" pitchFamily="18" charset="0"/>
              </a:rPr>
              <a:t> имя) и сразу за ним добавьте закрывающий тег &lt;/</a:t>
            </a:r>
            <a:r>
              <a:rPr lang="ru-RU" dirty="0" err="1" smtClean="0">
                <a:latin typeface="Times New Roman" pitchFamily="18" charset="0"/>
                <a:cs typeface="Times New Roman" pitchFamily="18" charset="0"/>
              </a:rPr>
              <a:t>title</a:t>
            </a:r>
            <a:r>
              <a:rPr lang="ru-RU" dirty="0" smtClean="0">
                <a:latin typeface="Times New Roman" pitchFamily="18" charset="0"/>
                <a:cs typeface="Times New Roman" pitchFamily="18" charset="0"/>
              </a:rPr>
              <a:t>&gt;.</a:t>
            </a:r>
            <a:endParaRPr lang="ru-RU" dirty="0"/>
          </a:p>
        </p:txBody>
      </p:sp>
      <p:cxnSp>
        <p:nvCxnSpPr>
          <p:cNvPr id="24" name="Прямая со стрелкой 23"/>
          <p:cNvCxnSpPr/>
          <p:nvPr/>
        </p:nvCxnSpPr>
        <p:spPr>
          <a:xfrm rot="16200000" flipV="1">
            <a:off x="1464448" y="2665607"/>
            <a:ext cx="2143138" cy="164307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2" name="Прямоугольник 31"/>
          <p:cNvSpPr/>
          <p:nvPr/>
        </p:nvSpPr>
        <p:spPr>
          <a:xfrm>
            <a:off x="0" y="4630151"/>
            <a:ext cx="3214678" cy="1200329"/>
          </a:xfrm>
          <a:prstGeom prst="rect">
            <a:avLst/>
          </a:prstGeom>
        </p:spPr>
        <p:txBody>
          <a:bodyPr wrap="square">
            <a:spAutoFit/>
          </a:bodyPr>
          <a:lstStyle/>
          <a:p>
            <a:pPr algn="just"/>
            <a:r>
              <a:rPr lang="ru-RU" dirty="0" smtClean="0">
                <a:latin typeface="Times New Roman" pitchFamily="18" charset="0"/>
                <a:cs typeface="Times New Roman" pitchFamily="18" charset="0"/>
              </a:rPr>
              <a:t>Все, что будет отображаться на вашей странице в </a:t>
            </a:r>
            <a:r>
              <a:rPr lang="ru-RU" dirty="0" err="1" smtClean="0">
                <a:latin typeface="Times New Roman" pitchFamily="18" charset="0"/>
                <a:cs typeface="Times New Roman" pitchFamily="18" charset="0"/>
              </a:rPr>
              <a:t>веб-браузере</a:t>
            </a:r>
            <a:r>
              <a:rPr lang="ru-RU" dirty="0" smtClean="0">
                <a:latin typeface="Times New Roman" pitchFamily="18" charset="0"/>
                <a:cs typeface="Times New Roman" pitchFamily="18" charset="0"/>
              </a:rPr>
              <a:t>, должно находиться между этими тегами.</a:t>
            </a:r>
            <a:endParaRPr lang="ru-RU" dirty="0"/>
          </a:p>
        </p:txBody>
      </p:sp>
      <p:cxnSp>
        <p:nvCxnSpPr>
          <p:cNvPr id="33" name="Прямая со стрелкой 32"/>
          <p:cNvCxnSpPr>
            <a:stCxn id="32" idx="0"/>
          </p:cNvCxnSpPr>
          <p:nvPr/>
        </p:nvCxnSpPr>
        <p:spPr>
          <a:xfrm rot="16200000" flipV="1">
            <a:off x="482184" y="3504996"/>
            <a:ext cx="1214444" cy="103586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0" name="Прямоугольник 39"/>
          <p:cNvSpPr/>
          <p:nvPr/>
        </p:nvSpPr>
        <p:spPr>
          <a:xfrm>
            <a:off x="0" y="6273225"/>
            <a:ext cx="9144000" cy="584775"/>
          </a:xfrm>
          <a:prstGeom prst="rect">
            <a:avLst/>
          </a:prstGeom>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Запомните, что все элементы </a:t>
            </a:r>
            <a:r>
              <a:rPr lang="ru-RU" sz="1600" b="1" dirty="0" err="1" smtClean="0">
                <a:latin typeface="Times New Roman" pitchFamily="18" charset="0"/>
                <a:cs typeface="Times New Roman" pitchFamily="18" charset="0"/>
              </a:rPr>
              <a:t>веб-страницы</a:t>
            </a:r>
            <a:r>
              <a:rPr lang="ru-RU" sz="1600" b="1" dirty="0" smtClean="0">
                <a:latin typeface="Times New Roman" pitchFamily="18" charset="0"/>
                <a:cs typeface="Times New Roman" pitchFamily="18" charset="0"/>
              </a:rPr>
              <a:t> должны находиться между тегами «</a:t>
            </a:r>
            <a:r>
              <a:rPr lang="ru-RU" sz="1600" b="1" dirty="0" err="1" smtClean="0">
                <a:latin typeface="Times New Roman" pitchFamily="18" charset="0"/>
                <a:cs typeface="Times New Roman" pitchFamily="18" charset="0"/>
              </a:rPr>
              <a:t>body</a:t>
            </a:r>
            <a:r>
              <a:rPr lang="ru-RU" sz="1600" b="1" dirty="0" smtClean="0">
                <a:latin typeface="Times New Roman" pitchFamily="18" charset="0"/>
                <a:cs typeface="Times New Roman" pitchFamily="18" charset="0"/>
              </a:rPr>
              <a:t>».</a:t>
            </a:r>
            <a:r>
              <a:rPr lang="ru-RU" sz="1600" dirty="0" smtClean="0">
                <a:latin typeface="Times New Roman" pitchFamily="18" charset="0"/>
                <a:cs typeface="Times New Roman" pitchFamily="18" charset="0"/>
              </a:rPr>
              <a:t> Любой элемент — будь то заголовок или абзац — нужно вводить после тега &lt;</a:t>
            </a:r>
            <a:r>
              <a:rPr lang="ru-RU" sz="1600" dirty="0" err="1" smtClean="0">
                <a:latin typeface="Times New Roman" pitchFamily="18" charset="0"/>
                <a:cs typeface="Times New Roman" pitchFamily="18" charset="0"/>
              </a:rPr>
              <a:t>body</a:t>
            </a:r>
            <a:r>
              <a:rPr lang="ru-RU" sz="1600" dirty="0" smtClean="0">
                <a:latin typeface="Times New Roman" pitchFamily="18" charset="0"/>
                <a:cs typeface="Times New Roman" pitchFamily="18" charset="0"/>
              </a:rPr>
              <a:t>&gt; и перед тегом &lt;/</a:t>
            </a:r>
            <a:r>
              <a:rPr lang="ru-RU" sz="1600" dirty="0" err="1" smtClean="0">
                <a:latin typeface="Times New Roman" pitchFamily="18" charset="0"/>
                <a:cs typeface="Times New Roman" pitchFamily="18" charset="0"/>
              </a:rPr>
              <a:t>body</a:t>
            </a:r>
            <a:r>
              <a:rPr lang="ru-RU" sz="1600" dirty="0" smtClean="0">
                <a:latin typeface="Times New Roman" pitchFamily="18" charset="0"/>
                <a:cs typeface="Times New Roman" pitchFamily="18" charset="0"/>
              </a:rPr>
              <a:t>&gt;.</a:t>
            </a:r>
            <a:endParaRPr lang="ru-RU" sz="1600" dirty="0">
              <a:latin typeface="Times New Roman" pitchFamily="18" charset="0"/>
              <a:cs typeface="Times New Roman" pitchFamily="18" charset="0"/>
            </a:endParaRPr>
          </a:p>
        </p:txBody>
      </p:sp>
      <p:sp>
        <p:nvSpPr>
          <p:cNvPr id="41" name="Заголовок 1"/>
          <p:cNvSpPr txBox="1">
            <a:spLocks/>
          </p:cNvSpPr>
          <p:nvPr/>
        </p:nvSpPr>
        <p:spPr>
          <a:xfrm>
            <a:off x="500034" y="-214330"/>
            <a:ext cx="8229600" cy="1143000"/>
          </a:xfrm>
          <a:prstGeom prst="rect">
            <a:avLst/>
          </a:prstGeom>
        </p:spPr>
        <p:txBody>
          <a:bodyP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1" i="0" u="none" strike="noStrike" kern="1200" cap="none" spc="0" normalizeH="0" baseline="0" noProof="0" dirty="0" smtClean="0">
                <a:ln>
                  <a:noFill/>
                </a:ln>
                <a:solidFill>
                  <a:schemeClr val="tx1"/>
                </a:solidFill>
                <a:effectLst/>
                <a:uLnTx/>
                <a:uFillTx/>
                <a:latin typeface="+mj-lt"/>
                <a:ea typeface="+mj-ea"/>
                <a:cs typeface="+mj-cs"/>
              </a:rPr>
              <a:t>Базовая структура </a:t>
            </a:r>
            <a:r>
              <a:rPr kumimoji="0" lang="ru-RU" sz="4400" b="1" i="0" u="none" strike="noStrike" kern="1200" cap="none" spc="0" normalizeH="0" baseline="0" noProof="0" dirty="0" err="1" smtClean="0">
                <a:ln>
                  <a:noFill/>
                </a:ln>
                <a:solidFill>
                  <a:schemeClr val="tx1"/>
                </a:solidFill>
                <a:effectLst/>
                <a:uLnTx/>
                <a:uFillTx/>
                <a:latin typeface="+mj-lt"/>
                <a:ea typeface="+mj-ea"/>
                <a:cs typeface="+mj-cs"/>
              </a:rPr>
              <a:t>веб-страницы</a:t>
            </a:r>
            <a:endParaRPr kumimoji="0" lang="ru-RU" sz="44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p:cNvPicPr>
            <a:picLocks noChangeAspect="1" noChangeArrowheads="1"/>
          </p:cNvPicPr>
          <p:nvPr/>
        </p:nvPicPr>
        <p:blipFill>
          <a:blip r:embed="rId2"/>
          <a:srcRect/>
          <a:stretch>
            <a:fillRect/>
          </a:stretch>
        </p:blipFill>
        <p:spPr bwMode="auto">
          <a:xfrm>
            <a:off x="1928794" y="4272380"/>
            <a:ext cx="5273490" cy="2585620"/>
          </a:xfrm>
          <a:prstGeom prst="rect">
            <a:avLst/>
          </a:prstGeom>
          <a:noFill/>
          <a:ln w="9525">
            <a:noFill/>
            <a:miter lim="800000"/>
            <a:headEnd/>
            <a:tailEnd/>
          </a:ln>
          <a:effectLst/>
        </p:spPr>
      </p:pic>
      <p:pic>
        <p:nvPicPr>
          <p:cNvPr id="4102" name="Picture 6"/>
          <p:cNvPicPr>
            <a:picLocks noChangeAspect="1" noChangeArrowheads="1"/>
          </p:cNvPicPr>
          <p:nvPr/>
        </p:nvPicPr>
        <p:blipFill>
          <a:blip r:embed="rId3"/>
          <a:srcRect/>
          <a:stretch>
            <a:fillRect/>
          </a:stretch>
        </p:blipFill>
        <p:spPr bwMode="auto">
          <a:xfrm>
            <a:off x="0" y="1571612"/>
            <a:ext cx="9144001" cy="1500174"/>
          </a:xfrm>
          <a:prstGeom prst="rect">
            <a:avLst/>
          </a:prstGeom>
          <a:noFill/>
          <a:ln w="9525">
            <a:noFill/>
            <a:miter lim="800000"/>
            <a:headEnd/>
            <a:tailEnd/>
          </a:ln>
          <a:effectLst/>
        </p:spPr>
      </p:pic>
      <p:sp>
        <p:nvSpPr>
          <p:cNvPr id="4" name="Прямоугольник 3"/>
          <p:cNvSpPr/>
          <p:nvPr/>
        </p:nvSpPr>
        <p:spPr>
          <a:xfrm>
            <a:off x="0" y="3214686"/>
            <a:ext cx="9144000" cy="830997"/>
          </a:xfrm>
          <a:prstGeom prst="rect">
            <a:avLst/>
          </a:prstGeom>
        </p:spPr>
        <p:txBody>
          <a:bodyPr wrap="square">
            <a:spAutoFit/>
          </a:bodyPr>
          <a:lstStyle/>
          <a:p>
            <a:pPr algn="ctr"/>
            <a:r>
              <a:rPr lang="ru-RU" sz="2400" i="1" dirty="0" smtClean="0">
                <a:latin typeface="Times New Roman" pitchFamily="18" charset="0"/>
                <a:cs typeface="Times New Roman" pitchFamily="18" charset="0"/>
              </a:rPr>
              <a:t>Открыть созданную страницу в сети Интернет можно следующим способом</a:t>
            </a:r>
            <a:endParaRPr lang="ru-RU" sz="2400" i="1" dirty="0"/>
          </a:p>
        </p:txBody>
      </p:sp>
      <p:sp>
        <p:nvSpPr>
          <p:cNvPr id="5" name="Прямоугольник 4"/>
          <p:cNvSpPr/>
          <p:nvPr/>
        </p:nvSpPr>
        <p:spPr>
          <a:xfrm>
            <a:off x="0" y="6027003"/>
            <a:ext cx="9144000" cy="461665"/>
          </a:xfrm>
          <a:prstGeom prst="rect">
            <a:avLst/>
          </a:prstGeom>
        </p:spPr>
        <p:txBody>
          <a:bodyPr wrap="square">
            <a:spAutoFit/>
          </a:bodyPr>
          <a:lstStyle/>
          <a:p>
            <a:pPr algn="ctr"/>
            <a:r>
              <a:rPr lang="ru-RU" sz="2400" i="1" dirty="0" smtClean="0">
                <a:latin typeface="Times New Roman" pitchFamily="18" charset="0"/>
                <a:cs typeface="Times New Roman" pitchFamily="18" charset="0"/>
              </a:rPr>
              <a:t>Введенный заголовок страницы отображается здесь</a:t>
            </a:r>
            <a:endParaRPr lang="ru-RU" sz="2400" i="1" dirty="0"/>
          </a:p>
        </p:txBody>
      </p:sp>
      <p:pic>
        <p:nvPicPr>
          <p:cNvPr id="1027" name="Picture 3"/>
          <p:cNvPicPr>
            <a:picLocks noChangeAspect="1" noChangeArrowheads="1"/>
          </p:cNvPicPr>
          <p:nvPr/>
        </p:nvPicPr>
        <p:blipFill>
          <a:blip r:embed="rId4"/>
          <a:srcRect/>
          <a:stretch>
            <a:fillRect/>
          </a:stretch>
        </p:blipFill>
        <p:spPr bwMode="auto">
          <a:xfrm>
            <a:off x="2571736" y="0"/>
            <a:ext cx="3619512" cy="1310854"/>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Разработка одностраничного сайта</a:t>
            </a:r>
            <a:endParaRPr lang="ru-RU" b="1" dirty="0"/>
          </a:p>
        </p:txBody>
      </p:sp>
      <p:sp>
        <p:nvSpPr>
          <p:cNvPr id="8" name="Прямоугольник 7"/>
          <p:cNvSpPr/>
          <p:nvPr/>
        </p:nvSpPr>
        <p:spPr>
          <a:xfrm>
            <a:off x="0" y="571480"/>
            <a:ext cx="9144000" cy="142876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Заголовок 1"/>
          <p:cNvSpPr txBox="1">
            <a:spLocks/>
          </p:cNvSpPr>
          <p:nvPr/>
        </p:nvSpPr>
        <p:spPr>
          <a:xfrm>
            <a:off x="500034" y="-285776"/>
            <a:ext cx="8229600" cy="114300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4400" b="1" i="0" u="none" strike="noStrike" kern="1200" cap="none" spc="0" normalizeH="0" baseline="0" noProof="0" smtClean="0">
                <a:ln>
                  <a:noFill/>
                </a:ln>
                <a:solidFill>
                  <a:schemeClr val="tx1"/>
                </a:solidFill>
                <a:effectLst/>
                <a:uLnTx/>
                <a:uFillTx/>
                <a:latin typeface="+mj-lt"/>
                <a:ea typeface="+mj-ea"/>
                <a:cs typeface="+mj-cs"/>
              </a:rPr>
              <a:t>Разработка одностраничного сайта</a:t>
            </a:r>
            <a:endParaRPr kumimoji="0" lang="ru-RU" sz="4400" b="1" i="0" u="none" strike="noStrike" kern="1200" cap="none" spc="0" normalizeH="0" baseline="0" noProof="0" dirty="0">
              <a:ln>
                <a:noFill/>
              </a:ln>
              <a:solidFill>
                <a:schemeClr val="tx1"/>
              </a:solidFill>
              <a:effectLst/>
              <a:uLnTx/>
              <a:uFillTx/>
              <a:latin typeface="+mj-lt"/>
              <a:ea typeface="+mj-ea"/>
              <a:cs typeface="+mj-cs"/>
            </a:endParaRPr>
          </a:p>
        </p:txBody>
      </p:sp>
      <p:pic>
        <p:nvPicPr>
          <p:cNvPr id="10" name="Picture 8" descr="Picture background"/>
          <p:cNvPicPr>
            <a:picLocks noChangeAspect="1" noChangeArrowheads="1"/>
          </p:cNvPicPr>
          <p:nvPr/>
        </p:nvPicPr>
        <p:blipFill>
          <a:blip r:embed="rId2"/>
          <a:srcRect/>
          <a:stretch>
            <a:fillRect/>
          </a:stretch>
        </p:blipFill>
        <p:spPr bwMode="auto">
          <a:xfrm>
            <a:off x="2286875" y="2026859"/>
            <a:ext cx="4385694" cy="3831033"/>
          </a:xfrm>
          <a:prstGeom prst="rect">
            <a:avLst/>
          </a:prstGeom>
          <a:noFill/>
        </p:spPr>
      </p:pic>
      <p:sp>
        <p:nvSpPr>
          <p:cNvPr id="11" name="Прямоугольник 10"/>
          <p:cNvSpPr/>
          <p:nvPr/>
        </p:nvSpPr>
        <p:spPr>
          <a:xfrm>
            <a:off x="2739458" y="5842337"/>
            <a:ext cx="3641118" cy="1015663"/>
          </a:xfrm>
          <a:prstGeom prst="rect">
            <a:avLst/>
          </a:prstGeom>
        </p:spPr>
        <p:txBody>
          <a:bodyPr wrap="square">
            <a:spAutoFit/>
          </a:bodyPr>
          <a:lstStyle/>
          <a:p>
            <a:pPr algn="ctr"/>
            <a:r>
              <a:rPr lang="ru-RU" sz="2000" b="1" dirty="0" smtClean="0">
                <a:latin typeface="Times New Roman" pitchFamily="18" charset="0"/>
                <a:cs typeface="Times New Roman" pitchFamily="18" charset="0"/>
              </a:rPr>
              <a:t>язык разметки</a:t>
            </a:r>
            <a:r>
              <a:rPr lang="ru-RU" sz="2000" dirty="0" smtClean="0">
                <a:latin typeface="Times New Roman" pitchFamily="18" charset="0"/>
                <a:cs typeface="Times New Roman" pitchFamily="18" charset="0"/>
              </a:rPr>
              <a:t>, который определяет структуру </a:t>
            </a:r>
            <a:r>
              <a:rPr lang="ru-RU" sz="2000" dirty="0" err="1" smtClean="0">
                <a:latin typeface="Times New Roman" pitchFamily="18" charset="0"/>
                <a:cs typeface="Times New Roman" pitchFamily="18" charset="0"/>
              </a:rPr>
              <a:t>веб-страницы</a:t>
            </a:r>
            <a:r>
              <a:rPr lang="ru-RU" sz="2000" dirty="0" smtClean="0">
                <a:latin typeface="Times New Roman" pitchFamily="18" charset="0"/>
                <a:cs typeface="Times New Roman" pitchFamily="18" charset="0"/>
              </a:rPr>
              <a:t> и её содержание.</a:t>
            </a:r>
            <a:endParaRPr lang="ru-RU" sz="2000" dirty="0">
              <a:latin typeface="Times New Roman" pitchFamily="18" charset="0"/>
              <a:cs typeface="Times New Roman" pitchFamily="18" charset="0"/>
            </a:endParaRPr>
          </a:p>
        </p:txBody>
      </p:sp>
      <p:sp>
        <p:nvSpPr>
          <p:cNvPr id="12" name="Прямоугольник 11"/>
          <p:cNvSpPr/>
          <p:nvPr/>
        </p:nvSpPr>
        <p:spPr>
          <a:xfrm>
            <a:off x="0" y="2214554"/>
            <a:ext cx="2285984" cy="1200329"/>
          </a:xfrm>
          <a:prstGeom prst="rect">
            <a:avLst/>
          </a:prstGeom>
        </p:spPr>
        <p:txBody>
          <a:bodyPr wrap="square">
            <a:spAutoFit/>
          </a:bodyPr>
          <a:lstStyle/>
          <a:p>
            <a:pPr algn="ctr"/>
            <a:r>
              <a:rPr lang="ru-RU" dirty="0" smtClean="0">
                <a:latin typeface="Times New Roman" pitchFamily="18" charset="0"/>
                <a:cs typeface="Times New Roman" pitchFamily="18" charset="0"/>
              </a:rPr>
              <a:t> </a:t>
            </a:r>
            <a:r>
              <a:rPr lang="ru-RU" b="1" dirty="0" smtClean="0">
                <a:latin typeface="Times New Roman" pitchFamily="18" charset="0"/>
                <a:cs typeface="Times New Roman" pitchFamily="18" charset="0"/>
              </a:rPr>
              <a:t>язык стилей</a:t>
            </a:r>
            <a:r>
              <a:rPr lang="ru-RU" dirty="0" smtClean="0">
                <a:latin typeface="Times New Roman" pitchFamily="18" charset="0"/>
                <a:cs typeface="Times New Roman" pitchFamily="18" charset="0"/>
              </a:rPr>
              <a:t>, который описывает внешний вид HTML-документов. </a:t>
            </a:r>
            <a:endParaRPr lang="ru-RU" dirty="0">
              <a:latin typeface="Times New Roman" pitchFamily="18" charset="0"/>
              <a:cs typeface="Times New Roman" pitchFamily="18" charset="0"/>
            </a:endParaRPr>
          </a:p>
        </p:txBody>
      </p:sp>
      <p:sp>
        <p:nvSpPr>
          <p:cNvPr id="13" name="Прямоугольник 12"/>
          <p:cNvSpPr/>
          <p:nvPr/>
        </p:nvSpPr>
        <p:spPr>
          <a:xfrm>
            <a:off x="6643702" y="2000240"/>
            <a:ext cx="2500298" cy="1200329"/>
          </a:xfrm>
          <a:prstGeom prst="rect">
            <a:avLst/>
          </a:prstGeom>
        </p:spPr>
        <p:txBody>
          <a:bodyPr wrap="square">
            <a:spAutoFit/>
          </a:bodyPr>
          <a:lstStyle/>
          <a:p>
            <a:pPr algn="ctr"/>
            <a:r>
              <a:rPr lang="ru-RU" b="1" dirty="0" smtClean="0">
                <a:latin typeface="Times New Roman" pitchFamily="18" charset="0"/>
                <a:cs typeface="Times New Roman" pitchFamily="18" charset="0"/>
              </a:rPr>
              <a:t>язык программирования</a:t>
            </a:r>
            <a:r>
              <a:rPr lang="ru-RU" dirty="0" smtClean="0">
                <a:latin typeface="Times New Roman" pitchFamily="18" charset="0"/>
                <a:cs typeface="Times New Roman" pitchFamily="18" charset="0"/>
              </a:rPr>
              <a:t>, который делает сайты интерактивными.</a:t>
            </a:r>
            <a:endParaRPr lang="ru-RU" dirty="0">
              <a:latin typeface="Times New Roman" pitchFamily="18" charset="0"/>
              <a:cs typeface="Times New Roman" pitchFamily="18" charset="0"/>
            </a:endParaRPr>
          </a:p>
        </p:txBody>
      </p:sp>
      <p:sp>
        <p:nvSpPr>
          <p:cNvPr id="14" name="Прямоугольник 13"/>
          <p:cNvSpPr/>
          <p:nvPr/>
        </p:nvSpPr>
        <p:spPr>
          <a:xfrm>
            <a:off x="-71470" y="500042"/>
            <a:ext cx="9286844" cy="1477328"/>
          </a:xfrm>
          <a:prstGeom prst="rect">
            <a:avLst/>
          </a:prstGeom>
        </p:spPr>
        <p:txBody>
          <a:bodyPr wrap="square">
            <a:spAutoFit/>
          </a:bodyPr>
          <a:lstStyle/>
          <a:p>
            <a:pPr algn="just"/>
            <a:r>
              <a:rPr lang="ru-RU" dirty="0" smtClean="0">
                <a:latin typeface="Times New Roman" pitchFamily="18" charset="0"/>
                <a:cs typeface="Times New Roman" pitchFamily="18" charset="0"/>
              </a:rPr>
              <a:t>Хотя существуют инструменты и подходы, позволяющие разрабатывать сайты без углубленного знания HTML и CSS</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которые мы рассмотрим позже</a:t>
            </a:r>
            <a:r>
              <a:rPr lang="en-US" dirty="0" smtClean="0">
                <a:latin typeface="Times New Roman" pitchFamily="18" charset="0"/>
                <a:cs typeface="Times New Roman" pitchFamily="18" charset="0"/>
              </a:rPr>
              <a:t>)</a:t>
            </a:r>
            <a:r>
              <a:rPr lang="ru-RU" dirty="0" smtClean="0">
                <a:latin typeface="Times New Roman" pitchFamily="18" charset="0"/>
                <a:cs typeface="Times New Roman" pitchFamily="18" charset="0"/>
              </a:rPr>
              <a:t>, понимание базовых принципов этих технологий остаётся крайне полезным. Оно обеспечивает лучшее представление о структуре сайтов, облегчает процесс разработки и улучшения интерфейса, способствует повышению качества и доступности ваших продуктов.</a:t>
            </a:r>
            <a:endParaRPr lang="ru-RU"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Разработка одностраничного сайта</a:t>
            </a:r>
            <a:endParaRPr lang="ru-RU" b="1" dirty="0"/>
          </a:p>
        </p:txBody>
      </p:sp>
      <p:sp>
        <p:nvSpPr>
          <p:cNvPr id="6" name="Прямоугольник 5"/>
          <p:cNvSpPr/>
          <p:nvPr/>
        </p:nvSpPr>
        <p:spPr>
          <a:xfrm>
            <a:off x="0" y="931208"/>
            <a:ext cx="9144000" cy="5355312"/>
          </a:xfrm>
          <a:prstGeom prst="rect">
            <a:avLst/>
          </a:prstGeom>
        </p:spPr>
        <p:txBody>
          <a:bodyPr wrap="square">
            <a:spAutoFit/>
          </a:bodyPr>
          <a:lstStyle/>
          <a:p>
            <a:pPr indent="-342900" algn="just"/>
            <a:r>
              <a:rPr lang="ru-RU" dirty="0" smtClean="0">
                <a:latin typeface="Times New Roman" pitchFamily="18" charset="0"/>
                <a:cs typeface="Times New Roman" pitchFamily="18" charset="0"/>
              </a:rPr>
              <a:t>1) Откройте Блокнот и сохраните файл под именем </a:t>
            </a:r>
            <a:r>
              <a:rPr lang="en-US" dirty="0" smtClean="0">
                <a:latin typeface="Times New Roman" pitchFamily="18" charset="0"/>
                <a:cs typeface="Times New Roman" pitchFamily="18" charset="0"/>
              </a:rPr>
              <a:t>index.html </a:t>
            </a:r>
            <a:r>
              <a:rPr lang="en-US" sz="1600" u="sng" dirty="0" smtClean="0">
                <a:latin typeface="Times New Roman" pitchFamily="18" charset="0"/>
                <a:cs typeface="Times New Roman" pitchFamily="18" charset="0"/>
              </a:rPr>
              <a:t>(</a:t>
            </a:r>
            <a:r>
              <a:rPr lang="ru-RU" sz="1600" u="sng" dirty="0" smtClean="0">
                <a:latin typeface="Times New Roman" pitchFamily="18" charset="0"/>
                <a:cs typeface="Times New Roman" pitchFamily="18" charset="0"/>
              </a:rPr>
              <a:t>тип файла: все файлы</a:t>
            </a:r>
            <a:r>
              <a:rPr lang="en-US" sz="1600" u="sng" dirty="0" smtClean="0">
                <a:latin typeface="Times New Roman" pitchFamily="18" charset="0"/>
                <a:cs typeface="Times New Roman" pitchFamily="18" charset="0"/>
              </a:rPr>
              <a:t>)</a:t>
            </a:r>
            <a:r>
              <a:rPr lang="ru-RU" dirty="0" smtClean="0">
                <a:latin typeface="Times New Roman" pitchFamily="18" charset="0"/>
                <a:cs typeface="Times New Roman" pitchFamily="18" charset="0"/>
              </a:rPr>
              <a:t>. Чтобы его запустить как страницу сайта, необходимо открыть файл с помощью любого браузера;</a:t>
            </a:r>
          </a:p>
          <a:p>
            <a:pPr indent="-342900" algn="just"/>
            <a:r>
              <a:rPr lang="ru-RU" dirty="0" smtClean="0">
                <a:latin typeface="Times New Roman" pitchFamily="18" charset="0"/>
                <a:cs typeface="Times New Roman" pitchFamily="18" charset="0"/>
              </a:rPr>
              <a:t>2) </a:t>
            </a:r>
            <a:r>
              <a:rPr lang="ru-RU" b="1" dirty="0" smtClean="0">
                <a:latin typeface="Times New Roman" pitchFamily="18" charset="0"/>
                <a:cs typeface="Times New Roman" pitchFamily="18" charset="0"/>
              </a:rPr>
              <a:t>Добавьте языковой тег. </a:t>
            </a:r>
            <a:r>
              <a:rPr lang="ru-RU" dirty="0" smtClean="0">
                <a:latin typeface="Times New Roman" pitchFamily="18" charset="0"/>
                <a:cs typeface="Times New Roman" pitchFamily="18" charset="0"/>
              </a:rPr>
              <a:t>Первый тег, который нужно добавить в Блокнот, указывает всему документу, что будет использоваться язык HTML. В Блокноте введите следующее:</a:t>
            </a:r>
            <a:endParaRPr lang="en-US" dirty="0" smtClean="0">
              <a:latin typeface="Times New Roman" pitchFamily="18" charset="0"/>
              <a:cs typeface="Times New Roman" pitchFamily="18" charset="0"/>
            </a:endParaRPr>
          </a:p>
          <a:p>
            <a:pPr indent="-342900" algn="just">
              <a:buAutoNum type="arabicParenR"/>
            </a:pPr>
            <a:endParaRPr lang="en-US" dirty="0" smtClean="0">
              <a:latin typeface="Times New Roman" pitchFamily="18" charset="0"/>
              <a:cs typeface="Times New Roman" pitchFamily="18" charset="0"/>
            </a:endParaRPr>
          </a:p>
          <a:p>
            <a:pPr indent="-342900" algn="just"/>
            <a:endParaRPr lang="en-US"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3) </a:t>
            </a:r>
            <a:r>
              <a:rPr lang="ru-RU" b="1" dirty="0" smtClean="0">
                <a:latin typeface="Times New Roman" pitchFamily="18" charset="0"/>
                <a:cs typeface="Times New Roman" pitchFamily="18" charset="0"/>
              </a:rPr>
              <a:t>Добавьте теги «</a:t>
            </a:r>
            <a:r>
              <a:rPr lang="ru-RU" b="1" dirty="0" err="1" smtClean="0">
                <a:latin typeface="Times New Roman" pitchFamily="18" charset="0"/>
                <a:cs typeface="Times New Roman" pitchFamily="18" charset="0"/>
              </a:rPr>
              <a:t>head</a:t>
            </a:r>
            <a:r>
              <a:rPr lang="ru-RU" b="1" dirty="0" smtClean="0">
                <a:latin typeface="Times New Roman" pitchFamily="18" charset="0"/>
                <a:cs typeface="Times New Roman" pitchFamily="18" charset="0"/>
              </a:rPr>
              <a:t>».</a:t>
            </a:r>
            <a:r>
              <a:rPr lang="ru-RU" dirty="0" smtClean="0">
                <a:latin typeface="Times New Roman" pitchFamily="18" charset="0"/>
                <a:cs typeface="Times New Roman" pitchFamily="18" charset="0"/>
              </a:rPr>
              <a:t> Этот раздел HTML-документа содержит метаданные </a:t>
            </a:r>
            <a:r>
              <a:rPr lang="ru-RU" dirty="0" err="1" smtClean="0">
                <a:latin typeface="Times New Roman" pitchFamily="18" charset="0"/>
                <a:cs typeface="Times New Roman" pitchFamily="18" charset="0"/>
              </a:rPr>
              <a:t>веб-страницы</a:t>
            </a:r>
            <a:r>
              <a:rPr lang="ru-RU" dirty="0" smtClean="0">
                <a:latin typeface="Times New Roman" pitchFamily="18" charset="0"/>
                <a:cs typeface="Times New Roman" pitchFamily="18" charset="0"/>
              </a:rPr>
              <a:t>. В </a:t>
            </a:r>
            <a:r>
              <a:rPr lang="ru-RU" dirty="0" err="1" smtClean="0">
                <a:latin typeface="Times New Roman" pitchFamily="18" charset="0"/>
                <a:cs typeface="Times New Roman" pitchFamily="18" charset="0"/>
              </a:rPr>
              <a:t>веб-браузере</a:t>
            </a:r>
            <a:r>
              <a:rPr lang="ru-RU" dirty="0" smtClean="0">
                <a:latin typeface="Times New Roman" pitchFamily="18" charset="0"/>
                <a:cs typeface="Times New Roman" pitchFamily="18" charset="0"/>
              </a:rPr>
              <a:t> они не отображаются. Здесь может содержаться такая информация, как имя страницы, таблицы стилей (CSS), </a:t>
            </a:r>
            <a:r>
              <a:rPr lang="ru-RU" dirty="0" err="1" smtClean="0">
                <a:latin typeface="Times New Roman" pitchFamily="18" charset="0"/>
                <a:cs typeface="Times New Roman" pitchFamily="18" charset="0"/>
              </a:rPr>
              <a:t>скрипты</a:t>
            </a:r>
            <a:r>
              <a:rPr lang="ru-RU" dirty="0" smtClean="0">
                <a:latin typeface="Times New Roman" pitchFamily="18" charset="0"/>
                <a:cs typeface="Times New Roman" pitchFamily="18" charset="0"/>
              </a:rPr>
              <a:t> и так далее.</a:t>
            </a:r>
          </a:p>
          <a:p>
            <a:pPr indent="-342900" algn="just">
              <a:buAutoNum type="arabicParenR"/>
            </a:pPr>
            <a:endParaRPr lang="ru-RU" dirty="0" smtClean="0">
              <a:latin typeface="Times New Roman" pitchFamily="18" charset="0"/>
              <a:cs typeface="Times New Roman" pitchFamily="18" charset="0"/>
            </a:endParaRPr>
          </a:p>
          <a:p>
            <a:pPr indent="-342900" algn="just">
              <a:buAutoNum type="arabicParenR"/>
            </a:pPr>
            <a:endParaRPr lang="ru-RU" dirty="0" smtClean="0">
              <a:latin typeface="Times New Roman" pitchFamily="18" charset="0"/>
              <a:cs typeface="Times New Roman" pitchFamily="18" charset="0"/>
            </a:endParaRPr>
          </a:p>
          <a:p>
            <a:pPr indent="-342900" algn="just">
              <a:buAutoNum type="arabicParenR"/>
            </a:pPr>
            <a:endParaRPr lang="ru-RU" dirty="0" smtClean="0">
              <a:latin typeface="Times New Roman" pitchFamily="18" charset="0"/>
              <a:cs typeface="Times New Roman" pitchFamily="18" charset="0"/>
            </a:endParaRPr>
          </a:p>
          <a:p>
            <a:pPr indent="-342900" algn="just">
              <a:buAutoNum type="arabicParenR"/>
            </a:pPr>
            <a:endParaRPr lang="ru-RU"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4) </a:t>
            </a:r>
            <a:r>
              <a:rPr lang="ru-RU" b="1" dirty="0" smtClean="0">
                <a:latin typeface="Times New Roman" pitchFamily="18" charset="0"/>
                <a:cs typeface="Times New Roman" pitchFamily="18" charset="0"/>
              </a:rPr>
              <a:t>Введите имя страницы.</a:t>
            </a:r>
            <a:r>
              <a:rPr lang="ru-RU" dirty="0" smtClean="0">
                <a:latin typeface="Times New Roman" pitchFamily="18" charset="0"/>
                <a:cs typeface="Times New Roman" pitchFamily="18" charset="0"/>
              </a:rPr>
              <a:t> Оно должно находиться внутри раздела «</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 так что его нужно ввести между открывающим тегом «&lt;</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&gt;» и закрывающим «&lt;/</a:t>
            </a:r>
            <a:r>
              <a:rPr lang="ru-RU" dirty="0" err="1" smtClean="0">
                <a:latin typeface="Times New Roman" pitchFamily="18" charset="0"/>
                <a:cs typeface="Times New Roman" pitchFamily="18" charset="0"/>
              </a:rPr>
              <a:t>head</a:t>
            </a:r>
            <a:r>
              <a:rPr lang="ru-RU" dirty="0" smtClean="0">
                <a:latin typeface="Times New Roman" pitchFamily="18" charset="0"/>
                <a:cs typeface="Times New Roman" pitchFamily="18" charset="0"/>
              </a:rPr>
              <a:t>&gt;». Чтобы добавить имя, наберите открывающий тег &lt;</a:t>
            </a:r>
            <a:r>
              <a:rPr lang="ru-RU" dirty="0" err="1" smtClean="0">
                <a:latin typeface="Times New Roman" pitchFamily="18" charset="0"/>
                <a:cs typeface="Times New Roman" pitchFamily="18" charset="0"/>
              </a:rPr>
              <a:t>title</a:t>
            </a:r>
            <a:r>
              <a:rPr lang="ru-RU" dirty="0" smtClean="0">
                <a:latin typeface="Times New Roman" pitchFamily="18" charset="0"/>
                <a:cs typeface="Times New Roman" pitchFamily="18" charset="0"/>
              </a:rPr>
              <a:t>&gt;, затем введите текст (</a:t>
            </a:r>
            <a:r>
              <a:rPr lang="ru-RU" dirty="0" err="1" smtClean="0">
                <a:latin typeface="Times New Roman" pitchFamily="18" charset="0"/>
                <a:cs typeface="Times New Roman" pitchFamily="18" charset="0"/>
              </a:rPr>
              <a:t>собствнно</a:t>
            </a:r>
            <a:r>
              <a:rPr lang="ru-RU" dirty="0" smtClean="0">
                <a:latin typeface="Times New Roman" pitchFamily="18" charset="0"/>
                <a:cs typeface="Times New Roman" pitchFamily="18" charset="0"/>
              </a:rPr>
              <a:t> имя) и сразу за ним добавьте закрывающий тег &lt;/</a:t>
            </a:r>
            <a:r>
              <a:rPr lang="ru-RU" dirty="0" err="1" smtClean="0">
                <a:latin typeface="Times New Roman" pitchFamily="18" charset="0"/>
                <a:cs typeface="Times New Roman" pitchFamily="18" charset="0"/>
              </a:rPr>
              <a:t>title</a:t>
            </a:r>
            <a:r>
              <a:rPr lang="ru-RU" dirty="0" smtClean="0">
                <a:latin typeface="Times New Roman" pitchFamily="18" charset="0"/>
                <a:cs typeface="Times New Roman" pitchFamily="18" charset="0"/>
              </a:rPr>
              <a:t>&gt;. Например, если именем вашей страницы будет «Мой сайт», введите следующее:</a:t>
            </a:r>
            <a:endParaRPr lang="en-US" dirty="0" smtClean="0">
              <a:latin typeface="Times New Roman" pitchFamily="18" charset="0"/>
              <a:cs typeface="Times New Roman" pitchFamily="18" charset="0"/>
            </a:endParaRPr>
          </a:p>
          <a:p>
            <a:pPr marL="342900" indent="-342900" algn="just"/>
            <a:endParaRPr lang="ru-RU" dirty="0" smtClean="0">
              <a:latin typeface="Times New Roman" pitchFamily="18" charset="0"/>
              <a:cs typeface="Times New Roman" pitchFamily="18" charset="0"/>
            </a:endParaRPr>
          </a:p>
        </p:txBody>
      </p:sp>
      <p:sp>
        <p:nvSpPr>
          <p:cNvPr id="8" name="Прямоугольник 7"/>
          <p:cNvSpPr/>
          <p:nvPr/>
        </p:nvSpPr>
        <p:spPr>
          <a:xfrm>
            <a:off x="0" y="3571876"/>
            <a:ext cx="9144000" cy="830997"/>
          </a:xfrm>
          <a:prstGeom prst="rect">
            <a:avLst/>
          </a:prstGeom>
          <a:ln>
            <a:solidFill>
              <a:schemeClr val="tx1"/>
            </a:solidFill>
          </a:ln>
        </p:spPr>
        <p:txBody>
          <a:bodyPr wrap="square">
            <a:spAutoFit/>
          </a:bodyPr>
          <a:lstStyle/>
          <a:p>
            <a:pPr algn="just" fontAlgn="base"/>
            <a:r>
              <a:rPr lang="ru-RU" sz="1600" b="1" dirty="0" smtClean="0">
                <a:latin typeface="Times New Roman" pitchFamily="18" charset="0"/>
                <a:cs typeface="Times New Roman" pitchFamily="18" charset="0"/>
              </a:rPr>
              <a:t>Примечание:</a:t>
            </a:r>
            <a:r>
              <a:rPr lang="ru-RU" sz="1600" dirty="0" smtClean="0">
                <a:latin typeface="Times New Roman" pitchFamily="18" charset="0"/>
                <a:cs typeface="Times New Roman" pitchFamily="18" charset="0"/>
              </a:rPr>
              <a:t> Каждый HTML-элемент должен находиться между двумя тегами. Когда мы добавляем новый элемент, например тег «&lt;</a:t>
            </a:r>
            <a:r>
              <a:rPr lang="ru-RU" sz="1600" dirty="0" err="1" smtClean="0">
                <a:latin typeface="Times New Roman" pitchFamily="18" charset="0"/>
                <a:cs typeface="Times New Roman" pitchFamily="18" charset="0"/>
              </a:rPr>
              <a:t>head</a:t>
            </a:r>
            <a:r>
              <a:rPr lang="ru-RU" sz="1600" dirty="0" smtClean="0">
                <a:latin typeface="Times New Roman" pitchFamily="18" charset="0"/>
                <a:cs typeface="Times New Roman" pitchFamily="18" charset="0"/>
              </a:rPr>
              <a:t>&gt;», открывающий соответствующий раздел, нам нужно добавить и закрывающий тег. В данном случае это «&lt;/</a:t>
            </a:r>
            <a:r>
              <a:rPr lang="ru-RU" sz="1600" dirty="0" err="1" smtClean="0">
                <a:latin typeface="Times New Roman" pitchFamily="18" charset="0"/>
                <a:cs typeface="Times New Roman" pitchFamily="18" charset="0"/>
              </a:rPr>
              <a:t>head</a:t>
            </a:r>
            <a:r>
              <a:rPr lang="ru-RU" sz="1600" dirty="0" smtClean="0">
                <a:latin typeface="Times New Roman" pitchFamily="18" charset="0"/>
                <a:cs typeface="Times New Roman" pitchFamily="18" charset="0"/>
              </a:rPr>
              <a:t>&gt;».</a:t>
            </a:r>
            <a:endParaRPr lang="ru-RU" sz="1600" dirty="0">
              <a:latin typeface="Times New Roman" pitchFamily="18" charset="0"/>
              <a:cs typeface="Times New Roman" pitchFamily="18" charset="0"/>
            </a:endParaRPr>
          </a:p>
        </p:txBody>
      </p:sp>
      <p:pic>
        <p:nvPicPr>
          <p:cNvPr id="17413" name="Picture 5"/>
          <p:cNvPicPr>
            <a:picLocks noChangeAspect="1" noChangeArrowheads="1"/>
          </p:cNvPicPr>
          <p:nvPr/>
        </p:nvPicPr>
        <p:blipFill>
          <a:blip r:embed="rId2"/>
          <a:srcRect/>
          <a:stretch>
            <a:fillRect/>
          </a:stretch>
        </p:blipFill>
        <p:spPr bwMode="auto">
          <a:xfrm>
            <a:off x="214282" y="6000768"/>
            <a:ext cx="3307418" cy="690883"/>
          </a:xfrm>
          <a:prstGeom prst="rect">
            <a:avLst/>
          </a:prstGeom>
          <a:noFill/>
          <a:ln w="9525">
            <a:noFill/>
            <a:miter lim="800000"/>
            <a:headEnd/>
            <a:tailEnd/>
          </a:ln>
          <a:effectLst/>
        </p:spPr>
      </p:pic>
      <p:pic>
        <p:nvPicPr>
          <p:cNvPr id="17414" name="Picture 6"/>
          <p:cNvPicPr>
            <a:picLocks noChangeAspect="1" noChangeArrowheads="1"/>
          </p:cNvPicPr>
          <p:nvPr/>
        </p:nvPicPr>
        <p:blipFill>
          <a:blip r:embed="rId3"/>
          <a:srcRect/>
          <a:stretch>
            <a:fillRect/>
          </a:stretch>
        </p:blipFill>
        <p:spPr bwMode="auto">
          <a:xfrm>
            <a:off x="428596" y="2143116"/>
            <a:ext cx="1359288" cy="42386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Разработка одностраничного сайта</a:t>
            </a:r>
            <a:endParaRPr lang="ru-RU" b="1" dirty="0"/>
          </a:p>
        </p:txBody>
      </p:sp>
      <p:sp>
        <p:nvSpPr>
          <p:cNvPr id="6" name="Прямоугольник 5"/>
          <p:cNvSpPr/>
          <p:nvPr/>
        </p:nvSpPr>
        <p:spPr>
          <a:xfrm>
            <a:off x="0" y="928670"/>
            <a:ext cx="5857884" cy="2031325"/>
          </a:xfrm>
          <a:prstGeom prst="rect">
            <a:avLst/>
          </a:prstGeom>
        </p:spPr>
        <p:txBody>
          <a:bodyPr wrap="square">
            <a:spAutoFit/>
          </a:bodyPr>
          <a:lstStyle/>
          <a:p>
            <a:pPr indent="-342900" algn="just"/>
            <a:r>
              <a:rPr lang="ru-RU" dirty="0" smtClean="0">
                <a:latin typeface="Times New Roman" pitchFamily="18" charset="0"/>
                <a:cs typeface="Times New Roman" pitchFamily="18" charset="0"/>
              </a:rPr>
              <a:t>5) </a:t>
            </a:r>
            <a:r>
              <a:rPr lang="ru-RU" b="1" dirty="0" smtClean="0">
                <a:latin typeface="Times New Roman" pitchFamily="18" charset="0"/>
                <a:cs typeface="Times New Roman" pitchFamily="18" charset="0"/>
              </a:rPr>
              <a:t>Добавьте теги «</a:t>
            </a:r>
            <a:r>
              <a:rPr lang="ru-RU" b="1" dirty="0" err="1" smtClean="0">
                <a:latin typeface="Times New Roman" pitchFamily="18" charset="0"/>
                <a:cs typeface="Times New Roman" pitchFamily="18" charset="0"/>
              </a:rPr>
              <a:t>body</a:t>
            </a:r>
            <a:r>
              <a:rPr lang="ru-RU" b="1" dirty="0" smtClean="0">
                <a:latin typeface="Times New Roman" pitchFamily="18" charset="0"/>
                <a:cs typeface="Times New Roman" pitchFamily="18" charset="0"/>
              </a:rPr>
              <a:t>»</a:t>
            </a:r>
            <a:r>
              <a:rPr lang="ru-RU" dirty="0" smtClean="0">
                <a:latin typeface="Times New Roman" pitchFamily="18" charset="0"/>
                <a:cs typeface="Times New Roman" pitchFamily="18" charset="0"/>
              </a:rPr>
              <a:t>. Все, что будет отображаться на вашей странице в </a:t>
            </a:r>
            <a:r>
              <a:rPr lang="ru-RU" dirty="0" err="1" smtClean="0">
                <a:latin typeface="Times New Roman" pitchFamily="18" charset="0"/>
                <a:cs typeface="Times New Roman" pitchFamily="18" charset="0"/>
              </a:rPr>
              <a:t>веб-браузере</a:t>
            </a:r>
            <a:r>
              <a:rPr lang="ru-RU" dirty="0" smtClean="0">
                <a:latin typeface="Times New Roman" pitchFamily="18" charset="0"/>
                <a:cs typeface="Times New Roman" pitchFamily="18" charset="0"/>
              </a:rPr>
              <a:t>, должно находиться между этими тегами.</a:t>
            </a:r>
          </a:p>
          <a:p>
            <a:pPr indent="-342900" algn="just"/>
            <a:r>
              <a:rPr lang="ru-RU" dirty="0" smtClean="0">
                <a:latin typeface="Times New Roman" pitchFamily="18" charset="0"/>
                <a:cs typeface="Times New Roman" pitchFamily="18" charset="0"/>
              </a:rPr>
              <a:t>6) </a:t>
            </a:r>
            <a:r>
              <a:rPr lang="ru-RU" b="1" dirty="0" smtClean="0">
                <a:latin typeface="Times New Roman" pitchFamily="18" charset="0"/>
                <a:cs typeface="Times New Roman" pitchFamily="18" charset="0"/>
              </a:rPr>
              <a:t>Закройте тег языка HTML.</a:t>
            </a:r>
            <a:r>
              <a:rPr lang="ru-RU" dirty="0" smtClean="0">
                <a:latin typeface="Times New Roman" pitchFamily="18" charset="0"/>
                <a:cs typeface="Times New Roman" pitchFamily="18" charset="0"/>
              </a:rPr>
              <a:t> Последним тегом документа будет закрывающий тег «</a:t>
            </a:r>
            <a:r>
              <a:rPr lang="ru-RU" dirty="0" err="1" smtClean="0">
                <a:latin typeface="Times New Roman" pitchFamily="18" charset="0"/>
                <a:cs typeface="Times New Roman" pitchFamily="18" charset="0"/>
              </a:rPr>
              <a:t>html</a:t>
            </a:r>
            <a:r>
              <a:rPr lang="ru-RU" dirty="0" smtClean="0">
                <a:latin typeface="Times New Roman" pitchFamily="18" charset="0"/>
                <a:cs typeface="Times New Roman" pitchFamily="18" charset="0"/>
              </a:rPr>
              <a:t>», чтобы обозначить конец страницы. Введите &lt;/</a:t>
            </a:r>
            <a:r>
              <a:rPr lang="ru-RU" dirty="0" err="1" smtClean="0">
                <a:latin typeface="Times New Roman" pitchFamily="18" charset="0"/>
                <a:cs typeface="Times New Roman" pitchFamily="18" charset="0"/>
              </a:rPr>
              <a:t>html</a:t>
            </a:r>
            <a:r>
              <a:rPr lang="ru-RU" dirty="0" smtClean="0">
                <a:latin typeface="Times New Roman" pitchFamily="18" charset="0"/>
                <a:cs typeface="Times New Roman" pitchFamily="18" charset="0"/>
              </a:rPr>
              <a:t>&gt; под тегом &lt;/</a:t>
            </a:r>
            <a:r>
              <a:rPr lang="ru-RU" dirty="0" err="1" smtClean="0">
                <a:latin typeface="Times New Roman" pitchFamily="18" charset="0"/>
                <a:cs typeface="Times New Roman" pitchFamily="18" charset="0"/>
              </a:rPr>
              <a:t>body</a:t>
            </a:r>
            <a:r>
              <a:rPr lang="ru-RU" dirty="0" smtClean="0">
                <a:latin typeface="Times New Roman" pitchFamily="18" charset="0"/>
                <a:cs typeface="Times New Roman" pitchFamily="18" charset="0"/>
              </a:rPr>
              <a:t>&gt;, чтобы закрыть тег HTML.</a:t>
            </a:r>
          </a:p>
        </p:txBody>
      </p:sp>
      <p:cxnSp>
        <p:nvCxnSpPr>
          <p:cNvPr id="12" name="Shape 11"/>
          <p:cNvCxnSpPr>
            <a:stCxn id="6" idx="2"/>
            <a:endCxn id="19462" idx="1"/>
          </p:cNvCxnSpPr>
          <p:nvPr/>
        </p:nvCxnSpPr>
        <p:spPr>
          <a:xfrm rot="5400000" flipH="1" flipV="1">
            <a:off x="4250251" y="709421"/>
            <a:ext cx="929265" cy="3571884"/>
          </a:xfrm>
          <a:prstGeom prst="bentConnector4">
            <a:avLst>
              <a:gd name="adj1" fmla="val -12632"/>
              <a:gd name="adj2" fmla="val 91000"/>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Прямоугольник 19"/>
          <p:cNvSpPr/>
          <p:nvPr/>
        </p:nvSpPr>
        <p:spPr>
          <a:xfrm>
            <a:off x="0" y="3143248"/>
            <a:ext cx="6072198" cy="1077218"/>
          </a:xfrm>
          <a:prstGeom prst="rect">
            <a:avLst/>
          </a:prstGeom>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Запомните, что все элементы </a:t>
            </a:r>
            <a:r>
              <a:rPr lang="ru-RU" sz="1600" b="1" dirty="0" err="1" smtClean="0">
                <a:latin typeface="Times New Roman" pitchFamily="18" charset="0"/>
                <a:cs typeface="Times New Roman" pitchFamily="18" charset="0"/>
              </a:rPr>
              <a:t>веб-страницы</a:t>
            </a:r>
            <a:r>
              <a:rPr lang="ru-RU" sz="1600" b="1" dirty="0" smtClean="0">
                <a:latin typeface="Times New Roman" pitchFamily="18" charset="0"/>
                <a:cs typeface="Times New Roman" pitchFamily="18" charset="0"/>
              </a:rPr>
              <a:t> должны находиться между тегами «</a:t>
            </a:r>
            <a:r>
              <a:rPr lang="ru-RU" sz="1600" b="1" dirty="0" err="1" smtClean="0">
                <a:latin typeface="Times New Roman" pitchFamily="18" charset="0"/>
                <a:cs typeface="Times New Roman" pitchFamily="18" charset="0"/>
              </a:rPr>
              <a:t>body</a:t>
            </a:r>
            <a:r>
              <a:rPr lang="ru-RU" sz="1600" b="1" dirty="0" smtClean="0">
                <a:latin typeface="Times New Roman" pitchFamily="18" charset="0"/>
                <a:cs typeface="Times New Roman" pitchFamily="18" charset="0"/>
              </a:rPr>
              <a:t>».</a:t>
            </a:r>
            <a:r>
              <a:rPr lang="ru-RU" sz="1600" dirty="0" smtClean="0">
                <a:latin typeface="Times New Roman" pitchFamily="18" charset="0"/>
                <a:cs typeface="Times New Roman" pitchFamily="18" charset="0"/>
              </a:rPr>
              <a:t> Любой элемент — будь то заголовок или абзац — нужно вводить после тега &lt;</a:t>
            </a:r>
            <a:r>
              <a:rPr lang="ru-RU" sz="1600" dirty="0" err="1" smtClean="0">
                <a:latin typeface="Times New Roman" pitchFamily="18" charset="0"/>
                <a:cs typeface="Times New Roman" pitchFamily="18" charset="0"/>
              </a:rPr>
              <a:t>body</a:t>
            </a:r>
            <a:r>
              <a:rPr lang="ru-RU" sz="1600" dirty="0" smtClean="0">
                <a:latin typeface="Times New Roman" pitchFamily="18" charset="0"/>
                <a:cs typeface="Times New Roman" pitchFamily="18" charset="0"/>
              </a:rPr>
              <a:t>&gt; и перед тегом &lt;/</a:t>
            </a:r>
            <a:r>
              <a:rPr lang="ru-RU" sz="1600" dirty="0" err="1" smtClean="0">
                <a:latin typeface="Times New Roman" pitchFamily="18" charset="0"/>
                <a:cs typeface="Times New Roman" pitchFamily="18" charset="0"/>
              </a:rPr>
              <a:t>body</a:t>
            </a:r>
            <a:r>
              <a:rPr lang="ru-RU" sz="1600" dirty="0" smtClean="0">
                <a:latin typeface="Times New Roman" pitchFamily="18" charset="0"/>
                <a:cs typeface="Times New Roman" pitchFamily="18" charset="0"/>
              </a:rPr>
              <a:t>&gt;.</a:t>
            </a:r>
            <a:endParaRPr lang="ru-RU" sz="1600" dirty="0">
              <a:latin typeface="Times New Roman" pitchFamily="18" charset="0"/>
              <a:cs typeface="Times New Roman" pitchFamily="18" charset="0"/>
            </a:endParaRPr>
          </a:p>
        </p:txBody>
      </p:sp>
      <p:pic>
        <p:nvPicPr>
          <p:cNvPr id="19461" name="Picture 5"/>
          <p:cNvPicPr>
            <a:picLocks noChangeAspect="1" noChangeArrowheads="1"/>
          </p:cNvPicPr>
          <p:nvPr/>
        </p:nvPicPr>
        <p:blipFill>
          <a:blip r:embed="rId2"/>
          <a:srcRect/>
          <a:stretch>
            <a:fillRect/>
          </a:stretch>
        </p:blipFill>
        <p:spPr bwMode="auto">
          <a:xfrm>
            <a:off x="6643702" y="3357562"/>
            <a:ext cx="2071670" cy="3319127"/>
          </a:xfrm>
          <a:prstGeom prst="rect">
            <a:avLst/>
          </a:prstGeom>
          <a:noFill/>
          <a:ln w="9525">
            <a:solidFill>
              <a:schemeClr val="tx1"/>
            </a:solidFill>
            <a:miter lim="800000"/>
            <a:headEnd/>
            <a:tailEnd/>
          </a:ln>
          <a:effectLst/>
        </p:spPr>
      </p:pic>
      <p:sp>
        <p:nvSpPr>
          <p:cNvPr id="29" name="Прямоугольник 28"/>
          <p:cNvSpPr/>
          <p:nvPr/>
        </p:nvSpPr>
        <p:spPr>
          <a:xfrm>
            <a:off x="0" y="4500570"/>
            <a:ext cx="6072198" cy="1200329"/>
          </a:xfrm>
          <a:prstGeom prst="rect">
            <a:avLst/>
          </a:prstGeom>
        </p:spPr>
        <p:txBody>
          <a:bodyPr wrap="square">
            <a:spAutoFit/>
          </a:bodyPr>
          <a:lstStyle/>
          <a:p>
            <a:pPr indent="-342900" algn="just"/>
            <a:r>
              <a:rPr lang="ru-RU" dirty="0" smtClean="0">
                <a:latin typeface="Times New Roman" pitchFamily="18" charset="0"/>
                <a:cs typeface="Times New Roman" pitchFamily="18" charset="0"/>
              </a:rPr>
              <a:t>7) </a:t>
            </a:r>
            <a:r>
              <a:rPr lang="ru-RU" b="1" dirty="0" smtClean="0">
                <a:latin typeface="Times New Roman" pitchFamily="18" charset="0"/>
                <a:cs typeface="Times New Roman" pitchFamily="18" charset="0"/>
              </a:rPr>
              <a:t>Добавьте</a:t>
            </a:r>
            <a:r>
              <a:rPr lang="en-US" b="1" dirty="0" smtClean="0">
                <a:latin typeface="Times New Roman" pitchFamily="18" charset="0"/>
                <a:cs typeface="Times New Roman" pitchFamily="18" charset="0"/>
              </a:rPr>
              <a:t> </a:t>
            </a:r>
            <a:r>
              <a:rPr lang="ru-RU" b="1" dirty="0" smtClean="0">
                <a:latin typeface="Times New Roman" pitchFamily="18" charset="0"/>
                <a:cs typeface="Times New Roman" pitchFamily="18" charset="0"/>
              </a:rPr>
              <a:t>ключевые разделы между тегами «</a:t>
            </a:r>
            <a:r>
              <a:rPr lang="ru-RU" b="1" dirty="0" err="1" smtClean="0">
                <a:latin typeface="Times New Roman" pitchFamily="18" charset="0"/>
                <a:cs typeface="Times New Roman" pitchFamily="18" charset="0"/>
              </a:rPr>
              <a:t>body</a:t>
            </a:r>
            <a:r>
              <a:rPr lang="ru-RU" b="1" dirty="0" smtClean="0">
                <a:latin typeface="Times New Roman" pitchFamily="18" charset="0"/>
                <a:cs typeface="Times New Roman" pitchFamily="18" charset="0"/>
              </a:rPr>
              <a:t>»</a:t>
            </a:r>
            <a:r>
              <a:rPr lang="ru-RU" dirty="0" smtClean="0">
                <a:latin typeface="Times New Roman" pitchFamily="18" charset="0"/>
                <a:cs typeface="Times New Roman" pitchFamily="18" charset="0"/>
              </a:rPr>
              <a:t>. Добавьте меню навигации, основной блок, боковую панель и подвал сайта. Добавьте характеризующую информацию между этими тегами</a:t>
            </a:r>
          </a:p>
        </p:txBody>
      </p:sp>
      <p:cxnSp>
        <p:nvCxnSpPr>
          <p:cNvPr id="30" name="Shape 29"/>
          <p:cNvCxnSpPr>
            <a:stCxn id="29" idx="2"/>
            <a:endCxn id="19461" idx="1"/>
          </p:cNvCxnSpPr>
          <p:nvPr/>
        </p:nvCxnSpPr>
        <p:spPr>
          <a:xfrm rot="5400000" flipH="1" flipV="1">
            <a:off x="4498013" y="3555211"/>
            <a:ext cx="683773" cy="3607603"/>
          </a:xfrm>
          <a:prstGeom prst="bentConnector4">
            <a:avLst>
              <a:gd name="adj1" fmla="val -33432"/>
              <a:gd name="adj2" fmla="val 92079"/>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9462" name="Picture 6"/>
          <p:cNvPicPr>
            <a:picLocks noChangeAspect="1" noChangeArrowheads="1"/>
          </p:cNvPicPr>
          <p:nvPr/>
        </p:nvPicPr>
        <p:blipFill>
          <a:blip r:embed="rId3"/>
          <a:srcRect/>
          <a:stretch>
            <a:fillRect/>
          </a:stretch>
        </p:blipFill>
        <p:spPr bwMode="auto">
          <a:xfrm>
            <a:off x="6500826" y="857232"/>
            <a:ext cx="2233615" cy="2346996"/>
          </a:xfrm>
          <a:prstGeom prst="rect">
            <a:avLst/>
          </a:prstGeom>
          <a:noFill/>
          <a:ln w="9525">
            <a:solidFill>
              <a:schemeClr val="tx1"/>
            </a:solidFill>
            <a:miter lim="800000"/>
            <a:headEnd/>
            <a:tailEnd/>
          </a:ln>
          <a:effectLst/>
        </p:spPr>
      </p:pic>
      <p:sp>
        <p:nvSpPr>
          <p:cNvPr id="10" name="Прямоугольник 9"/>
          <p:cNvSpPr/>
          <p:nvPr/>
        </p:nvSpPr>
        <p:spPr>
          <a:xfrm>
            <a:off x="0" y="6211669"/>
            <a:ext cx="6072198" cy="646331"/>
          </a:xfrm>
          <a:prstGeom prst="rect">
            <a:avLst/>
          </a:prstGeom>
          <a:ln>
            <a:solidFill>
              <a:schemeClr val="tx1"/>
            </a:solidFill>
          </a:ln>
        </p:spPr>
        <p:txBody>
          <a:bodyPr wrap="square">
            <a:spAutoFit/>
          </a:bodyPr>
          <a:lstStyle/>
          <a:p>
            <a:pPr indent="-342900" algn="just"/>
            <a:r>
              <a:rPr lang="ru-RU" b="1" i="1" dirty="0" smtClean="0">
                <a:latin typeface="Times New Roman" pitchFamily="18" charset="0"/>
                <a:cs typeface="Times New Roman" pitchFamily="18" charset="0"/>
              </a:rPr>
              <a:t>Примечание: изображение</a:t>
            </a:r>
            <a:r>
              <a:rPr lang="ru-RU" i="1" dirty="0" smtClean="0">
                <a:latin typeface="Times New Roman" pitchFamily="18" charset="0"/>
                <a:cs typeface="Times New Roman" pitchFamily="18" charset="0"/>
              </a:rPr>
              <a:t> должно храниться в той же папке, что и файл </a:t>
            </a:r>
            <a:r>
              <a:rPr lang="en-US" b="1" i="1" dirty="0" smtClean="0">
                <a:latin typeface="Times New Roman" pitchFamily="18" charset="0"/>
                <a:cs typeface="Times New Roman" pitchFamily="18" charset="0"/>
              </a:rPr>
              <a:t>index.html</a:t>
            </a:r>
            <a:endParaRPr lang="ru-RU" b="1" i="1" dirty="0" smtClean="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Разработка одностраничного сайта</a:t>
            </a:r>
            <a:endParaRPr lang="ru-RU" b="1" dirty="0"/>
          </a:p>
        </p:txBody>
      </p:sp>
      <p:sp>
        <p:nvSpPr>
          <p:cNvPr id="10" name="Прямоугольник 9"/>
          <p:cNvSpPr/>
          <p:nvPr/>
        </p:nvSpPr>
        <p:spPr>
          <a:xfrm>
            <a:off x="0" y="571480"/>
            <a:ext cx="5929322" cy="6186309"/>
          </a:xfrm>
          <a:prstGeom prst="rect">
            <a:avLst/>
          </a:prstGeom>
        </p:spPr>
        <p:txBody>
          <a:bodyPr wrap="square">
            <a:spAutoFit/>
          </a:bodyPr>
          <a:lstStyle/>
          <a:p>
            <a:pPr indent="-342900" algn="just"/>
            <a:r>
              <a:rPr lang="ru-RU" dirty="0" smtClean="0">
                <a:latin typeface="Times New Roman" pitchFamily="18" charset="0"/>
                <a:cs typeface="Times New Roman" pitchFamily="18" charset="0"/>
              </a:rPr>
              <a:t>8) </a:t>
            </a:r>
            <a:r>
              <a:rPr lang="ru-RU" b="1" dirty="0" smtClean="0">
                <a:latin typeface="Times New Roman" pitchFamily="18" charset="0"/>
                <a:cs typeface="Times New Roman" pitchFamily="18" charset="0"/>
              </a:rPr>
              <a:t>В блоке </a:t>
            </a:r>
            <a:r>
              <a:rPr lang="en-US" b="1" dirty="0" smtClean="0">
                <a:latin typeface="Times New Roman" pitchFamily="18" charset="0"/>
                <a:cs typeface="Times New Roman" pitchFamily="18" charset="0"/>
              </a:rPr>
              <a:t>&lt;head&gt;</a:t>
            </a:r>
            <a:r>
              <a:rPr lang="ru-RU" b="1" dirty="0" smtClean="0">
                <a:latin typeface="Times New Roman" pitchFamily="18" charset="0"/>
                <a:cs typeface="Times New Roman" pitchFamily="18" charset="0"/>
              </a:rPr>
              <a:t> задайте стили сайта.</a:t>
            </a:r>
          </a:p>
          <a:p>
            <a:pPr indent="-342900" algn="just"/>
            <a:r>
              <a:rPr lang="ru-RU" dirty="0" smtClean="0">
                <a:latin typeface="Times New Roman" pitchFamily="18" charset="0"/>
                <a:cs typeface="Times New Roman" pitchFamily="18" charset="0"/>
              </a:rPr>
              <a:t>8.1) Задайте цвет сайта, прописав его в теге</a:t>
            </a:r>
            <a:r>
              <a:rPr lang="en-US" dirty="0" smtClean="0">
                <a:latin typeface="Times New Roman" pitchFamily="18" charset="0"/>
                <a:cs typeface="Times New Roman" pitchFamily="18" charset="0"/>
              </a:rPr>
              <a:t>:</a:t>
            </a:r>
          </a:p>
          <a:p>
            <a:pPr indent="-342900" algn="just"/>
            <a:endParaRPr lang="en-US" dirty="0" smtClean="0">
              <a:latin typeface="Times New Roman" pitchFamily="18" charset="0"/>
              <a:cs typeface="Times New Roman" pitchFamily="18" charset="0"/>
            </a:endParaRPr>
          </a:p>
          <a:p>
            <a:pPr indent="-342900" algn="just"/>
            <a:endParaRPr lang="en-US" dirty="0" smtClean="0">
              <a:latin typeface="Times New Roman" pitchFamily="18" charset="0"/>
              <a:cs typeface="Times New Roman" pitchFamily="18" charset="0"/>
            </a:endParaRPr>
          </a:p>
          <a:p>
            <a:pPr indent="-342900" algn="just"/>
            <a:endParaRPr lang="en-US"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8.</a:t>
            </a:r>
            <a:r>
              <a:rPr lang="en-US" dirty="0" smtClean="0">
                <a:latin typeface="Times New Roman" pitchFamily="18" charset="0"/>
                <a:cs typeface="Times New Roman" pitchFamily="18" charset="0"/>
              </a:rPr>
              <a:t>2</a:t>
            </a:r>
            <a:r>
              <a:rPr lang="ru-RU" dirty="0" smtClean="0">
                <a:latin typeface="Times New Roman" pitchFamily="18" charset="0"/>
                <a:cs typeface="Times New Roman" pitchFamily="18" charset="0"/>
              </a:rPr>
              <a:t>) Уберите отступы от границ сайта</a:t>
            </a:r>
            <a:r>
              <a:rPr lang="en-US" dirty="0" smtClean="0">
                <a:latin typeface="Times New Roman" pitchFamily="18" charset="0"/>
                <a:cs typeface="Times New Roman" pitchFamily="18" charset="0"/>
              </a:rPr>
              <a:t>:</a:t>
            </a:r>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8.3) Создайте стиль для общего содержимого, установив ширину и высоту суммарного блока</a:t>
            </a:r>
            <a:r>
              <a:rPr lang="en-US" dirty="0" smtClean="0">
                <a:latin typeface="Times New Roman" pitchFamily="18" charset="0"/>
                <a:cs typeface="Times New Roman" pitchFamily="18" charset="0"/>
              </a:rPr>
              <a:t>:</a:t>
            </a:r>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endParaRPr lang="ru-RU"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8.4) Настройте стили всех блоков, задав ширину (</a:t>
            </a:r>
            <a:r>
              <a:rPr lang="en-US" dirty="0" smtClean="0">
                <a:latin typeface="Times New Roman" pitchFamily="18" charset="0"/>
                <a:cs typeface="Times New Roman" pitchFamily="18" charset="0"/>
              </a:rPr>
              <a:t>width</a:t>
            </a:r>
            <a:r>
              <a:rPr lang="ru-RU" dirty="0" smtClean="0">
                <a:latin typeface="Times New Roman" pitchFamily="18" charset="0"/>
                <a:cs typeface="Times New Roman" pitchFamily="18" charset="0"/>
              </a:rPr>
              <a:t>), высоту (</a:t>
            </a:r>
            <a:r>
              <a:rPr lang="en-US" dirty="0" smtClean="0">
                <a:latin typeface="Times New Roman" pitchFamily="18" charset="0"/>
                <a:cs typeface="Times New Roman" pitchFamily="18" charset="0"/>
              </a:rPr>
              <a:t>min-height</a:t>
            </a:r>
            <a:r>
              <a:rPr lang="ru-RU" dirty="0" smtClean="0">
                <a:latin typeface="Times New Roman" pitchFamily="18" charset="0"/>
                <a:cs typeface="Times New Roman" pitchFamily="18" charset="0"/>
              </a:rPr>
              <a:t>), позиционирование (</a:t>
            </a:r>
            <a:r>
              <a:rPr lang="en-US" dirty="0" smtClean="0">
                <a:latin typeface="Times New Roman" pitchFamily="18" charset="0"/>
                <a:cs typeface="Times New Roman" pitchFamily="18" charset="0"/>
              </a:rPr>
              <a:t>float</a:t>
            </a:r>
            <a:r>
              <a:rPr lang="ru-RU"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left </a:t>
            </a:r>
            <a:r>
              <a:rPr lang="ru-RU" dirty="0" smtClean="0">
                <a:latin typeface="Times New Roman" pitchFamily="18" charset="0"/>
                <a:cs typeface="Times New Roman" pitchFamily="18" charset="0"/>
              </a:rPr>
              <a:t>или </a:t>
            </a:r>
            <a:r>
              <a:rPr lang="en-US" dirty="0" smtClean="0">
                <a:latin typeface="Times New Roman" pitchFamily="18" charset="0"/>
                <a:cs typeface="Times New Roman" pitchFamily="18" charset="0"/>
              </a:rPr>
              <a:t>right</a:t>
            </a:r>
            <a:r>
              <a:rPr lang="ru-RU"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цвет (</a:t>
            </a:r>
            <a:r>
              <a:rPr lang="en-US" dirty="0" smtClean="0">
                <a:latin typeface="Times New Roman" pitchFamily="18" charset="0"/>
                <a:cs typeface="Times New Roman" pitchFamily="18" charset="0"/>
              </a:rPr>
              <a:t>background</a:t>
            </a:r>
            <a:r>
              <a:rPr lang="ru-RU" dirty="0" smtClean="0">
                <a:latin typeface="Times New Roman" pitchFamily="18" charset="0"/>
                <a:cs typeface="Times New Roman" pitchFamily="18" charset="0"/>
              </a:rPr>
              <a:t>),  внешний отступ (</a:t>
            </a:r>
            <a:r>
              <a:rPr lang="en-US" dirty="0" smtClean="0">
                <a:latin typeface="Times New Roman" pitchFamily="18" charset="0"/>
                <a:cs typeface="Times New Roman" pitchFamily="18" charset="0"/>
              </a:rPr>
              <a:t>margin:1%;</a:t>
            </a:r>
            <a:r>
              <a:rPr lang="ru-RU"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indent="-342900" algn="just"/>
            <a:r>
              <a:rPr lang="ru-RU" dirty="0" smtClean="0">
                <a:latin typeface="Times New Roman" pitchFamily="18" charset="0"/>
                <a:cs typeface="Times New Roman" pitchFamily="18" charset="0"/>
              </a:rPr>
              <a:t>9) После тега </a:t>
            </a:r>
            <a:r>
              <a:rPr lang="en-US" b="1" dirty="0" smtClean="0">
                <a:latin typeface="Times New Roman" pitchFamily="18" charset="0"/>
                <a:cs typeface="Times New Roman" pitchFamily="18" charset="0"/>
              </a:rPr>
              <a:t>&lt;body&gt;</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укажите стилизованный блок </a:t>
            </a:r>
            <a:r>
              <a:rPr lang="en-US" dirty="0" smtClean="0">
                <a:latin typeface="Times New Roman" pitchFamily="18" charset="0"/>
                <a:cs typeface="Times New Roman" pitchFamily="18" charset="0"/>
              </a:rPr>
              <a:t>wrapper (</a:t>
            </a:r>
            <a:r>
              <a:rPr lang="en-US" b="1" dirty="0" smtClean="0">
                <a:latin typeface="Times New Roman" pitchFamily="18" charset="0"/>
                <a:cs typeface="Times New Roman" pitchFamily="18" charset="0"/>
              </a:rPr>
              <a:t>&lt;div class="wrapper"&gt;</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После блока </a:t>
            </a:r>
            <a:r>
              <a:rPr lang="en-US" b="1" dirty="0" smtClean="0">
                <a:latin typeface="Times New Roman" pitchFamily="18" charset="0"/>
                <a:cs typeface="Times New Roman" pitchFamily="18" charset="0"/>
              </a:rPr>
              <a:t>&lt;/footer&gt;</a:t>
            </a:r>
            <a:r>
              <a:rPr lang="ru-RU" dirty="0" smtClean="0">
                <a:latin typeface="Times New Roman" pitchFamily="18" charset="0"/>
                <a:cs typeface="Times New Roman" pitchFamily="18" charset="0"/>
              </a:rPr>
              <a:t> закройте его </a:t>
            </a:r>
            <a:r>
              <a:rPr lang="en-US" b="1" smtClean="0">
                <a:latin typeface="Times New Roman" pitchFamily="18" charset="0"/>
                <a:cs typeface="Times New Roman" pitchFamily="18" charset="0"/>
              </a:rPr>
              <a:t>&lt;/div&gt;</a:t>
            </a:r>
            <a:endParaRPr lang="ru-RU" b="1" dirty="0" smtClean="0">
              <a:latin typeface="Times New Roman" pitchFamily="18" charset="0"/>
              <a:cs typeface="Times New Roman" pitchFamily="18" charset="0"/>
            </a:endParaRPr>
          </a:p>
        </p:txBody>
      </p:sp>
      <p:sp>
        <p:nvSpPr>
          <p:cNvPr id="11" name="Прямоугольник 10"/>
          <p:cNvSpPr/>
          <p:nvPr/>
        </p:nvSpPr>
        <p:spPr>
          <a:xfrm>
            <a:off x="500050" y="1142984"/>
            <a:ext cx="2286000" cy="830997"/>
          </a:xfrm>
          <a:prstGeom prst="rect">
            <a:avLst/>
          </a:prstGeom>
          <a:solidFill>
            <a:schemeClr val="bg2"/>
          </a:solidFill>
          <a:ln>
            <a:solidFill>
              <a:schemeClr val="tx1"/>
            </a:solidFill>
          </a:ln>
        </p:spPr>
        <p:txBody>
          <a:bodyPr wrap="square">
            <a:spAutoFit/>
          </a:bodyPr>
          <a:lstStyle/>
          <a:p>
            <a:r>
              <a:rPr lang="en-US" sz="1600" b="1" dirty="0" smtClean="0">
                <a:latin typeface="Courier New" pitchFamily="49" charset="0"/>
                <a:cs typeface="Courier New" pitchFamily="49" charset="0"/>
              </a:rPr>
              <a:t>body {</a:t>
            </a:r>
          </a:p>
          <a:p>
            <a:r>
              <a:rPr lang="en-US" sz="1600" b="1" dirty="0" smtClean="0">
                <a:latin typeface="Courier New" pitchFamily="49" charset="0"/>
                <a:cs typeface="Courier New" pitchFamily="49" charset="0"/>
              </a:rPr>
              <a:t>background:…;</a:t>
            </a:r>
          </a:p>
          <a:p>
            <a:r>
              <a:rPr lang="en-US" sz="1600" b="1" dirty="0" smtClean="0">
                <a:latin typeface="Courier New" pitchFamily="49" charset="0"/>
                <a:cs typeface="Courier New" pitchFamily="49" charset="0"/>
              </a:rPr>
              <a:t>}</a:t>
            </a:r>
            <a:endParaRPr lang="ru-RU" sz="1600" b="1" dirty="0">
              <a:latin typeface="Courier New" pitchFamily="49" charset="0"/>
              <a:cs typeface="Courier New" pitchFamily="49" charset="0"/>
            </a:endParaRPr>
          </a:p>
        </p:txBody>
      </p:sp>
      <p:sp>
        <p:nvSpPr>
          <p:cNvPr id="13" name="Прямоугольник 12"/>
          <p:cNvSpPr/>
          <p:nvPr/>
        </p:nvSpPr>
        <p:spPr>
          <a:xfrm>
            <a:off x="500034" y="2285992"/>
            <a:ext cx="2286000" cy="1077218"/>
          </a:xfrm>
          <a:prstGeom prst="rect">
            <a:avLst/>
          </a:prstGeom>
          <a:solidFill>
            <a:schemeClr val="bg2"/>
          </a:solidFill>
          <a:ln>
            <a:solidFill>
              <a:schemeClr val="tx1"/>
            </a:solidFill>
          </a:ln>
        </p:spPr>
        <p:txBody>
          <a:bodyPr wrap="square">
            <a:spAutoFit/>
          </a:bodyPr>
          <a:lstStyle/>
          <a:p>
            <a:r>
              <a:rPr lang="en-US" sz="1600" b="1" dirty="0" smtClean="0">
                <a:latin typeface="Courier New" pitchFamily="49" charset="0"/>
                <a:cs typeface="Courier New" pitchFamily="49" charset="0"/>
              </a:rPr>
              <a:t>* {</a:t>
            </a:r>
          </a:p>
          <a:p>
            <a:r>
              <a:rPr lang="en-US" sz="1600" b="1" dirty="0" smtClean="0">
                <a:latin typeface="Courier New" pitchFamily="49" charset="0"/>
                <a:cs typeface="Courier New" pitchFamily="49" charset="0"/>
              </a:rPr>
              <a:t>margin: 0;</a:t>
            </a:r>
          </a:p>
          <a:p>
            <a:r>
              <a:rPr lang="en-US" sz="1600" b="1" dirty="0" smtClean="0">
                <a:latin typeface="Courier New" pitchFamily="49" charset="0"/>
                <a:cs typeface="Courier New" pitchFamily="49" charset="0"/>
              </a:rPr>
              <a:t>padding:0;</a:t>
            </a:r>
          </a:p>
          <a:p>
            <a:r>
              <a:rPr lang="en-US" sz="1600" b="1" dirty="0" smtClean="0">
                <a:latin typeface="Courier New" pitchFamily="49" charset="0"/>
                <a:cs typeface="Courier New" pitchFamily="49" charset="0"/>
              </a:rPr>
              <a:t>}</a:t>
            </a:r>
            <a:endParaRPr lang="ru-RU" sz="1600" b="1" dirty="0">
              <a:latin typeface="Courier New" pitchFamily="49" charset="0"/>
              <a:cs typeface="Courier New" pitchFamily="49" charset="0"/>
            </a:endParaRPr>
          </a:p>
        </p:txBody>
      </p:sp>
      <p:sp>
        <p:nvSpPr>
          <p:cNvPr id="14" name="Прямоугольник 13"/>
          <p:cNvSpPr/>
          <p:nvPr/>
        </p:nvSpPr>
        <p:spPr>
          <a:xfrm>
            <a:off x="500034" y="3923418"/>
            <a:ext cx="2286000" cy="1077218"/>
          </a:xfrm>
          <a:prstGeom prst="rect">
            <a:avLst/>
          </a:prstGeom>
          <a:solidFill>
            <a:schemeClr val="bg2"/>
          </a:solidFill>
          <a:ln>
            <a:solidFill>
              <a:schemeClr val="tx1"/>
            </a:solidFill>
          </a:ln>
        </p:spPr>
        <p:txBody>
          <a:bodyPr wrap="square">
            <a:spAutoFit/>
          </a:bodyPr>
          <a:lstStyle/>
          <a:p>
            <a:r>
              <a:rPr lang="en-US" sz="1600" b="1" dirty="0" smtClean="0">
                <a:latin typeface="Courier New" pitchFamily="49" charset="0"/>
                <a:cs typeface="Courier New" pitchFamily="49" charset="0"/>
              </a:rPr>
              <a:t>.wrapper {</a:t>
            </a:r>
          </a:p>
          <a:p>
            <a:r>
              <a:rPr lang="en-US" sz="1600" b="1" dirty="0" smtClean="0">
                <a:latin typeface="Courier New" pitchFamily="49" charset="0"/>
                <a:cs typeface="Courier New" pitchFamily="49" charset="0"/>
              </a:rPr>
              <a:t>width:100%;</a:t>
            </a:r>
          </a:p>
          <a:p>
            <a:r>
              <a:rPr lang="en-US" sz="1600" b="1" dirty="0" smtClean="0">
                <a:latin typeface="Courier New" pitchFamily="49" charset="0"/>
                <a:cs typeface="Courier New" pitchFamily="49" charset="0"/>
              </a:rPr>
              <a:t>height:100%;</a:t>
            </a:r>
          </a:p>
          <a:p>
            <a:r>
              <a:rPr lang="en-US" sz="1600" b="1" dirty="0" smtClean="0">
                <a:latin typeface="Courier New" pitchFamily="49" charset="0"/>
                <a:cs typeface="Courier New" pitchFamily="49" charset="0"/>
              </a:rPr>
              <a:t>}</a:t>
            </a:r>
            <a:endParaRPr lang="ru-RU" sz="1600" b="1" dirty="0">
              <a:latin typeface="Courier New" pitchFamily="49" charset="0"/>
              <a:cs typeface="Courier New" pitchFamily="49" charset="0"/>
            </a:endParaRPr>
          </a:p>
        </p:txBody>
      </p:sp>
      <p:pic>
        <p:nvPicPr>
          <p:cNvPr id="1026" name="Picture 2"/>
          <p:cNvPicPr>
            <a:picLocks noChangeAspect="1" noChangeArrowheads="1"/>
          </p:cNvPicPr>
          <p:nvPr/>
        </p:nvPicPr>
        <p:blipFill>
          <a:blip r:embed="rId2"/>
          <a:srcRect/>
          <a:stretch>
            <a:fillRect/>
          </a:stretch>
        </p:blipFill>
        <p:spPr bwMode="auto">
          <a:xfrm>
            <a:off x="5929322" y="590550"/>
            <a:ext cx="2076450" cy="6267450"/>
          </a:xfrm>
          <a:prstGeom prst="rect">
            <a:avLst/>
          </a:prstGeom>
          <a:noFill/>
          <a:ln w="9525">
            <a:noFill/>
            <a:miter lim="800000"/>
            <a:headEnd/>
            <a:tailEnd/>
          </a:ln>
          <a:effectLst/>
        </p:spPr>
      </p:pic>
      <p:cxnSp>
        <p:nvCxnSpPr>
          <p:cNvPr id="12" name="Прямая со стрелкой 11"/>
          <p:cNvCxnSpPr>
            <a:stCxn id="15" idx="2"/>
          </p:cNvCxnSpPr>
          <p:nvPr/>
        </p:nvCxnSpPr>
        <p:spPr>
          <a:xfrm rot="5400000">
            <a:off x="6830056" y="2115171"/>
            <a:ext cx="1270353" cy="192880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Прямоугольник 14"/>
          <p:cNvSpPr/>
          <p:nvPr/>
        </p:nvSpPr>
        <p:spPr>
          <a:xfrm>
            <a:off x="7715272" y="1428736"/>
            <a:ext cx="1428728" cy="1015663"/>
          </a:xfrm>
          <a:prstGeom prst="rect">
            <a:avLst/>
          </a:prstGeom>
          <a:solidFill>
            <a:schemeClr val="bg2"/>
          </a:solidFill>
          <a:ln>
            <a:solidFill>
              <a:schemeClr val="tx1"/>
            </a:solidFill>
          </a:ln>
        </p:spPr>
        <p:txBody>
          <a:bodyPr wrap="square">
            <a:spAutoFit/>
          </a:bodyPr>
          <a:lstStyle/>
          <a:p>
            <a:pPr algn="ctr"/>
            <a:r>
              <a:rPr lang="ru-RU" sz="1200" b="1" dirty="0" smtClean="0">
                <a:latin typeface="Courier New" pitchFamily="49" charset="0"/>
                <a:cs typeface="Courier New" pitchFamily="49" charset="0"/>
              </a:rPr>
              <a:t>После</a:t>
            </a:r>
            <a:r>
              <a:rPr lang="en-US" sz="1200" b="1" dirty="0" smtClean="0">
                <a:latin typeface="Courier New" pitchFamily="49" charset="0"/>
                <a:cs typeface="Courier New" pitchFamily="49" charset="0"/>
              </a:rPr>
              <a:t> </a:t>
            </a:r>
            <a:r>
              <a:rPr lang="ru-RU" sz="1200" b="1" dirty="0" smtClean="0">
                <a:latin typeface="Courier New" pitchFamily="49" charset="0"/>
                <a:cs typeface="Courier New" pitchFamily="49" charset="0"/>
              </a:rPr>
              <a:t>всех двоеточий необходимо написать свои значения</a:t>
            </a:r>
            <a:endParaRPr lang="ru-RU" sz="1200" b="1" dirty="0">
              <a:latin typeface="Courier New" pitchFamily="49" charset="0"/>
              <a:cs typeface="Courier New" pitchFamily="49" charset="0"/>
            </a:endParaRPr>
          </a:p>
        </p:txBody>
      </p:sp>
      <p:cxnSp>
        <p:nvCxnSpPr>
          <p:cNvPr id="16" name="Прямая со стрелкой 15"/>
          <p:cNvCxnSpPr>
            <a:stCxn id="15" idx="2"/>
          </p:cNvCxnSpPr>
          <p:nvPr/>
        </p:nvCxnSpPr>
        <p:spPr>
          <a:xfrm rot="5400000">
            <a:off x="6258551" y="2686676"/>
            <a:ext cx="2413362" cy="192880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fontScale="90000"/>
          </a:bodyPr>
          <a:lstStyle/>
          <a:p>
            <a:r>
              <a:rPr lang="ru-RU" b="1" dirty="0" smtClean="0"/>
              <a:t>Разработка одностраничного сайта</a:t>
            </a:r>
            <a:endParaRPr lang="ru-RU" b="1" dirty="0"/>
          </a:p>
        </p:txBody>
      </p:sp>
      <p:sp>
        <p:nvSpPr>
          <p:cNvPr id="8" name="Прямоугольник 7"/>
          <p:cNvSpPr/>
          <p:nvPr/>
        </p:nvSpPr>
        <p:spPr>
          <a:xfrm>
            <a:off x="0" y="857232"/>
            <a:ext cx="9144000" cy="1323439"/>
          </a:xfrm>
          <a:prstGeom prst="rect">
            <a:avLst/>
          </a:prstGeom>
        </p:spPr>
        <p:txBody>
          <a:bodyPr wrap="square">
            <a:spAutoFit/>
          </a:bodyPr>
          <a:lstStyle/>
          <a:p>
            <a:pPr indent="-342900" algn="just"/>
            <a:r>
              <a:rPr lang="ru-RU" sz="2000" dirty="0" smtClean="0">
                <a:latin typeface="Times New Roman" pitchFamily="18" charset="0"/>
                <a:cs typeface="Times New Roman" pitchFamily="18" charset="0"/>
              </a:rPr>
              <a:t>10) Сохраните результат и запустите его в браузере или воспользуйтесь </a:t>
            </a:r>
            <a:r>
              <a:rPr lang="ru-RU" sz="2000" dirty="0" err="1" smtClean="0">
                <a:latin typeface="Times New Roman" pitchFamily="18" charset="0"/>
                <a:cs typeface="Times New Roman" pitchFamily="18" charset="0"/>
              </a:rPr>
              <a:t>онлайн-средами</a:t>
            </a:r>
            <a:r>
              <a:rPr lang="ru-RU" sz="2000" dirty="0" smtClean="0">
                <a:latin typeface="Times New Roman" pitchFamily="18" charset="0"/>
                <a:cs typeface="Times New Roman" pitchFamily="18" charset="0"/>
              </a:rPr>
              <a:t>, которые можно найти на сайтах для тестирования своего макета (например, </a:t>
            </a:r>
            <a:r>
              <a:rPr lang="en-US" sz="2000" dirty="0" smtClean="0">
                <a:latin typeface="Times New Roman" pitchFamily="18" charset="0"/>
                <a:cs typeface="Times New Roman" pitchFamily="18" charset="0"/>
                <a:hlinkClick r:id="rId2"/>
              </a:rPr>
              <a:t>https://hcdev.ru/learn/html5/headings-and-sections/#headings-lessh1greater-lessh6greater</a:t>
            </a:r>
            <a:r>
              <a:rPr lang="ru-RU" sz="2000" dirty="0" smtClean="0">
                <a:latin typeface="Times New Roman" pitchFamily="18" charset="0"/>
                <a:cs typeface="Times New Roman" pitchFamily="18" charset="0"/>
              </a:rPr>
              <a:t>)</a:t>
            </a:r>
          </a:p>
        </p:txBody>
      </p:sp>
      <p:pic>
        <p:nvPicPr>
          <p:cNvPr id="22531" name="Picture 3"/>
          <p:cNvPicPr>
            <a:picLocks noChangeAspect="1" noChangeArrowheads="1"/>
          </p:cNvPicPr>
          <p:nvPr/>
        </p:nvPicPr>
        <p:blipFill>
          <a:blip r:embed="rId3"/>
          <a:srcRect/>
          <a:stretch>
            <a:fillRect/>
          </a:stretch>
        </p:blipFill>
        <p:spPr bwMode="auto">
          <a:xfrm>
            <a:off x="1214414" y="2214578"/>
            <a:ext cx="6764330" cy="450057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TotalTime>
  <Words>1297</Words>
  <Application>Microsoft Office PowerPoint</Application>
  <PresentationFormat>Экран (4:3)</PresentationFormat>
  <Paragraphs>97</Paragraphs>
  <Slides>13</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13</vt:i4>
      </vt:variant>
    </vt:vector>
  </HeadingPairs>
  <TitlesOfParts>
    <vt:vector size="14" baseType="lpstr">
      <vt:lpstr>Тема Office</vt:lpstr>
      <vt:lpstr>Разработка одностраничного сайта </vt:lpstr>
      <vt:lpstr>Дополнительные материалы</vt:lpstr>
      <vt:lpstr>Основные определения</vt:lpstr>
      <vt:lpstr>Слайд 4</vt:lpstr>
      <vt:lpstr>Основные разделы веб-страницы</vt:lpstr>
      <vt:lpstr>Слайд 6</vt:lpstr>
      <vt:lpstr>Слайд 7</vt:lpstr>
      <vt:lpstr>Слайд 8</vt:lpstr>
      <vt:lpstr>Разработка одностраничного сайта</vt:lpstr>
      <vt:lpstr>Разработка одностраничного сайта</vt:lpstr>
      <vt:lpstr>Разработка одностраничного сайта</vt:lpstr>
      <vt:lpstr>Разработка одностраничного сайта</vt:lpstr>
      <vt:lpstr>Разработка одностраничного сайта</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Создание сайта</dc:title>
  <dc:creator>user</dc:creator>
  <cp:lastModifiedBy>user</cp:lastModifiedBy>
  <cp:revision>65</cp:revision>
  <dcterms:created xsi:type="dcterms:W3CDTF">2024-02-01T09:49:19Z</dcterms:created>
  <dcterms:modified xsi:type="dcterms:W3CDTF">2026-08-21T08:20:21Z</dcterms:modified>
</cp:coreProperties>
</file>