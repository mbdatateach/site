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9" r:id="rId15"/>
    <p:sldId id="272" r:id="rId16"/>
    <p:sldId id="271" r:id="rId17"/>
    <p:sldId id="273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A1-ADF0-4425-A9E4-A26387E26FD9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9FB5-D4CD-4243-8C27-B561D4C5957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A1-ADF0-4425-A9E4-A26387E26FD9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9FB5-D4CD-4243-8C27-B561D4C5957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A1-ADF0-4425-A9E4-A26387E26FD9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9FB5-D4CD-4243-8C27-B561D4C5957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A1-ADF0-4425-A9E4-A26387E26FD9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9FB5-D4CD-4243-8C27-B561D4C5957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A1-ADF0-4425-A9E4-A26387E26FD9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9FB5-D4CD-4243-8C27-B561D4C5957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A1-ADF0-4425-A9E4-A26387E26FD9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9FB5-D4CD-4243-8C27-B561D4C5957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A1-ADF0-4425-A9E4-A26387E26FD9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9FB5-D4CD-4243-8C27-B561D4C5957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A1-ADF0-4425-A9E4-A26387E26FD9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9FB5-D4CD-4243-8C27-B561D4C5957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A1-ADF0-4425-A9E4-A26387E26FD9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9FB5-D4CD-4243-8C27-B561D4C5957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A1-ADF0-4425-A9E4-A26387E26FD9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9FB5-D4CD-4243-8C27-B561D4C5957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A1-ADF0-4425-A9E4-A26387E26FD9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9FB5-D4CD-4243-8C27-B561D4C5957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38FA1-ADF0-4425-A9E4-A26387E26FD9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09FB5-D4CD-4243-8C27-B561D4C5957A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err="1"/>
              <a:t>Клиент‑серверная</a:t>
            </a:r>
            <a:r>
              <a:rPr lang="ru-RU" b="1" dirty="0"/>
              <a:t> архитектура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Электронная почта</a:t>
            </a:r>
            <a:endParaRPr lang="ru-RU" dirty="0"/>
          </a:p>
        </p:txBody>
      </p:sp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-32" y="1500174"/>
            <a:ext cx="8929718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Протокол электронной почты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 – это правила, по которым почтовые серверы передают и получают письма. Правила могут включать в себя различные команды, которые будут указывать, принимать письмо или отправить сообщение об ошибке.</a:t>
            </a: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Почтовый сервер представляет собой программу, которая обеспечивает доставку электронных писем. Самые известные серверы — «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Яндекс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»,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Gmail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,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Mail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.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Обзор почтовых протоколов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643050"/>
            <a:ext cx="9144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/>
              <a:t>SMTP (</a:t>
            </a:r>
            <a:r>
              <a:rPr lang="ru-RU" b="1" dirty="0" err="1" smtClean="0"/>
              <a:t>Simple</a:t>
            </a:r>
            <a:r>
              <a:rPr lang="ru-RU" b="1" dirty="0" smtClean="0"/>
              <a:t> </a:t>
            </a:r>
            <a:r>
              <a:rPr lang="ru-RU" b="1" dirty="0" err="1" smtClean="0"/>
              <a:t>Mail</a:t>
            </a:r>
            <a:r>
              <a:rPr lang="ru-RU" b="1" dirty="0" smtClean="0"/>
              <a:t> </a:t>
            </a:r>
            <a:r>
              <a:rPr lang="ru-RU" b="1" dirty="0" err="1" smtClean="0"/>
              <a:t>Transfer</a:t>
            </a:r>
            <a:r>
              <a:rPr lang="ru-RU" b="1" dirty="0" smtClean="0"/>
              <a:t> </a:t>
            </a:r>
            <a:r>
              <a:rPr lang="ru-RU" b="1" dirty="0" err="1" smtClean="0"/>
              <a:t>Protocol</a:t>
            </a:r>
            <a:r>
              <a:rPr lang="ru-RU" b="1" dirty="0" smtClean="0"/>
              <a:t>) </a:t>
            </a:r>
            <a:r>
              <a:rPr lang="ru-RU" dirty="0" smtClean="0"/>
              <a:t>- это сетевой протокол, предназначенный для передачи электронной почты в сетях TCP/IP, причем передача должна быть обязательно инициирована самой передающей системой.</a:t>
            </a:r>
          </a:p>
          <a:p>
            <a:pPr algn="just"/>
            <a:endParaRPr lang="ru-RU" dirty="0" smtClean="0"/>
          </a:p>
          <a:p>
            <a:pPr algn="just"/>
            <a:r>
              <a:rPr lang="ru-RU" b="1" dirty="0" smtClean="0"/>
              <a:t>POP, POP2, POP3 (</a:t>
            </a:r>
            <a:r>
              <a:rPr lang="ru-RU" b="1" dirty="0" err="1" smtClean="0"/>
              <a:t>Post</a:t>
            </a:r>
            <a:r>
              <a:rPr lang="ru-RU" b="1" dirty="0" smtClean="0"/>
              <a:t> </a:t>
            </a:r>
            <a:r>
              <a:rPr lang="ru-RU" b="1" dirty="0" err="1" smtClean="0"/>
              <a:t>Office</a:t>
            </a:r>
            <a:r>
              <a:rPr lang="ru-RU" b="1" dirty="0" smtClean="0"/>
              <a:t> </a:t>
            </a:r>
            <a:r>
              <a:rPr lang="ru-RU" b="1" dirty="0" err="1" smtClean="0"/>
              <a:t>Protocol</a:t>
            </a:r>
            <a:r>
              <a:rPr lang="ru-RU" b="1" dirty="0" smtClean="0"/>
              <a:t>)</a:t>
            </a:r>
            <a:r>
              <a:rPr lang="ru-RU" dirty="0" smtClean="0"/>
              <a:t> - три достаточно простых невзаимозаменяемых протокола, </a:t>
            </a:r>
            <a:r>
              <a:rPr lang="ru-RU" dirty="0" err="1" smtClean="0"/>
              <a:t>pазpаботанные</a:t>
            </a:r>
            <a:r>
              <a:rPr lang="ru-RU" dirty="0" smtClean="0"/>
              <a:t> для доставки почты пользователю с центрального </a:t>
            </a:r>
            <a:r>
              <a:rPr lang="ru-RU" dirty="0" err="1" smtClean="0"/>
              <a:t>mail-сеpвеpа</a:t>
            </a:r>
            <a:r>
              <a:rPr lang="ru-RU" dirty="0" smtClean="0"/>
              <a:t>, ее удаления с него и для идентификации пользователя по имени/паролю. Почтовые сообщения могут быть получены в виде заголовков, без получения письма целиком.</a:t>
            </a:r>
          </a:p>
          <a:p>
            <a:pPr algn="just"/>
            <a:endParaRPr lang="ru-RU" dirty="0" smtClean="0"/>
          </a:p>
          <a:p>
            <a:pPr algn="just"/>
            <a:r>
              <a:rPr lang="ru-RU" b="1" dirty="0" smtClean="0"/>
              <a:t>IMAP</a:t>
            </a:r>
            <a:r>
              <a:rPr lang="ru-RU" dirty="0" smtClean="0"/>
              <a:t> осуществляет хранение почты на </a:t>
            </a:r>
            <a:r>
              <a:rPr lang="ru-RU" dirty="0" err="1" smtClean="0"/>
              <a:t>сеpвеpе</a:t>
            </a:r>
            <a:r>
              <a:rPr lang="ru-RU" dirty="0" smtClean="0"/>
              <a:t> в файловых </a:t>
            </a:r>
            <a:r>
              <a:rPr lang="ru-RU" dirty="0" err="1" smtClean="0"/>
              <a:t>диpектоpиях</a:t>
            </a:r>
            <a:r>
              <a:rPr lang="ru-RU" dirty="0" smtClean="0"/>
              <a:t>, а также предоставляет клиенту возможность производить поиск строк в почтовых сообщениях на самом </a:t>
            </a:r>
            <a:r>
              <a:rPr lang="ru-RU" dirty="0" err="1" smtClean="0"/>
              <a:t>сеpвеpе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8" y="1185863"/>
            <a:ext cx="8772525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SMTP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643050"/>
            <a:ext cx="42862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/>
              <a:t>MTA (</a:t>
            </a:r>
            <a:r>
              <a:rPr lang="ru-RU" b="1" dirty="0" err="1" smtClean="0"/>
              <a:t>Mail</a:t>
            </a:r>
            <a:r>
              <a:rPr lang="ru-RU" b="1" dirty="0" smtClean="0"/>
              <a:t> </a:t>
            </a:r>
            <a:r>
              <a:rPr lang="ru-RU" b="1" dirty="0" err="1" smtClean="0"/>
              <a:t>Transfer</a:t>
            </a:r>
            <a:r>
              <a:rPr lang="ru-RU" b="1" dirty="0" smtClean="0"/>
              <a:t> </a:t>
            </a:r>
            <a:r>
              <a:rPr lang="ru-RU" b="1" dirty="0" err="1" smtClean="0"/>
              <a:t>Agent</a:t>
            </a:r>
            <a:r>
              <a:rPr lang="ru-RU" b="1" dirty="0" smtClean="0"/>
              <a:t>) </a:t>
            </a:r>
            <a:r>
              <a:rPr lang="ru-RU" dirty="0" smtClean="0"/>
              <a:t>- агент передачи почты - является основным</a:t>
            </a:r>
            <a:r>
              <a:rPr lang="en-US" dirty="0" smtClean="0"/>
              <a:t> </a:t>
            </a:r>
            <a:r>
              <a:rPr lang="ru-RU" dirty="0" smtClean="0"/>
              <a:t>компонентом системы</a:t>
            </a:r>
            <a:r>
              <a:rPr lang="en-US" dirty="0" smtClean="0"/>
              <a:t> </a:t>
            </a:r>
            <a:r>
              <a:rPr lang="ru-RU" dirty="0" smtClean="0"/>
              <a:t>передачи почты </a:t>
            </a:r>
            <a:r>
              <a:rPr lang="ru-RU" dirty="0" err="1" smtClean="0"/>
              <a:t>Internet</a:t>
            </a:r>
            <a:r>
              <a:rPr lang="ru-RU" dirty="0" smtClean="0"/>
              <a:t>, который представляет данный сетевой компьютер для сетевой</a:t>
            </a:r>
            <a:r>
              <a:rPr lang="en-US" dirty="0" smtClean="0"/>
              <a:t> </a:t>
            </a:r>
            <a:r>
              <a:rPr lang="ru-RU" dirty="0" smtClean="0"/>
              <a:t>системы электронной почты.</a:t>
            </a:r>
            <a:endParaRPr lang="en-US" dirty="0" smtClean="0"/>
          </a:p>
          <a:p>
            <a:pPr algn="just"/>
            <a:endParaRPr lang="ru-RU" dirty="0" smtClean="0"/>
          </a:p>
          <a:p>
            <a:pPr algn="just"/>
            <a:r>
              <a:rPr lang="ru-RU" dirty="0" smtClean="0"/>
              <a:t>Обычно пользователи работают не с MTA, а с программой </a:t>
            </a:r>
            <a:r>
              <a:rPr lang="ru-RU" b="1" dirty="0" smtClean="0"/>
              <a:t>MUA (</a:t>
            </a:r>
            <a:r>
              <a:rPr lang="ru-RU" b="1" dirty="0" err="1" smtClean="0"/>
              <a:t>Mail</a:t>
            </a:r>
            <a:r>
              <a:rPr lang="ru-RU" b="1" dirty="0" smtClean="0"/>
              <a:t> </a:t>
            </a:r>
            <a:r>
              <a:rPr lang="ru-RU" b="1" dirty="0" err="1" smtClean="0"/>
              <a:t>User</a:t>
            </a:r>
            <a:r>
              <a:rPr lang="ru-RU" b="1" dirty="0" smtClean="0"/>
              <a:t> </a:t>
            </a:r>
            <a:r>
              <a:rPr lang="ru-RU" b="1" dirty="0" err="1" smtClean="0"/>
              <a:t>Agent</a:t>
            </a:r>
            <a:r>
              <a:rPr lang="ru-RU" b="1" dirty="0" smtClean="0"/>
              <a:t>)</a:t>
            </a:r>
            <a:r>
              <a:rPr lang="ru-RU" dirty="0" smtClean="0"/>
              <a:t> - клиентом</a:t>
            </a:r>
            <a:r>
              <a:rPr lang="en-US" dirty="0" smtClean="0"/>
              <a:t> </a:t>
            </a:r>
            <a:r>
              <a:rPr lang="ru-RU" dirty="0" smtClean="0"/>
              <a:t>электронной почты. Схематично принцип взаимодействия показан на рисунке.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1571612"/>
            <a:ext cx="444817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0"/>
            <a:ext cx="7772400" cy="1143000"/>
          </a:xfrm>
        </p:spPr>
        <p:txBody>
          <a:bodyPr/>
          <a:lstStyle/>
          <a:p>
            <a:pPr algn="ctr"/>
            <a:r>
              <a:rPr lang="ru-RU" dirty="0" smtClean="0"/>
              <a:t>Пример </a:t>
            </a:r>
            <a:r>
              <a:rPr lang="en-US" dirty="0" smtClean="0"/>
              <a:t>SMTP-</a:t>
            </a:r>
            <a:r>
              <a:rPr lang="ru-RU" dirty="0" smtClean="0"/>
              <a:t>сессии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071546"/>
            <a:ext cx="8510585" cy="4250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142844" y="5286388"/>
            <a:ext cx="87868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Cambria" pitchFamily="18" charset="0"/>
              </a:rPr>
              <a:t>S- </a:t>
            </a:r>
            <a:r>
              <a:rPr lang="ru-RU" b="1" dirty="0" smtClean="0">
                <a:latin typeface="Cambria" pitchFamily="18" charset="0"/>
              </a:rPr>
              <a:t>Сервер; </a:t>
            </a:r>
            <a:r>
              <a:rPr lang="en-US" b="1" dirty="0" smtClean="0">
                <a:latin typeface="Cambria" pitchFamily="18" charset="0"/>
              </a:rPr>
              <a:t>C - </a:t>
            </a:r>
            <a:r>
              <a:rPr lang="ru-RU" b="1" dirty="0" smtClean="0">
                <a:latin typeface="Cambria" pitchFamily="18" charset="0"/>
              </a:rPr>
              <a:t>Клиент</a:t>
            </a:r>
          </a:p>
          <a:p>
            <a:r>
              <a:rPr lang="ru-RU" dirty="0" smtClean="0"/>
              <a:t>В результате такой сессии письмо будет доставлено адресату user1@company.tld, но не будет доставлено адресату user2@company.tld, потому что такого адреса не существует.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85728"/>
            <a:ext cx="8234359" cy="2918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3357562"/>
            <a:ext cx="7343765" cy="330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3000364" y="59272"/>
            <a:ext cx="31972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Некоторые команды</a:t>
            </a:r>
            <a:r>
              <a:rPr lang="en-US" b="1" dirty="0" smtClean="0"/>
              <a:t> </a:t>
            </a:r>
            <a:r>
              <a:rPr lang="en-US" b="1" dirty="0" smtClean="0">
                <a:latin typeface="Cambria" pitchFamily="18" charset="0"/>
              </a:rPr>
              <a:t>SMTP</a:t>
            </a:r>
            <a:endParaRPr lang="ru-RU" b="1" dirty="0">
              <a:latin typeface="Cambria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14612" y="3143248"/>
            <a:ext cx="35713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Коды отклика в системе </a:t>
            </a:r>
            <a:r>
              <a:rPr lang="en-US" b="1" dirty="0" smtClean="0">
                <a:latin typeface="Cambria" pitchFamily="18" charset="0"/>
              </a:rPr>
              <a:t>SMTP</a:t>
            </a:r>
            <a:endParaRPr lang="ru-RU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0"/>
            <a:ext cx="7772400" cy="1143000"/>
          </a:xfrm>
        </p:spPr>
        <p:txBody>
          <a:bodyPr/>
          <a:lstStyle/>
          <a:p>
            <a:pPr algn="ctr"/>
            <a:r>
              <a:rPr lang="en-US" dirty="0" smtClean="0"/>
              <a:t>POP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000108"/>
            <a:ext cx="776287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4071942"/>
            <a:ext cx="881062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0"/>
            <a:ext cx="7772400" cy="1143000"/>
          </a:xfrm>
        </p:spPr>
        <p:txBody>
          <a:bodyPr/>
          <a:lstStyle/>
          <a:p>
            <a:pPr algn="ctr"/>
            <a:r>
              <a:rPr lang="en-US" dirty="0" smtClean="0"/>
              <a:t>POP3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71546"/>
            <a:ext cx="9144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Подход «загрузить и удалить»</a:t>
            </a:r>
          </a:p>
          <a:p>
            <a:pPr algn="ctr"/>
            <a:r>
              <a:rPr lang="ru-RU" sz="2400" dirty="0" smtClean="0"/>
              <a:t>• Почтовый ящик считается временным хранилищем</a:t>
            </a:r>
            <a:r>
              <a:rPr lang="en-US" sz="2400" dirty="0" smtClean="0"/>
              <a:t> </a:t>
            </a:r>
            <a:r>
              <a:rPr lang="ru-RU" sz="2400" dirty="0" smtClean="0"/>
              <a:t>сообщений</a:t>
            </a:r>
          </a:p>
          <a:p>
            <a:pPr algn="ctr"/>
            <a:r>
              <a:rPr lang="ru-RU" sz="2400" dirty="0" smtClean="0"/>
              <a:t>• Все сообщения должны быть переписаны на почтовый</a:t>
            </a:r>
            <a:r>
              <a:rPr lang="en-US" sz="2400" dirty="0" smtClean="0"/>
              <a:t> </a:t>
            </a:r>
            <a:r>
              <a:rPr lang="ru-RU" sz="2400" dirty="0" smtClean="0"/>
              <a:t>клиент</a:t>
            </a:r>
          </a:p>
          <a:p>
            <a:pPr algn="ctr"/>
            <a:r>
              <a:rPr lang="ru-RU" sz="2400" dirty="0" smtClean="0"/>
              <a:t>• После загрузки на клиент сообщение удаляется с</a:t>
            </a:r>
            <a:r>
              <a:rPr lang="en-US" sz="2400" dirty="0" smtClean="0"/>
              <a:t> </a:t>
            </a:r>
            <a:r>
              <a:rPr lang="ru-RU" sz="2400" dirty="0" smtClean="0"/>
              <a:t>сервера</a:t>
            </a:r>
            <a:endParaRPr lang="en-US" sz="2400" dirty="0" smtClean="0"/>
          </a:p>
          <a:p>
            <a:pPr algn="ctr"/>
            <a:endParaRPr lang="ru-RU" sz="2400" dirty="0" smtClean="0"/>
          </a:p>
          <a:p>
            <a:pPr algn="ctr"/>
            <a:r>
              <a:rPr lang="ru-RU" sz="2400" b="1" dirty="0" smtClean="0"/>
              <a:t>Преимущества</a:t>
            </a:r>
          </a:p>
          <a:p>
            <a:pPr algn="ctr"/>
            <a:r>
              <a:rPr lang="ru-RU" sz="2400" dirty="0" smtClean="0"/>
              <a:t>• Простой протокол</a:t>
            </a:r>
          </a:p>
          <a:p>
            <a:pPr algn="ctr"/>
            <a:r>
              <a:rPr lang="ru-RU" sz="2400" dirty="0" smtClean="0"/>
              <a:t>• Письма доступны при отсутствии подключения к сети</a:t>
            </a:r>
          </a:p>
          <a:p>
            <a:pPr algn="ctr"/>
            <a:r>
              <a:rPr lang="ru-RU" sz="2400" b="1" dirty="0" smtClean="0"/>
              <a:t>Недостатки</a:t>
            </a:r>
          </a:p>
          <a:p>
            <a:pPr algn="ctr"/>
            <a:r>
              <a:rPr lang="ru-RU" sz="2400" dirty="0" smtClean="0"/>
              <a:t>• Только один клиент</a:t>
            </a:r>
          </a:p>
          <a:p>
            <a:pPr algn="ctr"/>
            <a:r>
              <a:rPr lang="ru-RU" sz="2400" dirty="0" smtClean="0"/>
              <a:t>• Единое хранилище писем (нет папок, фильтров, флагов,</a:t>
            </a:r>
          </a:p>
          <a:p>
            <a:pPr algn="ctr"/>
            <a:r>
              <a:rPr lang="ru-RU" sz="2400" dirty="0" smtClean="0"/>
              <a:t>и т.п.)</a:t>
            </a:r>
            <a:endParaRPr lang="ru-RU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0"/>
            <a:ext cx="7772400" cy="1143000"/>
          </a:xfrm>
        </p:spPr>
        <p:txBody>
          <a:bodyPr/>
          <a:lstStyle/>
          <a:p>
            <a:pPr algn="ctr"/>
            <a:r>
              <a:rPr lang="en-US" dirty="0" smtClean="0"/>
              <a:t>POP3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428736"/>
            <a:ext cx="400049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/>
              <a:t>Авторизация</a:t>
            </a:r>
          </a:p>
          <a:p>
            <a:pPr algn="just"/>
            <a:r>
              <a:rPr lang="ru-RU" sz="2000" dirty="0" smtClean="0"/>
              <a:t>• Клиент представляется и подтверждает, что он тот, за</a:t>
            </a:r>
          </a:p>
          <a:p>
            <a:pPr algn="just"/>
            <a:r>
              <a:rPr lang="ru-RU" sz="2000" dirty="0" smtClean="0"/>
              <a:t>кого себя выдает</a:t>
            </a:r>
          </a:p>
          <a:p>
            <a:pPr algn="just"/>
            <a:r>
              <a:rPr lang="ru-RU" sz="2000" b="1" dirty="0" smtClean="0"/>
              <a:t>Транзакция</a:t>
            </a:r>
          </a:p>
          <a:p>
            <a:pPr algn="just"/>
            <a:r>
              <a:rPr lang="ru-RU" sz="2000" dirty="0" smtClean="0"/>
              <a:t>• Клиент загружает почту и помечает загруженные</a:t>
            </a:r>
          </a:p>
          <a:p>
            <a:pPr algn="just"/>
            <a:r>
              <a:rPr lang="ru-RU" sz="2000" dirty="0" smtClean="0"/>
              <a:t>сообщения на удаление</a:t>
            </a:r>
          </a:p>
          <a:p>
            <a:pPr algn="just"/>
            <a:r>
              <a:rPr lang="ru-RU" sz="2000" b="1" dirty="0" smtClean="0"/>
              <a:t>Обновление</a:t>
            </a:r>
          </a:p>
          <a:p>
            <a:pPr algn="just"/>
            <a:r>
              <a:rPr lang="ru-RU" sz="2000" dirty="0" smtClean="0"/>
              <a:t>• Сервер удаляет помеченные сообщения и закрывает</a:t>
            </a:r>
          </a:p>
          <a:p>
            <a:pPr algn="just"/>
            <a:r>
              <a:rPr lang="ru-RU" sz="2000" dirty="0" smtClean="0"/>
              <a:t>соединение</a:t>
            </a:r>
            <a:endParaRPr lang="ru-RU" sz="2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43372" y="1142984"/>
            <a:ext cx="4786314" cy="4172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1857356" y="5429264"/>
            <a:ext cx="50720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/>
              <a:t>Ответы</a:t>
            </a:r>
            <a:endParaRPr lang="en-US" sz="2000" b="1" dirty="0" smtClean="0"/>
          </a:p>
          <a:p>
            <a:r>
              <a:rPr lang="ru-RU" sz="2000" dirty="0" smtClean="0"/>
              <a:t>+OK – успешное выполнение команды</a:t>
            </a:r>
          </a:p>
          <a:p>
            <a:r>
              <a:rPr lang="ru-RU" sz="2000" dirty="0" smtClean="0"/>
              <a:t>-ERR – ошибка</a:t>
            </a:r>
            <a:endParaRPr lang="ru-RU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0"/>
            <a:ext cx="7772400" cy="1143000"/>
          </a:xfrm>
        </p:spPr>
        <p:txBody>
          <a:bodyPr/>
          <a:lstStyle/>
          <a:p>
            <a:pPr algn="ctr"/>
            <a:r>
              <a:rPr lang="en-US" dirty="0" smtClean="0"/>
              <a:t>IMAP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1406" y="1214422"/>
            <a:ext cx="900115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IMAP (</a:t>
            </a:r>
            <a:r>
              <a:rPr lang="ru-RU" sz="2400" b="1" dirty="0" err="1" smtClean="0"/>
              <a:t>Internet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Message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Access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Protocol</a:t>
            </a:r>
            <a:r>
              <a:rPr lang="ru-RU" sz="2400" b="1" dirty="0" smtClean="0"/>
              <a:t>)</a:t>
            </a:r>
            <a:r>
              <a:rPr lang="ru-RU" sz="2400" dirty="0" smtClean="0"/>
              <a:t> – протокол</a:t>
            </a:r>
          </a:p>
          <a:p>
            <a:pPr algn="ctr"/>
            <a:r>
              <a:rPr lang="ru-RU" sz="2400" dirty="0" smtClean="0"/>
              <a:t>доступа к электронной почте</a:t>
            </a:r>
            <a:endParaRPr lang="en-US" sz="2400" dirty="0" smtClean="0"/>
          </a:p>
          <a:p>
            <a:pPr algn="ctr"/>
            <a:endParaRPr lang="ru-RU" sz="2400" dirty="0" smtClean="0"/>
          </a:p>
          <a:p>
            <a:pPr algn="ctr"/>
            <a:r>
              <a:rPr lang="ru-RU" sz="2400" b="1" dirty="0" smtClean="0"/>
              <a:t>Хранение писем на сервере</a:t>
            </a:r>
          </a:p>
          <a:p>
            <a:pPr algn="ctr"/>
            <a:r>
              <a:rPr lang="ru-RU" sz="2400" dirty="0" smtClean="0"/>
              <a:t>• Одновременная работа нескольких клиентов</a:t>
            </a:r>
          </a:p>
          <a:p>
            <a:pPr algn="ctr"/>
            <a:r>
              <a:rPr lang="ru-RU" sz="2400" dirty="0" smtClean="0"/>
              <a:t>• Несколько папок на сервере</a:t>
            </a:r>
          </a:p>
          <a:p>
            <a:pPr algn="ctr"/>
            <a:r>
              <a:rPr lang="ru-RU" sz="2400" dirty="0" smtClean="0"/>
              <a:t>• Флаги для отслеживания статуса сообщений</a:t>
            </a:r>
            <a:endParaRPr lang="en-US" sz="2400" dirty="0" smtClean="0"/>
          </a:p>
          <a:p>
            <a:pPr algn="ctr"/>
            <a:endParaRPr lang="ru-RU" sz="2400" dirty="0" smtClean="0"/>
          </a:p>
          <a:p>
            <a:pPr algn="ctr"/>
            <a:r>
              <a:rPr lang="ru-RU" sz="2400" b="1" dirty="0" smtClean="0"/>
              <a:t>Недостатки протокола</a:t>
            </a:r>
          </a:p>
          <a:p>
            <a:pPr algn="ctr"/>
            <a:r>
              <a:rPr lang="ru-RU" sz="2400" dirty="0" smtClean="0"/>
              <a:t>• Чрезмерно сложный</a:t>
            </a:r>
          </a:p>
          <a:p>
            <a:pPr algn="ctr"/>
            <a:r>
              <a:rPr lang="ru-RU" sz="2400" dirty="0" smtClean="0"/>
              <a:t>• Почтовому серверу требуется много дискового</a:t>
            </a:r>
          </a:p>
          <a:p>
            <a:pPr algn="ctr"/>
            <a:r>
              <a:rPr lang="ru-RU" sz="2400" dirty="0" smtClean="0"/>
              <a:t>пространства для хранения писем</a:t>
            </a:r>
            <a:endParaRPr lang="ru-RU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0"/>
            <a:ext cx="7772400" cy="1143000"/>
          </a:xfrm>
        </p:spPr>
        <p:txBody>
          <a:bodyPr/>
          <a:lstStyle/>
          <a:p>
            <a:pPr algn="ctr"/>
            <a:r>
              <a:rPr lang="en-US" dirty="0" smtClean="0"/>
              <a:t>IMAP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857364"/>
            <a:ext cx="400049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/>
              <a:t>IMAP позволяет использовать несколько почтовых</a:t>
            </a:r>
          </a:p>
          <a:p>
            <a:pPr algn="just"/>
            <a:r>
              <a:rPr lang="ru-RU" sz="2000" dirty="0" smtClean="0"/>
              <a:t>ящиков (</a:t>
            </a:r>
            <a:r>
              <a:rPr lang="ru-RU" sz="2000" dirty="0" err="1" smtClean="0"/>
              <a:t>mailbox</a:t>
            </a:r>
            <a:r>
              <a:rPr lang="ru-RU" sz="2000" dirty="0" smtClean="0"/>
              <a:t>) или папок</a:t>
            </a:r>
          </a:p>
          <a:p>
            <a:pPr algn="just"/>
            <a:r>
              <a:rPr lang="ru-RU" sz="2000" dirty="0" smtClean="0"/>
              <a:t>• Папки хранятся на сервере</a:t>
            </a:r>
          </a:p>
          <a:p>
            <a:pPr algn="just"/>
            <a:r>
              <a:rPr lang="ru-RU" sz="2000" dirty="0" smtClean="0"/>
              <a:t>• Папки могут образовывать иерархию</a:t>
            </a:r>
          </a:p>
          <a:p>
            <a:pPr algn="just"/>
            <a:r>
              <a:rPr lang="ru-RU" sz="2000" dirty="0" smtClean="0"/>
              <a:t>• Сообщения можно перемещать между папками</a:t>
            </a:r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-142876" y="4714884"/>
            <a:ext cx="50720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/>
              <a:t>Ответ IMAP</a:t>
            </a:r>
          </a:p>
          <a:p>
            <a:pPr algn="ctr"/>
            <a:r>
              <a:rPr lang="ru-RU" sz="2000" dirty="0" smtClean="0"/>
              <a:t>• Статус</a:t>
            </a:r>
          </a:p>
          <a:p>
            <a:pPr algn="ctr"/>
            <a:r>
              <a:rPr lang="ru-RU" sz="2000" dirty="0" smtClean="0"/>
              <a:t>• Поясняющее сообщение</a:t>
            </a:r>
            <a:endParaRPr lang="ru-RU" sz="20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47970" y="1643050"/>
            <a:ext cx="4996030" cy="2957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4357686" y="4714884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2000" b="1" dirty="0" smtClean="0"/>
              <a:t>Статус ответов</a:t>
            </a:r>
          </a:p>
          <a:p>
            <a:pPr algn="ctr"/>
            <a:r>
              <a:rPr lang="ru-RU" sz="2000" dirty="0" smtClean="0"/>
              <a:t>• ОК – успешное выполнение</a:t>
            </a:r>
          </a:p>
          <a:p>
            <a:pPr algn="ctr"/>
            <a:r>
              <a:rPr lang="ru-RU" sz="2000" dirty="0" smtClean="0"/>
              <a:t>• NO – ошибка выполнение</a:t>
            </a:r>
          </a:p>
          <a:p>
            <a:pPr algn="ctr"/>
            <a:r>
              <a:rPr lang="ru-RU" sz="2000" dirty="0" smtClean="0"/>
              <a:t>• BAD – неправильная команда или аргумент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3357562"/>
            <a:ext cx="6417471" cy="3500438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FTP‑сервер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File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Transfer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Protocol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) реализует передачу файлов по сети в архитектуре «клиент–сервер»: пользователь через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FTP‑клиент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(например,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FileZilla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или проводник ОС) подключается к серверу, проходит аутентификацию (логин/пароль либо анонимный доступ) и в рамках своих прав выполняет операции с файлами — просматривает содержимое папок, скачивает, загружает или удаляет файлы. Ключевая особенность FTP — использование двух отдельных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TCP‑каналов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: управляющего (обычно порт 21) для обмена командами и ответами (вроде LIST для списка файлов или CWD для смены директории) и динамически создаваемого канала данных — именно по нему непосредственно передаются файлы, причём для каждой операции скачивания или загрузки устанавливается своё соединение.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Из‑за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такой двухканальной схемы возникают сложности с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файрволами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и NAT, поэтому на практике чаще применяют пассивный режим: в нём сервер сообщает клиенту, на какой свой порт подключиться, и клиент сам инициирует канал данных — это заметно повышает совместимость в современных сетях; при этом базовые команды протокола (RETR для скачивания, STOR для загрузки, DELE для удаления) остаются одинаковыми вне зависимости от режима.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85728"/>
            <a:ext cx="8144206" cy="603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Общие сведения о взаимодействие систем</a:t>
            </a:r>
            <a:endParaRPr lang="ru-RU" dirty="0"/>
          </a:p>
        </p:txBody>
      </p:sp>
      <p:grpSp>
        <p:nvGrpSpPr>
          <p:cNvPr id="3" name="Группа 7"/>
          <p:cNvGrpSpPr/>
          <p:nvPr/>
        </p:nvGrpSpPr>
        <p:grpSpPr>
          <a:xfrm>
            <a:off x="357158" y="1500174"/>
            <a:ext cx="4429156" cy="2986091"/>
            <a:chOff x="4500562" y="1928802"/>
            <a:chExt cx="4429156" cy="2986091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500562" y="2428868"/>
              <a:ext cx="4429156" cy="2486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215074" y="1928802"/>
              <a:ext cx="1857375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86380" y="1285860"/>
            <a:ext cx="267652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5000628" y="4071942"/>
            <a:ext cx="3429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Пятиуровневая модель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«</a:t>
            </a:r>
            <a:r>
              <a:rPr lang="en-US" dirty="0" smtClean="0">
                <a:latin typeface="Cambria" pitchFamily="18" charset="0"/>
              </a:rPr>
              <a:t>OSI</a:t>
            </a:r>
            <a:r>
              <a:rPr lang="en-US" dirty="0" smtClean="0"/>
              <a:t> </a:t>
            </a:r>
            <a:r>
              <a:rPr lang="en-US" dirty="0" smtClean="0">
                <a:latin typeface="Cambria" pitchFamily="18" charset="0"/>
              </a:rPr>
              <a:t>+ TCP/IP</a:t>
            </a:r>
            <a:r>
              <a:rPr lang="en-US" dirty="0" smtClean="0"/>
              <a:t>»</a:t>
            </a:r>
            <a:endParaRPr lang="ru-RU" dirty="0" smtClean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4568619"/>
            <a:ext cx="8572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TCP/UDP — это «правила доставки между программами», IP — «правила доставки между сетями»,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Ethernet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«правила доставки внутри локальной сети».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5288340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TCP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нужен, чтобы данные дошли точно и целиком: он следит за порядком, сам досылает потерянное и гарантирует, что файл или страница не будут битыми — это важно для документов, расчётов, учебных материалов.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UDP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нужен, чтобы всё летело максимально быстро без задержек: он просто отправляет куски данных и не тратит время на проверки и повторы — поэтому его берут для видео, звонков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стримов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где пара пропущенных кадров не критична.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2984"/>
            <a:ext cx="9144000" cy="40862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-48"/>
            <a:ext cx="6858048" cy="6858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3623824"/>
            <a:ext cx="5929322" cy="3234176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REST (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Representational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State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Transfer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) — это архитектурный стиль построения API, ориентированный на ресурсы: каждый URL соответствует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какому‑то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ресурсу (например, /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users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/123), а действия над ним выражаются через стандартные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HTTP‑методы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(GET для чтения, POST для создания, PUT/PATCH для обновления, DELETE для удаления); в качестве формата данных чаще всего используют JSON — он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человекочитаемый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хорошо ложится на кэширование и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нативно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поддерживается браузерами, а отладка проста: запрос можно проверить прямо в браузере или через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curl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а документацию удобно описывать в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OpenAPI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Swagger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5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gRPC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Remote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Procedure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Call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) построен вокруг удалённого вызова процедур: вместо «обращения к ресурсу» клиент напрямую вызывает функции на сервере (вроде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GetUser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ListOrders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), контракт при этом жёстко задаётся в .proto-файлах, из которых автоматически генерируется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типобезопасный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код клиента и сервера для разных языков; данные передаются в бинарном формате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Protocol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Buffers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 — он компактнее и быстрее JSON, транспорт всегда HTTP/2 с мультиплексированием, что позволяет эффективно обрабатывать много запросов по одному соединению и поддерживает четыре вида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стриминга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(серверный, клиентский, двунаправленный и одиночный), но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из‑за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бинарного формата отладка сложнее (нужны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специнструменты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вроде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BloomRPC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grpcurl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), а прямая работа из браузера без дополнительных прослоек (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gRPC‑Web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прокси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) невозможна.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390802"/>
            <a:ext cx="7610050" cy="4467198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HTTP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работает по модели «запрос — ответ», где клиент инициирует каждое взаимодействие, а сервер только реагирует, передавая данные с полными заголовками в каждом сеансе, тогда как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WebSocket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устанавливает постоянное двунаправленное соединение, позволяя серверу и клиенту обмениваться сообщениями в любой момент без повторной инициации сессии и с минимальными служебными данными — это делает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WebSocket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оптимальным для сценариев реального времени, а HTTP — для разовых операций с хорошей поддержкой кэширования и встроенной совместимостью с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веб‑инфраструктурой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0"/>
            <a:ext cx="7772400" cy="1143000"/>
          </a:xfrm>
        </p:spPr>
        <p:txBody>
          <a:bodyPr/>
          <a:lstStyle/>
          <a:p>
            <a:pPr algn="ctr"/>
            <a:r>
              <a:rPr lang="en-US" dirty="0" smtClean="0"/>
              <a:t>DNS</a:t>
            </a:r>
            <a:endParaRPr lang="ru-RU" dirty="0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0562" y="4143380"/>
            <a:ext cx="4367399" cy="2386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3702610"/>
            <a:ext cx="4194399" cy="26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29124" y="1000108"/>
            <a:ext cx="4572032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5679137" y="3643314"/>
            <a:ext cx="2036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Все типы записей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072066" y="6429396"/>
            <a:ext cx="29455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Обратное преобразование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42910" y="6417254"/>
            <a:ext cx="32015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Получение данных о ресурсе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857232"/>
            <a:ext cx="44291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DNS‑сервер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Domain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преобразует понятные человеку доменные имена (вроде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example.com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в цифровые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IP‑адреса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нужные компьютерам для соединения, — он работает как телефонная книга интернета, использует иерархию серверов и кэширование, чтобы быстро и надёжно выдавать адреса по запросу.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362200"/>
            <a:ext cx="8239125" cy="4495800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Прокси‑сервер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выступает посредником между клиентом и целевым ресурсом: он принимает запрос пользователя, при необходимости проверяет его по правилам фильтрации, может отдать ответ из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кэша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либо перенаправить запрос дальше, вернув результат клиенту — так реализуются контроль доступа, экономия трафика, снижение нагрузки на внешние сервисы и маскировка исходного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IP‑адреса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597</Words>
  <Application>Microsoft Office PowerPoint</Application>
  <PresentationFormat>Экран (4:3)</PresentationFormat>
  <Paragraphs>87</Paragraphs>
  <Slides>21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Тема Office</vt:lpstr>
      <vt:lpstr>Клиент‑серверная архитектура</vt:lpstr>
      <vt:lpstr>Электронная почта</vt:lpstr>
      <vt:lpstr>Обзор почтовых протоколов</vt:lpstr>
      <vt:lpstr>Слайд 4</vt:lpstr>
      <vt:lpstr>SMTP</vt:lpstr>
      <vt:lpstr>Пример SMTP-сессии</vt:lpstr>
      <vt:lpstr>Слайд 7</vt:lpstr>
      <vt:lpstr>POP</vt:lpstr>
      <vt:lpstr>POP3</vt:lpstr>
      <vt:lpstr>POP3</vt:lpstr>
      <vt:lpstr>IMAP</vt:lpstr>
      <vt:lpstr>IMAP</vt:lpstr>
      <vt:lpstr>Слайд 13</vt:lpstr>
      <vt:lpstr>Слайд 14</vt:lpstr>
      <vt:lpstr>Общие сведения о взаимодействие систем</vt:lpstr>
      <vt:lpstr>Слайд 16</vt:lpstr>
      <vt:lpstr>Слайд 17</vt:lpstr>
      <vt:lpstr>Слайд 18</vt:lpstr>
      <vt:lpstr>Слайд 19</vt:lpstr>
      <vt:lpstr>DNS</vt:lpstr>
      <vt:lpstr>Слайд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4</cp:revision>
  <dcterms:created xsi:type="dcterms:W3CDTF">2026-09-15T12:06:07Z</dcterms:created>
  <dcterms:modified xsi:type="dcterms:W3CDTF">2026-09-15T12:36:37Z</dcterms:modified>
</cp:coreProperties>
</file>