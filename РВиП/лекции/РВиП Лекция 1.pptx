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4ADCD-ECB0-437E-A1EA-BEA77419552A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52C39-5427-4772-8D76-D87146D1A8B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Основы и архитектура распределённых систем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171932"/>
            <a:ext cx="6715172" cy="2686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9144000" cy="65902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/>
              <a:t>Цели и задачи построения распределённых систем</a:t>
            </a:r>
            <a:endParaRPr lang="en-US" sz="3200" b="1" dirty="0" smtClean="0"/>
          </a:p>
          <a:p>
            <a:pPr algn="just"/>
            <a:endParaRPr lang="ru-RU" sz="2400" dirty="0" smtClean="0"/>
          </a:p>
          <a:p>
            <a:pPr algn="just"/>
            <a:r>
              <a:rPr lang="ru-RU" sz="2400" b="1" dirty="0" smtClean="0"/>
              <a:t>Совместное использование ресурсов</a:t>
            </a:r>
            <a:r>
              <a:rPr lang="ru-RU" sz="2400" dirty="0" smtClean="0"/>
              <a:t> — доступ к данным, вычислительным мощностям и сервисам из разных узлов.</a:t>
            </a:r>
          </a:p>
          <a:p>
            <a:pPr algn="just"/>
            <a:r>
              <a:rPr lang="ru-RU" sz="2400" b="1" dirty="0" smtClean="0"/>
              <a:t>Отказоустойчивость</a:t>
            </a:r>
            <a:r>
              <a:rPr lang="ru-RU" sz="2400" dirty="0" smtClean="0"/>
              <a:t> — сохранение работоспособности при сбоях отдельных компонентов.</a:t>
            </a:r>
          </a:p>
          <a:p>
            <a:pPr algn="just"/>
            <a:r>
              <a:rPr lang="ru-RU" sz="2400" b="1" dirty="0" err="1" smtClean="0"/>
              <a:t>Масштабируемость</a:t>
            </a:r>
            <a:r>
              <a:rPr lang="ru-RU" sz="2400" dirty="0" smtClean="0"/>
              <a:t> — возможность наращивать производительность за счёт добавления узлов.</a:t>
            </a:r>
          </a:p>
          <a:p>
            <a:pPr algn="just"/>
            <a:r>
              <a:rPr lang="ru-RU" sz="2400" b="1" dirty="0" smtClean="0"/>
              <a:t>Географическое распределение</a:t>
            </a:r>
            <a:r>
              <a:rPr lang="ru-RU" sz="2400" dirty="0" smtClean="0"/>
              <a:t> — размещение узлов в разных локациях для снижения задержек и соответствия регуляторным требованиям.</a:t>
            </a:r>
            <a:endParaRPr lang="ru-RU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/>
              <a:t>Модели распределённых вычислений</a:t>
            </a:r>
            <a:endParaRPr lang="en-US" sz="3200" b="1" dirty="0" smtClean="0"/>
          </a:p>
          <a:p>
            <a:pPr algn="ctr"/>
            <a:endParaRPr lang="ru-RU" sz="3200" dirty="0" smtClean="0"/>
          </a:p>
          <a:p>
            <a:pPr algn="just"/>
            <a:r>
              <a:rPr lang="ru-RU" sz="2000" b="1" dirty="0" err="1" smtClean="0"/>
              <a:t>Клиент‑сервер</a:t>
            </a:r>
            <a:r>
              <a:rPr lang="ru-RU" sz="2000" dirty="0" smtClean="0"/>
              <a:t> — чёткое разделение ролей: клиенты запрашивают, сервер обрабатывает.</a:t>
            </a:r>
          </a:p>
          <a:p>
            <a:pPr algn="just"/>
            <a:r>
              <a:rPr lang="ru-RU" sz="2000" b="1" dirty="0" smtClean="0"/>
              <a:t>P2P (</a:t>
            </a:r>
            <a:r>
              <a:rPr lang="ru-RU" sz="2000" b="1" dirty="0" err="1" smtClean="0"/>
              <a:t>одноранговая</a:t>
            </a:r>
            <a:r>
              <a:rPr lang="ru-RU" sz="2000" b="1" dirty="0" smtClean="0"/>
              <a:t>)</a:t>
            </a:r>
            <a:r>
              <a:rPr lang="ru-RU" sz="2000" dirty="0" smtClean="0"/>
              <a:t> — узлы равноправны, каждый может быть и клиентом, и сервером.</a:t>
            </a:r>
          </a:p>
          <a:p>
            <a:pPr algn="just"/>
            <a:r>
              <a:rPr lang="ru-RU" sz="2000" b="1" dirty="0" err="1" smtClean="0"/>
              <a:t>MapReduce</a:t>
            </a:r>
            <a:r>
              <a:rPr lang="ru-RU" sz="2000" dirty="0" smtClean="0"/>
              <a:t> — параллельная обработка больших данных через этапы </a:t>
            </a:r>
            <a:r>
              <a:rPr lang="ru-RU" sz="2000" dirty="0" err="1" smtClean="0"/>
              <a:t>map</a:t>
            </a:r>
            <a:r>
              <a:rPr lang="ru-RU" sz="2000" dirty="0" smtClean="0"/>
              <a:t> и </a:t>
            </a:r>
            <a:r>
              <a:rPr lang="ru-RU" sz="2000" dirty="0" err="1" smtClean="0"/>
              <a:t>reduce</a:t>
            </a:r>
            <a:r>
              <a:rPr lang="ru-RU" sz="2000" dirty="0" smtClean="0"/>
              <a:t>.</a:t>
            </a:r>
          </a:p>
          <a:p>
            <a:pPr algn="just"/>
            <a:r>
              <a:rPr lang="ru-RU" sz="2000" b="1" dirty="0" err="1" smtClean="0"/>
              <a:t>Message‑passing</a:t>
            </a:r>
            <a:r>
              <a:rPr lang="ru-RU" sz="2000" b="1" dirty="0" smtClean="0"/>
              <a:t> (очереди/брокеры)</a:t>
            </a:r>
            <a:r>
              <a:rPr lang="ru-RU" sz="2000" dirty="0" smtClean="0"/>
              <a:t> — взаимодействие через обмен сообщениями (</a:t>
            </a:r>
            <a:r>
              <a:rPr lang="ru-RU" sz="2000" dirty="0" err="1" smtClean="0"/>
              <a:t>RabbitMQ</a:t>
            </a:r>
            <a:r>
              <a:rPr lang="ru-RU" sz="2000" dirty="0" smtClean="0"/>
              <a:t>, </a:t>
            </a:r>
            <a:r>
              <a:rPr lang="ru-RU" sz="2000" dirty="0" err="1" smtClean="0"/>
              <a:t>Kafka</a:t>
            </a:r>
            <a:r>
              <a:rPr lang="ru-RU" sz="2000" dirty="0" smtClean="0"/>
              <a:t> и др.).</a:t>
            </a:r>
          </a:p>
          <a:p>
            <a:pPr algn="just"/>
            <a:r>
              <a:rPr lang="ru-RU" sz="2000" b="1" dirty="0" err="1" smtClean="0"/>
              <a:t>Микросервисная</a:t>
            </a:r>
            <a:r>
              <a:rPr lang="ru-RU" sz="2000" dirty="0" smtClean="0"/>
              <a:t> — независимые сервисы, взаимодействующие по сети.</a:t>
            </a:r>
          </a:p>
          <a:p>
            <a:pPr algn="just"/>
            <a:r>
              <a:rPr lang="ru-RU" sz="2000" b="1" dirty="0" err="1" smtClean="0"/>
              <a:t>Grid‑вычисления</a:t>
            </a:r>
            <a:r>
              <a:rPr lang="ru-RU" sz="2000" dirty="0" smtClean="0"/>
              <a:t> — объединение разнородных ресурсов для решения ресурсоёмких задач.</a:t>
            </a:r>
          </a:p>
          <a:p>
            <a:pPr algn="just"/>
            <a:r>
              <a:rPr lang="ru-RU" sz="2000" b="1" dirty="0" err="1" smtClean="0"/>
              <a:t>Master‑Slave</a:t>
            </a:r>
            <a:r>
              <a:rPr lang="ru-RU" sz="2000" b="1" dirty="0" smtClean="0"/>
              <a:t> (</a:t>
            </a:r>
            <a:r>
              <a:rPr lang="ru-RU" sz="2000" b="1" dirty="0" err="1" smtClean="0"/>
              <a:t>ведущий‑ведомый</a:t>
            </a:r>
            <a:r>
              <a:rPr lang="ru-RU" sz="2000" b="1" dirty="0" smtClean="0"/>
              <a:t>)</a:t>
            </a:r>
            <a:r>
              <a:rPr lang="ru-RU" sz="2000" dirty="0" smtClean="0"/>
              <a:t> — </a:t>
            </a:r>
            <a:r>
              <a:rPr lang="ru-RU" sz="2000" dirty="0" err="1" smtClean="0"/>
              <a:t>master</a:t>
            </a:r>
            <a:r>
              <a:rPr lang="ru-RU" sz="2000" dirty="0" smtClean="0"/>
              <a:t> координирует задачи, </a:t>
            </a:r>
            <a:r>
              <a:rPr lang="ru-RU" sz="2000" dirty="0" err="1" smtClean="0"/>
              <a:t>slaves</a:t>
            </a:r>
            <a:r>
              <a:rPr lang="ru-RU" sz="2000" dirty="0" smtClean="0"/>
              <a:t> выполняют; типично для репликации БД и масштабирования чтения.</a:t>
            </a:r>
          </a:p>
          <a:p>
            <a:pPr algn="just"/>
            <a:r>
              <a:rPr lang="ru-RU" sz="2000" b="1" dirty="0" smtClean="0"/>
              <a:t>Кластерные модели</a:t>
            </a:r>
            <a:r>
              <a:rPr lang="ru-RU" sz="2000" dirty="0" smtClean="0"/>
              <a:t> — группа узлов, работающих как единая система (например, </a:t>
            </a:r>
            <a:r>
              <a:rPr lang="ru-RU" sz="2000" dirty="0" err="1" smtClean="0"/>
              <a:t>Kubernetes‑кластер</a:t>
            </a:r>
            <a:r>
              <a:rPr lang="ru-RU" sz="2000" dirty="0" smtClean="0"/>
              <a:t>, </a:t>
            </a:r>
            <a:r>
              <a:rPr lang="ru-RU" sz="2000" dirty="0" err="1" smtClean="0"/>
              <a:t>Hadoop‑кластер</a:t>
            </a:r>
            <a:r>
              <a:rPr lang="ru-RU" sz="2000" dirty="0" smtClean="0"/>
              <a:t>): обеспечивают отказоустойчивость и </a:t>
            </a:r>
            <a:r>
              <a:rPr lang="ru-RU" sz="2000" dirty="0" err="1" smtClean="0"/>
              <a:t>масштабируемость</a:t>
            </a:r>
            <a:r>
              <a:rPr lang="ru-RU" sz="2000" dirty="0" smtClean="0"/>
              <a:t> за счёт распределения нагрузки и автоматического переключения при сбоях.</a:t>
            </a:r>
            <a:endParaRPr lang="ru-RU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Концепция одновременности: без глобальных часов события на разных узлах могут быть параллельными — нужно явно определять их порядок.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Проблема синхронизации: локальные часы дрейфуют, задержки сети мешают точному упорядочиванию.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Логические часы (Лампорта): простой счётчик с правилами обновления при отправке/получении сообщений; сохраняет частичный порядок, но не различает параллельные события.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Векторные часы: массив счётчиков по числу узлов; позволяют точно определить причинность, параллельность или предшествование, но требуют больше накладных расходов.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Примеры: часы Лампорта — распределённые блокировки; векторные часы — разрешение конфликтов в реплицируемых хранилищах и системах версий.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9144000" cy="35820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651288"/>
            <a:ext cx="8429684" cy="620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28"/>
            <a:ext cx="9115319" cy="6072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0"/>
            <a:ext cx="547687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</Words>
  <Application>Microsoft Office PowerPoint</Application>
  <PresentationFormat>Экран (4:3)</PresentationFormat>
  <Paragraphs>26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Основы и архитектура распределённых систем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</cp:revision>
  <dcterms:created xsi:type="dcterms:W3CDTF">2026-09-01T11:53:23Z</dcterms:created>
  <dcterms:modified xsi:type="dcterms:W3CDTF">2026-09-01T12:12:19Z</dcterms:modified>
</cp:coreProperties>
</file>