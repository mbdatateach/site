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0" r:id="rId3"/>
    <p:sldId id="261" r:id="rId4"/>
    <p:sldId id="262" r:id="rId5"/>
    <p:sldId id="257" r:id="rId6"/>
    <p:sldId id="259" r:id="rId7"/>
    <p:sldId id="263" r:id="rId8"/>
    <p:sldId id="264" r:id="rId9"/>
    <p:sldId id="265" r:id="rId10"/>
    <p:sldId id="266" r:id="rId11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>
        <p:scale>
          <a:sx n="100" d="100"/>
          <a:sy n="100" d="100"/>
        </p:scale>
        <p:origin x="-1860" y="-2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13" name="Скругленный прямоугольник 12"/>
          <p:cNvSpPr/>
          <p:nvPr/>
        </p:nvSpPr>
        <p:spPr>
          <a:xfrm>
            <a:off x="65313" y="69755"/>
            <a:ext cx="9013372" cy="6692201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1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Подзаголовок 8"/>
          <p:cNvSpPr>
            <a:spLocks noGrp="1"/>
          </p:cNvSpPr>
          <p:nvPr>
            <p:ph type="subTitle" idx="1"/>
          </p:nvPr>
        </p:nvSpPr>
        <p:spPr>
          <a:xfrm>
            <a:off x="1295400" y="3200400"/>
            <a:ext cx="6400800" cy="1600200"/>
          </a:xfrm>
        </p:spPr>
        <p:txBody>
          <a:bodyPr/>
          <a:lstStyle>
            <a:lvl1pPr marL="0" indent="0" algn="ctr">
              <a:buNone/>
              <a:defRPr sz="2600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28" name="Дата 2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DBA9E-009E-4185-A20A-A3E4255DE3B3}" type="datetimeFigureOut">
              <a:rPr lang="ru-RU" smtClean="0"/>
              <a:pPr/>
              <a:t>06.10.2026</a:t>
            </a:fld>
            <a:endParaRPr lang="ru-RU"/>
          </a:p>
        </p:txBody>
      </p:sp>
      <p:sp>
        <p:nvSpPr>
          <p:cNvPr id="17" name="Нижний колонтитул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9" name="Номер слайда 28"/>
          <p:cNvSpPr>
            <a:spLocks noGrp="1"/>
          </p:cNvSpPr>
          <p:nvPr>
            <p:ph type="sldNum" sz="quarter" idx="12"/>
          </p:nvPr>
        </p:nvSpPr>
        <p:spPr/>
        <p:txBody>
          <a:bodyPr lIns="0" tIns="0" rIns="0" bIns="0">
            <a:noAutofit/>
          </a:bodyPr>
          <a:lstStyle>
            <a:lvl1pPr>
              <a:defRPr sz="1400">
                <a:solidFill>
                  <a:srgbClr val="FFFFFF"/>
                </a:solidFill>
              </a:defRPr>
            </a:lvl1pPr>
          </a:lstStyle>
          <a:p>
            <a:fld id="{6BDF054E-5D6A-433A-954D-493194287BC5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62931" y="1449303"/>
            <a:ext cx="9021537" cy="1527349"/>
          </a:xfrm>
          <a:prstGeom prst="rect">
            <a:avLst/>
          </a:prstGeom>
          <a:solidFill>
            <a:schemeClr val="accent1">
              <a:alpha val="10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Прямоугольник 9"/>
          <p:cNvSpPr/>
          <p:nvPr/>
        </p:nvSpPr>
        <p:spPr>
          <a:xfrm>
            <a:off x="62931" y="1396720"/>
            <a:ext cx="9021537" cy="120580"/>
          </a:xfrm>
          <a:prstGeom prst="rect">
            <a:avLst/>
          </a:prstGeom>
          <a:solidFill>
            <a:schemeClr val="accent1">
              <a:tint val="6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Прямоугольник 10"/>
          <p:cNvSpPr/>
          <p:nvPr/>
        </p:nvSpPr>
        <p:spPr>
          <a:xfrm>
            <a:off x="62931" y="2976649"/>
            <a:ext cx="9021537" cy="110532"/>
          </a:xfrm>
          <a:prstGeom prst="rect">
            <a:avLst/>
          </a:prstGeom>
          <a:solidFill>
            <a:schemeClr val="accent5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Заголовок 7"/>
          <p:cNvSpPr>
            <a:spLocks noGrp="1"/>
          </p:cNvSpPr>
          <p:nvPr>
            <p:ph type="ctrTitle"/>
          </p:nvPr>
        </p:nvSpPr>
        <p:spPr>
          <a:xfrm>
            <a:off x="457200" y="1505930"/>
            <a:ext cx="8229600" cy="1470025"/>
          </a:xfrm>
        </p:spPr>
        <p:txBody>
          <a:bodyPr anchor="ctr"/>
          <a:lstStyle>
            <a:lvl1pPr algn="ctr">
              <a:defRPr lang="en-US" dirty="0">
                <a:solidFill>
                  <a:srgbClr val="FFFFFF"/>
                </a:solidFill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DBA9E-009E-4185-A20A-A3E4255DE3B3}" type="datetimeFigureOut">
              <a:rPr lang="ru-RU" smtClean="0"/>
              <a:pPr/>
              <a:t>06.10.2026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F054E-5D6A-433A-954D-493194287BC5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8" name="Содержимое 7"/>
          <p:cNvSpPr>
            <a:spLocks noGrp="1"/>
          </p:cNvSpPr>
          <p:nvPr>
            <p:ph sz="quarter" idx="1"/>
          </p:nvPr>
        </p:nvSpPr>
        <p:spPr>
          <a:xfrm>
            <a:off x="914400" y="1447800"/>
            <a:ext cx="7772400" cy="4572000"/>
          </a:xfrm>
        </p:spPr>
        <p:txBody>
          <a:bodyPr vert="horz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10" name="Скругленный прямоугольник 9"/>
          <p:cNvSpPr/>
          <p:nvPr/>
        </p:nvSpPr>
        <p:spPr>
          <a:xfrm>
            <a:off x="65313" y="69755"/>
            <a:ext cx="9013372" cy="6692201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3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952500"/>
            <a:ext cx="7772400" cy="1362075"/>
          </a:xfrm>
        </p:spPr>
        <p:txBody>
          <a:bodyPr anchor="b" anchorCtr="0"/>
          <a:lstStyle>
            <a:lvl1pPr algn="l">
              <a:buNone/>
              <a:defRPr sz="4000" b="0" cap="none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547938"/>
            <a:ext cx="7772400" cy="1338262"/>
          </a:xfrm>
        </p:spPr>
        <p:txBody>
          <a:bodyPr anchor="t" anchorCtr="0"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DBA9E-009E-4185-A20A-A3E4255DE3B3}" type="datetimeFigureOut">
              <a:rPr lang="ru-RU" smtClean="0"/>
              <a:pPr/>
              <a:t>06.10.2026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800100" y="6172200"/>
            <a:ext cx="4000500" cy="457200"/>
          </a:xfrm>
        </p:spPr>
        <p:txBody>
          <a:bodyPr/>
          <a:lstStyle/>
          <a:p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 flipV="1">
            <a:off x="69412" y="2376830"/>
            <a:ext cx="9013515" cy="91440"/>
          </a:xfrm>
          <a:prstGeom prst="rect">
            <a:avLst/>
          </a:prstGeom>
          <a:solidFill>
            <a:schemeClr val="accent1">
              <a:alpha val="10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Прямоугольник 7"/>
          <p:cNvSpPr/>
          <p:nvPr/>
        </p:nvSpPr>
        <p:spPr>
          <a:xfrm>
            <a:off x="69146" y="2341475"/>
            <a:ext cx="9013781" cy="45719"/>
          </a:xfrm>
          <a:prstGeom prst="rect">
            <a:avLst/>
          </a:prstGeom>
          <a:solidFill>
            <a:schemeClr val="accent1">
              <a:tint val="6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Прямоугольник 8"/>
          <p:cNvSpPr/>
          <p:nvPr/>
        </p:nvSpPr>
        <p:spPr>
          <a:xfrm>
            <a:off x="68306" y="2468880"/>
            <a:ext cx="9014621" cy="45720"/>
          </a:xfrm>
          <a:prstGeom prst="rect">
            <a:avLst/>
          </a:prstGeom>
          <a:solidFill>
            <a:schemeClr val="accent5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146304" y="6208776"/>
            <a:ext cx="457200" cy="457200"/>
          </a:xfrm>
        </p:spPr>
        <p:txBody>
          <a:bodyPr/>
          <a:lstStyle/>
          <a:p>
            <a:fld id="{6BDF054E-5D6A-433A-954D-493194287BC5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DBA9E-009E-4185-A20A-A3E4255DE3B3}" type="datetimeFigureOut">
              <a:rPr lang="ru-RU" smtClean="0"/>
              <a:pPr/>
              <a:t>06.10.2026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F054E-5D6A-433A-954D-493194287BC5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9" name="Содержимое 8"/>
          <p:cNvSpPr>
            <a:spLocks noGrp="1"/>
          </p:cNvSpPr>
          <p:nvPr>
            <p:ph sz="quarter" idx="1"/>
          </p:nvPr>
        </p:nvSpPr>
        <p:spPr>
          <a:xfrm>
            <a:off x="914400" y="1447800"/>
            <a:ext cx="3749040" cy="4572000"/>
          </a:xfrm>
        </p:spPr>
        <p:txBody>
          <a:bodyPr vert="horz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11" name="Содержимое 10"/>
          <p:cNvSpPr>
            <a:spLocks noGrp="1"/>
          </p:cNvSpPr>
          <p:nvPr>
            <p:ph sz="quarter" idx="2"/>
          </p:nvPr>
        </p:nvSpPr>
        <p:spPr>
          <a:xfrm>
            <a:off x="4933950" y="1447800"/>
            <a:ext cx="3749040" cy="4572000"/>
          </a:xfrm>
        </p:spPr>
        <p:txBody>
          <a:bodyPr vert="horz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14400" y="273050"/>
            <a:ext cx="7772400" cy="1143000"/>
          </a:xfrm>
        </p:spPr>
        <p:txBody>
          <a:bodyPr anchor="b" anchorCtr="0"/>
          <a:lstStyle>
            <a:lvl1pPr>
              <a:defRPr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14400" y="1447800"/>
            <a:ext cx="3733800" cy="762000"/>
          </a:xfrm>
          <a:noFill/>
          <a:ln w="12700" cap="sq" cmpd="sng" algn="ctr">
            <a:noFill/>
            <a:prstDash val="solid"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4953000" y="1447800"/>
            <a:ext cx="3733800" cy="762000"/>
          </a:xfrm>
          <a:noFill/>
          <a:ln w="12700" cap="sq" cmpd="sng" algn="ctr">
            <a:noFill/>
            <a:prstDash val="solid"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DBA9E-009E-4185-A20A-A3E4255DE3B3}" type="datetimeFigureOut">
              <a:rPr lang="ru-RU" smtClean="0"/>
              <a:pPr/>
              <a:t>06.10.2026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F054E-5D6A-433A-954D-493194287BC5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1" name="Содержимое 10"/>
          <p:cNvSpPr>
            <a:spLocks noGrp="1"/>
          </p:cNvSpPr>
          <p:nvPr>
            <p:ph sz="half" idx="2"/>
          </p:nvPr>
        </p:nvSpPr>
        <p:spPr>
          <a:xfrm>
            <a:off x="914400" y="2247900"/>
            <a:ext cx="3733800" cy="3886200"/>
          </a:xfrm>
        </p:spPr>
        <p:txBody>
          <a:bodyPr vert="horz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13" name="Содержимое 12"/>
          <p:cNvSpPr>
            <a:spLocks noGrp="1"/>
          </p:cNvSpPr>
          <p:nvPr>
            <p:ph sz="half" idx="4"/>
          </p:nvPr>
        </p:nvSpPr>
        <p:spPr>
          <a:xfrm>
            <a:off x="4953000" y="2247900"/>
            <a:ext cx="3733800" cy="3886200"/>
          </a:xfrm>
        </p:spPr>
        <p:txBody>
          <a:bodyPr vert="horz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DBA9E-009E-4185-A20A-A3E4255DE3B3}" type="datetimeFigureOut">
              <a:rPr lang="ru-RU" smtClean="0"/>
              <a:pPr/>
              <a:t>06.10.2026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F054E-5D6A-433A-954D-493194287BC5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DBA9E-009E-4185-A20A-A3E4255DE3B3}" type="datetimeFigureOut">
              <a:rPr lang="ru-RU" smtClean="0"/>
              <a:pPr/>
              <a:t>06.10.2026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F054E-5D6A-433A-954D-493194287BC5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9" name="Скругленный прямоугольник 8"/>
          <p:cNvSpPr/>
          <p:nvPr/>
        </p:nvSpPr>
        <p:spPr>
          <a:xfrm>
            <a:off x="64008" y="69755"/>
            <a:ext cx="9013372" cy="6693408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1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14400" y="273050"/>
            <a:ext cx="7772400" cy="1143000"/>
          </a:xfrm>
        </p:spPr>
        <p:txBody>
          <a:bodyPr anchor="b" anchorCtr="0"/>
          <a:lstStyle>
            <a:lvl1pPr algn="l">
              <a:buNone/>
              <a:defRPr sz="4000" b="0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914400" y="1600200"/>
            <a:ext cx="1905000" cy="4495800"/>
          </a:xfrm>
        </p:spPr>
        <p:txBody>
          <a:bodyPr/>
          <a:lstStyle>
            <a:lvl1pPr marL="0" indent="0">
              <a:buNone/>
              <a:defRPr sz="18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DBA9E-009E-4185-A20A-A3E4255DE3B3}" type="datetimeFigureOut">
              <a:rPr lang="ru-RU" smtClean="0"/>
              <a:pPr/>
              <a:t>06.10.2026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F054E-5D6A-433A-954D-493194287BC5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1" name="Содержимое 10"/>
          <p:cNvSpPr>
            <a:spLocks noGrp="1"/>
          </p:cNvSpPr>
          <p:nvPr>
            <p:ph sz="quarter" idx="1"/>
          </p:nvPr>
        </p:nvSpPr>
        <p:spPr>
          <a:xfrm>
            <a:off x="2971800" y="1600200"/>
            <a:ext cx="5715000" cy="4495800"/>
          </a:xfrm>
        </p:spPr>
        <p:txBody>
          <a:bodyPr vert="horz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14400" y="4900550"/>
            <a:ext cx="7315200" cy="522288"/>
          </a:xfrm>
        </p:spPr>
        <p:txBody>
          <a:bodyPr anchor="ctr">
            <a:noAutofit/>
          </a:bodyPr>
          <a:lstStyle>
            <a:lvl1pPr algn="l">
              <a:buNone/>
              <a:defRPr sz="2800" b="0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914400" y="5445825"/>
            <a:ext cx="7315200" cy="685800"/>
          </a:xfrm>
        </p:spPr>
        <p:txBody>
          <a:bodyPr/>
          <a:lstStyle>
            <a:lvl1pPr marL="0" indent="0">
              <a:buFontTx/>
              <a:buNone/>
              <a:defRPr sz="16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DBA9E-009E-4185-A20A-A3E4255DE3B3}" type="datetimeFigureOut">
              <a:rPr lang="ru-RU" smtClean="0"/>
              <a:pPr/>
              <a:t>06.10.2026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>
          <a:xfrm>
            <a:off x="914400" y="6172200"/>
            <a:ext cx="3886200" cy="457200"/>
          </a:xfrm>
        </p:spPr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146304" y="6208776"/>
            <a:ext cx="457200" cy="457200"/>
          </a:xfrm>
        </p:spPr>
        <p:txBody>
          <a:bodyPr/>
          <a:lstStyle/>
          <a:p>
            <a:fld id="{6BDF054E-5D6A-433A-954D-493194287BC5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1" name="Прямоугольник 10"/>
          <p:cNvSpPr/>
          <p:nvPr/>
        </p:nvSpPr>
        <p:spPr>
          <a:xfrm flipV="1">
            <a:off x="68307" y="4683555"/>
            <a:ext cx="9006840" cy="91440"/>
          </a:xfrm>
          <a:prstGeom prst="rect">
            <a:avLst/>
          </a:prstGeom>
          <a:solidFill>
            <a:schemeClr val="accent1">
              <a:alpha val="10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Прямоугольник 11"/>
          <p:cNvSpPr/>
          <p:nvPr/>
        </p:nvSpPr>
        <p:spPr>
          <a:xfrm>
            <a:off x="68508" y="4650474"/>
            <a:ext cx="9006639" cy="45719"/>
          </a:xfrm>
          <a:prstGeom prst="rect">
            <a:avLst/>
          </a:prstGeom>
          <a:solidFill>
            <a:schemeClr val="accent1">
              <a:tint val="6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Прямоугольник 12"/>
          <p:cNvSpPr/>
          <p:nvPr/>
        </p:nvSpPr>
        <p:spPr>
          <a:xfrm>
            <a:off x="68510" y="4773224"/>
            <a:ext cx="9006637" cy="48807"/>
          </a:xfrm>
          <a:prstGeom prst="rect">
            <a:avLst/>
          </a:prstGeom>
          <a:solidFill>
            <a:schemeClr val="accent5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68308" y="66675"/>
            <a:ext cx="9001873" cy="4581525"/>
          </a:xfrm>
          <a:prstGeom prst="round2SameRect">
            <a:avLst>
              <a:gd name="adj1" fmla="val 7101"/>
              <a:gd name="adj2" fmla="val 0"/>
            </a:avLst>
          </a:prstGeom>
          <a:solidFill>
            <a:schemeClr val="bg2"/>
          </a:solid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ru-RU" smtClean="0"/>
              <a:t>Вставка рисунка</a:t>
            </a:r>
            <a:endParaRPr kumimoji="0"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DBA9E-009E-4185-A20A-A3E4255DE3B3}" type="datetimeFigureOut">
              <a:rPr lang="ru-RU" smtClean="0"/>
              <a:pPr/>
              <a:t>06.10.2026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F054E-5D6A-433A-954D-493194287BC5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41"/>
            <a:ext cx="2011680" cy="5851525"/>
          </a:xfrm>
        </p:spPr>
        <p:txBody>
          <a:bodyPr vert="eaVert"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914400" y="274640"/>
            <a:ext cx="5562600" cy="5851525"/>
          </a:xfrm>
        </p:spPr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DBA9E-009E-4185-A20A-A3E4255DE3B3}" type="datetimeFigureOut">
              <a:rPr lang="ru-RU" smtClean="0"/>
              <a:pPr/>
              <a:t>06.10.2026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F054E-5D6A-433A-954D-493194287BC5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8" name="Скругленный прямоугольник 7"/>
          <p:cNvSpPr/>
          <p:nvPr/>
        </p:nvSpPr>
        <p:spPr>
          <a:xfrm>
            <a:off x="64008" y="69755"/>
            <a:ext cx="9013372" cy="6693408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1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Заголовок 21"/>
          <p:cNvSpPr>
            <a:spLocks noGrp="1"/>
          </p:cNvSpPr>
          <p:nvPr>
            <p:ph type="title"/>
          </p:nvPr>
        </p:nvSpPr>
        <p:spPr>
          <a:xfrm>
            <a:off x="914400" y="274638"/>
            <a:ext cx="7772400" cy="1143000"/>
          </a:xfrm>
          <a:prstGeom prst="rect">
            <a:avLst/>
          </a:prstGeom>
        </p:spPr>
        <p:txBody>
          <a:bodyPr bIns="91440" anchor="b" anchorCtr="0">
            <a:normAutofit/>
          </a:bodyPr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13" name="Текст 12"/>
          <p:cNvSpPr>
            <a:spLocks noGrp="1"/>
          </p:cNvSpPr>
          <p:nvPr>
            <p:ph type="body" idx="1"/>
          </p:nvPr>
        </p:nvSpPr>
        <p:spPr>
          <a:xfrm>
            <a:off x="914400" y="1447800"/>
            <a:ext cx="7772400" cy="457200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14" name="Дата 13"/>
          <p:cNvSpPr>
            <a:spLocks noGrp="1"/>
          </p:cNvSpPr>
          <p:nvPr>
            <p:ph type="dt" sz="half" idx="2"/>
          </p:nvPr>
        </p:nvSpPr>
        <p:spPr>
          <a:xfrm>
            <a:off x="6172200" y="6191250"/>
            <a:ext cx="2476500" cy="476250"/>
          </a:xfrm>
          <a:prstGeom prst="rect">
            <a:avLst/>
          </a:prstGeom>
        </p:spPr>
        <p:txBody>
          <a:bodyPr anchor="ctr" anchorCtr="0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fld id="{9E1DBA9E-009E-4185-A20A-A3E4255DE3B3}" type="datetimeFigureOut">
              <a:rPr lang="ru-RU" smtClean="0"/>
              <a:pPr/>
              <a:t>06.10.2026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3"/>
          </p:nvPr>
        </p:nvSpPr>
        <p:spPr>
          <a:xfrm>
            <a:off x="914400" y="6172200"/>
            <a:ext cx="3962400" cy="457200"/>
          </a:xfrm>
          <a:prstGeom prst="rect">
            <a:avLst/>
          </a:prstGeom>
        </p:spPr>
        <p:txBody>
          <a:bodyPr anchor="ctr" anchorCtr="0"/>
          <a:lstStyle>
            <a:lvl1pPr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22"/>
          <p:cNvSpPr>
            <a:spLocks noGrp="1"/>
          </p:cNvSpPr>
          <p:nvPr>
            <p:ph type="sldNum" sz="quarter" idx="4"/>
          </p:nvPr>
        </p:nvSpPr>
        <p:spPr>
          <a:xfrm>
            <a:off x="146304" y="6210300"/>
            <a:ext cx="457200" cy="457200"/>
          </a:xfrm>
          <a:prstGeom prst="ellipse">
            <a:avLst/>
          </a:prstGeom>
          <a:solidFill>
            <a:schemeClr val="accent1"/>
          </a:solidFill>
        </p:spPr>
        <p:txBody>
          <a:bodyPr wrap="none" lIns="0" tIns="0" rIns="0" bIns="0" anchor="ctr" anchorCtr="1">
            <a:noAutofit/>
          </a:bodyPr>
          <a:lstStyle>
            <a:lvl1pPr algn="ctr" eaLnBrk="1" latinLnBrk="0" hangingPunct="1">
              <a:defRPr kumimoji="0" sz="14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fld id="{6BDF054E-5D6A-433A-954D-493194287BC5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rtl="0" eaLnBrk="1" latinLnBrk="0" hangingPunct="1">
        <a:spcBef>
          <a:spcPct val="0"/>
        </a:spcBef>
        <a:buNone/>
        <a:defRPr kumimoji="0" sz="40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580"/>
        </a:spcBef>
        <a:buClr>
          <a:schemeClr val="accent1"/>
        </a:buClr>
        <a:buSzPct val="85000"/>
        <a:buFont typeface="Wingdings 2"/>
        <a:buChar char="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28600" algn="l" rtl="0" eaLnBrk="1" latinLnBrk="0" hangingPunct="1">
        <a:spcBef>
          <a:spcPts val="370"/>
        </a:spcBef>
        <a:buClr>
          <a:schemeClr val="accent2"/>
        </a:buClr>
        <a:buSzPct val="85000"/>
        <a:buFont typeface="Wingdings 2"/>
        <a:buChar char="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370"/>
        </a:spcBef>
        <a:buClr>
          <a:schemeClr val="accent1">
            <a:tint val="60000"/>
          </a:schemeClr>
        </a:buClr>
        <a:buSzPct val="8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370"/>
        </a:spcBef>
        <a:buClr>
          <a:schemeClr val="accent3"/>
        </a:buClr>
        <a:buSzPct val="80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70"/>
        </a:spcBef>
        <a:buClr>
          <a:schemeClr val="accent3"/>
        </a:buClr>
        <a:buFontTx/>
        <a:buChar char="o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228600" algn="l" rtl="0" eaLnBrk="1" latinLnBrk="0" hangingPunct="1">
        <a:spcBef>
          <a:spcPts val="370"/>
        </a:spcBef>
        <a:buClr>
          <a:schemeClr val="accent3"/>
        </a:buClr>
        <a:buChar char="•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228600" algn="l" rtl="0" eaLnBrk="1" latinLnBrk="0" hangingPunct="1">
        <a:spcBef>
          <a:spcPts val="370"/>
        </a:spcBef>
        <a:buClr>
          <a:schemeClr val="accent2"/>
        </a:buClr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228600" algn="l" rtl="0" eaLnBrk="1" latinLnBrk="0" hangingPunct="1">
        <a:spcBef>
          <a:spcPts val="370"/>
        </a:spcBef>
        <a:buClr>
          <a:schemeClr val="accent1">
            <a:tint val="60000"/>
          </a:schemeClr>
        </a:buClr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228600" algn="l" rtl="0" eaLnBrk="1" latinLnBrk="0" hangingPunct="1">
        <a:spcBef>
          <a:spcPts val="370"/>
        </a:spcBef>
        <a:buClr>
          <a:schemeClr val="accent2">
            <a:tint val="60000"/>
          </a:schemeClr>
        </a:buClr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xmlrpc.client.html" TargetMode="Externa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XML-RPC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751344"/>
            <a:ext cx="914400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/>
              <a:t>RPC (</a:t>
            </a:r>
            <a:r>
              <a:rPr lang="ru-RU" sz="2400" dirty="0" err="1" smtClean="0"/>
              <a:t>Remote</a:t>
            </a:r>
            <a:r>
              <a:rPr lang="ru-RU" sz="2400" dirty="0" smtClean="0"/>
              <a:t> </a:t>
            </a:r>
            <a:r>
              <a:rPr lang="ru-RU" sz="2400" dirty="0" err="1" smtClean="0"/>
              <a:t>Procedure</a:t>
            </a:r>
            <a:r>
              <a:rPr lang="ru-RU" sz="2400" dirty="0" smtClean="0"/>
              <a:t> </a:t>
            </a:r>
            <a:r>
              <a:rPr lang="ru-RU" sz="2400" dirty="0" err="1" smtClean="0"/>
              <a:t>Call</a:t>
            </a:r>
            <a:r>
              <a:rPr lang="ru-RU" sz="2400" dirty="0" smtClean="0"/>
              <a:t>) — это модель взаимодействия, при которой код на одном компьютере вызывает функцию на другом так, будто она локальная: для разработчика вызов выглядит как обычный вызов метода, а всю работу по передаче данных берёт на себя инфраструктура. XML‑RPC — одна из реализаций RPC: она использует HTTP как транспорт и XML как формат представления данных, то есть запрос и ответ упаковываются в </a:t>
            </a:r>
            <a:r>
              <a:rPr lang="ru-RU" sz="2400" dirty="0" err="1" smtClean="0"/>
              <a:t>XML‑документы</a:t>
            </a:r>
            <a:r>
              <a:rPr lang="ru-RU" sz="2400" dirty="0" smtClean="0"/>
              <a:t>, передаваемые через HTTP POST. В </a:t>
            </a:r>
            <a:r>
              <a:rPr lang="ru-RU" sz="2400" dirty="0" err="1" smtClean="0"/>
              <a:t>Python</a:t>
            </a:r>
            <a:r>
              <a:rPr lang="ru-RU" sz="2400" dirty="0" smtClean="0"/>
              <a:t> это реализовано в модулях </a:t>
            </a:r>
            <a:r>
              <a:rPr lang="ru-RU" sz="2400" dirty="0" err="1" smtClean="0"/>
              <a:t>xmlrpc.server</a:t>
            </a:r>
            <a:r>
              <a:rPr lang="ru-RU" sz="2400" dirty="0" smtClean="0"/>
              <a:t> и </a:t>
            </a:r>
            <a:r>
              <a:rPr lang="ru-RU" sz="2400" dirty="0" err="1" smtClean="0"/>
              <a:t>xmlrpc.client</a:t>
            </a:r>
            <a:r>
              <a:rPr lang="ru-RU" sz="2400" dirty="0" smtClean="0"/>
              <a:t>: клиент работает через </a:t>
            </a:r>
            <a:r>
              <a:rPr lang="ru-RU" sz="2400" dirty="0" err="1" smtClean="0"/>
              <a:t>прокси‑объект</a:t>
            </a:r>
            <a:r>
              <a:rPr lang="ru-RU" sz="2400" dirty="0" smtClean="0"/>
              <a:t> (</a:t>
            </a:r>
            <a:r>
              <a:rPr lang="ru-RU" sz="2400" dirty="0" err="1" smtClean="0"/>
              <a:t>ServerProxy</a:t>
            </a:r>
            <a:r>
              <a:rPr lang="ru-RU" sz="2400" dirty="0" smtClean="0"/>
              <a:t>), который скрывает удалённость вызова, а сервер регистрирует функции и обрабатывает входящие </a:t>
            </a:r>
            <a:r>
              <a:rPr lang="ru-RU" sz="2400" dirty="0" err="1" smtClean="0"/>
              <a:t>XML‑запросы</a:t>
            </a:r>
            <a:r>
              <a:rPr lang="ru-RU" sz="2400" dirty="0" smtClean="0"/>
              <a:t>.</a:t>
            </a:r>
            <a:endParaRPr lang="ru-RU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751344"/>
            <a:ext cx="9144000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/>
              <a:t>XML (</a:t>
            </a:r>
            <a:r>
              <a:rPr lang="ru-RU" sz="2400" dirty="0" err="1" smtClean="0"/>
              <a:t>eXtensible</a:t>
            </a:r>
            <a:r>
              <a:rPr lang="ru-RU" sz="2400" dirty="0" smtClean="0"/>
              <a:t> </a:t>
            </a:r>
            <a:r>
              <a:rPr lang="ru-RU" sz="2400" dirty="0" err="1" smtClean="0"/>
              <a:t>Markup</a:t>
            </a:r>
            <a:r>
              <a:rPr lang="ru-RU" sz="2400" dirty="0" smtClean="0"/>
              <a:t> </a:t>
            </a:r>
            <a:r>
              <a:rPr lang="ru-RU" sz="2400" dirty="0" err="1" smtClean="0"/>
              <a:t>Language</a:t>
            </a:r>
            <a:r>
              <a:rPr lang="ru-RU" sz="2400" dirty="0" smtClean="0"/>
              <a:t>) здесь служит универсальным текстовым форматом, который не зависит от языка программирования и платформы: данные представляются в виде структурированных тегов, понятных и человеку, и машине. В XML‑RPC есть строго определённый набор типов, которые </a:t>
            </a:r>
            <a:r>
              <a:rPr lang="ru-RU" sz="2400" dirty="0" err="1" smtClean="0"/>
              <a:t>маппятся</a:t>
            </a:r>
            <a:r>
              <a:rPr lang="ru-RU" sz="2400" dirty="0" smtClean="0"/>
              <a:t> на </a:t>
            </a:r>
            <a:r>
              <a:rPr lang="ru-RU" sz="2400" dirty="0" err="1" smtClean="0"/>
              <a:t>XML‑элементы</a:t>
            </a:r>
            <a:r>
              <a:rPr lang="ru-RU" sz="2400" dirty="0" smtClean="0"/>
              <a:t>: числа — &lt;</a:t>
            </a:r>
            <a:r>
              <a:rPr lang="ru-RU" sz="2400" dirty="0" err="1" smtClean="0"/>
              <a:t>int</a:t>
            </a:r>
            <a:r>
              <a:rPr lang="ru-RU" sz="2400" dirty="0" smtClean="0"/>
              <a:t>&gt;, строки — &lt;</a:t>
            </a:r>
            <a:r>
              <a:rPr lang="ru-RU" sz="2400" dirty="0" err="1" smtClean="0"/>
              <a:t>string</a:t>
            </a:r>
            <a:r>
              <a:rPr lang="ru-RU" sz="2400" dirty="0" smtClean="0"/>
              <a:t>&gt;, булевы значения — &lt;</a:t>
            </a:r>
            <a:r>
              <a:rPr lang="ru-RU" sz="2400" dirty="0" err="1" smtClean="0"/>
              <a:t>boolean</a:t>
            </a:r>
            <a:r>
              <a:rPr lang="ru-RU" sz="2400" dirty="0" smtClean="0"/>
              <a:t>&gt;, массивы — &lt;</a:t>
            </a:r>
            <a:r>
              <a:rPr lang="ru-RU" sz="2400" dirty="0" err="1" smtClean="0"/>
              <a:t>array</a:t>
            </a:r>
            <a:r>
              <a:rPr lang="ru-RU" sz="2400" dirty="0" smtClean="0"/>
              <a:t>&gt;, структуры — &lt;</a:t>
            </a:r>
            <a:r>
              <a:rPr lang="ru-RU" sz="2400" dirty="0" err="1" smtClean="0"/>
              <a:t>struct</a:t>
            </a:r>
            <a:r>
              <a:rPr lang="ru-RU" sz="2400" dirty="0" smtClean="0"/>
              <a:t>&gt;. Запрос оформляется как &lt;</a:t>
            </a:r>
            <a:r>
              <a:rPr lang="ru-RU" sz="2400" dirty="0" err="1" smtClean="0"/>
              <a:t>methodCall</a:t>
            </a:r>
            <a:r>
              <a:rPr lang="ru-RU" sz="2400" dirty="0" smtClean="0"/>
              <a:t>&gt; с именем метода и параметрами, а ответ — либо как успешный результат в &lt;</a:t>
            </a:r>
            <a:r>
              <a:rPr lang="ru-RU" sz="2400" dirty="0" err="1" smtClean="0"/>
              <a:t>params</a:t>
            </a:r>
            <a:r>
              <a:rPr lang="ru-RU" sz="2400" dirty="0" smtClean="0"/>
              <a:t>&gt;, либо как ошибка в &lt;</a:t>
            </a:r>
            <a:r>
              <a:rPr lang="ru-RU" sz="2400" dirty="0" err="1" smtClean="0"/>
              <a:t>fault</a:t>
            </a:r>
            <a:r>
              <a:rPr lang="ru-RU" sz="2400" dirty="0" smtClean="0"/>
              <a:t>&gt;. Именно эта стандартизация позволяет разным системам надёжно обмениваться данными, даже если они написаны на разных языках.</a:t>
            </a:r>
            <a:endParaRPr lang="ru-RU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751344"/>
            <a:ext cx="9144000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dirty="0" err="1" smtClean="0"/>
              <a:t>Сериализация</a:t>
            </a:r>
            <a:r>
              <a:rPr lang="ru-RU" sz="2400" dirty="0" smtClean="0"/>
              <a:t> — это превращение параметров вызова и результата в </a:t>
            </a:r>
            <a:r>
              <a:rPr lang="ru-RU" sz="2400" dirty="0" err="1" smtClean="0"/>
              <a:t>XML‑представление</a:t>
            </a:r>
            <a:r>
              <a:rPr lang="ru-RU" sz="2400" dirty="0" smtClean="0"/>
              <a:t>, а </a:t>
            </a:r>
            <a:r>
              <a:rPr lang="ru-RU" sz="2400" dirty="0" err="1" smtClean="0"/>
              <a:t>десериализация</a:t>
            </a:r>
            <a:r>
              <a:rPr lang="ru-RU" sz="2400" dirty="0" smtClean="0"/>
              <a:t> — обратный процесс: из </a:t>
            </a:r>
            <a:r>
              <a:rPr lang="ru-RU" sz="2400" dirty="0" err="1" smtClean="0"/>
              <a:t>XML‑документа</a:t>
            </a:r>
            <a:r>
              <a:rPr lang="ru-RU" sz="2400" dirty="0" smtClean="0"/>
              <a:t> восстанавливаются типы и значения, понятные программе. В цепочке XML‑RPC это происходит дважды: клиент </a:t>
            </a:r>
            <a:r>
              <a:rPr lang="ru-RU" sz="2400" dirty="0" err="1" smtClean="0"/>
              <a:t>сериализует</a:t>
            </a:r>
            <a:r>
              <a:rPr lang="ru-RU" sz="2400" dirty="0" smtClean="0"/>
              <a:t> параметры и отправляет </a:t>
            </a:r>
            <a:r>
              <a:rPr lang="ru-RU" sz="2400" dirty="0" err="1" smtClean="0"/>
              <a:t>HTTP‑запрос</a:t>
            </a:r>
            <a:r>
              <a:rPr lang="ru-RU" sz="2400" dirty="0" smtClean="0"/>
              <a:t>, сервер </a:t>
            </a:r>
            <a:r>
              <a:rPr lang="ru-RU" sz="2400" dirty="0" err="1" smtClean="0"/>
              <a:t>десериализует</a:t>
            </a:r>
            <a:r>
              <a:rPr lang="ru-RU" sz="2400" dirty="0" smtClean="0"/>
              <a:t>, выполняет функцию, </a:t>
            </a:r>
            <a:r>
              <a:rPr lang="ru-RU" sz="2400" dirty="0" err="1" smtClean="0"/>
              <a:t>сериализует</a:t>
            </a:r>
            <a:r>
              <a:rPr lang="ru-RU" sz="2400" dirty="0" smtClean="0"/>
              <a:t> результат и возвращает ответ, который клиент снова </a:t>
            </a:r>
            <a:r>
              <a:rPr lang="ru-RU" sz="2400" dirty="0" err="1" smtClean="0"/>
              <a:t>десериализует</a:t>
            </a:r>
            <a:r>
              <a:rPr lang="ru-RU" sz="2400" dirty="0" smtClean="0"/>
              <a:t>. При этом возможны два основных типа ошибок: </a:t>
            </a:r>
            <a:r>
              <a:rPr lang="ru-RU" sz="2400" dirty="0" err="1" smtClean="0"/>
              <a:t>Fault</a:t>
            </a:r>
            <a:r>
              <a:rPr lang="ru-RU" sz="2400" dirty="0" smtClean="0"/>
              <a:t> (серверная ошибка, например, неверный формат IP или маски) и </a:t>
            </a:r>
            <a:r>
              <a:rPr lang="ru-RU" sz="2400" dirty="0" err="1" smtClean="0"/>
              <a:t>ProtocolError</a:t>
            </a:r>
            <a:r>
              <a:rPr lang="ru-RU" sz="2400" dirty="0" smtClean="0"/>
              <a:t> (транспортная ошибка, например, сервер недоступен). На диаграмме последовательности эти случаи отражают в блоках </a:t>
            </a:r>
            <a:r>
              <a:rPr lang="ru-RU" sz="2400" dirty="0" err="1" smtClean="0"/>
              <a:t>alt</a:t>
            </a:r>
            <a:r>
              <a:rPr lang="ru-RU" sz="2400" dirty="0" smtClean="0"/>
              <a:t>: одна ветка — успешный сценарий, другая — обработка ошибки, что делает систему предсказуемой и устойчивой к сбоям.</a:t>
            </a:r>
            <a:endParaRPr lang="ru-RU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1" y="1214422"/>
            <a:ext cx="91440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 smtClean="0"/>
              <a:t>xmlrpc.client</a:t>
            </a:r>
            <a:r>
              <a:rPr lang="en-US" sz="2400" dirty="0" smtClean="0"/>
              <a:t> — XML-RPC client access</a:t>
            </a:r>
          </a:p>
          <a:p>
            <a:r>
              <a:rPr lang="en-US" sz="2400" dirty="0" smtClean="0">
                <a:hlinkClick r:id="rId2"/>
              </a:rPr>
              <a:t>https://docs.python.org/3/library/xmlrpc.client.html#module-xmlrpc.client</a:t>
            </a:r>
            <a:endParaRPr lang="ru-RU" sz="2400" dirty="0" smtClean="0"/>
          </a:p>
          <a:p>
            <a:endParaRPr lang="en-US" sz="2400" dirty="0" smtClean="0"/>
          </a:p>
          <a:p>
            <a:endParaRPr lang="en-US" sz="2400" dirty="0"/>
          </a:p>
        </p:txBody>
      </p:sp>
      <p:sp>
        <p:nvSpPr>
          <p:cNvPr id="10" name="Заголовок 1"/>
          <p:cNvSpPr>
            <a:spLocks noGrp="1"/>
          </p:cNvSpPr>
          <p:nvPr>
            <p:ph type="title"/>
          </p:nvPr>
        </p:nvSpPr>
        <p:spPr>
          <a:xfrm>
            <a:off x="928662" y="-357214"/>
            <a:ext cx="7772400" cy="1143000"/>
          </a:xfrm>
        </p:spPr>
        <p:txBody>
          <a:bodyPr/>
          <a:lstStyle/>
          <a:p>
            <a:pPr algn="ctr"/>
            <a:r>
              <a:rPr lang="ru-RU" dirty="0" smtClean="0"/>
              <a:t>Дополнительные ссылки</a:t>
            </a:r>
            <a:endParaRPr lang="ru-RU" dirty="0"/>
          </a:p>
        </p:txBody>
      </p:sp>
      <p:sp>
        <p:nvSpPr>
          <p:cNvPr id="4" name="TextBox 3"/>
          <p:cNvSpPr txBox="1"/>
          <p:nvPr/>
        </p:nvSpPr>
        <p:spPr>
          <a:xfrm>
            <a:off x="214282" y="2428868"/>
            <a:ext cx="4389120" cy="23801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00D4AA"/>
                </a:solidFill>
                <a:latin typeface="Consolas"/>
              </a:defRPr>
            </a:pPr>
            <a:r>
              <a:rPr>
                <a:solidFill>
                  <a:srgbClr val="FF0000"/>
                </a:solidFill>
              </a:rPr>
              <a:t>&lt;?xml version="1.0"?&gt;</a:t>
            </a:r>
          </a:p>
          <a:p>
            <a:pPr>
              <a:spcAft>
                <a:spcPts val="200"/>
              </a:spcAft>
              <a:defRPr sz="1100">
                <a:solidFill>
                  <a:srgbClr val="00D4AA"/>
                </a:solidFill>
                <a:latin typeface="Consolas"/>
              </a:defRPr>
            </a:pPr>
            <a:r>
              <a:rPr>
                <a:solidFill>
                  <a:srgbClr val="FF0000"/>
                </a:solidFill>
              </a:rPr>
              <a:t>&lt;methodCall&gt;</a:t>
            </a:r>
          </a:p>
          <a:p>
            <a:pPr lvl="1">
              <a:spcAft>
                <a:spcPts val="200"/>
              </a:spcAft>
              <a:defRPr sz="1100">
                <a:solidFill>
                  <a:srgbClr val="00D4AA"/>
                </a:solidFill>
                <a:latin typeface="Consolas"/>
              </a:defRPr>
            </a:pPr>
            <a:r>
              <a:rPr>
                <a:solidFill>
                  <a:srgbClr val="FF0000"/>
                </a:solidFill>
              </a:rPr>
              <a:t>&lt;methodName&gt;get_broadcast&lt;/methodName&gt;</a:t>
            </a:r>
          </a:p>
          <a:p>
            <a:pPr lvl="1">
              <a:spcAft>
                <a:spcPts val="200"/>
              </a:spcAft>
              <a:defRPr sz="1100">
                <a:solidFill>
                  <a:srgbClr val="00D4AA"/>
                </a:solidFill>
                <a:latin typeface="Consolas"/>
              </a:defRPr>
            </a:pPr>
            <a:r>
              <a:rPr>
                <a:solidFill>
                  <a:srgbClr val="FF0000"/>
                </a:solidFill>
              </a:rPr>
              <a:t>&lt;params&gt;</a:t>
            </a:r>
          </a:p>
          <a:p>
            <a:pPr lvl="2">
              <a:spcAft>
                <a:spcPts val="200"/>
              </a:spcAft>
              <a:defRPr sz="1100">
                <a:solidFill>
                  <a:srgbClr val="00D4AA"/>
                </a:solidFill>
                <a:latin typeface="Consolas"/>
              </a:defRPr>
            </a:pPr>
            <a:r>
              <a:rPr>
                <a:solidFill>
                  <a:srgbClr val="FF0000"/>
                </a:solidFill>
              </a:rPr>
              <a:t>&lt;param&gt;</a:t>
            </a:r>
          </a:p>
          <a:p>
            <a:pPr lvl="3">
              <a:spcAft>
                <a:spcPts val="200"/>
              </a:spcAft>
              <a:defRPr sz="1100">
                <a:solidFill>
                  <a:srgbClr val="00D4AA"/>
                </a:solidFill>
                <a:latin typeface="Consolas"/>
              </a:defRPr>
            </a:pPr>
            <a:r>
              <a:rPr>
                <a:solidFill>
                  <a:srgbClr val="FF0000"/>
                </a:solidFill>
              </a:rPr>
              <a:t>&lt;value&gt;&lt;string&gt;192.168.1.10&lt;/string&gt;&lt;/value&gt;</a:t>
            </a:r>
          </a:p>
          <a:p>
            <a:pPr lvl="3">
              <a:spcAft>
                <a:spcPts val="200"/>
              </a:spcAft>
              <a:defRPr sz="1100">
                <a:solidFill>
                  <a:srgbClr val="00D4AA"/>
                </a:solidFill>
                <a:latin typeface="Consolas"/>
              </a:defRPr>
            </a:pPr>
            <a:r>
              <a:rPr>
                <a:solidFill>
                  <a:srgbClr val="FF0000"/>
                </a:solidFill>
              </a:rPr>
              <a:t>&lt;value&gt;&lt;int&gt;24&lt;/int&gt;&lt;/value&gt;</a:t>
            </a:r>
          </a:p>
          <a:p>
            <a:pPr lvl="2">
              <a:spcAft>
                <a:spcPts val="200"/>
              </a:spcAft>
              <a:defRPr sz="1100">
                <a:solidFill>
                  <a:srgbClr val="00D4AA"/>
                </a:solidFill>
                <a:latin typeface="Consolas"/>
              </a:defRPr>
            </a:pPr>
            <a:r>
              <a:rPr>
                <a:solidFill>
                  <a:srgbClr val="FF0000"/>
                </a:solidFill>
              </a:rPr>
              <a:t>&lt;/param&gt;</a:t>
            </a:r>
          </a:p>
          <a:p>
            <a:pPr lvl="1">
              <a:spcAft>
                <a:spcPts val="200"/>
              </a:spcAft>
              <a:defRPr sz="1100">
                <a:solidFill>
                  <a:srgbClr val="00D4AA"/>
                </a:solidFill>
                <a:latin typeface="Consolas"/>
              </a:defRPr>
            </a:pPr>
            <a:r>
              <a:rPr>
                <a:solidFill>
                  <a:srgbClr val="FF0000"/>
                </a:solidFill>
              </a:rPr>
              <a:t>&lt;/params&gt;</a:t>
            </a:r>
          </a:p>
          <a:p>
            <a:pPr>
              <a:spcAft>
                <a:spcPts val="200"/>
              </a:spcAft>
              <a:defRPr sz="1100">
                <a:solidFill>
                  <a:srgbClr val="00D4AA"/>
                </a:solidFill>
                <a:latin typeface="Consolas"/>
              </a:defRPr>
            </a:pPr>
            <a:r>
              <a:rPr>
                <a:solidFill>
                  <a:srgbClr val="FF0000"/>
                </a:solidFill>
              </a:rPr>
              <a:t>&lt;/methodCall&gt;</a:t>
            </a:r>
          </a:p>
          <a:p>
            <a:pPr>
              <a:defRPr sz="1100" i="1">
                <a:solidFill>
                  <a:srgbClr val="C8C8E0"/>
                </a:solidFill>
                <a:latin typeface="Segoe UI"/>
              </a:defRPr>
            </a:pPr>
            <a:r>
              <a:rPr>
                <a:solidFill>
                  <a:srgbClr val="FF0000"/>
                </a:solidFill>
              </a:rPr>
              <a:t>Пример XML-RPC запроса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2000240"/>
            <a:ext cx="4206240" cy="3134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00D4AA"/>
                </a:solidFill>
                <a:latin typeface="Consolas"/>
              </a:defRPr>
            </a:pPr>
            <a:r>
              <a:rPr>
                <a:solidFill>
                  <a:srgbClr val="FF0000"/>
                </a:solidFill>
              </a:rPr>
              <a:t>&lt;methodResponse&gt;</a:t>
            </a:r>
          </a:p>
          <a:p>
            <a:pPr lvl="1">
              <a:spcAft>
                <a:spcPts val="200"/>
              </a:spcAft>
              <a:defRPr sz="1100">
                <a:solidFill>
                  <a:srgbClr val="00D4AA"/>
                </a:solidFill>
                <a:latin typeface="Consolas"/>
              </a:defRPr>
            </a:pPr>
            <a:r>
              <a:rPr>
                <a:solidFill>
                  <a:srgbClr val="FF0000"/>
                </a:solidFill>
              </a:rPr>
              <a:t>&lt;params&gt;</a:t>
            </a:r>
          </a:p>
          <a:p>
            <a:pPr lvl="2">
              <a:spcAft>
                <a:spcPts val="200"/>
              </a:spcAft>
              <a:defRPr sz="1100">
                <a:solidFill>
                  <a:srgbClr val="00D4AA"/>
                </a:solidFill>
                <a:latin typeface="Consolas"/>
              </a:defRPr>
            </a:pPr>
            <a:r>
              <a:rPr>
                <a:solidFill>
                  <a:srgbClr val="FF0000"/>
                </a:solidFill>
              </a:rPr>
              <a:t>&lt;param&gt;</a:t>
            </a:r>
          </a:p>
          <a:p>
            <a:pPr lvl="3">
              <a:spcAft>
                <a:spcPts val="200"/>
              </a:spcAft>
              <a:defRPr sz="1100">
                <a:solidFill>
                  <a:srgbClr val="00D4AA"/>
                </a:solidFill>
                <a:latin typeface="Consolas"/>
              </a:defRPr>
            </a:pPr>
            <a:r>
              <a:rPr>
                <a:solidFill>
                  <a:srgbClr val="FF0000"/>
                </a:solidFill>
              </a:rPr>
              <a:t>&lt;value&gt;</a:t>
            </a:r>
          </a:p>
          <a:p>
            <a:pPr lvl="4">
              <a:spcAft>
                <a:spcPts val="200"/>
              </a:spcAft>
              <a:defRPr sz="1100">
                <a:solidFill>
                  <a:srgbClr val="00D4AA"/>
                </a:solidFill>
                <a:latin typeface="Consolas"/>
              </a:defRPr>
            </a:pPr>
            <a:r>
              <a:rPr>
                <a:solidFill>
                  <a:srgbClr val="FF0000"/>
                </a:solidFill>
              </a:rPr>
              <a:t>&lt;array&gt;&lt;data&gt;</a:t>
            </a:r>
          </a:p>
          <a:p>
            <a:pPr lvl="5">
              <a:spcAft>
                <a:spcPts val="200"/>
              </a:spcAft>
              <a:defRPr sz="1100">
                <a:solidFill>
                  <a:srgbClr val="00D4AA"/>
                </a:solidFill>
                <a:latin typeface="Consolas"/>
              </a:defRPr>
            </a:pPr>
            <a:r>
              <a:rPr>
                <a:solidFill>
                  <a:srgbClr val="FF0000"/>
                </a:solidFill>
              </a:rPr>
              <a:t>&lt;value&gt;&lt;string&gt;192.168.1.1&lt;/string&gt;</a:t>
            </a:r>
          </a:p>
          <a:p>
            <a:pPr lvl="5">
              <a:spcAft>
                <a:spcPts val="200"/>
              </a:spcAft>
              <a:defRPr sz="1100">
                <a:solidFill>
                  <a:srgbClr val="00D4AA"/>
                </a:solidFill>
                <a:latin typeface="Consolas"/>
              </a:defRPr>
            </a:pPr>
            <a:r>
              <a:rPr>
                <a:solidFill>
                  <a:srgbClr val="FF0000"/>
                </a:solidFill>
              </a:rPr>
              <a:t>&lt;value&gt;&lt;string&gt;192.168.1.2&lt;/string&gt;</a:t>
            </a:r>
          </a:p>
          <a:p>
            <a:pPr lvl="5">
              <a:spcAft>
                <a:spcPts val="200"/>
              </a:spcAft>
              <a:defRPr sz="1100">
                <a:solidFill>
                  <a:srgbClr val="00D4AA"/>
                </a:solidFill>
                <a:latin typeface="Consolas"/>
              </a:defRPr>
            </a:pPr>
            <a:r>
              <a:rPr>
                <a:solidFill>
                  <a:srgbClr val="FF0000"/>
                </a:solidFill>
              </a:rPr>
              <a:t>  ...  </a:t>
            </a:r>
          </a:p>
          <a:p>
            <a:pPr lvl="4">
              <a:spcAft>
                <a:spcPts val="200"/>
              </a:spcAft>
              <a:defRPr sz="1100">
                <a:solidFill>
                  <a:srgbClr val="00D4AA"/>
                </a:solidFill>
                <a:latin typeface="Consolas"/>
              </a:defRPr>
            </a:pPr>
            <a:r>
              <a:rPr>
                <a:solidFill>
                  <a:srgbClr val="FF0000"/>
                </a:solidFill>
              </a:rPr>
              <a:t>&lt;/data&gt;&lt;/array&gt;</a:t>
            </a:r>
          </a:p>
          <a:p>
            <a:pPr lvl="3">
              <a:spcAft>
                <a:spcPts val="200"/>
              </a:spcAft>
              <a:defRPr sz="1100">
                <a:solidFill>
                  <a:srgbClr val="00D4AA"/>
                </a:solidFill>
                <a:latin typeface="Consolas"/>
              </a:defRPr>
            </a:pPr>
            <a:r>
              <a:rPr>
                <a:solidFill>
                  <a:srgbClr val="FF0000"/>
                </a:solidFill>
              </a:rPr>
              <a:t>&lt;/value&gt;</a:t>
            </a:r>
          </a:p>
          <a:p>
            <a:pPr lvl="2">
              <a:spcAft>
                <a:spcPts val="200"/>
              </a:spcAft>
              <a:defRPr sz="1100">
                <a:solidFill>
                  <a:srgbClr val="00D4AA"/>
                </a:solidFill>
                <a:latin typeface="Consolas"/>
              </a:defRPr>
            </a:pPr>
            <a:r>
              <a:rPr>
                <a:solidFill>
                  <a:srgbClr val="FF0000"/>
                </a:solidFill>
              </a:rPr>
              <a:t>&lt;/param&gt;</a:t>
            </a:r>
          </a:p>
          <a:p>
            <a:pPr lvl="1">
              <a:spcAft>
                <a:spcPts val="200"/>
              </a:spcAft>
              <a:defRPr sz="1100">
                <a:solidFill>
                  <a:srgbClr val="00D4AA"/>
                </a:solidFill>
                <a:latin typeface="Consolas"/>
              </a:defRPr>
            </a:pPr>
            <a:r>
              <a:rPr>
                <a:solidFill>
                  <a:srgbClr val="FF0000"/>
                </a:solidFill>
              </a:rPr>
              <a:t>&lt;/params&gt;</a:t>
            </a:r>
          </a:p>
          <a:p>
            <a:pPr>
              <a:spcAft>
                <a:spcPts val="200"/>
              </a:spcAft>
              <a:defRPr sz="1100">
                <a:solidFill>
                  <a:srgbClr val="00D4AA"/>
                </a:solidFill>
                <a:latin typeface="Consolas"/>
              </a:defRPr>
            </a:pPr>
            <a:r>
              <a:rPr>
                <a:solidFill>
                  <a:srgbClr val="FF0000"/>
                </a:solidFill>
              </a:rPr>
              <a:t>&lt;/methodResponse&gt;</a:t>
            </a:r>
          </a:p>
          <a:p>
            <a:pPr>
              <a:defRPr sz="1100" i="1">
                <a:solidFill>
                  <a:srgbClr val="C8C8E0"/>
                </a:solidFill>
                <a:latin typeface="Segoe UI"/>
              </a:defRPr>
            </a:pPr>
            <a:r>
              <a:rPr>
                <a:solidFill>
                  <a:srgbClr val="FF0000"/>
                </a:solidFill>
              </a:rPr>
              <a:t>Пример XML-RPC ответа (массив хостов)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28662" y="-357214"/>
            <a:ext cx="7772400" cy="1143000"/>
          </a:xfrm>
        </p:spPr>
        <p:txBody>
          <a:bodyPr/>
          <a:lstStyle/>
          <a:p>
            <a:pPr algn="ctr"/>
            <a:r>
              <a:rPr lang="en-US" dirty="0" smtClean="0"/>
              <a:t>XML-RPC</a:t>
            </a:r>
            <a:endParaRPr lang="ru-RU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14282" y="1071546"/>
            <a:ext cx="5492231" cy="23574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785918" y="4714884"/>
            <a:ext cx="7079586" cy="14478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7" name="Соединительная линия уступом 6"/>
          <p:cNvCxnSpPr>
            <a:stCxn id="1026" idx="2"/>
            <a:endCxn id="5" idx="0"/>
          </p:cNvCxnSpPr>
          <p:nvPr/>
        </p:nvCxnSpPr>
        <p:spPr>
          <a:xfrm rot="16200000" flipH="1">
            <a:off x="3500112" y="2889285"/>
            <a:ext cx="1285884" cy="236531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 стрелкой 8"/>
          <p:cNvCxnSpPr>
            <a:stCxn id="11" idx="1"/>
          </p:cNvCxnSpPr>
          <p:nvPr/>
        </p:nvCxnSpPr>
        <p:spPr>
          <a:xfrm rot="10800000" flipV="1">
            <a:off x="4214810" y="2020146"/>
            <a:ext cx="1571636" cy="33728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Прямоугольник 10"/>
          <p:cNvSpPr/>
          <p:nvPr/>
        </p:nvSpPr>
        <p:spPr>
          <a:xfrm>
            <a:off x="5786446" y="1142984"/>
            <a:ext cx="3214710" cy="1754326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just"/>
            <a:r>
              <a:rPr lang="ru-RU" dirty="0" smtClean="0"/>
              <a:t>Вместо </a:t>
            </a:r>
            <a:r>
              <a:rPr lang="en-US" dirty="0" err="1" smtClean="0"/>
              <a:t>localhost</a:t>
            </a:r>
            <a:r>
              <a:rPr lang="en-US" dirty="0" smtClean="0"/>
              <a:t> </a:t>
            </a:r>
            <a:r>
              <a:rPr lang="ru-RU" dirty="0" smtClean="0"/>
              <a:t>можно вставить </a:t>
            </a:r>
            <a:r>
              <a:rPr lang="en-US" dirty="0" err="1" smtClean="0"/>
              <a:t>ip</a:t>
            </a:r>
            <a:r>
              <a:rPr lang="en-US" dirty="0" smtClean="0"/>
              <a:t>-</a:t>
            </a:r>
            <a:r>
              <a:rPr lang="ru-RU" dirty="0" smtClean="0"/>
              <a:t>адрес любого удаленного устройства, к которому есть доступ и которое может выступать в качестве сервера</a:t>
            </a:r>
            <a:endParaRPr lang="ru-RU" dirty="0"/>
          </a:p>
        </p:txBody>
      </p:sp>
      <p:cxnSp>
        <p:nvCxnSpPr>
          <p:cNvPr id="13" name="Прямая со стрелкой 12"/>
          <p:cNvCxnSpPr>
            <a:stCxn id="11" idx="2"/>
          </p:cNvCxnSpPr>
          <p:nvPr/>
        </p:nvCxnSpPr>
        <p:spPr>
          <a:xfrm rot="5400000">
            <a:off x="5717056" y="3609643"/>
            <a:ext cx="2389078" cy="96441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751344"/>
            <a:ext cx="914400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/>
              <a:t>JSON-RPC 2.0 — это протокол удалённого вызова процедур, использующий JSON в качестве формата обмена данными вместо XML. В отличие от XML-RPC, он компактнее, быстрее </a:t>
            </a:r>
            <a:r>
              <a:rPr lang="ru-RU" sz="2400" dirty="0" err="1" smtClean="0"/>
              <a:t>парсится</a:t>
            </a:r>
            <a:r>
              <a:rPr lang="ru-RU" sz="2400" dirty="0" smtClean="0"/>
              <a:t> и органичнее ложится на современные </a:t>
            </a:r>
            <a:r>
              <a:rPr lang="ru-RU" sz="2400" dirty="0" err="1" smtClean="0"/>
              <a:t>веб-стеки</a:t>
            </a:r>
            <a:r>
              <a:rPr lang="ru-RU" sz="2400" dirty="0" smtClean="0"/>
              <a:t>. Спецификация строго определяет структуру запроса и ответа через несколько ключевых полей: </a:t>
            </a:r>
            <a:r>
              <a:rPr lang="ru-RU" sz="2400" dirty="0" err="1" smtClean="0"/>
              <a:t>jsonrpc</a:t>
            </a:r>
            <a:r>
              <a:rPr lang="ru-RU" sz="2400" dirty="0" smtClean="0"/>
              <a:t> — версия протокола (всегда "2.0"), </a:t>
            </a:r>
            <a:r>
              <a:rPr lang="ru-RU" sz="2400" dirty="0" err="1" smtClean="0"/>
              <a:t>method</a:t>
            </a:r>
            <a:r>
              <a:rPr lang="ru-RU" sz="2400" dirty="0" smtClean="0"/>
              <a:t> — имя вызываемого метода, </a:t>
            </a:r>
            <a:r>
              <a:rPr lang="ru-RU" sz="2400" dirty="0" err="1" smtClean="0"/>
              <a:t>params</a:t>
            </a:r>
            <a:r>
              <a:rPr lang="ru-RU" sz="2400" dirty="0" smtClean="0"/>
              <a:t> — параметры (могут быть массивом или объектом), </a:t>
            </a:r>
            <a:r>
              <a:rPr lang="ru-RU" sz="2400" dirty="0" err="1" smtClean="0"/>
              <a:t>id</a:t>
            </a:r>
            <a:r>
              <a:rPr lang="ru-RU" sz="2400" dirty="0" smtClean="0"/>
              <a:t> — уникальный идентификатор запроса для сопоставления ответа с запросом. Ответ содержит </a:t>
            </a:r>
            <a:r>
              <a:rPr lang="ru-RU" sz="2400" dirty="0" err="1" smtClean="0"/>
              <a:t>result</a:t>
            </a:r>
            <a:r>
              <a:rPr lang="ru-RU" sz="2400" dirty="0" smtClean="0"/>
              <a:t> при успехе либо </a:t>
            </a:r>
            <a:r>
              <a:rPr lang="ru-RU" sz="2400" dirty="0" err="1" smtClean="0"/>
              <a:t>error</a:t>
            </a:r>
            <a:r>
              <a:rPr lang="ru-RU" sz="2400" dirty="0" smtClean="0"/>
              <a:t> при неудаче (с кодом и сообщением), а также тот же </a:t>
            </a:r>
            <a:r>
              <a:rPr lang="ru-RU" sz="2400" dirty="0" err="1" smtClean="0"/>
              <a:t>id</a:t>
            </a:r>
            <a:r>
              <a:rPr lang="ru-RU" sz="2400" dirty="0" smtClean="0"/>
              <a:t>, что и в запросе. Если </a:t>
            </a:r>
            <a:r>
              <a:rPr lang="ru-RU" sz="2400" dirty="0" err="1" smtClean="0"/>
              <a:t>id</a:t>
            </a:r>
            <a:r>
              <a:rPr lang="ru-RU" sz="2400" dirty="0" smtClean="0"/>
              <a:t> отсутствует — это уведомление (</a:t>
            </a:r>
            <a:r>
              <a:rPr lang="ru-RU" sz="2400" dirty="0" err="1" smtClean="0"/>
              <a:t>notification</a:t>
            </a:r>
            <a:r>
              <a:rPr lang="ru-RU" sz="2400" dirty="0" smtClean="0"/>
              <a:t>), на которое сервер не отвечает. Запросы можно отправлять пакетом (</a:t>
            </a:r>
            <a:r>
              <a:rPr lang="ru-RU" sz="2400" dirty="0" err="1" smtClean="0"/>
              <a:t>batch</a:t>
            </a:r>
            <a:r>
              <a:rPr lang="ru-RU" sz="2400" dirty="0" smtClean="0"/>
              <a:t>) — массивом в одном HTTP-вызове, что снижает накладные расходы на транспорт.</a:t>
            </a:r>
            <a:endParaRPr lang="ru-RU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751344"/>
            <a:ext cx="9144000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200" dirty="0" err="1" smtClean="0"/>
              <a:t>Flask</a:t>
            </a:r>
            <a:r>
              <a:rPr lang="ru-RU" sz="2200" dirty="0" smtClean="0"/>
              <a:t> подходит для реализации JSON-RPC-сервера благодаря лёгкости маршрутизации и встроенной поддержке JSON: достаточно создать один </a:t>
            </a:r>
            <a:r>
              <a:rPr lang="ru-RU" sz="2200" dirty="0" err="1" smtClean="0"/>
              <a:t>POST-эндпоинт</a:t>
            </a:r>
            <a:r>
              <a:rPr lang="ru-RU" sz="2200" dirty="0" smtClean="0"/>
              <a:t>, который принимает тело запроса, разбирает JSON, определяет метод по полю </a:t>
            </a:r>
            <a:r>
              <a:rPr lang="ru-RU" sz="2200" dirty="0" err="1" smtClean="0"/>
              <a:t>method</a:t>
            </a:r>
            <a:r>
              <a:rPr lang="ru-RU" sz="2200" dirty="0" smtClean="0"/>
              <a:t> и вызывает соответствующую функцию. Важно, что сервер возвращает строго структурированный ответ: при успехе — {"</a:t>
            </a:r>
            <a:r>
              <a:rPr lang="ru-RU" sz="2200" dirty="0" err="1" smtClean="0"/>
              <a:t>jsonrpc</a:t>
            </a:r>
            <a:r>
              <a:rPr lang="ru-RU" sz="2200" dirty="0" smtClean="0"/>
              <a:t>":"2.0","</a:t>
            </a:r>
            <a:r>
              <a:rPr lang="ru-RU" sz="2200" dirty="0" err="1" smtClean="0"/>
              <a:t>result</a:t>
            </a:r>
            <a:r>
              <a:rPr lang="ru-RU" sz="2200" dirty="0" smtClean="0"/>
              <a:t>":&lt;значение&gt;,"</a:t>
            </a:r>
            <a:r>
              <a:rPr lang="ru-RU" sz="2200" dirty="0" err="1" smtClean="0"/>
              <a:t>id</a:t>
            </a:r>
            <a:r>
              <a:rPr lang="ru-RU" sz="2200" dirty="0" smtClean="0"/>
              <a:t>":&lt;</a:t>
            </a:r>
            <a:r>
              <a:rPr lang="ru-RU" sz="2200" dirty="0" err="1" smtClean="0"/>
              <a:t>id</a:t>
            </a:r>
            <a:r>
              <a:rPr lang="ru-RU" sz="2200" dirty="0" smtClean="0"/>
              <a:t>&gt;}, при ошибке — {"</a:t>
            </a:r>
            <a:r>
              <a:rPr lang="ru-RU" sz="2200" dirty="0" err="1" smtClean="0"/>
              <a:t>jsonrpc</a:t>
            </a:r>
            <a:r>
              <a:rPr lang="ru-RU" sz="2200" dirty="0" smtClean="0"/>
              <a:t>":"2.0","</a:t>
            </a:r>
            <a:r>
              <a:rPr lang="ru-RU" sz="2200" dirty="0" err="1" smtClean="0"/>
              <a:t>error</a:t>
            </a:r>
            <a:r>
              <a:rPr lang="ru-RU" sz="2200" dirty="0" smtClean="0"/>
              <a:t>":{"</a:t>
            </a:r>
            <a:r>
              <a:rPr lang="ru-RU" sz="2200" dirty="0" err="1" smtClean="0"/>
              <a:t>code</a:t>
            </a:r>
            <a:r>
              <a:rPr lang="ru-RU" sz="2200" dirty="0" smtClean="0"/>
              <a:t>":&lt;код&gt;,"</a:t>
            </a:r>
            <a:r>
              <a:rPr lang="ru-RU" sz="2200" dirty="0" err="1" smtClean="0"/>
              <a:t>message</a:t>
            </a:r>
            <a:r>
              <a:rPr lang="ru-RU" sz="2200" dirty="0" smtClean="0"/>
              <a:t>":&lt;сообщение&gt;},"</a:t>
            </a:r>
            <a:r>
              <a:rPr lang="ru-RU" sz="2200" dirty="0" err="1" smtClean="0"/>
              <a:t>id</a:t>
            </a:r>
            <a:r>
              <a:rPr lang="ru-RU" sz="2200" dirty="0" smtClean="0"/>
              <a:t>":&lt;</a:t>
            </a:r>
            <a:r>
              <a:rPr lang="ru-RU" sz="2200" dirty="0" err="1" smtClean="0"/>
              <a:t>id</a:t>
            </a:r>
            <a:r>
              <a:rPr lang="ru-RU" sz="2200" dirty="0" smtClean="0"/>
              <a:t>&gt;}. Спецификация определяет стандартные коды ошибок: -32700 (ошибка </a:t>
            </a:r>
            <a:r>
              <a:rPr lang="ru-RU" sz="2200" dirty="0" err="1" smtClean="0"/>
              <a:t>парсинга</a:t>
            </a:r>
            <a:r>
              <a:rPr lang="ru-RU" sz="2200" dirty="0" smtClean="0"/>
              <a:t> JSON), -32600 (</a:t>
            </a:r>
            <a:r>
              <a:rPr lang="ru-RU" sz="2200" dirty="0" err="1" smtClean="0"/>
              <a:t>невалидный</a:t>
            </a:r>
            <a:r>
              <a:rPr lang="ru-RU" sz="2200" dirty="0" smtClean="0"/>
              <a:t> запрос), -32601 (метод не найден), -32602 (неверные параметры), -32603 (внутренняя ошибка). Клиент на </a:t>
            </a:r>
            <a:r>
              <a:rPr lang="ru-RU" sz="2200" dirty="0" err="1" smtClean="0"/>
              <a:t>Python</a:t>
            </a:r>
            <a:r>
              <a:rPr lang="ru-RU" sz="2200" dirty="0" smtClean="0"/>
              <a:t> формирует запросы через </a:t>
            </a:r>
            <a:r>
              <a:rPr lang="ru-RU" sz="2200" dirty="0" err="1" smtClean="0"/>
              <a:t>requests</a:t>
            </a:r>
            <a:r>
              <a:rPr lang="ru-RU" sz="2200" dirty="0" smtClean="0"/>
              <a:t> или </a:t>
            </a:r>
            <a:r>
              <a:rPr lang="ru-RU" sz="2200" dirty="0" err="1" smtClean="0"/>
              <a:t>http.client</a:t>
            </a:r>
            <a:r>
              <a:rPr lang="ru-RU" sz="2200" dirty="0" smtClean="0"/>
              <a:t>, отправляет их на </a:t>
            </a:r>
            <a:r>
              <a:rPr lang="ru-RU" sz="2200" dirty="0" err="1" smtClean="0"/>
              <a:t>эндпоинт</a:t>
            </a:r>
            <a:r>
              <a:rPr lang="ru-RU" sz="2200" dirty="0" smtClean="0"/>
              <a:t> сервера, проверяет наличие </a:t>
            </a:r>
            <a:r>
              <a:rPr lang="ru-RU" sz="2200" dirty="0" err="1" smtClean="0"/>
              <a:t>result</a:t>
            </a:r>
            <a:r>
              <a:rPr lang="ru-RU" sz="2200" dirty="0" smtClean="0"/>
              <a:t> или </a:t>
            </a:r>
            <a:r>
              <a:rPr lang="ru-RU" sz="2200" dirty="0" err="1" smtClean="0"/>
              <a:t>error</a:t>
            </a:r>
            <a:r>
              <a:rPr lang="ru-RU" sz="2200" dirty="0" smtClean="0"/>
              <a:t> в ответе и выводит результаты в таблицу, что наглядно демонстрирует корректность обработки как успешных, так и ошибочных сценариев.</a:t>
            </a:r>
            <a:endParaRPr lang="ru-RU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751344"/>
            <a:ext cx="9144000" cy="58477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200" dirty="0" smtClean="0"/>
              <a:t>JSON-RPC и REST решают похожие задачи, но с разными акцентами: REST ориентирован на ресурсы (CRUD-операции через HTTP-глаголы, где URL определяет сущность, а метод — действие), тогда как JSON-RPC ориентирован на действия (вызов удалённой процедуры с параметрами, аналогично локальной функции). REST использует семантику HTTP (статусы 200, 404, 500), а JSON-RPC унифицирует ошибки внутри тела ответа через поле </a:t>
            </a:r>
            <a:r>
              <a:rPr lang="ru-RU" sz="2200" dirty="0" err="1" smtClean="0"/>
              <a:t>error</a:t>
            </a:r>
            <a:r>
              <a:rPr lang="ru-RU" sz="2200" dirty="0" smtClean="0"/>
              <a:t>, не полагаясь на HTTP-коды. С точки зрения </a:t>
            </a:r>
            <a:r>
              <a:rPr lang="ru-RU" sz="2200" dirty="0" err="1" smtClean="0"/>
              <a:t>распределённости</a:t>
            </a:r>
            <a:r>
              <a:rPr lang="ru-RU" sz="2200" dirty="0" smtClean="0"/>
              <a:t>: каждый RPC-вызов — это обращение к удалённому процессу, что делает </a:t>
            </a:r>
            <a:r>
              <a:rPr lang="ru-RU" sz="2200" dirty="0" err="1" smtClean="0"/>
              <a:t>распределённость</a:t>
            </a:r>
            <a:r>
              <a:rPr lang="ru-RU" sz="2200" dirty="0" smtClean="0"/>
              <a:t> явной — клиент не знает, где физически выполняется функция. Масштабировать JSON-RPC-сервис можно горизонтально (запуск нескольких </a:t>
            </a:r>
            <a:r>
              <a:rPr lang="ru-RU" sz="2200" dirty="0" err="1" smtClean="0"/>
              <a:t>инстансов</a:t>
            </a:r>
            <a:r>
              <a:rPr lang="ru-RU" sz="2200" dirty="0" smtClean="0"/>
              <a:t> за </a:t>
            </a:r>
            <a:r>
              <a:rPr lang="ru-RU" sz="2200" dirty="0" err="1" smtClean="0"/>
              <a:t>балансировщиком</a:t>
            </a:r>
            <a:r>
              <a:rPr lang="ru-RU" sz="2200" dirty="0" smtClean="0"/>
              <a:t> нагрузки), по методам (разные группы методов на разных серверах), а также через асинхронные вызовы и batch-запросы, снижающие количество сетевых обращений. Состояние при этом желательно хранить без состояния (</a:t>
            </a:r>
            <a:r>
              <a:rPr lang="ru-RU" sz="2200" dirty="0" err="1" smtClean="0"/>
              <a:t>stateless</a:t>
            </a:r>
            <a:r>
              <a:rPr lang="ru-RU" sz="2200" dirty="0" smtClean="0"/>
              <a:t>), чтобы любой </a:t>
            </a:r>
            <a:r>
              <a:rPr lang="ru-RU" sz="2200" dirty="0" err="1" smtClean="0"/>
              <a:t>инстанс</a:t>
            </a:r>
            <a:r>
              <a:rPr lang="ru-RU" sz="2200" dirty="0" smtClean="0"/>
              <a:t> мог обработать любой запрос.</a:t>
            </a:r>
            <a:endParaRPr lang="ru-RU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14282" y="142852"/>
            <a:ext cx="5648325" cy="5267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741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286116" y="5000636"/>
            <a:ext cx="5419725" cy="174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Справедливость">
  <a:themeElements>
    <a:clrScheme name="Справедливость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Справедливость">
      <a:majorFont>
        <a:latin typeface="Franklin Gothic Book"/>
        <a:ea typeface=""/>
        <a:cs typeface=""/>
        <a:font script="Grek" typeface="Calibri"/>
        <a:font script="Cyrl" typeface="Calibri"/>
        <a:font script="Jpan" typeface="HGｺﾞｼｯｸM"/>
        <a:font script="Hang" typeface="바탕"/>
        <a:font script="Hans" typeface="幼圆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Perpetua"/>
        <a:ea typeface=""/>
        <a:cs typeface=""/>
        <a:font script="Grek" typeface="Cambria"/>
        <a:font script="Cyrl" typeface="Cambria"/>
        <a:font script="Jpan" typeface="HG創英ﾌﾟﾚｾﾞﾝｽEB"/>
        <a:font script="Hang" typeface="맑은 고딕"/>
        <a:font script="Hans" typeface="宋体"/>
        <a:font script="Hant" typeface="新細明體"/>
        <a:font script="Arab" typeface="Times New Roman"/>
        <a:font script="Hebr" typeface="Aharoni"/>
        <a:font script="Thai" typeface="Eucrosia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Справедливость">
      <a: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tint val="30000"/>
                <a:satMod val="300000"/>
              </a:schemeClr>
              <a:schemeClr val="phClr">
                <a:tint val="40000"/>
                <a:satMod val="200000"/>
              </a:schemeClr>
            </a:duotone>
          </a:blip>
          <a:tile tx="0" ty="0" sx="70000" sy="70000" flip="none" algn="ctr"/>
        </a:blipFill>
        <a:blipFill>
          <a:blip xmlns:r="http://schemas.openxmlformats.org/officeDocument/2006/relationships" r:embed="rId1">
            <a:duotone>
              <a:schemeClr val="phClr">
                <a:shade val="22000"/>
                <a:satMod val="160000"/>
              </a:schemeClr>
              <a:schemeClr val="phClr">
                <a:shade val="45000"/>
                <a:satMod val="100000"/>
              </a:schemeClr>
            </a:duotone>
          </a:blip>
          <a:tile tx="0" ty="0" sx="65000" sy="65000" flip="none" algn="ctr"/>
        </a:blipFill>
      </a:fillStyleLst>
      <a:lnStyleLst>
        <a:ln w="9525" cap="flat" cmpd="sng" algn="ctr">
          <a:solidFill>
            <a:schemeClr val="phClr">
              <a:shade val="60000"/>
              <a:satMod val="110000"/>
            </a:schemeClr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50800" dir="5400000" algn="t" rotWithShape="0">
              <a:srgbClr val="000000">
                <a:alpha val="60000"/>
              </a:srgbClr>
            </a:outerShdw>
          </a:effectLst>
          <a:scene3d>
            <a:camera prst="isometricBottomUp" fov="0">
              <a:rot lat="0" lon="0" rev="0"/>
            </a:camera>
            <a:lightRig rig="soft" dir="b">
              <a:rot lat="0" lon="0" rev="9000000"/>
            </a:lightRig>
          </a:scene3d>
          <a:sp3d contourW="35000" prstMaterial="matte">
            <a:bevelT w="45000" h="38100" prst="convex"/>
            <a:contourClr>
              <a:schemeClr val="phClr">
                <a:tint val="1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40000"/>
                <a:satMod val="165000"/>
              </a:schemeClr>
            </a:gs>
            <a:gs pos="50000">
              <a:schemeClr val="phClr">
                <a:shade val="80000"/>
                <a:satMod val="155000"/>
              </a:schemeClr>
            </a:gs>
            <a:gs pos="100000">
              <a:schemeClr val="phClr">
                <a:tint val="95000"/>
                <a:satMod val="20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tint val="95000"/>
                <a:satMod val="200000"/>
              </a:schemeClr>
              <a:schemeClr val="phClr">
                <a:shade val="80000"/>
                <a:satMod val="100000"/>
              </a:schemeClr>
            </a:duotone>
          </a:blip>
          <a:tile tx="0" ty="0" sx="55000" sy="55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Equity</Template>
  <TotalTime>288</TotalTime>
  <Words>336</Words>
  <Application>Microsoft Office PowerPoint</Application>
  <PresentationFormat>Экран (4:3)</PresentationFormat>
  <Paragraphs>37</Paragraphs>
  <Slides>10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1" baseType="lpstr">
      <vt:lpstr>Справедливость</vt:lpstr>
      <vt:lpstr>XML-RPC</vt:lpstr>
      <vt:lpstr>Слайд 2</vt:lpstr>
      <vt:lpstr>Слайд 3</vt:lpstr>
      <vt:lpstr>Слайд 4</vt:lpstr>
      <vt:lpstr>Дополнительные ссылки</vt:lpstr>
      <vt:lpstr>XML-RPC</vt:lpstr>
      <vt:lpstr>Слайд 7</vt:lpstr>
      <vt:lpstr>Слайд 8</vt:lpstr>
      <vt:lpstr>Слайд 9</vt:lpstr>
      <vt:lpstr>Слайд 10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Virtual Local Area Network (VLAN)</dc:title>
  <dc:creator>user</dc:creator>
  <cp:lastModifiedBy>user</cp:lastModifiedBy>
  <cp:revision>39</cp:revision>
  <dcterms:created xsi:type="dcterms:W3CDTF">2024-11-10T14:23:58Z</dcterms:created>
  <dcterms:modified xsi:type="dcterms:W3CDTF">2026-10-06T04:12:12Z</dcterms:modified>
</cp:coreProperties>
</file>