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1908" y="-2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23.08.2026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habr.com/ru/articles/814769/?ysclid=mt5rr1cpnt539526758"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smtClean="0"/>
              <a:t>Основы взаимодействия процессов и вычислений в рамках одной машины</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57214"/>
            <a:ext cx="8229600" cy="1143000"/>
          </a:xfrm>
        </p:spPr>
        <p:txBody>
          <a:bodyPr/>
          <a:lstStyle/>
          <a:p>
            <a:r>
              <a:rPr lang="ru-RU" dirty="0" smtClean="0"/>
              <a:t>Задание 1</a:t>
            </a:r>
            <a:endParaRPr lang="ru-RU" dirty="0"/>
          </a:p>
        </p:txBody>
      </p:sp>
      <p:sp>
        <p:nvSpPr>
          <p:cNvPr id="3" name="Прямоугольник 2"/>
          <p:cNvSpPr/>
          <p:nvPr/>
        </p:nvSpPr>
        <p:spPr>
          <a:xfrm>
            <a:off x="0" y="500042"/>
            <a:ext cx="9144000" cy="2031325"/>
          </a:xfrm>
          <a:prstGeom prst="rect">
            <a:avLst/>
          </a:prstGeom>
        </p:spPr>
        <p:txBody>
          <a:bodyPr wrap="square">
            <a:spAutoFit/>
          </a:bodyPr>
          <a:lstStyle/>
          <a:p>
            <a:pPr algn="just"/>
            <a:r>
              <a:rPr lang="ru-RU" b="1" dirty="0" smtClean="0">
                <a:latin typeface="Times New Roman" pitchFamily="18" charset="0"/>
                <a:cs typeface="Times New Roman" pitchFamily="18" charset="0"/>
              </a:rPr>
              <a:t>Синхронный вызов</a:t>
            </a:r>
            <a:r>
              <a:rPr lang="ru-RU" dirty="0" smtClean="0">
                <a:latin typeface="Times New Roman" pitchFamily="18" charset="0"/>
                <a:cs typeface="Times New Roman" pitchFamily="18" charset="0"/>
              </a:rPr>
              <a:t> — взаимодействие, в котором один объект отправляет запрос и обязательно получает </a:t>
            </a:r>
            <a:r>
              <a:rPr lang="ru-RU" dirty="0" err="1" smtClean="0">
                <a:latin typeface="Times New Roman" pitchFamily="18" charset="0"/>
                <a:cs typeface="Times New Roman" pitchFamily="18" charset="0"/>
              </a:rPr>
              <a:t>что‑то</a:t>
            </a:r>
            <a:r>
              <a:rPr lang="ru-RU" dirty="0" smtClean="0">
                <a:latin typeface="Times New Roman" pitchFamily="18" charset="0"/>
                <a:cs typeface="Times New Roman" pitchFamily="18" charset="0"/>
              </a:rPr>
              <a:t> в ответ от другого объекта. Как пример, взаимодействие браузера с сервером.</a:t>
            </a:r>
          </a:p>
          <a:p>
            <a:pPr algn="just"/>
            <a:r>
              <a:rPr lang="ru-RU" b="1" dirty="0" smtClean="0">
                <a:latin typeface="Times New Roman" pitchFamily="18" charset="0"/>
                <a:cs typeface="Times New Roman" pitchFamily="18" charset="0"/>
              </a:rPr>
              <a:t>Асинхронный вызов</a:t>
            </a:r>
            <a:r>
              <a:rPr lang="ru-RU" dirty="0" smtClean="0">
                <a:latin typeface="Times New Roman" pitchFamily="18" charset="0"/>
                <a:cs typeface="Times New Roman" pitchFamily="18" charset="0"/>
              </a:rPr>
              <a:t> — взаимодействие, при котором один объект шлет запрос другому, но ответ не получает. Как пример, работа очередей или </a:t>
            </a:r>
            <a:r>
              <a:rPr lang="ru-RU" dirty="0" err="1" smtClean="0">
                <a:latin typeface="Times New Roman" pitchFamily="18" charset="0"/>
                <a:cs typeface="Times New Roman" pitchFamily="18" charset="0"/>
              </a:rPr>
              <a:t>топиков</a:t>
            </a:r>
            <a:r>
              <a:rPr lang="ru-RU" dirty="0" smtClean="0">
                <a:latin typeface="Times New Roman" pitchFamily="18" charset="0"/>
                <a:cs typeface="Times New Roman" pitchFamily="18" charset="0"/>
              </a:rPr>
              <a:t>: один объект положил данные в топик, а второй объект забрал эти данные, но никакой отбивки первому объекту при этом не пришло.</a:t>
            </a:r>
            <a:endParaRPr lang="ru-RU" dirty="0">
              <a:latin typeface="Times New Roman" pitchFamily="18" charset="0"/>
              <a:cs typeface="Times New Roman" pitchFamily="18" charset="0"/>
            </a:endParaRPr>
          </a:p>
        </p:txBody>
      </p:sp>
      <p:sp>
        <p:nvSpPr>
          <p:cNvPr id="4" name="Прямоугольник 3"/>
          <p:cNvSpPr/>
          <p:nvPr/>
        </p:nvSpPr>
        <p:spPr>
          <a:xfrm>
            <a:off x="0" y="6215082"/>
            <a:ext cx="9144000" cy="830997"/>
          </a:xfrm>
          <a:prstGeom prst="rect">
            <a:avLst/>
          </a:prstGeom>
        </p:spPr>
        <p:txBody>
          <a:bodyPr wrap="square">
            <a:spAutoFit/>
          </a:bodyPr>
          <a:lstStyle/>
          <a:p>
            <a:pPr algn="ctr"/>
            <a:r>
              <a:rPr lang="en-US" sz="2400" b="1" dirty="0" smtClean="0">
                <a:latin typeface="Times New Roman" pitchFamily="18" charset="0"/>
                <a:cs typeface="Times New Roman" pitchFamily="18" charset="0"/>
                <a:hlinkClick r:id="rId2"/>
              </a:rPr>
              <a:t>https://habr.com/ru/articles/814769/?ysclid=mt5rr1cpnt539526758</a:t>
            </a:r>
            <a:endParaRPr lang="en-US" sz="2400" b="1" dirty="0" smtClean="0">
              <a:latin typeface="Times New Roman" pitchFamily="18" charset="0"/>
              <a:cs typeface="Times New Roman" pitchFamily="18" charset="0"/>
            </a:endParaRPr>
          </a:p>
          <a:p>
            <a:pPr algn="ctr"/>
            <a:endParaRPr lang="ru-RU" sz="2400" b="1" dirty="0">
              <a:latin typeface="Times New Roman" pitchFamily="18" charset="0"/>
              <a:cs typeface="Times New Roman" pitchFamily="18" charset="0"/>
            </a:endParaRPr>
          </a:p>
        </p:txBody>
      </p:sp>
      <p:pic>
        <p:nvPicPr>
          <p:cNvPr id="1026" name="Picture 2" descr="Picture background"/>
          <p:cNvPicPr>
            <a:picLocks noChangeAspect="1" noChangeArrowheads="1"/>
          </p:cNvPicPr>
          <p:nvPr/>
        </p:nvPicPr>
        <p:blipFill>
          <a:blip r:embed="rId3"/>
          <a:srcRect/>
          <a:stretch>
            <a:fillRect/>
          </a:stretch>
        </p:blipFill>
        <p:spPr bwMode="auto">
          <a:xfrm>
            <a:off x="285720" y="2500306"/>
            <a:ext cx="3629034" cy="3747053"/>
          </a:xfrm>
          <a:prstGeom prst="rect">
            <a:avLst/>
          </a:prstGeom>
          <a:noFill/>
        </p:spPr>
      </p:pic>
      <p:sp>
        <p:nvSpPr>
          <p:cNvPr id="6" name="Прямоугольник 5"/>
          <p:cNvSpPr/>
          <p:nvPr/>
        </p:nvSpPr>
        <p:spPr>
          <a:xfrm>
            <a:off x="4071934" y="2571744"/>
            <a:ext cx="5072066" cy="2031325"/>
          </a:xfrm>
          <a:prstGeom prst="rect">
            <a:avLst/>
          </a:prstGeom>
        </p:spPr>
        <p:txBody>
          <a:bodyPr wrap="square">
            <a:spAutoFit/>
          </a:bodyPr>
          <a:lstStyle/>
          <a:p>
            <a:pPr algn="just"/>
            <a:r>
              <a:rPr lang="ru-RU" dirty="0" smtClean="0">
                <a:latin typeface="Times New Roman" pitchFamily="18" charset="0"/>
                <a:cs typeface="Times New Roman" pitchFamily="18" charset="0"/>
              </a:rPr>
              <a:t>Диаграмма последовательности — это просто “кто кому что сказал и когда”. Вертикальная линия у каждого участника — его время. Прямоугольник на линии — когда он занят. Если он ждёт ответа, мы это прямо отмечаем: рисуем длинный прямоугольник и подписываем “ожидание</a:t>
            </a:r>
            <a:endParaRPr lang="ru-RU"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txBox="1">
            <a:spLocks/>
          </p:cNvSpPr>
          <p:nvPr/>
        </p:nvSpPr>
        <p:spPr>
          <a:xfrm>
            <a:off x="457200" y="-357214"/>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0" i="0" u="none" strike="noStrike" kern="1200" cap="none" spc="0" normalizeH="0" baseline="0" noProof="0" dirty="0" smtClean="0">
                <a:ln>
                  <a:noFill/>
                </a:ln>
                <a:solidFill>
                  <a:schemeClr val="tx1"/>
                </a:solidFill>
                <a:effectLst/>
                <a:uLnTx/>
                <a:uFillTx/>
                <a:latin typeface="+mj-lt"/>
                <a:ea typeface="+mj-ea"/>
                <a:cs typeface="+mj-cs"/>
              </a:rPr>
              <a:t>Задание </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2</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Прямоугольник 3"/>
          <p:cNvSpPr/>
          <p:nvPr/>
        </p:nvSpPr>
        <p:spPr>
          <a:xfrm>
            <a:off x="0" y="500042"/>
            <a:ext cx="9144000" cy="2862322"/>
          </a:xfrm>
          <a:prstGeom prst="rect">
            <a:avLst/>
          </a:prstGeom>
        </p:spPr>
        <p:txBody>
          <a:bodyPr wrap="square">
            <a:spAutoFit/>
          </a:bodyPr>
          <a:lstStyle/>
          <a:p>
            <a:pPr algn="just"/>
            <a:r>
              <a:rPr lang="ru-RU" dirty="0" smtClean="0">
                <a:latin typeface="Times New Roman" pitchFamily="18" charset="0"/>
                <a:cs typeface="Times New Roman" pitchFamily="18" charset="0"/>
              </a:rPr>
              <a:t>В аналитике данные часто делят на «срезы» — по товарам, регионам, дням. Если считать их по очереди, общее время = сумма времён по каждому срезу. Если запустить расчёты параллельно (по одному срезу на ядро), время работы примерно равно времени самого долгого среза. Это простой способ ускорить тяжёлые агрегации без сложной оптимизации самих формул.</a:t>
            </a:r>
            <a:endParaRPr lang="en-US"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В </a:t>
            </a:r>
            <a:r>
              <a:rPr lang="ru-RU" dirty="0" err="1" smtClean="0">
                <a:latin typeface="Times New Roman" pitchFamily="18" charset="0"/>
                <a:cs typeface="Times New Roman" pitchFamily="18" charset="0"/>
              </a:rPr>
              <a:t>CPython</a:t>
            </a:r>
            <a:r>
              <a:rPr lang="ru-RU" dirty="0" smtClean="0">
                <a:latin typeface="Times New Roman" pitchFamily="18" charset="0"/>
                <a:cs typeface="Times New Roman" pitchFamily="18" charset="0"/>
              </a:rPr>
              <a:t> есть GIL (</a:t>
            </a:r>
            <a:r>
              <a:rPr lang="ru-RU" dirty="0" err="1" smtClean="0">
                <a:latin typeface="Times New Roman" pitchFamily="18" charset="0"/>
                <a:cs typeface="Times New Roman" pitchFamily="18" charset="0"/>
              </a:rPr>
              <a:t>Global</a:t>
            </a:r>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Interpreter</a:t>
            </a:r>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Lock</a:t>
            </a:r>
            <a:r>
              <a:rPr lang="ru-RU" dirty="0" smtClean="0">
                <a:latin typeface="Times New Roman" pitchFamily="18" charset="0"/>
                <a:cs typeface="Times New Roman" pitchFamily="18" charset="0"/>
              </a:rPr>
              <a:t>): в каждый момент только один поток может исполнять </a:t>
            </a:r>
            <a:r>
              <a:rPr lang="ru-RU" dirty="0" err="1" smtClean="0">
                <a:latin typeface="Times New Roman" pitchFamily="18" charset="0"/>
                <a:cs typeface="Times New Roman" pitchFamily="18" charset="0"/>
              </a:rPr>
              <a:t>Python‑код</a:t>
            </a:r>
            <a:r>
              <a:rPr lang="ru-RU" dirty="0" smtClean="0">
                <a:latin typeface="Times New Roman" pitchFamily="18" charset="0"/>
                <a:cs typeface="Times New Roman" pitchFamily="18" charset="0"/>
              </a:rPr>
              <a:t>. Поэтому для </a:t>
            </a:r>
            <a:r>
              <a:rPr lang="ru-RU" dirty="0" err="1" smtClean="0">
                <a:latin typeface="Times New Roman" pitchFamily="18" charset="0"/>
                <a:cs typeface="Times New Roman" pitchFamily="18" charset="0"/>
              </a:rPr>
              <a:t>CPU‑нагрузок</a:t>
            </a:r>
            <a:r>
              <a:rPr lang="ru-RU" dirty="0" smtClean="0">
                <a:latin typeface="Times New Roman" pitchFamily="18" charset="0"/>
                <a:cs typeface="Times New Roman" pitchFamily="18" charset="0"/>
              </a:rPr>
              <a:t> (как расчёт перцентилей, медианы и т. п.) потоки не дают реального параллелизма. </a:t>
            </a:r>
            <a:r>
              <a:rPr lang="ru-RU" dirty="0" err="1" smtClean="0">
                <a:latin typeface="Times New Roman" pitchFamily="18" charset="0"/>
                <a:cs typeface="Times New Roman" pitchFamily="18" charset="0"/>
              </a:rPr>
              <a:t>multiprocessing.Pool</a:t>
            </a:r>
            <a:r>
              <a:rPr lang="ru-RU" dirty="0" smtClean="0">
                <a:latin typeface="Times New Roman" pitchFamily="18" charset="0"/>
                <a:cs typeface="Times New Roman" pitchFamily="18" charset="0"/>
              </a:rPr>
              <a:t> запускает отдельные процессы — у каждого свой интерпретатор и свой GIL, и они реально работают на разных ядрах.</a:t>
            </a:r>
            <a:endParaRPr lang="ru-RU" dirty="0">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a:srcRect/>
          <a:stretch>
            <a:fillRect/>
          </a:stretch>
        </p:blipFill>
        <p:spPr bwMode="auto">
          <a:xfrm>
            <a:off x="0" y="3253985"/>
            <a:ext cx="4429124" cy="3604015"/>
          </a:xfrm>
          <a:prstGeom prst="rect">
            <a:avLst/>
          </a:prstGeom>
          <a:noFill/>
          <a:ln w="9525">
            <a:noFill/>
            <a:miter lim="800000"/>
            <a:headEnd/>
            <a:tailEnd/>
          </a:ln>
          <a:effectLst/>
        </p:spPr>
      </p:pic>
      <p:sp>
        <p:nvSpPr>
          <p:cNvPr id="7" name="Прямоугольник 6"/>
          <p:cNvSpPr/>
          <p:nvPr/>
        </p:nvSpPr>
        <p:spPr>
          <a:xfrm>
            <a:off x="4572000" y="3164681"/>
            <a:ext cx="4572000" cy="3693319"/>
          </a:xfrm>
          <a:prstGeom prst="rect">
            <a:avLst/>
          </a:prstGeom>
        </p:spPr>
        <p:txBody>
          <a:bodyPr>
            <a:spAutoFit/>
          </a:bodyPr>
          <a:lstStyle/>
          <a:p>
            <a:pPr algn="just"/>
            <a:r>
              <a:rPr lang="ru-RU" dirty="0" err="1" smtClean="0">
                <a:latin typeface="Times New Roman" pitchFamily="18" charset="0"/>
                <a:cs typeface="Times New Roman" pitchFamily="18" charset="0"/>
              </a:rPr>
              <a:t>Pool</a:t>
            </a:r>
            <a:r>
              <a:rPr lang="ru-RU" dirty="0" smtClean="0">
                <a:latin typeface="Times New Roman" pitchFamily="18" charset="0"/>
                <a:cs typeface="Times New Roman" pitchFamily="18" charset="0"/>
              </a:rPr>
              <a:t>(processes=4) — запускаем 4 отдельных процесса (</a:t>
            </a:r>
            <a:r>
              <a:rPr lang="ru-RU" dirty="0" err="1" smtClean="0">
                <a:latin typeface="Times New Roman" pitchFamily="18" charset="0"/>
                <a:cs typeface="Times New Roman" pitchFamily="18" charset="0"/>
              </a:rPr>
              <a:t>воркера</a:t>
            </a:r>
            <a:r>
              <a:rPr lang="ru-RU" dirty="0" smtClean="0">
                <a:latin typeface="Times New Roman" pitchFamily="18" charset="0"/>
                <a:cs typeface="Times New Roman" pitchFamily="18" charset="0"/>
              </a:rPr>
              <a:t>). На 4‑ядерной машине они реально работают одновременно.</a:t>
            </a:r>
            <a:endParaRPr lang="en-US" dirty="0" smtClean="0">
              <a:latin typeface="Times New Roman" pitchFamily="18" charset="0"/>
              <a:cs typeface="Times New Roman" pitchFamily="18" charset="0"/>
            </a:endParaRPr>
          </a:p>
          <a:p>
            <a:pPr algn="just"/>
            <a:r>
              <a:rPr lang="ru-RU" dirty="0" err="1" smtClean="0">
                <a:latin typeface="Times New Roman" pitchFamily="18" charset="0"/>
                <a:cs typeface="Times New Roman" pitchFamily="18" charset="0"/>
              </a:rPr>
              <a:t>pool.map</a:t>
            </a:r>
            <a:r>
              <a:rPr lang="ru-RU" dirty="0" smtClean="0">
                <a:latin typeface="Times New Roman" pitchFamily="18" charset="0"/>
                <a:cs typeface="Times New Roman" pitchFamily="18" charset="0"/>
              </a:rPr>
              <a:t>(</a:t>
            </a:r>
            <a:r>
              <a:rPr lang="ru-RU" dirty="0" err="1" smtClean="0">
                <a:latin typeface="Times New Roman" pitchFamily="18" charset="0"/>
                <a:cs typeface="Times New Roman" pitchFamily="18" charset="0"/>
              </a:rPr>
              <a:t>square</a:t>
            </a:r>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numbers</a:t>
            </a:r>
            <a:r>
              <a:rPr lang="ru-RU" dirty="0" smtClean="0">
                <a:latin typeface="Times New Roman" pitchFamily="18" charset="0"/>
                <a:cs typeface="Times New Roman" pitchFamily="18" charset="0"/>
              </a:rPr>
              <a:t>) — раздаёт элементы списка </a:t>
            </a:r>
            <a:r>
              <a:rPr lang="ru-RU" dirty="0" err="1" smtClean="0">
                <a:latin typeface="Times New Roman" pitchFamily="18" charset="0"/>
                <a:cs typeface="Times New Roman" pitchFamily="18" charset="0"/>
              </a:rPr>
              <a:t>numbers</a:t>
            </a:r>
            <a:r>
              <a:rPr lang="ru-RU" dirty="0" smtClean="0">
                <a:latin typeface="Times New Roman" pitchFamily="18" charset="0"/>
                <a:cs typeface="Times New Roman" pitchFamily="18" charset="0"/>
              </a:rPr>
              <a:t> по </a:t>
            </a:r>
            <a:r>
              <a:rPr lang="ru-RU" dirty="0" err="1" smtClean="0">
                <a:latin typeface="Times New Roman" pitchFamily="18" charset="0"/>
                <a:cs typeface="Times New Roman" pitchFamily="18" charset="0"/>
              </a:rPr>
              <a:t>воркерам</a:t>
            </a:r>
            <a:r>
              <a:rPr lang="ru-RU" dirty="0" smtClean="0">
                <a:latin typeface="Times New Roman" pitchFamily="18" charset="0"/>
                <a:cs typeface="Times New Roman" pitchFamily="18" charset="0"/>
              </a:rPr>
              <a:t>: каждый берёт своё число, считает </a:t>
            </a:r>
            <a:r>
              <a:rPr lang="ru-RU" dirty="0" err="1" smtClean="0">
                <a:latin typeface="Times New Roman" pitchFamily="18" charset="0"/>
                <a:cs typeface="Times New Roman" pitchFamily="18" charset="0"/>
              </a:rPr>
              <a:t>square</a:t>
            </a:r>
            <a:r>
              <a:rPr lang="ru-RU" dirty="0" smtClean="0">
                <a:latin typeface="Times New Roman" pitchFamily="18" charset="0"/>
                <a:cs typeface="Times New Roman" pitchFamily="18" charset="0"/>
              </a:rPr>
              <a:t>, возвращает результат. Порядок результатов совпадает с порядком входных данных.</a:t>
            </a:r>
            <a:endParaRPr lang="en-US" dirty="0" smtClean="0">
              <a:latin typeface="Times New Roman" pitchFamily="18" charset="0"/>
              <a:cs typeface="Times New Roman" pitchFamily="18" charset="0"/>
            </a:endParaRPr>
          </a:p>
          <a:p>
            <a:pPr algn="just"/>
            <a:r>
              <a:rPr lang="ru-RU" dirty="0" err="1" smtClean="0">
                <a:latin typeface="Times New Roman" pitchFamily="18" charset="0"/>
                <a:cs typeface="Times New Roman" pitchFamily="18" charset="0"/>
              </a:rPr>
              <a:t>time.sleep</a:t>
            </a:r>
            <a:r>
              <a:rPr lang="ru-RU" dirty="0" smtClean="0">
                <a:latin typeface="Times New Roman" pitchFamily="18" charset="0"/>
                <a:cs typeface="Times New Roman" pitchFamily="18" charset="0"/>
              </a:rPr>
              <a:t>(0.5) — искусственная задержка, чтобы эффект ускорения был виден. Без неё функция слишком быстрая, и выигрыш съедят накладные расходы на создание процессов.</a:t>
            </a:r>
            <a:endParaRPr lang="ru-RU"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txBox="1">
            <a:spLocks/>
          </p:cNvSpPr>
          <p:nvPr/>
        </p:nvSpPr>
        <p:spPr>
          <a:xfrm>
            <a:off x="457200" y="-357214"/>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0" i="0" u="none" strike="noStrike" kern="1200" cap="none" spc="0" normalizeH="0" baseline="0" noProof="0" dirty="0" smtClean="0">
                <a:ln>
                  <a:noFill/>
                </a:ln>
                <a:solidFill>
                  <a:schemeClr val="tx1"/>
                </a:solidFill>
                <a:effectLst/>
                <a:uLnTx/>
                <a:uFillTx/>
                <a:latin typeface="+mj-lt"/>
                <a:ea typeface="+mj-ea"/>
                <a:cs typeface="+mj-cs"/>
              </a:rPr>
              <a:t>Задание </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3</a:t>
            </a:r>
            <a:endParaRPr kumimoji="0" lang="ru-R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Прямоугольник 3"/>
          <p:cNvSpPr/>
          <p:nvPr/>
        </p:nvSpPr>
        <p:spPr>
          <a:xfrm>
            <a:off x="0" y="500042"/>
            <a:ext cx="9144000" cy="3293209"/>
          </a:xfrm>
          <a:prstGeom prst="rect">
            <a:avLst/>
          </a:prstGeom>
        </p:spPr>
        <p:txBody>
          <a:bodyPr wrap="square">
            <a:spAutoFit/>
          </a:bodyPr>
          <a:lstStyle/>
          <a:p>
            <a:pPr algn="just"/>
            <a:r>
              <a:rPr lang="ru-RU" sz="1600" dirty="0" smtClean="0">
                <a:latin typeface="Times New Roman" pitchFamily="18" charset="0"/>
                <a:cs typeface="Times New Roman" pitchFamily="18" charset="0"/>
              </a:rPr>
              <a:t>Часы Лампорта — это простой счётчик на каждом узле распределённой системы: он растёт при локальных событиях, при отправке сообщения его значение передают вместе с ним, а при получении берут максимум из своего и чужого значения и прибавляют 1 — так система надёжно фиксирует, какое событие было раньше другого (например, отправка заявки до её обработки), даже если часы на узлах не синхронизированы и сеть задерживает сообщения.</a:t>
            </a:r>
            <a:endParaRPr lang="en-US" sz="1600" dirty="0" smtClean="0">
              <a:latin typeface="Times New Roman" pitchFamily="18" charset="0"/>
              <a:cs typeface="Times New Roman" pitchFamily="18" charset="0"/>
            </a:endParaRPr>
          </a:p>
          <a:p>
            <a:pPr algn="just"/>
            <a:r>
              <a:rPr lang="ru-RU" sz="1600" dirty="0" smtClean="0">
                <a:latin typeface="Times New Roman" pitchFamily="18" charset="0"/>
                <a:cs typeface="Times New Roman" pitchFamily="18" charset="0"/>
              </a:rPr>
              <a:t>При этом важно помнить про ограничение: часы Лампорта дают только частичный порядок. Они отлично показывают «событие А произошло до события Б», но не умеют отличать причинно связанные события от независимых (параллельных). Поэтому в задачах, где критично различать параллелизм (например, для сложного разрешения конфликтов), разработчики часто переходят на более продвинутые механизмы — например, векторные часы.</a:t>
            </a:r>
            <a:endParaRPr lang="en-US" sz="1600" dirty="0" smtClean="0">
              <a:latin typeface="Times New Roman" pitchFamily="18" charset="0"/>
              <a:cs typeface="Times New Roman" pitchFamily="18" charset="0"/>
            </a:endParaRPr>
          </a:p>
          <a:p>
            <a:pPr algn="just"/>
            <a:r>
              <a:rPr lang="ru-RU" sz="1600" b="1" dirty="0" smtClean="0">
                <a:latin typeface="Times New Roman" pitchFamily="18" charset="0"/>
                <a:cs typeface="Times New Roman" pitchFamily="18" charset="0"/>
              </a:rPr>
              <a:t>Часы Лампорта — это не защита от ошибок в реальном времени, это инструмент для восстановления истины после ошибки. </a:t>
            </a:r>
            <a:r>
              <a:rPr lang="ru-RU" sz="1600" dirty="0" smtClean="0">
                <a:latin typeface="Times New Roman" pitchFamily="18" charset="0"/>
                <a:cs typeface="Times New Roman" pitchFamily="18" charset="0"/>
              </a:rPr>
              <a:t>Они отвечают на вопрос «Что на самом деле произошло и в каком порядке?», а не «Как предотвратить ошибку?».</a:t>
            </a:r>
            <a:endParaRPr lang="ru-RU" sz="1600" dirty="0">
              <a:latin typeface="Times New Roman" pitchFamily="18" charset="0"/>
              <a:cs typeface="Times New Roman" pitchFamily="18" charset="0"/>
            </a:endParaRPr>
          </a:p>
        </p:txBody>
      </p:sp>
      <p:sp>
        <p:nvSpPr>
          <p:cNvPr id="6" name="Прямоугольник 5"/>
          <p:cNvSpPr/>
          <p:nvPr/>
        </p:nvSpPr>
        <p:spPr>
          <a:xfrm>
            <a:off x="0" y="4071942"/>
            <a:ext cx="9144000" cy="738664"/>
          </a:xfrm>
          <a:prstGeom prst="rect">
            <a:avLst/>
          </a:prstGeom>
        </p:spPr>
        <p:txBody>
          <a:bodyPr wrap="square">
            <a:spAutoFit/>
          </a:bodyPr>
          <a:lstStyle/>
          <a:p>
            <a:pPr algn="just"/>
            <a:r>
              <a:rPr lang="ru-RU" sz="1400" dirty="0" smtClean="0">
                <a:latin typeface="Times New Roman" pitchFamily="18" charset="0"/>
                <a:cs typeface="Times New Roman" pitchFamily="18" charset="0"/>
              </a:rPr>
              <a:t>На практике часы Лампорта до сих пор активно используют — правда, чаще не как самостоятельное решение для всех задач, а как строительный блок в распределённых системах, где важно фиксировать причинно-следственные связи между событиями.</a:t>
            </a:r>
            <a:endParaRPr lang="ru-RU" sz="1400" dirty="0">
              <a:latin typeface="Times New Roman" pitchFamily="18" charset="0"/>
              <a:cs typeface="Times New Roman" pitchFamily="18" charset="0"/>
            </a:endParaRPr>
          </a:p>
        </p:txBody>
      </p:sp>
      <p:sp>
        <p:nvSpPr>
          <p:cNvPr id="8" name="Прямоугольник 7"/>
          <p:cNvSpPr/>
          <p:nvPr/>
        </p:nvSpPr>
        <p:spPr>
          <a:xfrm>
            <a:off x="4572000" y="4826675"/>
            <a:ext cx="4572000" cy="2031325"/>
          </a:xfrm>
          <a:prstGeom prst="rect">
            <a:avLst/>
          </a:prstGeom>
        </p:spPr>
        <p:txBody>
          <a:bodyPr>
            <a:spAutoFit/>
          </a:bodyPr>
          <a:lstStyle/>
          <a:p>
            <a:pPr algn="just"/>
            <a:r>
              <a:rPr lang="ru-RU" b="1" dirty="0" smtClean="0">
                <a:latin typeface="Times New Roman" pitchFamily="18" charset="0"/>
                <a:cs typeface="Times New Roman" pitchFamily="18" charset="0"/>
              </a:rPr>
              <a:t>Упорядочивание сообщений.</a:t>
            </a:r>
            <a:r>
              <a:rPr lang="ru-RU" dirty="0" smtClean="0">
                <a:latin typeface="Times New Roman" pitchFamily="18" charset="0"/>
                <a:cs typeface="Times New Roman" pitchFamily="18" charset="0"/>
              </a:rPr>
              <a:t> В </a:t>
            </a:r>
            <a:r>
              <a:rPr lang="ru-RU" dirty="0" err="1" smtClean="0">
                <a:latin typeface="Times New Roman" pitchFamily="18" charset="0"/>
                <a:cs typeface="Times New Roman" pitchFamily="18" charset="0"/>
              </a:rPr>
              <a:t>чат-сервисах</a:t>
            </a:r>
            <a:r>
              <a:rPr lang="ru-RU" dirty="0" smtClean="0">
                <a:latin typeface="Times New Roman" pitchFamily="18" charset="0"/>
                <a:cs typeface="Times New Roman" pitchFamily="18" charset="0"/>
              </a:rPr>
              <a:t> или системах обмена данными часы Лампорта помогают гарантировать, что сообщения отобразятся в правильном порядке, даже если из-за сетевых задержек они пришли на разные узлы в разном порядке.</a:t>
            </a:r>
            <a:endParaRPr lang="ru-RU" dirty="0">
              <a:latin typeface="Times New Roman" pitchFamily="18" charset="0"/>
              <a:cs typeface="Times New Roman" pitchFamily="18" charset="0"/>
            </a:endParaRPr>
          </a:p>
        </p:txBody>
      </p:sp>
      <p:sp>
        <p:nvSpPr>
          <p:cNvPr id="9" name="Прямоугольник 8"/>
          <p:cNvSpPr/>
          <p:nvPr/>
        </p:nvSpPr>
        <p:spPr>
          <a:xfrm>
            <a:off x="0" y="4826675"/>
            <a:ext cx="4572000" cy="2031325"/>
          </a:xfrm>
          <a:prstGeom prst="rect">
            <a:avLst/>
          </a:prstGeom>
        </p:spPr>
        <p:txBody>
          <a:bodyPr>
            <a:spAutoFit/>
          </a:bodyPr>
          <a:lstStyle/>
          <a:p>
            <a:pPr algn="just"/>
            <a:r>
              <a:rPr lang="ru-RU" b="1" dirty="0" smtClean="0">
                <a:latin typeface="Times New Roman" pitchFamily="18" charset="0"/>
                <a:cs typeface="Times New Roman" pitchFamily="18" charset="0"/>
              </a:rPr>
              <a:t>Контроль параллелизма.</a:t>
            </a:r>
            <a:r>
              <a:rPr lang="ru-RU" dirty="0" smtClean="0">
                <a:latin typeface="Times New Roman" pitchFamily="18" charset="0"/>
                <a:cs typeface="Times New Roman" pitchFamily="18" charset="0"/>
              </a:rPr>
              <a:t> Механизм помогает управлять синхронизацией между распределёнными процессами — например, в системах электронной коммерции при одновременном обновлении остатков на разных складах, чтобы не возникло противоречий.</a:t>
            </a:r>
            <a:endParaRPr lang="ru-RU"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199</Words>
  <PresentationFormat>Экран (4:3)</PresentationFormat>
  <Paragraphs>19</Paragraphs>
  <Slides>4</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4</vt:i4>
      </vt:variant>
    </vt:vector>
  </HeadingPairs>
  <TitlesOfParts>
    <vt:vector size="5" baseType="lpstr">
      <vt:lpstr>Тема Office</vt:lpstr>
      <vt:lpstr>Основы взаимодействия процессов и вычислений в рамках одной машины</vt:lpstr>
      <vt:lpstr>Задание 1</vt:lpstr>
      <vt:lpstr>Слайд 3</vt:lpstr>
      <vt:lpstr>Слайд 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Основы взаимодействия и параллельных вычислений </dc:title>
  <dc:creator>user</dc:creator>
  <cp:lastModifiedBy>user</cp:lastModifiedBy>
  <cp:revision>5</cp:revision>
  <dcterms:created xsi:type="dcterms:W3CDTF">2026-08-23T12:11:24Z</dcterms:created>
  <dcterms:modified xsi:type="dcterms:W3CDTF">2026-08-23T12:55:09Z</dcterms:modified>
</cp:coreProperties>
</file>