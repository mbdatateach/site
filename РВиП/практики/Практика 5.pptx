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8" r:id="rId4"/>
    <p:sldId id="262" r:id="rId5"/>
    <p:sldId id="265" r:id="rId6"/>
    <p:sldId id="269" r:id="rId7"/>
    <p:sldId id="270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E1DBA9E-009E-4185-A20A-A3E4255DE3B3}" type="datetimeFigureOut">
              <a:rPr lang="ru-RU" smtClean="0"/>
              <a:pPr/>
              <a:t>29.10.2026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Микросервисная</a:t>
            </a:r>
            <a:r>
              <a:rPr lang="ru-RU" dirty="0" smtClean="0"/>
              <a:t> архитектура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60648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/>
              <a:t>В </a:t>
            </a:r>
            <a:r>
              <a:rPr lang="ru-RU" sz="2000" dirty="0" err="1" smtClean="0"/>
              <a:t>микросервисной</a:t>
            </a:r>
            <a:r>
              <a:rPr lang="ru-RU" sz="2000" dirty="0" smtClean="0"/>
              <a:t> архитектуре сервисы разрабатываются и разворачиваются независимо, но при этом нередко оказываются тесно связаны на уровне логики — например, </a:t>
            </a:r>
            <a:r>
              <a:rPr lang="ru-RU" sz="2000" dirty="0" err="1" smtClean="0"/>
              <a:t>OrderService</a:t>
            </a:r>
            <a:r>
              <a:rPr lang="ru-RU" sz="2000" dirty="0" smtClean="0"/>
              <a:t> не способен корректно оформить заказ без данных о клиенте, которые предоставляет </a:t>
            </a:r>
            <a:r>
              <a:rPr lang="ru-RU" sz="2000" dirty="0" err="1" smtClean="0"/>
              <a:t>UserService</a:t>
            </a:r>
            <a:r>
              <a:rPr lang="ru-RU" sz="2000" dirty="0" smtClean="0"/>
              <a:t>. Такая зависимость порождает риск каскадных отказов: сбой одного сервиса может спровоцировать ошибки в других компонентах системы, даже если они сами по себе работают исправно. При этом важно учитывать, что не все сбои носят необратимый характер: значительная часть проблем оказывается временной — это могут быть сетевые задержки, кратковременная перегрузка сервиса или короткий </a:t>
            </a:r>
            <a:r>
              <a:rPr lang="ru-RU" sz="2000" dirty="0" err="1" smtClean="0"/>
              <a:t>даунтайм</a:t>
            </a:r>
            <a:r>
              <a:rPr lang="ru-RU" sz="2000" dirty="0" smtClean="0"/>
              <a:t>, которые нередко устраняются сами собой в течение нескольких секунд. Если зависимый сервис реагирует на любую ошибку резким завершением работы, система становится излишне хрупкой: единичный временный сбой способен остановить критически важные </a:t>
            </a:r>
            <a:r>
              <a:rPr lang="ru-RU" sz="2000" dirty="0" err="1" smtClean="0"/>
              <a:t>бизнес‑процессы</a:t>
            </a:r>
            <a:r>
              <a:rPr lang="ru-RU" sz="2000" dirty="0" smtClean="0"/>
              <a:t>. Поэтому устойчивость </a:t>
            </a:r>
            <a:r>
              <a:rPr lang="ru-RU" sz="2000" dirty="0" err="1" smtClean="0"/>
              <a:t>микросервисной</a:t>
            </a:r>
            <a:r>
              <a:rPr lang="ru-RU" sz="2000" dirty="0" smtClean="0"/>
              <a:t> системы закладывается не через стремление к абсолютной надёжности каждого отдельного компонента, а через проектирование с учётом неизбежности отказов — любой исходящий запрос к внешнему сервису изначально считается потенциально ненадёжным и должен сопровождаться продуманными механизмами обработки ошибок.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xmlns="" val="969615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60648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Стратегия повторных попыток,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предполагает автоматическое повторение запроса при получении определённых типов ошибок — в частности,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HTTP‑кода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503, который сигнализирует о временной недоступности сервиса. В рамках задания предусмотрено выполнение до трёх попыток, что позволяет сбалансировать шансы на восстановление связи и избежать избыточной нагрузки на потенциально перегруженный сервис. Ключевым элементом такой стратегии становится введение задержки между попытками: без неё частые повторы способны лишь усугубить проблему, дополнительно нагружая сервис, который и так испытывает трудности. Наиболее эффективным подходом здесь считается экспоненциальная задержка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exponential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backoff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при которой интервал ожидания между попытками увеличивается по экспоненте — например, первая попытка сопровождается паузой в одну секунду, вторая — в две, третья — в четыре. Такой рост интервалов выражается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формулой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базовая задержка,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attempt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номер текущей попытки. Экспоненциальный рост позволяет дать сбойному сервису время на восстановление, одновременно снижая риск лавинообразного нарастания нагрузки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одновременных повторных запросов от множества клиентов.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286256"/>
            <a:ext cx="377636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96961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ru-RU" dirty="0" err="1" smtClean="0"/>
              <a:t>Микросервис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857232"/>
            <a:ext cx="76104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714348" y="4429132"/>
            <a:ext cx="77867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/>
              <a:t>Этот сервис хранит пользователей в памяти и умеет эмулировать сбой (возвращать 503), если в запросе есть параметр </a:t>
            </a:r>
            <a:r>
              <a:rPr lang="ru-RU" sz="2400" dirty="0" err="1" smtClean="0"/>
              <a:t>simulate_failure=true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24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Ссылка на книгу с диаграммами</a:t>
            </a:r>
          </a:p>
          <a:p>
            <a:pPr algn="ctr"/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://cloud.mail.ru/public/KNjb/xT2XehzjU</a:t>
            </a:r>
            <a:endPara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600" dirty="0" smtClean="0"/>
          </a:p>
          <a:p>
            <a:pPr algn="just"/>
            <a:r>
              <a:rPr lang="ru-RU" sz="1600" dirty="0" smtClean="0"/>
              <a:t>В </a:t>
            </a:r>
            <a:r>
              <a:rPr lang="ru-RU" sz="1600" dirty="0" smtClean="0"/>
              <a:t>диаграмме компонентов система раскрывается не как набор кода, а как совокупность автономных компонентов с чётко очерченными границами и контрактами взаимодействия. В нашем проекте выделены три ключевых компонента: </a:t>
            </a:r>
            <a:r>
              <a:rPr lang="ru-RU" sz="1600" dirty="0" err="1" smtClean="0"/>
              <a:t>UserService</a:t>
            </a:r>
            <a:r>
              <a:rPr lang="ru-RU" sz="1600" dirty="0" smtClean="0"/>
              <a:t>, </a:t>
            </a:r>
            <a:r>
              <a:rPr lang="ru-RU" sz="1600" dirty="0" err="1" smtClean="0"/>
              <a:t>OrderService</a:t>
            </a:r>
            <a:r>
              <a:rPr lang="ru-RU" sz="1600" dirty="0" smtClean="0"/>
              <a:t> и </a:t>
            </a:r>
            <a:r>
              <a:rPr lang="ru-RU" sz="1600" dirty="0" err="1" smtClean="0"/>
              <a:t>NotificationService</a:t>
            </a:r>
            <a:r>
              <a:rPr lang="ru-RU" sz="1600" dirty="0" smtClean="0"/>
              <a:t>. Каждый из них представлен как отдельный прямоугольник со стереотипом «компонент», что подчёркивает их независимость в развёртывании и сопровождении.</a:t>
            </a:r>
          </a:p>
          <a:p>
            <a:pPr algn="just"/>
            <a:r>
              <a:rPr lang="ru-RU" sz="1600" dirty="0" smtClean="0"/>
              <a:t>Зависимости между компонентами отражены через требуемые и предоставляемые интерфейсы: </a:t>
            </a:r>
            <a:r>
              <a:rPr lang="ru-RU" sz="1600" dirty="0" err="1" smtClean="0"/>
              <a:t>OrderService</a:t>
            </a:r>
            <a:r>
              <a:rPr lang="ru-RU" sz="1600" dirty="0" smtClean="0"/>
              <a:t> требует интерфейс получения данных о пользователе, который предоставляет </a:t>
            </a:r>
            <a:r>
              <a:rPr lang="ru-RU" sz="1600" dirty="0" err="1" smtClean="0"/>
              <a:t>UserService</a:t>
            </a:r>
            <a:r>
              <a:rPr lang="ru-RU" sz="1600" dirty="0" smtClean="0"/>
              <a:t>; аналогично </a:t>
            </a:r>
            <a:r>
              <a:rPr lang="ru-RU" sz="1600" dirty="0" err="1" smtClean="0"/>
              <a:t>OrderService</a:t>
            </a:r>
            <a:r>
              <a:rPr lang="ru-RU" sz="1600" dirty="0" smtClean="0"/>
              <a:t> требует интерфейс отправки уведомлений, реализуемый </a:t>
            </a:r>
            <a:r>
              <a:rPr lang="ru-RU" sz="1600" dirty="0" err="1" smtClean="0"/>
              <a:t>NotificationService</a:t>
            </a:r>
            <a:r>
              <a:rPr lang="ru-RU" sz="1600" dirty="0" smtClean="0"/>
              <a:t>. Такие связи показывают не просто вызовы функций, а контракты — формальные соглашения о том, какие операции доступны и в каком формате. Это позволяет командам разрабатывать сервисы параллельно, ориентируясь на интерфейсы, а не на реализацию.</a:t>
            </a:r>
          </a:p>
          <a:p>
            <a:pPr algn="just"/>
            <a:r>
              <a:rPr lang="ru-RU" sz="1600" dirty="0" smtClean="0"/>
              <a:t>Помимо </a:t>
            </a:r>
            <a:r>
              <a:rPr lang="ru-RU" sz="1600" dirty="0" err="1" smtClean="0"/>
              <a:t>межсервисных</a:t>
            </a:r>
            <a:r>
              <a:rPr lang="ru-RU" sz="1600" dirty="0" smtClean="0"/>
              <a:t> зависимостей, на диаграмме показаны и внешние зависимости: каждый сервис связан с собственной базой данных (или логическим слоем хранения), а </a:t>
            </a:r>
            <a:r>
              <a:rPr lang="ru-RU" sz="1600" dirty="0" err="1" smtClean="0"/>
              <a:t>NotificationService</a:t>
            </a:r>
            <a:r>
              <a:rPr lang="ru-RU" sz="1600" dirty="0" smtClean="0"/>
              <a:t> дополнительно интегрирован с внешней инфраструктурой уведомлений (например, </a:t>
            </a:r>
            <a:r>
              <a:rPr lang="ru-RU" sz="1600" dirty="0" err="1" smtClean="0"/>
              <a:t>SMTP‑сервер</a:t>
            </a:r>
            <a:r>
              <a:rPr lang="ru-RU" sz="1600" dirty="0" smtClean="0"/>
              <a:t> или </a:t>
            </a:r>
            <a:r>
              <a:rPr lang="ru-RU" sz="1600" dirty="0" err="1" smtClean="0"/>
              <a:t>SMS‑шлюз</a:t>
            </a:r>
            <a:r>
              <a:rPr lang="ru-RU" sz="1600" dirty="0" smtClean="0"/>
              <a:t>). Также можно отразить связь с очередью сообщений (</a:t>
            </a:r>
            <a:r>
              <a:rPr lang="ru-RU" sz="1600" dirty="0" err="1" smtClean="0"/>
              <a:t>Message</a:t>
            </a:r>
            <a:r>
              <a:rPr lang="ru-RU" sz="1600" dirty="0" smtClean="0"/>
              <a:t> </a:t>
            </a:r>
            <a:r>
              <a:rPr lang="ru-RU" sz="1600" dirty="0" err="1" smtClean="0"/>
              <a:t>Broker</a:t>
            </a:r>
            <a:r>
              <a:rPr lang="ru-RU" sz="1600" dirty="0" smtClean="0"/>
              <a:t>) как потенциальный асинхронный канал для уведомлений — это закладывает возможность масштабирования и отказоустойчивости без изменения синхронной логики.</a:t>
            </a:r>
          </a:p>
          <a:p>
            <a:pPr algn="just"/>
            <a:r>
              <a:rPr lang="ru-RU" sz="1600" dirty="0" smtClean="0"/>
              <a:t>Важность этих зависимостей в том, что они фиксируют архитектурные границы и точки интеграции: становится видно, где система уязвима к изменениям, какие сервисы можно масштабировать независимо и где нужны механизмы устойчивости (например, повторные попытки или очереди). Диаграмма компонентов служит главным артефактом для обсуждения архитектуры с командой и </a:t>
            </a:r>
            <a:r>
              <a:rPr lang="ru-RU" sz="1600" dirty="0" err="1" smtClean="0"/>
              <a:t>стейкхолдерами</a:t>
            </a:r>
            <a:r>
              <a:rPr lang="ru-RU" sz="1600" dirty="0" smtClean="0"/>
              <a:t>, позволяя быстро оценить сложность интеграции и риски при модификации отдельных частей системы.</a:t>
            </a:r>
          </a:p>
        </p:txBody>
      </p:sp>
    </p:spTree>
    <p:extLst>
      <p:ext uri="{BB962C8B-B14F-4D97-AF65-F5344CB8AC3E}">
        <p14:creationId xmlns:p14="http://schemas.microsoft.com/office/powerpoint/2010/main" xmlns="" val="183273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60648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Диаграмма </a:t>
            </a:r>
            <a:r>
              <a:rPr lang="ru-RU" dirty="0" smtClean="0"/>
              <a:t>последовательности детализирует временной порядок взаимодействий в рамках конкретного сценария — в нашем случае это создание заказа. На ней представлены жизненные линии участников: Клиент, </a:t>
            </a:r>
            <a:r>
              <a:rPr lang="ru-RU" dirty="0" err="1" smtClean="0"/>
              <a:t>OrderService</a:t>
            </a:r>
            <a:r>
              <a:rPr lang="ru-RU" dirty="0" smtClean="0"/>
              <a:t>, </a:t>
            </a:r>
            <a:r>
              <a:rPr lang="ru-RU" dirty="0" err="1" smtClean="0"/>
              <a:t>UserService</a:t>
            </a:r>
            <a:r>
              <a:rPr lang="ru-RU" dirty="0" smtClean="0"/>
              <a:t> и </a:t>
            </a:r>
            <a:r>
              <a:rPr lang="ru-RU" dirty="0" err="1" smtClean="0"/>
              <a:t>NotificationService</a:t>
            </a:r>
            <a:r>
              <a:rPr lang="ru-RU" dirty="0" smtClean="0"/>
              <a:t>.</a:t>
            </a:r>
          </a:p>
          <a:p>
            <a:pPr algn="just"/>
            <a:r>
              <a:rPr lang="ru-RU" dirty="0" smtClean="0"/>
              <a:t>В успешном сценарии цепочка выглядит так: Клиент отправляет запрос на создание заказа в </a:t>
            </a:r>
            <a:r>
              <a:rPr lang="ru-RU" dirty="0" err="1" smtClean="0"/>
              <a:t>OrderService</a:t>
            </a:r>
            <a:r>
              <a:rPr lang="ru-RU" dirty="0" smtClean="0"/>
              <a:t>; </a:t>
            </a:r>
            <a:r>
              <a:rPr lang="ru-RU" dirty="0" err="1" smtClean="0"/>
              <a:t>OrderService</a:t>
            </a:r>
            <a:r>
              <a:rPr lang="ru-RU" dirty="0" smtClean="0"/>
              <a:t> синхронно запрашивает данные пользователя у </a:t>
            </a:r>
            <a:r>
              <a:rPr lang="ru-RU" dirty="0" err="1" smtClean="0"/>
              <a:t>UserService</a:t>
            </a:r>
            <a:r>
              <a:rPr lang="ru-RU" dirty="0" smtClean="0"/>
              <a:t> и получает ответ; затем </a:t>
            </a:r>
            <a:r>
              <a:rPr lang="ru-RU" dirty="0" err="1" smtClean="0"/>
              <a:t>OrderService</a:t>
            </a:r>
            <a:r>
              <a:rPr lang="ru-RU" dirty="0" smtClean="0"/>
              <a:t> инициирует отправку уведомления через </a:t>
            </a:r>
            <a:r>
              <a:rPr lang="ru-RU" dirty="0" err="1" smtClean="0"/>
              <a:t>NotificationService</a:t>
            </a:r>
            <a:r>
              <a:rPr lang="ru-RU" dirty="0" smtClean="0"/>
              <a:t>; после подтверждения он возвращает Клиенту успешный ответ.</a:t>
            </a:r>
          </a:p>
          <a:p>
            <a:pPr algn="just"/>
            <a:r>
              <a:rPr lang="ru-RU" dirty="0" smtClean="0"/>
              <a:t>Альтернативную ветку — сбой </a:t>
            </a:r>
            <a:r>
              <a:rPr lang="ru-RU" dirty="0" err="1" smtClean="0"/>
              <a:t>UserService</a:t>
            </a:r>
            <a:r>
              <a:rPr lang="ru-RU" dirty="0" smtClean="0"/>
              <a:t> — показывают с помощью фрагмента </a:t>
            </a:r>
            <a:r>
              <a:rPr lang="ru-RU" dirty="0" err="1" smtClean="0"/>
              <a:t>alt</a:t>
            </a:r>
            <a:r>
              <a:rPr lang="ru-RU" dirty="0" smtClean="0"/>
              <a:t> (альтернатива) или </a:t>
            </a:r>
            <a:r>
              <a:rPr lang="ru-RU" dirty="0" err="1" smtClean="0"/>
              <a:t>opt</a:t>
            </a:r>
            <a:r>
              <a:rPr lang="ru-RU" dirty="0" smtClean="0"/>
              <a:t> (опционально). Если </a:t>
            </a:r>
            <a:r>
              <a:rPr lang="ru-RU" dirty="0" err="1" smtClean="0"/>
              <a:t>UserService</a:t>
            </a:r>
            <a:r>
              <a:rPr lang="ru-RU" dirty="0" smtClean="0"/>
              <a:t> возвращает 503 или не отвечает, </a:t>
            </a:r>
            <a:r>
              <a:rPr lang="ru-RU" dirty="0" err="1" smtClean="0"/>
              <a:t>OrderService</a:t>
            </a:r>
            <a:r>
              <a:rPr lang="ru-RU" dirty="0" smtClean="0"/>
              <a:t> не прерывает сценарий, а запускает цикл повторных попыток: делает до трёх запросов, увеличивая задержку между ними по экспоненте (1, 2, 4 секунды). Это оформляют фрагментом </a:t>
            </a:r>
            <a:r>
              <a:rPr lang="ru-RU" dirty="0" err="1" smtClean="0"/>
              <a:t>loop</a:t>
            </a:r>
            <a:r>
              <a:rPr lang="ru-RU" dirty="0" smtClean="0"/>
              <a:t> с условием «</a:t>
            </a:r>
            <a:r>
              <a:rPr lang="ru-RU" dirty="0" err="1" smtClean="0"/>
              <a:t>retry</a:t>
            </a:r>
            <a:r>
              <a:rPr lang="ru-RU" dirty="0" smtClean="0"/>
              <a:t> </a:t>
            </a:r>
            <a:r>
              <a:rPr lang="ru-RU" dirty="0" err="1" smtClean="0"/>
              <a:t>count</a:t>
            </a:r>
            <a:r>
              <a:rPr lang="ru-RU" dirty="0" smtClean="0"/>
              <a:t> &lt; </a:t>
            </a:r>
            <a:r>
              <a:rPr lang="ru-RU" dirty="0" err="1" smtClean="0"/>
              <a:t>max_retries</a:t>
            </a:r>
            <a:r>
              <a:rPr lang="ru-RU" dirty="0" smtClean="0"/>
              <a:t>» и метками задержек рядом со стрелками.</a:t>
            </a:r>
          </a:p>
          <a:p>
            <a:pPr algn="just"/>
            <a:r>
              <a:rPr lang="ru-RU" dirty="0" smtClean="0"/>
              <a:t>Если на одной из попыток </a:t>
            </a:r>
            <a:r>
              <a:rPr lang="ru-RU" dirty="0" err="1" smtClean="0"/>
              <a:t>UserService</a:t>
            </a:r>
            <a:r>
              <a:rPr lang="ru-RU" dirty="0" smtClean="0"/>
              <a:t> отвечает успешно — система продолжает сценарий к </a:t>
            </a:r>
            <a:r>
              <a:rPr lang="ru-RU" dirty="0" err="1" smtClean="0"/>
              <a:t>NotificationService</a:t>
            </a:r>
            <a:r>
              <a:rPr lang="ru-RU" dirty="0" smtClean="0"/>
              <a:t> и завершает его штатно. Если лимит попыток исчерпан — </a:t>
            </a:r>
            <a:r>
              <a:rPr lang="ru-RU" dirty="0" err="1" smtClean="0"/>
              <a:t>OrderService</a:t>
            </a:r>
            <a:r>
              <a:rPr lang="ru-RU" dirty="0" smtClean="0"/>
              <a:t> сразу возвращает Клиенту ошибку (например, HTTP 503) без вызова </a:t>
            </a:r>
            <a:r>
              <a:rPr lang="ru-RU" dirty="0" err="1" smtClean="0"/>
              <a:t>NotificationService</a:t>
            </a:r>
            <a:r>
              <a:rPr lang="ru-RU" dirty="0" smtClean="0"/>
              <a:t>, чтобы избежать несогласованности состояния.</a:t>
            </a:r>
          </a:p>
          <a:p>
            <a:pPr algn="just"/>
            <a:r>
              <a:rPr lang="ru-RU" dirty="0" smtClean="0"/>
              <a:t>Такая детализация фиксирует, кто отвечает за обработку сбоя, какие лимиты и задержки нужны, и как Клиент получает понятный результат — это основа для </a:t>
            </a:r>
            <a:r>
              <a:rPr lang="ru-RU" dirty="0" err="1" smtClean="0"/>
              <a:t>тест‑кейсов</a:t>
            </a:r>
            <a:r>
              <a:rPr lang="ru-RU" dirty="0" smtClean="0"/>
              <a:t>, документации API и выявления узких мест в синхронизации сервисов.</a:t>
            </a:r>
          </a:p>
        </p:txBody>
      </p:sp>
    </p:spTree>
    <p:extLst>
      <p:ext uri="{BB962C8B-B14F-4D97-AF65-F5344CB8AC3E}">
        <p14:creationId xmlns:p14="http://schemas.microsoft.com/office/powerpoint/2010/main" xmlns="" val="183273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3" y="196649"/>
            <a:ext cx="6572296" cy="646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32736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278</TotalTime>
  <Words>648</Words>
  <Application>Microsoft Office PowerPoint</Application>
  <PresentationFormat>Экран (4:3)</PresentationFormat>
  <Paragraphs>20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Справедливость</vt:lpstr>
      <vt:lpstr>Микросервисная архитектура</vt:lpstr>
      <vt:lpstr>Слайд 2</vt:lpstr>
      <vt:lpstr>Слайд 3</vt:lpstr>
      <vt:lpstr>Микросервис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Local Area Network (VLAN)</dc:title>
  <dc:creator>user</dc:creator>
  <cp:lastModifiedBy>user</cp:lastModifiedBy>
  <cp:revision>40</cp:revision>
  <dcterms:created xsi:type="dcterms:W3CDTF">2024-11-10T14:23:58Z</dcterms:created>
  <dcterms:modified xsi:type="dcterms:W3CDTF">2026-10-29T19:49:18Z</dcterms:modified>
</cp:coreProperties>
</file>