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2" r:id="rId5"/>
    <p:sldId id="265" r:id="rId6"/>
    <p:sldId id="266" r:id="rId7"/>
    <p:sldId id="263" r:id="rId8"/>
    <p:sldId id="267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930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E1DBA9E-009E-4185-A20A-A3E4255DE3B3}" type="datetimeFigureOut">
              <a:rPr lang="ru-RU" smtClean="0"/>
              <a:pPr/>
              <a:t>16.10.2026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BDF054E-5D6A-433A-954D-493194287BC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king-soap-api-calls-using-python/?ysclid=m3vgx0r2yr862854753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mtClean="0"/>
              <a:t>SOA-</a:t>
            </a:r>
            <a:r>
              <a:rPr lang="ru-RU" dirty="0" smtClean="0"/>
              <a:t>архитектура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1" y="121442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Making SOAP API calls using Python</a:t>
            </a:r>
          </a:p>
          <a:p>
            <a:r>
              <a:rPr lang="en-US" sz="2400" dirty="0" smtClean="0">
                <a:hlinkClick r:id="rId2"/>
              </a:rPr>
              <a:t>https://www.geeksforgeeks.org/making-soap-api-calls-using-python/?ysclid=m3vgx0r2yr862854753</a:t>
            </a:r>
            <a:endParaRPr lang="ru-RU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28662" y="-357214"/>
            <a:ext cx="7772400" cy="1143000"/>
          </a:xfrm>
        </p:spPr>
        <p:txBody>
          <a:bodyPr/>
          <a:lstStyle/>
          <a:p>
            <a:pPr algn="ctr"/>
            <a:r>
              <a:rPr lang="ru-RU" dirty="0" smtClean="0"/>
              <a:t>Дополнительные ссылки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60648"/>
            <a:ext cx="9144000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/>
              <a:t>Распределённые вычисления подразумевают, что часть логики или данных находится не в локальной программе, а на удалённом сервере, а приложение запрашивает их по сети. Веб‑сервис — это интерфейс, который предоставляет сервер для внешнего использования: он принимает запросы, выполняет операции и возвращает результат. В контексте задания веб‑сервис ЦБ РФ выступает как удалённый источник актуальных финансовых данных, а локальная программа на </a:t>
            </a:r>
            <a:r>
              <a:rPr lang="ru-RU" sz="1500" dirty="0" err="1"/>
              <a:t>Python</a:t>
            </a:r>
            <a:r>
              <a:rPr lang="ru-RU" sz="1500" dirty="0"/>
              <a:t> — как клиент, который эти данные запрашивает и обрабатывает.</a:t>
            </a:r>
          </a:p>
          <a:p>
            <a:pPr algn="just"/>
            <a:r>
              <a:rPr lang="ru-RU" sz="1500" dirty="0"/>
              <a:t>SOAP (</a:t>
            </a:r>
            <a:r>
              <a:rPr lang="ru-RU" sz="1500" dirty="0" err="1"/>
              <a:t>Simple</a:t>
            </a:r>
            <a:r>
              <a:rPr lang="ru-RU" sz="1500" dirty="0"/>
              <a:t> </a:t>
            </a:r>
            <a:r>
              <a:rPr lang="ru-RU" sz="1500" dirty="0" err="1"/>
              <a:t>Object</a:t>
            </a:r>
            <a:r>
              <a:rPr lang="ru-RU" sz="1500" dirty="0"/>
              <a:t> </a:t>
            </a:r>
            <a:r>
              <a:rPr lang="ru-RU" sz="1500" dirty="0" err="1"/>
              <a:t>Access</a:t>
            </a:r>
            <a:r>
              <a:rPr lang="ru-RU" sz="1500" dirty="0"/>
              <a:t> </a:t>
            </a:r>
            <a:r>
              <a:rPr lang="ru-RU" sz="1500" dirty="0" err="1"/>
              <a:t>Protocol</a:t>
            </a:r>
            <a:r>
              <a:rPr lang="ru-RU" sz="1500" dirty="0"/>
              <a:t>) — это протокол обмена структурированными сообщениями (обычно в формате XML) для вызова удалённых процедур. В отличие от более простого REST, SOAP строго регламентирует формат запроса и ответа, что удобно в корпоративной и финансовой среде. WSDL (</a:t>
            </a:r>
            <a:r>
              <a:rPr lang="ru-RU" sz="1500" dirty="0" err="1"/>
              <a:t>Web</a:t>
            </a:r>
            <a:r>
              <a:rPr lang="ru-RU" sz="1500" dirty="0"/>
              <a:t> </a:t>
            </a:r>
            <a:r>
              <a:rPr lang="ru-RU" sz="1500" dirty="0" err="1"/>
              <a:t>Services</a:t>
            </a:r>
            <a:r>
              <a:rPr lang="ru-RU" sz="1500" dirty="0"/>
              <a:t> </a:t>
            </a:r>
            <a:r>
              <a:rPr lang="ru-RU" sz="1500" dirty="0" err="1"/>
              <a:t>Description</a:t>
            </a:r>
            <a:r>
              <a:rPr lang="ru-RU" sz="1500" dirty="0"/>
              <a:t> </a:t>
            </a:r>
            <a:r>
              <a:rPr lang="ru-RU" sz="1500" dirty="0" err="1"/>
              <a:t>Language</a:t>
            </a:r>
            <a:r>
              <a:rPr lang="ru-RU" sz="1500" dirty="0"/>
              <a:t>) — это XML‑документ, который описывает интерфейс сервиса: какие операции доступны, какие параметры они принимают и какие типы данных возвращают. По WSDL‑адресу библиотека </a:t>
            </a:r>
            <a:r>
              <a:rPr lang="ru-RU" sz="1500" dirty="0" err="1"/>
              <a:t>zeep</a:t>
            </a:r>
            <a:r>
              <a:rPr lang="ru-RU" sz="1500" dirty="0"/>
              <a:t> автоматически строит клиентский код, позволяя обращаться к методам сервиса как к обычным функциям </a:t>
            </a:r>
            <a:r>
              <a:rPr lang="ru-RU" sz="1500" dirty="0" err="1"/>
              <a:t>Python</a:t>
            </a:r>
            <a:r>
              <a:rPr lang="ru-RU" sz="1500" dirty="0"/>
              <a:t>.</a:t>
            </a:r>
          </a:p>
          <a:p>
            <a:pPr algn="just"/>
            <a:r>
              <a:rPr lang="ru-RU" sz="1500" dirty="0" err="1"/>
              <a:t>Zeep</a:t>
            </a:r>
            <a:r>
              <a:rPr lang="ru-RU" sz="1500" dirty="0"/>
              <a:t> — это современный SOAP‑клиент для </a:t>
            </a:r>
            <a:r>
              <a:rPr lang="ru-RU" sz="1500" dirty="0" err="1"/>
              <a:t>Python</a:t>
            </a:r>
            <a:r>
              <a:rPr lang="ru-RU" sz="1500" dirty="0"/>
              <a:t>, который упрощает работу с WSDL: он берёт на себя формирование SOAP‑запросов, отправку по HTTP, разбор XML‑ответа и преобразование его в удобные </a:t>
            </a:r>
            <a:r>
              <a:rPr lang="ru-RU" sz="1500" dirty="0" err="1"/>
              <a:t>Python</a:t>
            </a:r>
            <a:r>
              <a:rPr lang="ru-RU" sz="1500" dirty="0"/>
              <a:t>‑объекты. Поскольку SOAP возвращает сложные вложенные структуры, </a:t>
            </a:r>
            <a:r>
              <a:rPr lang="ru-RU" sz="1500" dirty="0" err="1"/>
              <a:t>zeep</a:t>
            </a:r>
            <a:r>
              <a:rPr lang="ru-RU" sz="1500" dirty="0"/>
              <a:t> предоставляет вспомогательные утилиты (например, </a:t>
            </a:r>
            <a:r>
              <a:rPr lang="ru-RU" sz="1500" dirty="0" err="1"/>
              <a:t>zeep.helpers.serialize_object</a:t>
            </a:r>
            <a:r>
              <a:rPr lang="ru-RU" sz="1500" dirty="0"/>
              <a:t>), которые превращают эти структуры в обычные словари и списки. Это позволяет работать с данными привычными средствами языка, не разбирая вручную XML.</a:t>
            </a:r>
          </a:p>
          <a:p>
            <a:pPr algn="just"/>
            <a:r>
              <a:rPr lang="ru-RU" sz="1500" dirty="0"/>
              <a:t>В распределённых приложениях важно корректно передавать и интерпретировать даты: сервер может ожидать конкретный формат или тип данных, а клиент должен использовать системные средства для получения актуальной даты. В </a:t>
            </a:r>
            <a:r>
              <a:rPr lang="ru-RU" sz="1500" dirty="0" err="1"/>
              <a:t>Python</a:t>
            </a:r>
            <a:r>
              <a:rPr lang="ru-RU" sz="1500" dirty="0"/>
              <a:t> модуль </a:t>
            </a:r>
            <a:r>
              <a:rPr lang="ru-RU" sz="1500" dirty="0" err="1"/>
              <a:t>datetime</a:t>
            </a:r>
            <a:r>
              <a:rPr lang="ru-RU" sz="1500" dirty="0"/>
              <a:t> даёт инструменты для работы с текущим временем и форматированием. При вызове методов веб‑сервиса дата часто передаётся как объект </a:t>
            </a:r>
            <a:r>
              <a:rPr lang="ru-RU" sz="1500" dirty="0" err="1"/>
              <a:t>datetime</a:t>
            </a:r>
            <a:r>
              <a:rPr lang="ru-RU" sz="1500" dirty="0"/>
              <a:t> или строка в определённом формате — это зависит от описания в WSDL. Кроме того, методы сервиса могут возвращать дату публикации данных или момент последнего обновления, и тогда задача клиента — извлечь из этой информации нужные компоненты (год, месяц, день) с помощью строковых или дата‑функций.</a:t>
            </a:r>
          </a:p>
        </p:txBody>
      </p:sp>
    </p:spTree>
    <p:extLst>
      <p:ext uri="{BB962C8B-B14F-4D97-AF65-F5344CB8AC3E}">
        <p14:creationId xmlns:p14="http://schemas.microsoft.com/office/powerpoint/2010/main" val="96961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-357214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SOAP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785794"/>
            <a:ext cx="7417528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2000232" y="2285992"/>
            <a:ext cx="500066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Подключение к ресурсу</a:t>
            </a:r>
            <a:endParaRPr lang="ru-R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571876"/>
            <a:ext cx="7937556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2039920" y="4357694"/>
            <a:ext cx="500066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Вызов функции </a:t>
            </a:r>
            <a:r>
              <a:rPr lang="ru-RU" dirty="0" err="1" smtClean="0"/>
              <a:t>веб-сервиса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60648"/>
            <a:ext cx="91440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SOAP‑сервис — это серверная программа, которая принимает XML‑запросы по HTTP, выполняет бизнес‑логику и возвращает XML‑ответ по правилам протокола. В отличие от REST, где акцент на ресурсах и HTTP‑глаголах, в SOAP вся логика инкапсулирована в операциях (методах), а контракт сервиса задаётся WSDL. Для создания такого сервиса в </a:t>
            </a:r>
            <a:r>
              <a:rPr lang="ru-RU" sz="1600" dirty="0" err="1"/>
              <a:t>Python</a:t>
            </a:r>
            <a:r>
              <a:rPr lang="ru-RU" sz="1600" dirty="0"/>
              <a:t> удобно использовать библиотеку </a:t>
            </a:r>
            <a:r>
              <a:rPr lang="ru-RU" sz="1600" dirty="0" err="1"/>
              <a:t>Spyne</a:t>
            </a:r>
            <a:r>
              <a:rPr lang="ru-RU" sz="1600" dirty="0"/>
              <a:t>: она позволяет описать типы данных и методы как обычные классы и функции, а сама берёт на себя </a:t>
            </a:r>
            <a:r>
              <a:rPr lang="ru-RU" sz="1600" dirty="0" err="1"/>
              <a:t>сериализацию</a:t>
            </a:r>
            <a:r>
              <a:rPr lang="ru-RU" sz="1600" dirty="0"/>
              <a:t> в XML, обработку запросов и генерацию WSDL.</a:t>
            </a:r>
          </a:p>
          <a:p>
            <a:pPr algn="just"/>
            <a:r>
              <a:rPr lang="ru-RU" sz="1600" dirty="0"/>
              <a:t>В </a:t>
            </a:r>
            <a:r>
              <a:rPr lang="ru-RU" sz="1600" dirty="0" err="1"/>
              <a:t>Spyne</a:t>
            </a:r>
            <a:r>
              <a:rPr lang="ru-RU" sz="1600" dirty="0"/>
              <a:t> сервис строится вокруг класса, наследуемого от </a:t>
            </a:r>
            <a:r>
              <a:rPr lang="ru-RU" sz="1600" dirty="0" err="1"/>
              <a:t>ServiceBase</a:t>
            </a:r>
            <a:r>
              <a:rPr lang="ru-RU" sz="1600" dirty="0"/>
              <a:t>, где каждый публичный метод становится SOAP‑операцией. Типы данных (строки, числа, списки, сложные объекты) описываются через типы </a:t>
            </a:r>
            <a:r>
              <a:rPr lang="ru-RU" sz="1600" dirty="0" err="1"/>
              <a:t>Spyne</a:t>
            </a:r>
            <a:r>
              <a:rPr lang="ru-RU" sz="1600" dirty="0"/>
              <a:t> (</a:t>
            </a:r>
            <a:r>
              <a:rPr lang="ru-RU" sz="1600" dirty="0" err="1"/>
              <a:t>Unicode</a:t>
            </a:r>
            <a:r>
              <a:rPr lang="ru-RU" sz="1600" dirty="0"/>
              <a:t>, </a:t>
            </a:r>
            <a:r>
              <a:rPr lang="ru-RU" sz="1600" dirty="0" err="1"/>
              <a:t>Integer</a:t>
            </a:r>
            <a:r>
              <a:rPr lang="ru-RU" sz="1600" dirty="0"/>
              <a:t>, </a:t>
            </a:r>
            <a:r>
              <a:rPr lang="ru-RU" sz="1600" dirty="0" err="1"/>
              <a:t>Array</a:t>
            </a:r>
            <a:r>
              <a:rPr lang="ru-RU" sz="1600" dirty="0"/>
              <a:t> и т. д.) — это нужно, чтобы библиотека могла корректно строить XML и </a:t>
            </a:r>
            <a:r>
              <a:rPr lang="ru-RU" sz="1600" dirty="0" err="1"/>
              <a:t>валидировать</a:t>
            </a:r>
            <a:r>
              <a:rPr lang="ru-RU" sz="1600" dirty="0"/>
              <a:t> входящие данные. WSDL генерируется автоматически по адресу вида /</a:t>
            </a:r>
            <a:r>
              <a:rPr lang="ru-RU" sz="1600" dirty="0" err="1"/>
              <a:t>soap</a:t>
            </a:r>
            <a:r>
              <a:rPr lang="ru-RU" sz="1600" dirty="0"/>
              <a:t> (или как настроено), и именно по нему клиенты (например, </a:t>
            </a:r>
            <a:r>
              <a:rPr lang="ru-RU" sz="1600" dirty="0" err="1"/>
              <a:t>Zeep</a:t>
            </a:r>
            <a:r>
              <a:rPr lang="ru-RU" sz="1600" dirty="0"/>
              <a:t>) узнают, какие методы доступны и в каком формате их вызывать.</a:t>
            </a:r>
          </a:p>
          <a:p>
            <a:pPr algn="just"/>
            <a:r>
              <a:rPr lang="ru-RU" sz="1600" dirty="0"/>
              <a:t>Браузер не «понимает» SOAP напрямую, но он может отобразить WSDL как XML‑документ и показать страницу с описанием сервиса. Часто </a:t>
            </a:r>
            <a:r>
              <a:rPr lang="ru-RU" sz="1600" dirty="0" err="1"/>
              <a:t>фреймворки</a:t>
            </a:r>
            <a:r>
              <a:rPr lang="ru-RU" sz="1600" dirty="0"/>
              <a:t> добавляют простую HTML‑страницу с перечнем методов и ссылками на тестовые вызовы или на сам WSDL. Таким образом, через браузер можно визуально проверить, что сервис запущен, увидеть доступные операции и структуру WSDL, а иногда — сделать тестовый запрос в упрощённом виде. Это полезно для быстрой диагностики и демонстрации.</a:t>
            </a:r>
          </a:p>
          <a:p>
            <a:pPr algn="just"/>
            <a:r>
              <a:rPr lang="ru-RU" sz="1600" dirty="0" err="1"/>
              <a:t>Zeep</a:t>
            </a:r>
            <a:r>
              <a:rPr lang="ru-RU" sz="1600" dirty="0"/>
              <a:t> выступает в роли SOAP‑клиента: по WSDL‑адресу он строит </a:t>
            </a:r>
            <a:r>
              <a:rPr lang="ru-RU" sz="1600" dirty="0" err="1"/>
              <a:t>Python</a:t>
            </a:r>
            <a:r>
              <a:rPr lang="ru-RU" sz="1600" dirty="0"/>
              <a:t>‑интерфейс к сервису, превращая удалённые методы в локальные функции. При вызове </a:t>
            </a:r>
            <a:r>
              <a:rPr lang="ru-RU" sz="1600" dirty="0" err="1"/>
              <a:t>Zeep</a:t>
            </a:r>
            <a:r>
              <a:rPr lang="ru-RU" sz="1600" dirty="0"/>
              <a:t> формирует правильный SOAP‑запрос (с обёртками </a:t>
            </a:r>
            <a:r>
              <a:rPr lang="ru-RU" sz="1600" dirty="0" err="1"/>
              <a:t>Envelope</a:t>
            </a:r>
            <a:r>
              <a:rPr lang="ru-RU" sz="1600" dirty="0"/>
              <a:t>, </a:t>
            </a:r>
            <a:r>
              <a:rPr lang="ru-RU" sz="1600" dirty="0" err="1"/>
              <a:t>Header</a:t>
            </a:r>
            <a:r>
              <a:rPr lang="ru-RU" sz="1600" dirty="0"/>
              <a:t>, </a:t>
            </a:r>
            <a:r>
              <a:rPr lang="ru-RU" sz="1600" dirty="0" err="1"/>
              <a:t>Body</a:t>
            </a:r>
            <a:r>
              <a:rPr lang="ru-RU" sz="1600" dirty="0"/>
              <a:t>), отправляет его по HTTP и разбирает ответ в удобные </a:t>
            </a:r>
            <a:r>
              <a:rPr lang="ru-RU" sz="1600" dirty="0" err="1"/>
              <a:t>Python</a:t>
            </a:r>
            <a:r>
              <a:rPr lang="ru-RU" sz="1600" dirty="0"/>
              <a:t>‑объекты. Такой подход позволяет писать клиентский код почти так же, как при работе с обычными функциями, скрывая сложность XML и протокола SOAP.</a:t>
            </a:r>
          </a:p>
        </p:txBody>
      </p:sp>
    </p:spTree>
    <p:extLst>
      <p:ext uri="{BB962C8B-B14F-4D97-AF65-F5344CB8AC3E}">
        <p14:creationId xmlns:p14="http://schemas.microsoft.com/office/powerpoint/2010/main" val="183273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595312"/>
            <a:ext cx="766762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8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357214"/>
            <a:ext cx="9144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Работа с </a:t>
            </a:r>
            <a:r>
              <a:rPr lang="en-US" dirty="0" smtClean="0"/>
              <a:t>IP (</a:t>
            </a:r>
            <a:r>
              <a:rPr lang="ru-RU" dirty="0" smtClean="0"/>
              <a:t>вариант функция для задания 2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786322"/>
            <a:ext cx="43434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857752" y="6143644"/>
            <a:ext cx="285752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Получение хостов в сети</a:t>
            </a:r>
            <a:endParaRPr lang="ru-R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2500306"/>
            <a:ext cx="5314988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2500298" y="3500438"/>
            <a:ext cx="285752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Получение исходной сети по хосту</a:t>
            </a:r>
            <a:endParaRPr lang="ru-RU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857232"/>
            <a:ext cx="50006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14282" y="1357298"/>
            <a:ext cx="500066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Получение широковещательного без дополнительных модулей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692696"/>
            <a:ext cx="3719130" cy="439248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188640"/>
            <a:ext cx="522007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/>
              <a:t>Диаграмма последовательности (</a:t>
            </a:r>
            <a:r>
              <a:rPr lang="ru-RU" sz="1200" dirty="0" err="1"/>
              <a:t>Sequence</a:t>
            </a:r>
            <a:r>
              <a:rPr lang="ru-RU" sz="1200" dirty="0"/>
              <a:t> </a:t>
            </a:r>
            <a:r>
              <a:rPr lang="ru-RU" sz="1200" dirty="0" err="1"/>
              <a:t>Diagram</a:t>
            </a:r>
            <a:r>
              <a:rPr lang="ru-RU" sz="1200" dirty="0"/>
              <a:t>) в SOA показывает временной порядок взаимодействий между сервисами и клиентом, а также передачу сообщений (запросов/ответов) по сети. Для сценария «карточка заказа» она фиксирует, как клиентский запрос превращается в цепочку вызовов между сервисами, где происходит агрегация данных и как передаются сквозные параметры (например, идентификатор транзакции) в заголовках сообщений.</a:t>
            </a:r>
          </a:p>
          <a:p>
            <a:pPr algn="just"/>
            <a:r>
              <a:rPr lang="ru-RU" sz="1200" dirty="0"/>
              <a:t>Клиентское приложение инициирует запрос и ожидает итоговую карточку заказа. </a:t>
            </a:r>
            <a:r>
              <a:rPr lang="ru-RU" sz="1200" dirty="0" err="1"/>
              <a:t>OrderService</a:t>
            </a:r>
            <a:r>
              <a:rPr lang="ru-RU" sz="1200" dirty="0"/>
              <a:t> — оркестратор: он принимает запрос, вызывает </a:t>
            </a:r>
            <a:r>
              <a:rPr lang="ru-RU" sz="1200" dirty="0" err="1"/>
              <a:t>CustomerService</a:t>
            </a:r>
            <a:r>
              <a:rPr lang="ru-RU" sz="1200" dirty="0"/>
              <a:t> для получения профиля клиента и </a:t>
            </a:r>
            <a:r>
              <a:rPr lang="ru-RU" sz="1200" dirty="0" err="1"/>
              <a:t>InventoryService</a:t>
            </a:r>
            <a:r>
              <a:rPr lang="ru-RU" sz="1200" dirty="0"/>
              <a:t> для проверки остатков, затем агрегирует данные и возвращает единый ответ. </a:t>
            </a:r>
            <a:r>
              <a:rPr lang="ru-RU" sz="1200" dirty="0" err="1"/>
              <a:t>CustomerService</a:t>
            </a:r>
            <a:r>
              <a:rPr lang="ru-RU" sz="1200" dirty="0"/>
              <a:t> и </a:t>
            </a:r>
            <a:r>
              <a:rPr lang="ru-RU" sz="1200" dirty="0" err="1"/>
              <a:t>InventoryService</a:t>
            </a:r>
            <a:r>
              <a:rPr lang="ru-RU" sz="1200" dirty="0"/>
              <a:t> — специализированные сервисы, отвечающие только за свои доменные данные. Такая декомпозиция повышает масштабируемость и упрощает поддержку.</a:t>
            </a:r>
          </a:p>
          <a:p>
            <a:pPr algn="just"/>
            <a:r>
              <a:rPr lang="ru-RU" sz="1200" dirty="0"/>
              <a:t>В SOAP‑сообщениях служебные данные (идентификатор транзакции, учётные данные, приоритет, время запроса) удобно выносить в заголовок (SOAP </a:t>
            </a:r>
            <a:r>
              <a:rPr lang="ru-RU" sz="1200" dirty="0" err="1"/>
              <a:t>Header</a:t>
            </a:r>
            <a:r>
              <a:rPr lang="ru-RU" sz="1200" dirty="0"/>
              <a:t>), а бизнес‑данные — в тело (SOAP </a:t>
            </a:r>
            <a:r>
              <a:rPr lang="ru-RU" sz="1200" dirty="0" err="1"/>
              <a:t>Body</a:t>
            </a:r>
            <a:r>
              <a:rPr lang="ru-RU" sz="1200" dirty="0"/>
              <a:t>). Это позволяет инфраструктуре (шлюзы, </a:t>
            </a:r>
            <a:r>
              <a:rPr lang="ru-RU" sz="1200" dirty="0" err="1"/>
              <a:t>логирование</a:t>
            </a:r>
            <a:r>
              <a:rPr lang="ru-RU" sz="1200" dirty="0"/>
              <a:t>, трассировка) обрабатывать контекст независимо от полезной нагрузки. На диаграмме это отражают как атрибуты сообщения: например, </a:t>
            </a:r>
            <a:r>
              <a:rPr lang="ru-RU" sz="1200" dirty="0" err="1"/>
              <a:t>header</a:t>
            </a:r>
            <a:r>
              <a:rPr lang="ru-RU" sz="1200" dirty="0"/>
              <a:t>: {</a:t>
            </a:r>
            <a:r>
              <a:rPr lang="ru-RU" sz="1200" dirty="0" err="1"/>
              <a:t>txnId</a:t>
            </a:r>
            <a:r>
              <a:rPr lang="ru-RU" sz="1200" dirty="0"/>
              <a:t>: "ABC123", </a:t>
            </a:r>
            <a:r>
              <a:rPr lang="ru-RU" sz="1200" dirty="0" err="1"/>
              <a:t>auth</a:t>
            </a:r>
            <a:r>
              <a:rPr lang="ru-RU" sz="1200" dirty="0"/>
              <a:t>: "</a:t>
            </a:r>
            <a:r>
              <a:rPr lang="ru-RU" sz="1200" dirty="0" err="1"/>
              <a:t>token</a:t>
            </a:r>
            <a:r>
              <a:rPr lang="ru-RU" sz="1200" dirty="0"/>
              <a:t>"}.</a:t>
            </a:r>
          </a:p>
          <a:p>
            <a:pPr algn="just"/>
            <a:r>
              <a:rPr lang="ru-RU" sz="1200" dirty="0" err="1"/>
              <a:t>OrderService</a:t>
            </a:r>
            <a:r>
              <a:rPr lang="ru-RU" sz="1200" dirty="0"/>
              <a:t> выполняет роль оркестратора: получив запрос, он параллельно или последовательно вызывает зависимые сервисы, обрабатывает их ответы, проверяет согласованность данных (например, что товар действительно есть в наличии), формирует итоговую структуру «карточка заказа» и возвращает её клиенту. Такой подход скрывает сложность распределённой системы от клиента.</a:t>
            </a:r>
          </a:p>
          <a:p>
            <a:pPr algn="just"/>
            <a:r>
              <a:rPr lang="ru-RU" sz="1200" dirty="0"/>
              <a:t>Если один из сервисов (</a:t>
            </a:r>
            <a:r>
              <a:rPr lang="ru-RU" sz="1200" dirty="0" err="1"/>
              <a:t>CustomerService</a:t>
            </a:r>
            <a:r>
              <a:rPr lang="ru-RU" sz="1200" dirty="0"/>
              <a:t> или </a:t>
            </a:r>
            <a:r>
              <a:rPr lang="ru-RU" sz="1200" dirty="0" err="1"/>
              <a:t>InventoryService</a:t>
            </a:r>
            <a:r>
              <a:rPr lang="ru-RU" sz="1200" dirty="0"/>
              <a:t>) не отвечает или возвращает ошибку, </a:t>
            </a:r>
            <a:r>
              <a:rPr lang="ru-RU" sz="1200" dirty="0" err="1"/>
              <a:t>OrderService</a:t>
            </a:r>
            <a:r>
              <a:rPr lang="ru-RU" sz="1200" dirty="0"/>
              <a:t> должен корректно обработать ситуацию: вернуть клиенту понятный код ошибки, </a:t>
            </a:r>
            <a:r>
              <a:rPr lang="ru-RU" sz="1200" dirty="0" err="1"/>
              <a:t>залогировать</a:t>
            </a:r>
            <a:r>
              <a:rPr lang="ru-RU" sz="1200" dirty="0"/>
              <a:t> проблему и, при необходимости, включить механизмы повторных попыток или компенсационных действий. На диаграмме такие сценарии изображают через альтернативные блоки (</a:t>
            </a:r>
            <a:r>
              <a:rPr lang="ru-RU" sz="1200" dirty="0" err="1"/>
              <a:t>alt</a:t>
            </a:r>
            <a:r>
              <a:rPr lang="ru-RU" sz="1200" dirty="0"/>
              <a:t>/</a:t>
            </a:r>
            <a:r>
              <a:rPr lang="ru-RU" sz="1200" dirty="0" err="1"/>
              <a:t>opt</a:t>
            </a:r>
            <a:r>
              <a:rPr lang="ru-RU" sz="1200" dirty="0"/>
              <a:t>) или отдельные ветки ошибок.</a:t>
            </a:r>
          </a:p>
        </p:txBody>
      </p:sp>
    </p:spTree>
    <p:extLst>
      <p:ext uri="{BB962C8B-B14F-4D97-AF65-F5344CB8AC3E}">
        <p14:creationId xmlns:p14="http://schemas.microsoft.com/office/powerpoint/2010/main" val="1930614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263</TotalTime>
  <Words>151</Words>
  <Application>Microsoft Office PowerPoint</Application>
  <PresentationFormat>Экран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Cambria</vt:lpstr>
      <vt:lpstr>Franklin Gothic Book</vt:lpstr>
      <vt:lpstr>Perpetua</vt:lpstr>
      <vt:lpstr>Wingdings 2</vt:lpstr>
      <vt:lpstr>Справедливость</vt:lpstr>
      <vt:lpstr>SOA-архитектура</vt:lpstr>
      <vt:lpstr>Дополнительные ссылки</vt:lpstr>
      <vt:lpstr>Презентация PowerPoint</vt:lpstr>
      <vt:lpstr>SOAP</vt:lpstr>
      <vt:lpstr>Презентация PowerPoint</vt:lpstr>
      <vt:lpstr>Презентация PowerPoint</vt:lpstr>
      <vt:lpstr>Работа с IP (вариант функция для задания 2)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Local Area Network (VLAN)</dc:title>
  <dc:creator>user</dc:creator>
  <cp:lastModifiedBy>user</cp:lastModifiedBy>
  <cp:revision>38</cp:revision>
  <dcterms:created xsi:type="dcterms:W3CDTF">2024-11-10T14:23:58Z</dcterms:created>
  <dcterms:modified xsi:type="dcterms:W3CDTF">2026-10-16T12:59:53Z</dcterms:modified>
</cp:coreProperties>
</file>