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7" r:id="rId5"/>
    <p:sldId id="266" r:id="rId6"/>
    <p:sldId id="258" r:id="rId7"/>
    <p:sldId id="259" r:id="rId8"/>
    <p:sldId id="260" r:id="rId9"/>
    <p:sldId id="261" r:id="rId10"/>
    <p:sldId id="262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Развёртывание и администрирование виртуальной среды на примере </a:t>
            </a:r>
            <a:r>
              <a:rPr lang="en-US" b="1" dirty="0" smtClean="0"/>
              <a:t>Linux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096000" cy="4572000"/>
          </a:xfrm>
          <a:prstGeom prst="rect">
            <a:avLst/>
          </a:prstGeom>
          <a:noFill/>
        </p:spPr>
      </p:pic>
      <p:pic>
        <p:nvPicPr>
          <p:cNvPr id="16390" name="Picture 6" descr="https://articles-static-cdn.moluch.org/articles/j/33873/images/33873.00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4071942"/>
            <a:ext cx="5372100" cy="2786058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5643570" y="500042"/>
            <a:ext cx="350043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Гипервизор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(например,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создаёт программную копию компьютера — с виртуальным процессором, памятью, диском и т. д.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Выделяет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часть ресурсов хоста (вашего ПК): сколько ядер CPU, сколько ГБ RAM, сколько места на диске.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Запускает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внутри эту «копию» — туда ставится ОС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пр.), и она думает, что работает на реальном железе.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Изолирует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ВМ от основной системы: всё, что происходит внутри, не ломает ваш ПК; файлы, настройки и сбои остаются в ВМ.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Управляет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доступом к реальному оборудованию: когда ВМ хочет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что‑то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сделать (прочитать диск, выйти в сеть), гипервизор передаёт запрос настоящему железу и возвращает результат.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и почему его стоит изучить</a:t>
            </a:r>
          </a:p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https://education.yandex.ru/handbook/linux/article/chto-takoe-linux-i-pochemu-yego-stoit-izuchit</a:t>
            </a: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это операционная система, которая: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управляет железом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распределяет процессор, память, диски между программами;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даёт безопасный многопользовательский доступ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каждый пользователь работает со своими файлами и правами, не мешая другим;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запускает и контролирует службы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например,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веб‑сервер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базу данных, чтобы они работали постоянно;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служит основой для серверов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на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держат сайты, базы, облачные сервисы, потому что система стабильная и не тратит ресурсы впустую;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помогает разработчикам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в ней удобно писать код, использовать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автоматизировать задачи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работает почти везде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от мощных серверов и суперкомпьютеров до роутеров и телефонов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основан на ядре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843" y="857232"/>
            <a:ext cx="4590157" cy="357187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32"/>
            <a:ext cx="3929874" cy="335756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857356" y="0"/>
            <a:ext cx="48747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Установка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Linux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4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2571736" y="4572008"/>
            <a:ext cx="3866997" cy="126769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3357554" y="5857892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Сброс пароля</a:t>
            </a:r>
            <a:endParaRPr lang="ru-RU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16200000">
            <a:off x="-1256757" y="1243555"/>
            <a:ext cx="6871203" cy="4357687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42484" y="359729"/>
            <a:ext cx="4401516" cy="6498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4857752" y="0"/>
            <a:ext cx="428624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400" b="1" cap="none" spc="0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Доп</a:t>
            </a:r>
            <a:r>
              <a:rPr lang="ru-RU" sz="2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задания по </a:t>
            </a:r>
            <a:r>
              <a:rPr lang="en-US" sz="2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Linux</a:t>
            </a:r>
            <a:endParaRPr lang="ru-RU" sz="2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71736" y="0"/>
            <a:ext cx="41689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Общая папка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6" name="Picture 2" descr="Подключение образа диска Дополнений Ubuntu в VirtualBo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889982"/>
            <a:ext cx="5807100" cy="3968018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0" y="692048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Общая папка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способ организовать совместный доступ к файлам между «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хостовой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ОС (той, что стоит на реальном компьютере) и гостевой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внутри виртуальной машины. Проще говоря: вы создаёте папку на основном компьютере, настраиваете её как «общую»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и она становится видна внутри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будто лежит прямо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Linux‑системе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Зачем это нужно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Быстро передавать файлы между хостом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без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флешек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облака и сетевых протоколов.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Держать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проекты или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конфиги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 хосте, а запускать их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Тестировать и разрабатывать в изолированной среде, не копируя файлы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туда‑сюда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71604" y="-142900"/>
            <a:ext cx="58817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Базовые операции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92048"/>
            <a:ext cx="914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вся работа с файлами строится вокруг нескольких простых, но мощных команд. Главное — осознавать, где ты находишься (текущая директория) и что делаешь (создать, посмотреть, упаковать).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Ключевые команды и их назначение: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pwd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показать текущий путь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working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directory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Это ориентир: «где я сейчас?».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показать список файлов и папок. Флаг -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делает размеры читаемыми (КБ, МБ, ГБ).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mkdir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создать новую директорию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make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directory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перейти в другую директорию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change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directory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Перенаправление &gt; — создаёт файл и записывает туда текст. Если файл уже есть — перезапишет.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tar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czf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создаёт архив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tape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archive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create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сжать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gzip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указать имя файла. Это не удаление файлов, а упаковка.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tar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xzf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-C — распаковать архив: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extract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-C — в какую папку распаковать.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3429000"/>
            <a:ext cx="5165726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2143108" y="542926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Здесь звёздочка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note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*.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txt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— это шаблон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glob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), который автоматически подставляет все файлы, подходящие под маску. Это экономит время и снижает риск опечаток.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31345" y="-137536"/>
            <a:ext cx="47981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Анализ файлов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92048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Работа с содержимым файлов: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Вывод первых строк: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filename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позволяет быстро оценить структуру файла без открытия всего содержимого. Это особенно полезно для логов, CSV, JSON.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Подсчёт слов: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filename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Флаг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считает именно слова; есть также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(строки) и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(байты). Эти команды часто комбинируют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пайплайнах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Сбор информации о системе: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whoami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текущий пользователь. Важно для проверки прав и контекста.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hostname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имя машины. Нужно для идентификации узла в сети.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версия ядра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Критично при установке драйверов, проверке совместимости и отладке.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free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свободная и занятая оперативная память. Флаг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даёт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человекочитаемый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формат.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динамический мониторинг процессов и загрузки CPU/RAM. Это интерактивный инструмент: он обновляется в реальном времени.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Почему это нужно в администрировании: Быстрая диагностика начинается с понимания, кто работает в системе, сколько ресурсов доступно и какие процессы потребляют ресурсы. Эти команды — первый шаг в поиске узких мест и аномалий.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143240" y="-214338"/>
            <a:ext cx="27847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Скрипты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92048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последовательность команд, записанная в файл. Чтобы система поняла, что это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 первой строке указывают интерпретатор: #!/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Подстановка команд через $(...) позволяет динамически вставлять результаты в вывод: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$(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whoami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подставит имя пользователя.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$(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текущую дату и время.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$(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pwd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текущий путь.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было запустить как программу, ему нужно дать право на выполнение: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chmod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+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greet.sh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После этого его можно вызывать как обычную команду: ./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greet.sh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0078" y="3357562"/>
            <a:ext cx="6193922" cy="326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4071942"/>
            <a:ext cx="30718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#!/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usr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/bin/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env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bash</a:t>
            </a:r>
          </a:p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echo 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Привет, $(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whoami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)!"</a:t>
            </a:r>
          </a:p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echo 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Сегодня: $(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date)"</a:t>
            </a:r>
          </a:p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echo 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Ты в директории: $(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pwd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)"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42910" y="0"/>
            <a:ext cx="7798545" cy="5078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Устаревшие </a:t>
            </a:r>
            <a:r>
              <a:rPr lang="ru-RU" sz="27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репозитории</a:t>
            </a:r>
            <a:r>
              <a:rPr lang="ru-RU" sz="27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и установка ПО в </a:t>
            </a:r>
            <a:r>
              <a:rPr lang="ru-RU" sz="27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Ubuntu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57148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задании мы сталкиваемся с системой, где стоит очень старая версия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(2.6.5) — это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10.04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Lucid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Lynx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Поддержка этой версии прекращена более 10 лет назад: нет обновлений безопасности, многие пакеты уже недоступны в текущих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репозиториях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Для учебных целей мы можем временно использовать архив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репозиториев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old-releases.ubuntu.com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чтобы показать сам механизм работы с источниками пакетов и установки ПО. В реальной работе так делать нельзя: это небезопасно.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репозиторий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зачем его менять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Репозиторий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сервер с пакетами и метаданными, откуда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скачивает и устанавливает программы.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Стандартный 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sources.list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современной системе ссылается на активные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старой версии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зеркала отключаются, и система перестаёт «видеть» пакеты.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old-releases.ubuntu.com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архив старых релизов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 нужен только для обучения и восстановления данных, не для продуктивной работы.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643446"/>
            <a:ext cx="4850606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000628" y="4549676"/>
            <a:ext cx="414337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Команда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sources.list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открывает редактор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 правами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суперпользователя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Мы заменяем строки, чтобы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начал «видеть» пакеты именно из архива для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Lucid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Это нужно, чтобы после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apt-get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система получила списки доступных пакетов из старого релиза и смогла установить, например, python3.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5984" y="0"/>
            <a:ext cx="44282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Python </a:t>
            </a:r>
            <a:r>
              <a:rPr lang="ru-RU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в </a:t>
            </a:r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Linux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857232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важно понимать, какой именно интерпретатор используется: команда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python3) показывает путь к исполняемому файлу — это помогает избежать путаницы между версиями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настройки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репозиториев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установки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apt-get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install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python3 можно запускать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прямо из терминала: python3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script.py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Если в файле есть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shebang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права на выполнение, подойдёт и ./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script.py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Общая папка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удобна для разработки: пишете код в привычном редакторе на хосте, а запускаете и тестируете в изолированной среде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например, положив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 рабочий стол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Базовый ввод/вывод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строится на двух командах: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запрашивает данные у пользователя,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выводит результат. Уже этого достаточно, чтобы сделать простой интерактивный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3929066"/>
            <a:ext cx="3835093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471488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Команда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имя_скрипта.py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открывает простой консольный редактор, где можно быстро внести изменения, сохранить их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Ctrl+O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затем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выйти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Ctrl+X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Это базовый навык администрирования и разработки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HTTP‑сервер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HTTP‑сервер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программа, которая принимает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HTTP‑запросы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 клиентов (чаще всего браузеров) и возвращает им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HTTP‑ответы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HTML‑страницы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файлы,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JSON‑данные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т. п. Его главная задача — реализовать протокол HTTP поверх транспортного протокола (обычно TCP) и отдать нужный ресурс по URL.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Ключевые обязанности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HTTP‑сервера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Принимать соединения на заданном порту (например, 80 или 8080) и управлять ими.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Читать и разбирать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HTTP‑запрос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метод (GET, POST и др.), путь, заголовки.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Формировать корректный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HTTP‑ответ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строку статуса, заголовки (включая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Content-Type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Content-Length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тело ответа.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Соблюдать спецификацию протокола: правильно использовать разделители \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r\n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корректно кодировать данные, учитывать длину тела.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Управлять соединениями: закрывать их или поддерживать в режиме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keep‑alive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нашем примере сервер предельно простой: он не разбирает запрос детально, а сразу возвращает фиксированную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HTML‑страницу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 статусом 200 OK. Такой подход полезен для обучения: он показывает, что HTTP — это просто текст, переданный по TCP.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нашем примере сервер предельно простой: он не разбирает запрос детально, а сразу возвращает фиксированную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HTML‑страницу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 статусом 200 OK. Такой подход полезен для обучения: он показывает, что HTTP — это просто текст, переданный по TCP.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 — это программный интерфейс для сетевого взаимодействия, точка входа/выхода данных для процесса. В контексте TCP/IP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конкретная комбинация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IP‑адреса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порта, к которой можно подключиться и обмениваться байтами.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Основные роли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Создание канала связи.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позволяет процессу «занять» порт и начать слушать входящие соединения.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Передача данных в виде байтов. Сеть оперирует байтами, поэтому любые данные (текст, картинки, команды) должны быть преобразованы в байтовую последовательность.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Управление состоянием соединения.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дают методы для установки соединения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чтения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записи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sendall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и закрытия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close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Типы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примере: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Слушающий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(создаётся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bind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listen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 — он не передаёт данные напрямую, а только принимает новые соединения.</a:t>
            </a: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соединения (возвращается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 — именно по нему происходит обмен данными с конкретным клиентом. На каждое новое подключение создаётся свой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соединения.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Как HTTP и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работают вместе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Сервер создаёт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TCP‑сокет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привязывает его к адресу и порту, переходит в режим прослушивания.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Клиент (браузер) устанавливает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TCP‑соединение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 этим портом.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Сервер принимает соединение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получает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для работы с этим клиентом.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Клиент отправляет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HTTP‑запрос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как последовательность байтов; сервер читает их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Сервер формирует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HTTP‑ответ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(статус, заголовки, тело) и отправляет байты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sendall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Соединение закрывается (или остаётся открытым для следующих запросов).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Именно эту цепочку реализует приведённый код: он использует «чистые»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чтобы вручную собрать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HTTP‑ответ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отправить его клиенту. Это помогает увидеть, как работают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веб‑серверы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«под капотом», без абстракций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фреймворков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Этот код реализует минимальный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HTTP‑сервер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 «чистых»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сокетах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без использования готовых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HTTP‑модулей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вроде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http.server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BaseHTTPServer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 принимает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HTTP‑запросы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отдаёт в ответ простую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HTML‑страницу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000108"/>
            <a:ext cx="7038975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0"/>
            <a:ext cx="70008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3286124"/>
            <a:ext cx="72675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0"/>
            <a:ext cx="776287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4685932"/>
            <a:ext cx="5838812" cy="2172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подсеть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уникальный идентификатор устройства в сети (например, 192.168.1.55). Он позволяет другим устройствам «находить» его и обмениваться данными. Подсеть — логическая часть сети, определяемая маской подсети: устройства в одной подсети могут напрямую «видеть» друг друга. Совпадение первых трёх октетов (например, 192.168.1 у хоста и ВМ) — простой признак, что они в одной подсети и теоретически могут взаимодействовать без маршрутизации.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Режим NAT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почему хост не видит ВМ напрямую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NAT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Network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Translation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работает как «виртуальный роутер»: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ВМ получает IP из приватного диапазона (чаще всего 10.0.2.x).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Все исходящие соединения от ВМ «маскируются» под IP хоста: для внешней сети (и для хоста) трафик выглядит так, будто он идёт от самого хоста.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Входящие соединения на ВМ по умолчанию не пробрасываются: хост не может напрямую обратиться к ВМ по её внутреннему IP.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Следствие для задания: если ВМ в режиме NAT, 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хоста на её IP (10.0.2.x) не пройдёт или будет идти не туда — это ожидаемое поведение. Для прямого доступа из хоста к сервисам внутри ВМ NAT не подходит.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6632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Режим «Сетевой мост» (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Adapter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): ВМ как полноценный узел сети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В режиме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Adapter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виртуальная сетевая карта ВМ «мостится» с физическим адаптером хоста (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Wi‑Fi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). В результате: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ВМ становится полноценным участником локальной сети — как ещё один компьютер или телефон в вашей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Wi‑Fi‑сети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ВМ выдаётся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DHCP‑сервером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вашей локальной сети (обычно это ваш роутер) и попадает в диапазон локальной сети, например 192.168.1.x.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Другие устройства в локальной сети (в том числе хост) могут обращаться к ВМ напрямую по её IP.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Что важно при настройке: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Нужно выбрать именно физический адаптер хоста (не виртуальный). Если у хоста одновременно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Wi‑Fi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 выбирают тот, через который хост подключён к сети.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После смены режима ВМ должна получить новый IP — это видно через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 или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addr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(современные дистрибутивы).</a:t>
            </a:r>
          </a:p>
          <a:p>
            <a:pPr algn="just"/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Команды для определения IP и проверки связности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(или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addr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show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 в гостевой ОС — показывает сетевые интерфейсы и их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IP‑адреса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По IP можно понять, в каком режиме сеть: 10.0.2.x — NAT, 192.168.x.x — скорее всего,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ipconfig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на хосте — показывает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хоста. Сравнение первых трёх октетов у хоста и ВМ — быстрый способ убедиться, что они в одной подсети.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&lt;IP&gt; — отправляет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ICMP‑запросы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к целевому узлу. Успешный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(строки с временем отклика и без потерь) подтверждает, что: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узел доступен в сети;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ICMP не блокируется брандмауэром;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маршрутизация между хостом и ВМ работает.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Почему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может не проходить даже при правильной подсети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Даже если хост и ВМ в одной подсети,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не работать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Брандмауэра гостевой ОС. По умолчанию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может блокировать входящие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ICMP‑пакеты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В учебных целях временно отключают брандмауэр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disable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либо разрешают ICMP правилом.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Блокировки на уровне хоста. Брандмауэр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отклонять входящие ICMP.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Неправильного выбора адаптера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выбран неактивный или виртуальный адаптер, ВМ не получит корректный IP в локальной сети.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Конфликта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IP‑адресов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DHCP выдал ВМ адрес, уже занятый другим устройством, сеть будет работать нестабильно.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Как интерпретировать сообщения об ошибках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«Превышено время ожидания» — запрос ушёл, но ответ не пришёл. Частая причина — брандмауэр блокирует ICMP или ВМ недоступна.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«Узел недоступен» — маршрутизация не знает, как добраться до этого IP. Возможные причины: неверный режим сети (NAT вместо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), неправильный IP, отключённый сетевой адаптер.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Почему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может не проходить даже при правильной подсети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Даже если хост и ВМ в одной подсети,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не работать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Брандмауэра гостевой ОС. По умолчанию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может блокировать входящие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ICMP‑пакеты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В учебных целях временно отключают брандмауэр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disable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либо разрешают ICMP правилом.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Блокировки на уровне хоста. Брандмауэр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отклонять входящие ICMP.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Неправильного выбора адаптера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выбран неактивный или виртуальный адаптер, ВМ не получит корректный IP в локальной сети.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Конфликта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IP‑адресов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DHCP выдал ВМ адрес, уже занятый другим устройством, сеть будет работать нестабильно.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Как интерпретировать сообщения об ошибках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«Превышено время ожидания» — запрос ушёл, но ответ не пришёл. Частая причина — брандмауэр блокирует ICMP или ВМ недоступна.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«Узел недоступен» — маршрутизация не знает, как добраться до этого IP. Возможные причины: неверный режим сети (NAT вместо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), неправильный IP, отключённый сетевой адаптер.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Что такое брандмауэр и зачем он нужен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Брандмауэр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firewall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— это сетевой фильтр, который контролирует входящий и исходящий трафик по правилам.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по умолчанию используется UFW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Uncomplicated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Firewall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— надстройка над сетевым фильтром ядра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iptables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netfilter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Принцип работы: брандмауэр проверяет каждый входящий пакет и решает — пропустить или отбросить — на основе правил. Если правило для порта 8080 не задано, а брандмауэр активен, пакет молча отбрасывается. Клиент (браузер на хосте) в этом случае получает ошибку соединения или «превышение времени ожидания».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Базовые команды UFW</a:t>
            </a:r>
          </a:p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status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показать текущее состояние и список правил.</a:t>
            </a:r>
          </a:p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disable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полностью отключить брандмауэр. Все правила перестают действовать; весь входящий трафик проходит без фильтрации.</a:t>
            </a:r>
          </a:p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enable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включить брандмауэр с ранее настроенными правилами.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1847</Words>
  <PresentationFormat>Экран (4:3)</PresentationFormat>
  <Paragraphs>157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Тема Office</vt:lpstr>
      <vt:lpstr>Развёртывание и администрирование виртуальной среды на примере Linux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4</cp:revision>
  <dcterms:created xsi:type="dcterms:W3CDTF">2026-09-26T21:12:03Z</dcterms:created>
  <dcterms:modified xsi:type="dcterms:W3CDTF">2026-10-29T20:15:44Z</dcterms:modified>
</cp:coreProperties>
</file>