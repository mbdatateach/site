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FAD2-DED2-4CEE-BFF5-6B8975350D26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528-8E04-4693-ACF9-B1D79C246F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FAD2-DED2-4CEE-BFF5-6B8975350D26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528-8E04-4693-ACF9-B1D79C246F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FAD2-DED2-4CEE-BFF5-6B8975350D26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528-8E04-4693-ACF9-B1D79C246F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FAD2-DED2-4CEE-BFF5-6B8975350D26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528-8E04-4693-ACF9-B1D79C246F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FAD2-DED2-4CEE-BFF5-6B8975350D26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528-8E04-4693-ACF9-B1D79C246F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FAD2-DED2-4CEE-BFF5-6B8975350D26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528-8E04-4693-ACF9-B1D79C246F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FAD2-DED2-4CEE-BFF5-6B8975350D26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528-8E04-4693-ACF9-B1D79C246F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FAD2-DED2-4CEE-BFF5-6B8975350D26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528-8E04-4693-ACF9-B1D79C246F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FAD2-DED2-4CEE-BFF5-6B8975350D26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528-8E04-4693-ACF9-B1D79C246F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FAD2-DED2-4CEE-BFF5-6B8975350D26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528-8E04-4693-ACF9-B1D79C246F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AFAD2-DED2-4CEE-BFF5-6B8975350D26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F0528-8E04-4693-ACF9-B1D79C246F02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AFAD2-DED2-4CEE-BFF5-6B8975350D26}" type="datetimeFigureOut">
              <a:rPr lang="ru-RU" smtClean="0"/>
              <a:pPr/>
              <a:t>01.09.2026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F0528-8E04-4693-ACF9-B1D79C246F0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utube.ru/video/cb40eec29fc406ad53dbff7ef8ea14bb/" TargetMode="External"/><Relationship Id="rId2" Type="http://schemas.openxmlformats.org/officeDocument/2006/relationships/hyperlink" Target="https://cloud.mail.ru/public/7Edr/aTrDqntdF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timeweb.com/ru/community/articles/zashchita-dokumenta-parolem-v-microsoft-wor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t-online.org/262620?ysclid=m8d4eavrv2603088131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Текстовые редакторы для рекламы и PR 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Дополнительно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357298"/>
            <a:ext cx="9144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Базовая работа в 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MS Word</a:t>
            </a:r>
          </a:p>
          <a:p>
            <a:pPr algn="just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https://cloud.mail.ru/public/7Edr/aTrDqntdF</a:t>
            </a:r>
            <a:endParaRPr lang="en-US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Режим рецензирования в MS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: обзор возможностей</a:t>
            </a: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https://rutube.ru/video/cb40eec29fc406ad53dbff7ef8ea14bb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3"/>
              </a:rPr>
              <a:t>/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Защита документа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  <a:hlinkClick r:id="rId4"/>
              </a:rPr>
              <a:t>timeweb.com/ru/community/articles/zashchita-dokumenta-parolem-v-microsoft-word</a:t>
            </a:r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-28574"/>
            <a:ext cx="4643437" cy="3429218"/>
          </a:xfrm>
          <a:prstGeom prst="rect">
            <a:avLst/>
          </a:prstGeom>
          <a:noFill/>
        </p:spPr>
      </p:pic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94852" y="0"/>
            <a:ext cx="4349147" cy="3143248"/>
          </a:xfrm>
          <a:prstGeom prst="rect">
            <a:avLst/>
          </a:prstGeom>
          <a:noFill/>
        </p:spPr>
      </p:pic>
      <p:pic>
        <p:nvPicPr>
          <p:cNvPr id="1030" name="Picture 6" descr="Picture background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214414" y="3259106"/>
            <a:ext cx="6657954" cy="359889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0" y="1"/>
          <a:ext cx="9144000" cy="6921227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286000"/>
                <a:gridCol w="2286000"/>
              </a:tblGrid>
              <a:tr h="428624">
                <a:tc>
                  <a:txBody>
                    <a:bodyPr/>
                    <a:lstStyle/>
                    <a:p>
                      <a:r>
                        <a:rPr lang="ru-RU" sz="1800" b="1" dirty="0"/>
                        <a:t>Критерий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Microsoft Word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Google Docs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 err="1"/>
                        <a:t>Яндекс</a:t>
                      </a:r>
                      <a:r>
                        <a:rPr lang="ru-RU" sz="1800" b="1" dirty="0"/>
                        <a:t> Документы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63411">
                <a:tc>
                  <a:txBody>
                    <a:bodyPr/>
                    <a:lstStyle/>
                    <a:p>
                      <a:r>
                        <a:rPr lang="ru-RU" sz="1800" b="1"/>
                        <a:t>Основной сценарий</a:t>
                      </a:r>
                      <a:endParaRPr lang="ru-RU" sz="1800"/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Сложная вёрстка, макросы, локальная работа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Совместная работа, гибкие права, история версий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Локальность, ИИ‑помощник, интеграция с сервисами Яндекса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530803">
                <a:tc>
                  <a:txBody>
                    <a:bodyPr/>
                    <a:lstStyle/>
                    <a:p>
                      <a:r>
                        <a:rPr lang="ru-RU" sz="1800" b="1"/>
                        <a:t>Совместная работа</a:t>
                      </a:r>
                      <a:endParaRPr lang="ru-RU" sz="1800"/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Есть, но слабее в облаке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Сильная сторона: одновременное редактирование, детальные права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Реальное время, можно ставить пароль, ограничивать скачивание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63411">
                <a:tc>
                  <a:txBody>
                    <a:bodyPr/>
                    <a:lstStyle/>
                    <a:p>
                      <a:r>
                        <a:rPr lang="ru-RU" sz="1800" b="1"/>
                        <a:t>ИИ‑инструменты</a:t>
                      </a:r>
                      <a:endParaRPr lang="ru-RU" sz="1800"/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Нет в базовой версии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В РФ часть функций недоступна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Встроенная YandexGPT (дописать, перефразировать, исправить)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612321">
                <a:tc>
                  <a:txBody>
                    <a:bodyPr/>
                    <a:lstStyle/>
                    <a:p>
                      <a:r>
                        <a:rPr lang="ru-RU" sz="1800" b="1"/>
                        <a:t>Форматы</a:t>
                      </a:r>
                      <a:endParaRPr lang="ru-RU" sz="1800"/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DOCX, DOC </a:t>
                      </a:r>
                      <a:r>
                        <a:rPr lang="ru-RU" sz="1800"/>
                        <a:t>и др.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DOCX, PDF, ODT, RTF, TXT </a:t>
                      </a:r>
                      <a:r>
                        <a:rPr lang="ru-RU" sz="1800"/>
                        <a:t>и др.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DOCX, ODT, RTF, PDF </a:t>
                      </a:r>
                      <a:r>
                        <a:rPr lang="ru-RU" sz="1800"/>
                        <a:t>и др.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796018">
                <a:tc>
                  <a:txBody>
                    <a:bodyPr/>
                    <a:lstStyle/>
                    <a:p>
                      <a:r>
                        <a:rPr lang="ru-RU" sz="1800" b="1"/>
                        <a:t>Интеграции</a:t>
                      </a:r>
                      <a:endParaRPr lang="ru-RU" sz="1800"/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Microsoft 365 (OneDrive, Outlook, Teams)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Google Workspace (</a:t>
                      </a:r>
                      <a:r>
                        <a:rPr lang="ru-RU" sz="1800"/>
                        <a:t>Диск, </a:t>
                      </a:r>
                      <a:r>
                        <a:rPr lang="en-US" sz="1800"/>
                        <a:t>Gmail, </a:t>
                      </a:r>
                      <a:r>
                        <a:rPr lang="ru-RU" sz="1800"/>
                        <a:t>Таблицы)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Яндекс 360 (Диск, Почта, Телемост)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63411">
                <a:tc>
                  <a:txBody>
                    <a:bodyPr/>
                    <a:lstStyle/>
                    <a:p>
                      <a:r>
                        <a:rPr lang="ru-RU" sz="1800" b="1"/>
                        <a:t>Лучший выбор, если…</a:t>
                      </a:r>
                      <a:endParaRPr lang="ru-RU" sz="1800"/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Нужна полная функциональность и контроль над макетом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Важна командная работа и прозрачность правок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Работаете в российской экосистеме и нужен ИИ в редакторе</a:t>
                      </a:r>
                    </a:p>
                  </a:txBody>
                  <a:tcPr marL="36286" marR="36286" marT="18143" marB="1814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714499"/>
            <a:ext cx="7658100" cy="5143501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Шаблон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заранее подготовленный документ с заданным оформлением, стилями, полями, колонтитулами и другими элементами, которые повторяются в документах одного типа. Он служит основой для создания новых документов: вам не нужно каждый раз заново настраивать шрифт, отступы и структуру — достаточно открыть шаблон, заполнить его своими данными, и новый документ будет сразу готов.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71868" y="0"/>
            <a:ext cx="5572132" cy="6778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0724" name="AutoShape 4" descr="Picture backgroun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725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5172076"/>
            <a:ext cx="3638047" cy="1685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857232"/>
            <a:ext cx="364330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Автоматическое оглавление 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это функция, которая позволяет программе самостоятельно собрать список разделов документа вместе с номерами страниц на основе заранее отформатированных заголовков. Вам не нужно вручную прописывать названия и номера —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сделает это за вас.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/>
        </p:nvSpPr>
        <p:spPr>
          <a:xfrm>
            <a:off x="-32" y="4071942"/>
            <a:ext cx="9144000" cy="1500198"/>
          </a:xfrm>
          <a:prstGeom prst="rect">
            <a:avLst/>
          </a:prstGeom>
          <a:solidFill>
            <a:srgbClr val="E2E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785794"/>
            <a:ext cx="9144000" cy="32147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0" y="785794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Слияние документов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это объединение основного документа, содержащего постоянную часть информации, и источника данных, содержащих переменную часть. Примером слияния документов может быть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персонализация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писем. Это полезно для создания документов рассылки (письма, конверты, электронные сообщения) или однотипных документов (наклейки, каталоги), в которых различаются только отдельные данные (например, адрес, обращение, фамилия, имя, отчество).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процессе слияния участвуют два файла: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Основной документ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документ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содержание которого одинаково для всех получателей, кроме отдельных полей (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полей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слияния).</a:t>
            </a:r>
          </a:p>
          <a:p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Источник данных (список)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 таблица с данными для слияния.</a:t>
            </a:r>
          </a:p>
          <a:p>
            <a:pPr algn="just"/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Группа 19"/>
          <p:cNvGrpSpPr/>
          <p:nvPr/>
        </p:nvGrpSpPr>
        <p:grpSpPr>
          <a:xfrm>
            <a:off x="0" y="4000504"/>
            <a:ext cx="8010525" cy="2647950"/>
            <a:chOff x="571472" y="4000504"/>
            <a:chExt cx="8010525" cy="2647950"/>
          </a:xfrm>
        </p:grpSpPr>
        <p:grpSp>
          <p:nvGrpSpPr>
            <p:cNvPr id="3" name="Группа 15"/>
            <p:cNvGrpSpPr/>
            <p:nvPr/>
          </p:nvGrpSpPr>
          <p:grpSpPr>
            <a:xfrm>
              <a:off x="571472" y="4000504"/>
              <a:ext cx="8010525" cy="2647950"/>
              <a:chOff x="1133475" y="3929066"/>
              <a:chExt cx="8010525" cy="2647950"/>
            </a:xfrm>
          </p:grpSpPr>
          <p:pic>
            <p:nvPicPr>
              <p:cNvPr id="1027" name="Picture 3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1133475" y="3929066"/>
                <a:ext cx="8010525" cy="26479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</p:pic>
          <p:sp>
            <p:nvSpPr>
              <p:cNvPr id="15" name="Прямоугольник 14"/>
              <p:cNvSpPr/>
              <p:nvPr/>
            </p:nvSpPr>
            <p:spPr>
              <a:xfrm>
                <a:off x="2000232" y="4357694"/>
                <a:ext cx="4857784" cy="1428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ru-RU"/>
              </a:p>
            </p:txBody>
          </p:sp>
        </p:grpSp>
        <p:sp>
          <p:nvSpPr>
            <p:cNvPr id="19" name="Прямоугольник 18"/>
            <p:cNvSpPr/>
            <p:nvPr/>
          </p:nvSpPr>
          <p:spPr>
            <a:xfrm>
              <a:off x="2214546" y="5214950"/>
              <a:ext cx="4143404" cy="21431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r>
              <a:rPr lang="en-US" sz="3200" b="1" dirty="0" smtClean="0">
                <a:latin typeface="Cambria" pitchFamily="18" charset="0"/>
                <a:ea typeface="+mj-ea"/>
                <a:cs typeface="+mj-cs"/>
              </a:rPr>
              <a:t>: </a:t>
            </a:r>
            <a:r>
              <a:rPr lang="ru-RU" sz="3200" b="1" dirty="0" smtClean="0">
                <a:latin typeface="Cambria" pitchFamily="18" charset="0"/>
                <a:ea typeface="+mj-ea"/>
                <a:cs typeface="+mj-cs"/>
              </a:rPr>
              <a:t>алгоритм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142984"/>
            <a:ext cx="3942803" cy="24336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/>
          <p:nvPr/>
        </p:nvCxnSpPr>
        <p:spPr>
          <a:xfrm>
            <a:off x="6367451" y="5572140"/>
            <a:ext cx="714380" cy="28575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 rot="10800000">
            <a:off x="3581370" y="5572140"/>
            <a:ext cx="2776581" cy="158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0" y="50004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https://ppt-online.org/262620?ysclid=m8d4eavrv2603088131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3929058" y="785794"/>
            <a:ext cx="521494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Процедура слияния включает несколько этапов: 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Создание основного документа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документа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который содержит текст и рисунки.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Создание или выбор существующего источника данных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файла, содержащего данные, различающиеся в каждой копии составного документа. Источником данных может быть, например, файл с таблицей.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Вставка полей слияния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полей, в которые переносится переменная информация из источника данных в основной документ перед выводом готового документа на печать.</a:t>
            </a:r>
          </a:p>
          <a:p>
            <a:pPr algn="just"/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Вывод стандартного документа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— каждая строка (или запись) источника данных порождает отдельный документ. При этом составные документы могут быть объединены в новом документе для последующего просмотра и печати.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357554" y="5214950"/>
            <a:ext cx="23744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b="1" dirty="0" smtClean="0">
                <a:latin typeface="Times New Roman" pitchFamily="18" charset="0"/>
                <a:cs typeface="Times New Roman" pitchFamily="18" charset="0"/>
              </a:rPr>
              <a:t>Любой документ-источник</a:t>
            </a:r>
            <a:endParaRPr lang="ru-RU" sz="14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0" y="0"/>
            <a:ext cx="91440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Слияние данных</a:t>
            </a:r>
            <a:r>
              <a:rPr lang="en-US" sz="3200" b="1" dirty="0" smtClean="0">
                <a:latin typeface="Cambria" pitchFamily="18" charset="0"/>
              </a:rPr>
              <a:t> : </a:t>
            </a:r>
            <a:r>
              <a:rPr lang="ru-RU" sz="3200" b="1" dirty="0" smtClean="0">
                <a:latin typeface="Cambria" pitchFamily="18" charset="0"/>
              </a:rPr>
              <a:t>вставка полей слияния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9086850" cy="6477000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7286644" y="4214818"/>
            <a:ext cx="1214446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Создание правил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928670"/>
            <a:ext cx="3143250" cy="2466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Рисунок 5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714612" y="3535414"/>
            <a:ext cx="6429388" cy="31036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7" name="Rectangle 1"/>
          <p:cNvSpPr>
            <a:spLocks noChangeArrowheads="1"/>
          </p:cNvSpPr>
          <p:nvPr/>
        </p:nvSpPr>
        <p:spPr bwMode="auto">
          <a:xfrm>
            <a:off x="3214678" y="928670"/>
            <a:ext cx="592932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Конструктор 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if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..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then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..</a:t>
            </a:r>
            <a:r>
              <a:rPr kumimoji="0" lang="ru-RU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else</a:t>
            </a:r>
            <a:r>
              <a:rPr kumimoji="0" lang="ru-RU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представляет собой логический оператор, позволяющий задать алгоритм выбора дальнейших действий в зависимости от заданных условий.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mbria" pitchFamily="18" charset="0"/>
                <a:ea typeface="+mj-ea"/>
                <a:cs typeface="+mj-cs"/>
              </a:rPr>
              <a:t>Итоговый документ</a:t>
            </a:r>
            <a:endParaRPr kumimoji="0" lang="ru-RU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mbria" pitchFamily="18" charset="0"/>
              <a:ea typeface="+mj-ea"/>
              <a:cs typeface="+mj-cs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785794"/>
            <a:ext cx="3935351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628" y="3429000"/>
            <a:ext cx="2986897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785818" y="6286520"/>
            <a:ext cx="2038251" cy="2681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1143008" y="2285992"/>
            <a:ext cx="152477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ИЛИ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071934" y="857232"/>
            <a:ext cx="507206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эффективного формирования итогового документа следуйте простым рекомендациям: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Tx/>
              <a:buChar char="-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Убедитесь, что форматирование документов совпадает (шрифты, интервалы, поля страницы).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Приведите в соответствие номера страниц и автоматически создаваемые элементы (оглавление, список рисунков и таблиц).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Удалите лишние пробелы и пустые строки. 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- По завершении обязательно просмотрите весь документ, чтобы выявить любые возможные ошибки.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" y="0"/>
            <a:ext cx="9144000" cy="59093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Используя шаблон любого рекламного сообщения (персонализированного письма, </a:t>
            </a:r>
            <a:r>
              <a:rPr lang="ru-RU" sz="5400" b="1" cap="none" spc="0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брифа</a:t>
            </a:r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и т.п.), оформите документ с помощью стилей и заголовков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589</Words>
  <Application>Microsoft Office PowerPoint</Application>
  <PresentationFormat>Экран (4:3)</PresentationFormat>
  <Paragraphs>65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Текстовые редакторы для рекламы и PR </vt:lpstr>
      <vt:lpstr>Дополнительно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7</cp:revision>
  <dcterms:created xsi:type="dcterms:W3CDTF">2026-09-01T13:50:03Z</dcterms:created>
  <dcterms:modified xsi:type="dcterms:W3CDTF">2026-09-01T14:41:33Z</dcterms:modified>
</cp:coreProperties>
</file>