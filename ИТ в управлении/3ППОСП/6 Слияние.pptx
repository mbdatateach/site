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0" r:id="rId3"/>
    <p:sldId id="275" r:id="rId4"/>
    <p:sldId id="276" r:id="rId5"/>
    <p:sldId id="277" r:id="rId6"/>
    <p:sldId id="278" r:id="rId7"/>
    <p:sldId id="281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EFF"/>
    <a:srgbClr val="E2EEEE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944" y="-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10.10.2025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10.10.2025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10.10.2025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10.10.2025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10.10.2025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10.10.2025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10.10.2025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10.10.2025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10.10.2025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10.10.2025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10.10.2025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DBB08-F6AD-4B9E-A2D8-7F4CDC30666D}" type="datetimeFigureOut">
              <a:rPr lang="ru-RU" smtClean="0"/>
              <a:pPr/>
              <a:t>10.10.2025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pt-online.org/262620?ysclid=m8d4eavrv2603088131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Практическая работа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Слияние документов в </a:t>
            </a:r>
            <a:r>
              <a:rPr lang="en-US" dirty="0" smtClean="0"/>
              <a:t>Word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/>
          <p:cNvSpPr/>
          <p:nvPr/>
        </p:nvSpPr>
        <p:spPr>
          <a:xfrm>
            <a:off x="-32" y="4071942"/>
            <a:ext cx="9144000" cy="1500198"/>
          </a:xfrm>
          <a:prstGeom prst="rect">
            <a:avLst/>
          </a:prstGeom>
          <a:solidFill>
            <a:srgbClr val="E2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785794"/>
            <a:ext cx="9144000" cy="32147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Слияние данных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0" y="785794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Слияние документов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это объединение основного документа, содержащего постоянную часть информации, и источника данных, содержащих переменную часть. Примером слияния документов может быть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персонализация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писем. Это полезно для создания документов рассылки (письма, конверты, электронные сообщения) или однотипных документов (наклейки, каталоги), в которых различаются только отдельные данные (например, адрес, обращение, фамилия, имя, отчество).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процессе слияния участвуют два файла:</a:t>
            </a: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Основной документ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документ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содержание которого одинаково для всех получателей, кроме отдельных полей (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полей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слияния).</a:t>
            </a: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Источник данных (список)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— таблица с данными для слияния.</a:t>
            </a: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9"/>
          <p:cNvGrpSpPr/>
          <p:nvPr/>
        </p:nvGrpSpPr>
        <p:grpSpPr>
          <a:xfrm>
            <a:off x="0" y="4000504"/>
            <a:ext cx="8010525" cy="2647950"/>
            <a:chOff x="571472" y="4000504"/>
            <a:chExt cx="8010525" cy="2647950"/>
          </a:xfrm>
        </p:grpSpPr>
        <p:grpSp>
          <p:nvGrpSpPr>
            <p:cNvPr id="3" name="Группа 15"/>
            <p:cNvGrpSpPr/>
            <p:nvPr/>
          </p:nvGrpSpPr>
          <p:grpSpPr>
            <a:xfrm>
              <a:off x="571472" y="4000504"/>
              <a:ext cx="8010525" cy="2647950"/>
              <a:chOff x="1133475" y="3929066"/>
              <a:chExt cx="8010525" cy="2647950"/>
            </a:xfrm>
          </p:grpSpPr>
          <p:pic>
            <p:nvPicPr>
              <p:cNvPr id="1027" name="Picture 3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1133475" y="3929066"/>
                <a:ext cx="8010525" cy="26479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15" name="Прямоугольник 14"/>
              <p:cNvSpPr/>
              <p:nvPr/>
            </p:nvSpPr>
            <p:spPr>
              <a:xfrm>
                <a:off x="2000232" y="4357694"/>
                <a:ext cx="4857784" cy="1428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9" name="Прямоугольник 18"/>
            <p:cNvSpPr/>
            <p:nvPr/>
          </p:nvSpPr>
          <p:spPr>
            <a:xfrm>
              <a:off x="2214546" y="5214950"/>
              <a:ext cx="4143404" cy="2143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Слияние данных</a:t>
            </a:r>
            <a:r>
              <a:rPr lang="en-US" sz="3200" b="1" dirty="0" smtClean="0">
                <a:latin typeface="Cambria" pitchFamily="18" charset="0"/>
                <a:ea typeface="+mj-ea"/>
                <a:cs typeface="+mj-cs"/>
              </a:rPr>
              <a:t>: </a:t>
            </a:r>
            <a:r>
              <a:rPr lang="ru-RU" sz="3200" b="1" dirty="0" smtClean="0">
                <a:latin typeface="Cambria" pitchFamily="18" charset="0"/>
                <a:ea typeface="+mj-ea"/>
                <a:cs typeface="+mj-cs"/>
              </a:rPr>
              <a:t>алгоритм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142984"/>
            <a:ext cx="3942803" cy="24336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/>
          <p:nvPr/>
        </p:nvCxnSpPr>
        <p:spPr>
          <a:xfrm>
            <a:off x="6367451" y="5572140"/>
            <a:ext cx="714380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rot="10800000">
            <a:off x="3581370" y="5572140"/>
            <a:ext cx="2776581" cy="158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/>
          <p:cNvSpPr/>
          <p:nvPr/>
        </p:nvSpPr>
        <p:spPr>
          <a:xfrm>
            <a:off x="0" y="500042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https://ppt-online.org/262620?ysclid=m8d4eavrv2603088131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3929058" y="785794"/>
            <a:ext cx="521494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Процедура слияния включает несколько этапов: 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Создание основного документа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—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документа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который содержит текст и рисунки.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Создание или выбор существующего источника данных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— файла, содержащего данные, различающиеся в каждой копии составного документа. Источником данных может быть, например, файл с таблицей.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Вставка полей слияния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— полей, в которые переносится переменная информация из источника данных в основной документ перед выводом готового документа на печать.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Вывод стандартного документа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— каждая строка (или запись) источника данных порождает отдельный документ. При этом составные документы могут быть объединены в новом документе для последующего просмотра и печати.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3357554" y="5214950"/>
            <a:ext cx="23744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Любой документ-источник</a:t>
            </a:r>
            <a:endParaRPr lang="ru-RU" sz="1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0" y="0"/>
            <a:ext cx="91440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Слияние данных</a:t>
            </a:r>
            <a:r>
              <a:rPr lang="en-US" sz="3200" b="1" dirty="0" smtClean="0">
                <a:latin typeface="Cambria" pitchFamily="18" charset="0"/>
              </a:rPr>
              <a:t> : </a:t>
            </a:r>
            <a:r>
              <a:rPr lang="ru-RU" sz="3200" b="1" dirty="0" smtClean="0">
                <a:latin typeface="Cambria" pitchFamily="18" charset="0"/>
              </a:rPr>
              <a:t>вставка полей слияния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843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71480"/>
            <a:ext cx="9086850" cy="6477000"/>
          </a:xfrm>
          <a:prstGeom prst="rect">
            <a:avLst/>
          </a:prstGeom>
          <a:noFill/>
        </p:spPr>
      </p:pic>
      <p:sp>
        <p:nvSpPr>
          <p:cNvPr id="10" name="Прямоугольник 9"/>
          <p:cNvSpPr/>
          <p:nvPr/>
        </p:nvSpPr>
        <p:spPr>
          <a:xfrm>
            <a:off x="7286644" y="4214818"/>
            <a:ext cx="1214446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Создание правил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28670"/>
            <a:ext cx="3143250" cy="246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Рисунок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14612" y="3535414"/>
            <a:ext cx="6429388" cy="3103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3214678" y="928670"/>
            <a:ext cx="5929322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Конструктор 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if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..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then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..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else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представляет собой логический оператор, позволяющий задать алгоритм выбора дальнейших действий в зависимости от заданных условий.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Итоговый документ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85794"/>
            <a:ext cx="3935351" cy="1357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628" y="3429000"/>
            <a:ext cx="2986897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785818" y="6286520"/>
            <a:ext cx="2038251" cy="2681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1143008" y="2285992"/>
            <a:ext cx="15247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ИЛИ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071934" y="857232"/>
            <a:ext cx="507206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Для эффективного формирования итогового документа следуйте простым рекомендациям: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Tx/>
              <a:buChar char="-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Убедитесь, что форматирование документов совпадает (шрифты, интервалы, поля страницы).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Приведите в соответствие номера страниц и автоматически создаваемые элементы (оглавление, список рисунков и таблиц).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Удалите лишние пробелы и пустые строки.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По завершении обязательно просмотрите весь документ, чтобы выявить любые возможные ошибки.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Объединение документов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714356"/>
            <a:ext cx="91440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Объединение документов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представляет собой технологию создания единого файла из нескольких исходных документов. В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реализованы два основных подхода к объединению: прямое включение файлов и сравнение версий с последующим объединением изменений.</a:t>
            </a:r>
          </a:p>
          <a:p>
            <a:pPr algn="just"/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Прямое включение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позволяет присоединить содержимое одного или нескольких документов к существующему файлу. При этом сохраняется исходное форматирование, если документы выполнены в совместимых форматах. Процесс осуществляется через функцию вставки текста из файла с возможностью выбора нескольких источников одновременно.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Рисунок 7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500570"/>
            <a:ext cx="2752090" cy="1302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2" name="Picture 2" descr="Снимок экрана с параметром «Вставка файлов».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50188" y="4143380"/>
            <a:ext cx="5293812" cy="2214578"/>
          </a:xfrm>
          <a:prstGeom prst="rect">
            <a:avLst/>
          </a:prstGeom>
          <a:noFill/>
        </p:spPr>
      </p:pic>
      <p:cxnSp>
        <p:nvCxnSpPr>
          <p:cNvPr id="9" name="Прямая со стрелкой 8"/>
          <p:cNvCxnSpPr/>
          <p:nvPr/>
        </p:nvCxnSpPr>
        <p:spPr>
          <a:xfrm flipV="1">
            <a:off x="2071670" y="4429132"/>
            <a:ext cx="3000396" cy="121444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297</Words>
  <Application>Microsoft Office PowerPoint</Application>
  <PresentationFormat>Экран (4:3)</PresentationFormat>
  <Paragraphs>29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Практическая работа  Слияние документов в Word</vt:lpstr>
      <vt:lpstr>Слайд 2</vt:lpstr>
      <vt:lpstr>Слайд 3</vt:lpstr>
      <vt:lpstr>Слайд 4</vt:lpstr>
      <vt:lpstr>Слайд 5</vt:lpstr>
      <vt:lpstr>Слайд 6</vt:lpstr>
      <vt:lpstr>Слайд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Оптимизация</dc:title>
  <dc:creator>user</dc:creator>
  <cp:lastModifiedBy>user</cp:lastModifiedBy>
  <cp:revision>66</cp:revision>
  <dcterms:created xsi:type="dcterms:W3CDTF">2025-01-01T12:55:25Z</dcterms:created>
  <dcterms:modified xsi:type="dcterms:W3CDTF">2025-10-10T17:43:33Z</dcterms:modified>
</cp:coreProperties>
</file>