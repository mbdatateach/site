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64" r:id="rId4"/>
    <p:sldId id="271" r:id="rId5"/>
    <p:sldId id="258" r:id="rId6"/>
    <p:sldId id="266" r:id="rId7"/>
    <p:sldId id="272" r:id="rId8"/>
    <p:sldId id="265" r:id="rId9"/>
    <p:sldId id="269" r:id="rId10"/>
    <p:sldId id="267" r:id="rId11"/>
    <p:sldId id="26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3275-2E4D-4BC0-AF44-27B9C8BA63B5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2190A-BE6A-4689-952C-883A7D0B3AC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2190A-BE6A-4689-952C-883A7D0B3AC0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06.03.2025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Фильтры и таблицы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100384"/>
            <a:ext cx="7358082" cy="245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>
            <a:stCxn id="6" idx="2"/>
          </p:cNvCxnSpPr>
          <p:nvPr/>
        </p:nvCxnSpPr>
        <p:spPr>
          <a:xfrm rot="5400000">
            <a:off x="2146708" y="1039429"/>
            <a:ext cx="1885908" cy="24646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428860" y="6429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488" y="928670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Выделение всего листа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>
            <a:stCxn id="11" idx="2"/>
          </p:cNvCxnSpPr>
          <p:nvPr/>
        </p:nvCxnSpPr>
        <p:spPr>
          <a:xfrm rot="5400000">
            <a:off x="6511628" y="2046760"/>
            <a:ext cx="728497" cy="146447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857884" y="13572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12" y="1214422"/>
            <a:ext cx="264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столбцами (на белую разделительную линию)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42911" y="3143250"/>
            <a:ext cx="1285883" cy="8572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5748" y="207167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034" y="1714488"/>
            <a:ext cx="1428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строками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Настройка видимости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таблицы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71536"/>
            <a:ext cx="9144000" cy="8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928926" y="4610409"/>
            <a:ext cx="3041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«Доля года»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" y="5072074"/>
            <a:ext cx="914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тем, как протягивать формулу, не забудьте закрепить ячейку с сегодняшней датой (абсолютная адресация).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000372"/>
            <a:ext cx="5338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Закрепление области видимости строк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H="1">
            <a:off x="7929586" y="3929066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72563" y="3286124"/>
            <a:ext cx="1971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СЕГОДНЯ()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480"/>
            <a:ext cx="5631300" cy="242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10800000" flipV="1">
            <a:off x="4857752" y="2357430"/>
            <a:ext cx="107157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72132" y="1785926"/>
            <a:ext cx="3357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Необходимо выделить шестую строку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571480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Чтобы иметь возможность адекватно копировать формулу, необходимо закрепить ячейку с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сегодняшней</a:t>
            </a:r>
            <a:r>
              <a:rPr kumimoji="0" lang="ru-RU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датой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так, чтобы при копировании она не менялась. Для этого в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существует абсолютная адресация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клавиша </a:t>
            </a: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Абсолютная адресация в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это ссылка на определённую (фиксированную) ячейку, которая не изменяется при копировании формулы.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абсолютной ссылке перед каждой буквой и цифрой помещается знак $ (например, $А$1). При изменении позиции ячейки, содержащей формулу, абсолютная ссылка не изменяется.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Абсолютные ссылки в формулах используются в случаях: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применения в формулах констант;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фиксации диапазона для проведения расчётов.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214818"/>
            <a:ext cx="5779006" cy="1509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14356"/>
            <a:ext cx="9144000" cy="928694"/>
          </a:xfrm>
          <a:prstGeom prst="rect">
            <a:avLst/>
          </a:prstGeom>
          <a:solidFill>
            <a:srgbClr val="E2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42067"/>
            <a:ext cx="9143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ВПР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быстро найти в таблице нужные значения и перенести их с одного листа на другой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Принцип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функция анализирует выбранную область и столбец, а когда находит нужное значение, копирует его в другую таблицу, из которой поступил запрос.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Формула ВПР состоит из четырёх аргументов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Искомое значение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столбец с искомыми данными в той таблице, куда нужно перенести данные.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диапазон, в котором ВПР будет искать данные, которые нужно перенести.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Номер столбца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порядковый номер столбца, из которого нужно забрать данные.</a:t>
            </a:r>
          </a:p>
          <a:p>
            <a:pPr algn="just"/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571876"/>
            <a:ext cx="4930676" cy="3071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71435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обеих таблицах присутствует столбец «Код», по которому можно связать данные.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необходимо передать ячейку с кодом из первой таблицы, и указать диапазон поисков – вся вторая таблица с заголовками (закрепить с помощью абсолютной адресации).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Столбец оклад присутствует во второй таблице (4 столбец), но необходимо, чтобы такое же значение отображалось и в первой таблице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(в)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сцепить первые буквы ячеек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можно использовать функцию «СЦЕПИТЬ». Она объединяет в одной ячейке содержимое нескольких ячеек, а также отдельных символов.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Склейка текста функцией СЦЕПИТ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714488"/>
            <a:ext cx="5872442" cy="214314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37861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извлечения первых букв слова из ячейки можно использовать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ЛЕВСИМВ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286256"/>
            <a:ext cx="4333882" cy="240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97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>
            <a:off x="7143768" y="214290"/>
            <a:ext cx="1571636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43604" y="1643050"/>
            <a:ext cx="300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Фильтр по конкретному столбцу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V="1">
            <a:off x="6429388" y="1500174"/>
            <a:ext cx="50006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737545"/>
            <a:ext cx="3395684" cy="244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746410"/>
            <a:ext cx="3071802" cy="250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143644"/>
            <a:ext cx="928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Дополнительные возможности для фильтрации можно найти, если выбрать числовые или текстовые фильтры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57174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фильтра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оставить видимыми только те данные, которые посчитаны нужными, а остальные скрыть. При необходимости скрытые данные всегда можно будет вернуть в видимый режим.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357430"/>
            <a:ext cx="74961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0" y="514351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выборе настраиваемой сортировки можно выбрать очередность столбцов, по которым будут сортироваться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таблицу необходимо выделить с заголовками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0"/>
          </p:cNvCxnSpPr>
          <p:nvPr/>
        </p:nvCxnSpPr>
        <p:spPr>
          <a:xfrm rot="16200000" flipV="1">
            <a:off x="2928926" y="3500438"/>
            <a:ext cx="1928826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является одним из самых удобных инструментов при работе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помощью неё, можно расположить строчки таблицы в нужном порядке, согласно данным, которые находятся в ячейках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4414" y="335756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Расширенная сортировка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72140"/>
            <a:ext cx="9144000" cy="115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3" idx="2"/>
          </p:cNvCxnSpPr>
          <p:nvPr/>
        </p:nvCxnSpPr>
        <p:spPr>
          <a:xfrm rot="5400000">
            <a:off x="704286" y="4911905"/>
            <a:ext cx="913165" cy="23217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596" y="464344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5" y="4600526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строку, над которой необходимо вставить пустую строку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7715272" y="5072074"/>
            <a:ext cx="114300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4714876" y="45005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504" y="4429132"/>
            <a:ext cx="378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кнопку «Вставить» (при нажатии галочки появятся другие способы вставки)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8728" y="407194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добавления строк и столбцов на лист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49" y="571480"/>
            <a:ext cx="7505661" cy="27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2643" y="785794"/>
            <a:ext cx="32670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>
            <a:off x="1733553" y="1643050"/>
            <a:ext cx="5857916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61949" y="1285860"/>
            <a:ext cx="157160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305059" y="1000110"/>
            <a:ext cx="428627" cy="2857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14686"/>
            <a:ext cx="9144000" cy="213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Прямая со стрелкой 26"/>
          <p:cNvCxnSpPr/>
          <p:nvPr/>
        </p:nvCxnSpPr>
        <p:spPr>
          <a:xfrm rot="10800000" flipV="1">
            <a:off x="285720" y="2996073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57290" y="2781759"/>
            <a:ext cx="692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Варианты представлений промежуточных итогов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Прямая со стрелкой 31"/>
          <p:cNvCxnSpPr>
            <a:stCxn id="31" idx="1"/>
          </p:cNvCxnSpPr>
          <p:nvPr/>
        </p:nvCxnSpPr>
        <p:spPr>
          <a:xfrm rot="10800000" flipV="1">
            <a:off x="142844" y="2981813"/>
            <a:ext cx="1214446" cy="21573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0" y="1071546"/>
            <a:ext cx="9144000" cy="1446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Промежуточные итоги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это подведение итогов для части записей при анализе большого объёма данных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Они позволяют вычислить нужную функцию без вставки дополнительных формул.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424</Words>
  <Application>Microsoft Office PowerPoint</Application>
  <PresentationFormat>Экран (4:3)</PresentationFormat>
  <Paragraphs>58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Практическая работа  Фильтры и таблицы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36</cp:revision>
  <dcterms:created xsi:type="dcterms:W3CDTF">2025-01-01T12:55:25Z</dcterms:created>
  <dcterms:modified xsi:type="dcterms:W3CDTF">2025-03-06T15:16:32Z</dcterms:modified>
</cp:coreProperties>
</file>