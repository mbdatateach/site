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59" r:id="rId5"/>
    <p:sldId id="267" r:id="rId6"/>
    <p:sldId id="277" r:id="rId7"/>
    <p:sldId id="268" r:id="rId8"/>
    <p:sldId id="272" r:id="rId9"/>
    <p:sldId id="273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EFF"/>
    <a:srgbClr val="E2EEEE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944" y="-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10.10.2025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10.10.2025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10.10.2025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10.10.2025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10.10.2025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10.10.2025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10.10.2025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10.10.2025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10.10.2025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10.10.2025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10.10.2025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DBB08-F6AD-4B9E-A2D8-7F4CDC30666D}" type="datetimeFigureOut">
              <a:rPr lang="ru-RU" smtClean="0"/>
              <a:pPr/>
              <a:t>10.10.2025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Практическая работа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Расчеты</a:t>
            </a:r>
            <a:r>
              <a:rPr lang="en-US" dirty="0" smtClean="0"/>
              <a:t> </a:t>
            </a:r>
            <a:r>
              <a:rPr lang="ru-RU" dirty="0" smtClean="0"/>
              <a:t>и документация в </a:t>
            </a:r>
            <a:r>
              <a:rPr lang="en-US" dirty="0" smtClean="0"/>
              <a:t>Excel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5572140"/>
            <a:ext cx="9144000" cy="1285860"/>
          </a:xfrm>
          <a:prstGeom prst="rect">
            <a:avLst/>
          </a:prstGeom>
          <a:solidFill>
            <a:srgbClr val="E2EEEE"/>
          </a:solidFill>
          <a:ln>
            <a:solidFill>
              <a:srgbClr val="E2E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 (a)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0" y="5500702"/>
            <a:ext cx="9144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Если совсем простыми словами, </a:t>
            </a:r>
            <a:r>
              <a:rPr lang="ru-RU" sz="20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БС</a:t>
            </a:r>
            <a:r>
              <a:rPr lang="ru-RU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возвращает то сколько получится, если уже имея </a:t>
            </a:r>
            <a:r>
              <a:rPr lang="ru-RU" sz="20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ПС</a:t>
            </a:r>
            <a:r>
              <a:rPr lang="ru-RU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на своем счёте и внося </a:t>
            </a:r>
            <a:r>
              <a:rPr lang="ru-RU" sz="20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ПЛТ</a:t>
            </a:r>
            <a:r>
              <a:rPr lang="ru-RU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за каждый из </a:t>
            </a:r>
            <a:r>
              <a:rPr lang="ru-RU" sz="20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КПЕР</a:t>
            </a:r>
            <a:r>
              <a:rPr lang="ru-RU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получится при условии, что банк ещё и начисляет процент на Ваши деньги по ставке за каждый период (</a:t>
            </a:r>
            <a:r>
              <a:rPr lang="ru-RU" sz="20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СТАВКА</a:t>
            </a:r>
            <a:r>
              <a:rPr lang="ru-RU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). </a:t>
            </a:r>
            <a:endParaRPr lang="ru-RU" sz="20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0" y="957188"/>
            <a:ext cx="9144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Если вкладчик, </a:t>
            </a:r>
            <a:r>
              <a:rPr lang="ru-RU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как в нашей задаче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один раз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открыл вклад (например, на 100000 рублей) и больше его не трогает, то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Плт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остается нулем, а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Пс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(общая сумма, на основе которой будут считаться дальнейшие денежные выплаты) будет равна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100000.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785786" y="500042"/>
            <a:ext cx="77152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/>
              <a:t>Пример применения аргумента </a:t>
            </a:r>
            <a:r>
              <a:rPr lang="ru-RU" sz="2400" b="1" dirty="0" err="1" smtClean="0"/>
              <a:t>Пс</a:t>
            </a:r>
            <a:endParaRPr lang="ru-RU" sz="2400" b="1" dirty="0"/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2857496"/>
            <a:ext cx="2324100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6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14678" y="2143116"/>
            <a:ext cx="5553075" cy="329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Скругленный прямоугольник 8"/>
          <p:cNvSpPr/>
          <p:nvPr/>
        </p:nvSpPr>
        <p:spPr>
          <a:xfrm>
            <a:off x="3857620" y="4857760"/>
            <a:ext cx="785818" cy="28575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571480"/>
            <a:ext cx="9144000" cy="121444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 (</a:t>
            </a: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б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162300"/>
            <a:ext cx="8991600" cy="369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1857364"/>
            <a:ext cx="9144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По облигации номиналом 50000 руб., выпущенной 6 лет, предусмотрен следующий порядок начисления процентов: в первый год — 10%, в следующие 2 года — 20%, в оставшиеся три года — 25%. Определить будущую стоимость облигации.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57148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Функция БЗРАСПИС используется для вычисления будущей стоимости инвестиции с переменной процентной ставкой.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Первичное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обязательный аргумент. Стоимость инвестиции на текущий момент.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План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обязательный аргумент. Массив применяемых процентных ставок.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0" y="357166"/>
            <a:ext cx="9144000" cy="3571900"/>
          </a:xfrm>
          <a:prstGeom prst="rect">
            <a:avLst/>
          </a:prstGeom>
          <a:solidFill>
            <a:srgbClr val="E2EEEE"/>
          </a:solidFill>
          <a:ln>
            <a:solidFill>
              <a:srgbClr val="E2E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0" y="4143380"/>
            <a:ext cx="9144000" cy="135732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0" y="5572140"/>
            <a:ext cx="9144000" cy="1214422"/>
          </a:xfrm>
          <a:prstGeom prst="rect">
            <a:avLst/>
          </a:prstGeom>
          <a:solidFill>
            <a:srgbClr val="E2EEEE"/>
          </a:solidFill>
          <a:ln>
            <a:solidFill>
              <a:srgbClr val="E2E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-14290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2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0" y="357166"/>
            <a:ext cx="914400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ОСПЛТ, ПРПЛТ и ПЛТ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это финансовые функции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которые помогают рассчитать различные аспекты платежей по кредиту.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ПЛТ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помогает рассчитать сумму, которую нужно платить периодически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для погашения ссуды с учётом процентных переплат за один расчётный период. Предполагается, что объём платежей и ставка не меняются. У функции 3 обязательных аргумента и 2 — необязательных: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Ставка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процент, на который возрастает сумма платежа за один период.</a:t>
            </a: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Кпер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количество выплат или периодов.</a:t>
            </a: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Пс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общая сумма, которую нужно выплатить.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БС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показывает, сколько останется выплатить после последней выплаты. По умолчанию подразумевается 0 (то есть после последней выплаты стоимость ссуды составит 0 руб.).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Тип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аргумент, который принимает значения: 0 — когда платежи совершаются в конце периода, 1 — если в начале.</a:t>
            </a:r>
          </a:p>
          <a:p>
            <a:pPr algn="just"/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ОСПЛТ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вычисляет ту часть очередного платежа, которая приходится на выплату самого кредита (тела кредита)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У функции такие же аргументы, как и у ПЛТ: Ставка,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Кпер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Пс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БС, Тип, ещё добавляется обязательный аргумент — Период (число от 1 до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Кпер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ПРПЛТ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помогает высчитать размер выплат по процентам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за выбранный период, предполагая неизменяемыми размер платежей и ставку. У функции такие же аргументы, как и у ОСПЛТ, но ещё есть обязательный параметр — Номер периода (число от 1 до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Кпер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-14290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2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428604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ОСПЛТ, ПРПЛТ и ПЛТ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это финансовые функции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которые помогают рассчитать различные аспекты платежей по кредиту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В нашем случае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Заёмщик </a:t>
            </a:r>
            <a:r>
              <a:rPr lang="ru-RU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раз в месяц вносит одну и ту же сумму до тех пор, пока полностью не рассчитается с банком.</a:t>
            </a:r>
            <a:endParaRPr lang="ru-RU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0" y="1246046"/>
            <a:ext cx="914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таком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графике погашения в состав каждого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ежемесячного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платежа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входит сумма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процентов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за период и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часть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основного долга. По мере внесения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платежей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основной долг уменьшается, а значит — сокращается сумма начисляемых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процентов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Поэтому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начале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срока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действия договора в составе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ежемесячного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платежа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бóльшую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часть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составляют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проценты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концу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срока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основной долг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Рисунок 10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3000372"/>
            <a:ext cx="7572426" cy="2571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" name="Прямая со стрелкой 12"/>
          <p:cNvCxnSpPr/>
          <p:nvPr/>
        </p:nvCxnSpPr>
        <p:spPr>
          <a:xfrm rot="16200000" flipV="1">
            <a:off x="3143240" y="3500438"/>
            <a:ext cx="1143008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86314" y="3571876"/>
            <a:ext cx="18859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5" name="Прямая со стрелкой 14"/>
          <p:cNvCxnSpPr/>
          <p:nvPr/>
        </p:nvCxnSpPr>
        <p:spPr>
          <a:xfrm rot="5400000" flipH="1" flipV="1">
            <a:off x="5250661" y="3964785"/>
            <a:ext cx="500066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715250" y="3500438"/>
            <a:ext cx="142875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9" name="Прямая со стрелкой 18"/>
          <p:cNvCxnSpPr/>
          <p:nvPr/>
        </p:nvCxnSpPr>
        <p:spPr>
          <a:xfrm rot="5400000" flipH="1" flipV="1">
            <a:off x="7822429" y="3964785"/>
            <a:ext cx="500066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rot="16200000" flipV="1">
            <a:off x="4500562" y="5429264"/>
            <a:ext cx="571504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rot="5400000" flipH="1" flipV="1">
            <a:off x="4929190" y="5500702"/>
            <a:ext cx="642942" cy="35719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/>
          <p:nvPr/>
        </p:nvCxnSpPr>
        <p:spPr>
          <a:xfrm flipV="1">
            <a:off x="5072066" y="5429264"/>
            <a:ext cx="1785950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Прямоугольник 28"/>
          <p:cNvSpPr/>
          <p:nvPr/>
        </p:nvSpPr>
        <p:spPr>
          <a:xfrm>
            <a:off x="4643438" y="6000768"/>
            <a:ext cx="9543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СУММ</a:t>
            </a: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2214554"/>
            <a:ext cx="600075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Копирование таблиц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cxnSp>
        <p:nvCxnSpPr>
          <p:cNvPr id="8" name="Прямая со стрелкой 7"/>
          <p:cNvCxnSpPr/>
          <p:nvPr/>
        </p:nvCxnSpPr>
        <p:spPr>
          <a:xfrm rot="5400000" flipH="1" flipV="1">
            <a:off x="321439" y="4607727"/>
            <a:ext cx="3000396" cy="21431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28596" y="6027003"/>
            <a:ext cx="24288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Выделить столбец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32" y="714356"/>
            <a:ext cx="914396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 копировании таблиц, например, из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MS Word,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денежный формат может скопировать как текстовый – с буквами «р.»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Можно достаточно быстро удалить лишние символы из целого столбца с помощью функционала «Найти и заменить»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" name="Прямая со стрелкой 12"/>
          <p:cNvCxnSpPr/>
          <p:nvPr/>
        </p:nvCxnSpPr>
        <p:spPr>
          <a:xfrm rot="16200000" flipV="1">
            <a:off x="5179223" y="5036355"/>
            <a:ext cx="857256" cy="78581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929190" y="5786454"/>
            <a:ext cx="2428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Ctrl+F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3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 (a)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Функция </a:t>
            </a:r>
            <a:r>
              <a:rPr lang="en-US" sz="3200" b="1" dirty="0" smtClean="0">
                <a:latin typeface="Cambria" pitchFamily="18" charset="0"/>
                <a:ea typeface="+mj-ea"/>
                <a:cs typeface="+mj-cs"/>
              </a:rPr>
              <a:t>“</a:t>
            </a: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И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”</a:t>
            </a: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 в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Excel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428736"/>
            <a:ext cx="6286544" cy="252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Прямая со стрелкой 7"/>
          <p:cNvCxnSpPr/>
          <p:nvPr/>
        </p:nvCxnSpPr>
        <p:spPr>
          <a:xfrm rot="10800000">
            <a:off x="3357554" y="1643050"/>
            <a:ext cx="3786214" cy="164307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715140" y="2857496"/>
            <a:ext cx="24288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Синтаксис функции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И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0" y="4071942"/>
            <a:ext cx="91439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Функция И в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проверяет несколько условий и возвращает значение 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ИСТИНА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только если все условия выполнены.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ru-RU" sz="3200" b="1" dirty="0" smtClean="0">
                <a:latin typeface="Cambria" pitchFamily="18" charset="0"/>
              </a:rPr>
              <a:t>Задание 3</a:t>
            </a:r>
            <a:r>
              <a:rPr lang="en-US" sz="3200" b="1" dirty="0" smtClean="0">
                <a:latin typeface="Cambria" pitchFamily="18" charset="0"/>
              </a:rPr>
              <a:t> (</a:t>
            </a:r>
            <a:r>
              <a:rPr lang="ru-RU" sz="3200" b="1" dirty="0" smtClean="0">
                <a:latin typeface="Cambria" pitchFamily="18" charset="0"/>
              </a:rPr>
              <a:t>б</a:t>
            </a:r>
            <a:r>
              <a:rPr lang="en-US" sz="3200" b="1" dirty="0" smtClean="0">
                <a:latin typeface="Cambria" pitchFamily="18" charset="0"/>
              </a:rPr>
              <a:t>)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1823383"/>
            <a:ext cx="3517532" cy="2249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0" name="Прямая со стрелкой 9"/>
          <p:cNvCxnSpPr>
            <a:stCxn id="11" idx="1"/>
          </p:cNvCxnSpPr>
          <p:nvPr/>
        </p:nvCxnSpPr>
        <p:spPr>
          <a:xfrm rot="10800000">
            <a:off x="4071934" y="2571744"/>
            <a:ext cx="1714512" cy="85626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786446" y="2643182"/>
            <a:ext cx="24288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Диапазон исходной таблицы (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с заголовками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572000" y="4396941"/>
            <a:ext cx="4572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После создания сводной таблицы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откроет панель «Поля сводной таблицы»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Здесь можно выбрать, какие данные включить в сводную таблицу, перетаскивая поля из списка в одну из четырёх областей: «Строки», «Столбцы», «Значения» и «Фильтры».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4357694"/>
            <a:ext cx="4581456" cy="2428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Прямоугольник 12"/>
          <p:cNvSpPr/>
          <p:nvPr/>
        </p:nvSpPr>
        <p:spPr>
          <a:xfrm>
            <a:off x="0" y="571480"/>
            <a:ext cx="71437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Сводные таблицы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это инструмент для анализа данных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Они собирают информацию из обычных таблиц, обрабатывают её, группируют в блоки, проводят необходимые вычисления и показывают итог в виде наглядного отчёта.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285728"/>
            <a:ext cx="2057400" cy="192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43637" y="285729"/>
            <a:ext cx="1932782" cy="2286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406" y="0"/>
            <a:ext cx="221413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ru-RU" sz="3200" b="1" dirty="0" smtClean="0">
                <a:latin typeface="Cambria" pitchFamily="18" charset="0"/>
              </a:rPr>
              <a:t>Задание 3</a:t>
            </a:r>
            <a:r>
              <a:rPr lang="en-US" sz="3200" b="1" dirty="0" smtClean="0">
                <a:latin typeface="Cambria" pitchFamily="18" charset="0"/>
              </a:rPr>
              <a:t> (</a:t>
            </a:r>
            <a:r>
              <a:rPr lang="ru-RU" sz="3200" b="1" dirty="0" smtClean="0">
                <a:latin typeface="Cambria" pitchFamily="18" charset="0"/>
              </a:rPr>
              <a:t>б</a:t>
            </a:r>
            <a:r>
              <a:rPr lang="en-US" sz="3200" b="1" dirty="0" smtClean="0">
                <a:latin typeface="Cambria" pitchFamily="18" charset="0"/>
              </a:rPr>
              <a:t>)</a:t>
            </a:r>
          </a:p>
        </p:txBody>
      </p:sp>
      <p:cxnSp>
        <p:nvCxnSpPr>
          <p:cNvPr id="9" name="Прямая со стрелкой 8"/>
          <p:cNvCxnSpPr>
            <a:stCxn id="12" idx="1"/>
          </p:cNvCxnSpPr>
          <p:nvPr/>
        </p:nvCxnSpPr>
        <p:spPr>
          <a:xfrm rot="10800000">
            <a:off x="1071556" y="714356"/>
            <a:ext cx="1500181" cy="143652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571736" y="1643050"/>
            <a:ext cx="31432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 выборе данных будет формироваться таблица в выбранном диапазоне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Прямая со стрелкой 13"/>
          <p:cNvCxnSpPr/>
          <p:nvPr/>
        </p:nvCxnSpPr>
        <p:spPr>
          <a:xfrm rot="10800000" flipV="1">
            <a:off x="1285852" y="4714884"/>
            <a:ext cx="1500198" cy="107157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17"/>
          <p:cNvSpPr/>
          <p:nvPr/>
        </p:nvSpPr>
        <p:spPr>
          <a:xfrm>
            <a:off x="71406" y="3714752"/>
            <a:ext cx="2286016" cy="31432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2" name="Прямая со стрелкой 21"/>
          <p:cNvCxnSpPr>
            <a:stCxn id="12" idx="3"/>
          </p:cNvCxnSpPr>
          <p:nvPr/>
        </p:nvCxnSpPr>
        <p:spPr>
          <a:xfrm flipV="1">
            <a:off x="5715008" y="1433490"/>
            <a:ext cx="428628" cy="71739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14810" y="2714620"/>
            <a:ext cx="4528316" cy="33710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Прямоугольник 14"/>
          <p:cNvSpPr/>
          <p:nvPr/>
        </p:nvSpPr>
        <p:spPr>
          <a:xfrm>
            <a:off x="4071934" y="5842337"/>
            <a:ext cx="507206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Примечание</a:t>
            </a:r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: созданные сводные таблицы можно визуализировать и фильтровать также, как и обычные данные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i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143108" y="3000372"/>
            <a:ext cx="20002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Выбранные значения заносятся сюда. Их можно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перетаскивать мышкой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348</Words>
  <Application>Microsoft Office PowerPoint</Application>
  <PresentationFormat>Экран (4:3)</PresentationFormat>
  <Paragraphs>44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Практическая работа  Расчеты и документация в Excel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Практическая работа Оптимизация</dc:title>
  <dc:creator>user</dc:creator>
  <cp:lastModifiedBy>user</cp:lastModifiedBy>
  <cp:revision>53</cp:revision>
  <dcterms:created xsi:type="dcterms:W3CDTF">2025-01-01T12:55:25Z</dcterms:created>
  <dcterms:modified xsi:type="dcterms:W3CDTF">2025-10-10T17:43:37Z</dcterms:modified>
</cp:coreProperties>
</file>