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7" d="100"/>
          <a:sy n="107" d="100"/>
        </p:scale>
        <p:origin x="-165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C60111E-6E25-4B74-9529-A4B884F69244}" type="datetimeFigureOut">
              <a:rPr lang="ru-RU" smtClean="0"/>
              <a:pPr/>
              <a:t>22.03.2026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8CD7D0-7822-4289-B10F-D163209084CF}"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60111E-6E25-4B74-9529-A4B884F69244}" type="datetimeFigureOut">
              <a:rPr lang="ru-RU" smtClean="0"/>
              <a:pPr/>
              <a:t>22.03.2026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8CD7D0-7822-4289-B10F-D163209084CF}"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rutube.ru/video/531a82fea0448ffa123dd615966f8fa6/?ysclid=mm5ckxnih803437845"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Справочники: структура и реквизиты</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2862322"/>
          </a:xfrm>
          <a:prstGeom prst="rect">
            <a:avLst/>
          </a:prstGeom>
        </p:spPr>
        <p:txBody>
          <a:bodyPr wrap="square">
            <a:spAutoFit/>
          </a:bodyPr>
          <a:lstStyle/>
          <a:p>
            <a:pPr algn="just"/>
            <a:r>
              <a:rPr lang="ru-RU" b="1" dirty="0" smtClean="0">
                <a:latin typeface="Times New Roman" pitchFamily="18" charset="0"/>
                <a:cs typeface="Times New Roman" pitchFamily="18" charset="0"/>
              </a:rPr>
              <a:t>Справочники в программе «1С:Предприятие»</a:t>
            </a:r>
            <a:r>
              <a:rPr lang="ru-RU" dirty="0" smtClean="0">
                <a:latin typeface="Times New Roman" pitchFamily="18" charset="0"/>
                <a:cs typeface="Times New Roman" pitchFamily="18" charset="0"/>
              </a:rPr>
              <a:t> — это прикладные объекты конфигурации, которые представляют собой списки, хранящие структурированные данные. Они предназначены для хранения однотипных объектов учёта, которые используются в повседневной деятельности предприятия. Например, справочники могут включать данные о контрагентах (поставщиках, покупателях), товарах и услугах, сотрудниках, складах, бухгалтерских счетах.</a:t>
            </a:r>
            <a:endParaRPr lang="en-US" dirty="0" smtClean="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ru-RU" dirty="0" smtClean="0">
                <a:latin typeface="Times New Roman" pitchFamily="18" charset="0"/>
                <a:cs typeface="Times New Roman" pitchFamily="18" charset="0"/>
              </a:rPr>
              <a:t>Справочники редко существуют изолированно — они активно взаимодействуют с другими объектами конфигурации: документами, регистрами, отчётами, обработками. Эта связь обеспечивает целостность данных и автоматизацию процессов.</a:t>
            </a:r>
            <a:endParaRPr lang="ru-RU" dirty="0">
              <a:latin typeface="Times New Roman" pitchFamily="18" charset="0"/>
              <a:cs typeface="Times New Roman" pitchFamily="18" charset="0"/>
            </a:endParaRPr>
          </a:p>
        </p:txBody>
      </p:sp>
      <p:sp>
        <p:nvSpPr>
          <p:cNvPr id="3" name="Прямоугольник 2"/>
          <p:cNvSpPr/>
          <p:nvPr/>
        </p:nvSpPr>
        <p:spPr>
          <a:xfrm>
            <a:off x="0" y="2928934"/>
            <a:ext cx="9144000" cy="2031325"/>
          </a:xfrm>
          <a:prstGeom prst="rect">
            <a:avLst/>
          </a:prstGeom>
        </p:spPr>
        <p:txBody>
          <a:bodyPr wrap="square">
            <a:spAutoFit/>
          </a:bodyPr>
          <a:lstStyle/>
          <a:p>
            <a:pPr algn="just"/>
            <a:r>
              <a:rPr lang="ru-RU" dirty="0" smtClean="0">
                <a:latin typeface="Times New Roman" pitchFamily="18" charset="0"/>
                <a:cs typeface="Times New Roman" pitchFamily="18" charset="0"/>
              </a:rPr>
              <a:t>Каждый элемент справочника характеризуется кодом и наименованием. Система поддерживает режим автоматической нумерации элементов, при котором самостоятельно генерирует код для нового элемента.</a:t>
            </a:r>
            <a:r>
              <a:rPr lang="en-US"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Помимо кода и наименования, каждый элемент справочника, как правило, содержит дополнительную информацию, которая подробно описывает этот элемент. Например, для товара это может быть информация об артикуле, упаковке. Набор такой информации одинаковый для всех элементов конкретного справочника, для её хранения служат реквизиты справочника. </a:t>
            </a:r>
            <a:endParaRPr lang="ru-RU"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3286116" y="4888526"/>
            <a:ext cx="2700333" cy="1969474"/>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6186309"/>
          </a:xfrm>
          <a:prstGeom prst="rect">
            <a:avLst/>
          </a:prstGeom>
        </p:spPr>
        <p:txBody>
          <a:bodyPr wrap="square">
            <a:spAutoFit/>
          </a:bodyPr>
          <a:lstStyle/>
          <a:p>
            <a:pPr algn="just"/>
            <a:r>
              <a:rPr lang="ru-RU" b="1" dirty="0" smtClean="0">
                <a:latin typeface="Times New Roman" pitchFamily="18" charset="0"/>
                <a:cs typeface="Times New Roman" pitchFamily="18" charset="0"/>
              </a:rPr>
              <a:t>Процедура «</a:t>
            </a:r>
            <a:r>
              <a:rPr lang="ru-RU" b="1" dirty="0" err="1" smtClean="0">
                <a:latin typeface="Times New Roman" pitchFamily="18" charset="0"/>
                <a:cs typeface="Times New Roman" pitchFamily="18" charset="0"/>
              </a:rPr>
              <a:t>ПередЗаписью</a:t>
            </a:r>
            <a:r>
              <a:rPr lang="ru-RU" b="1" dirty="0" smtClean="0">
                <a:latin typeface="Times New Roman" pitchFamily="18" charset="0"/>
                <a:cs typeface="Times New Roman" pitchFamily="18" charset="0"/>
              </a:rPr>
              <a:t>(Отказ, </a:t>
            </a:r>
            <a:r>
              <a:rPr lang="ru-RU" b="1" dirty="0" err="1" smtClean="0">
                <a:latin typeface="Times New Roman" pitchFamily="18" charset="0"/>
                <a:cs typeface="Times New Roman" pitchFamily="18" charset="0"/>
              </a:rPr>
              <a:t>ПараметрыЗаписи</a:t>
            </a:r>
            <a:r>
              <a:rPr lang="ru-RU" b="1" dirty="0" smtClean="0">
                <a:latin typeface="Times New Roman" pitchFamily="18" charset="0"/>
                <a:cs typeface="Times New Roman" pitchFamily="18" charset="0"/>
              </a:rPr>
              <a:t>)» в платформе «1С:Предприятие»</a:t>
            </a:r>
            <a:r>
              <a:rPr lang="ru-RU" dirty="0" smtClean="0">
                <a:latin typeface="Times New Roman" pitchFamily="18" charset="0"/>
                <a:cs typeface="Times New Roman" pitchFamily="18" charset="0"/>
              </a:rPr>
              <a:t> — это обработчик события, которое возникает на клиенте перед выполнением записи объекта из формы. Процедура выполняется в модуле формы.</a:t>
            </a:r>
            <a:r>
              <a:rPr lang="en-US" dirty="0" smtClean="0">
                <a:latin typeface="Times New Roman" pitchFamily="18" charset="0"/>
                <a:cs typeface="Times New Roman" pitchFamily="18" charset="0"/>
              </a:rPr>
              <a:t> </a:t>
            </a:r>
            <a:r>
              <a:rPr lang="ru-RU" dirty="0" smtClean="0">
                <a:latin typeface="Times New Roman" pitchFamily="18" charset="0"/>
                <a:cs typeface="Times New Roman" pitchFamily="18" charset="0"/>
              </a:rPr>
              <a:t>Процедура используется, если необходимо </a:t>
            </a:r>
            <a:r>
              <a:rPr lang="ru-RU" b="1" dirty="0" smtClean="0">
                <a:latin typeface="Times New Roman" pitchFamily="18" charset="0"/>
                <a:cs typeface="Times New Roman" pitchFamily="18" charset="0"/>
              </a:rPr>
              <a:t>организовать диалог с пользователем</a:t>
            </a:r>
            <a:r>
              <a:rPr lang="ru-RU" dirty="0" smtClean="0">
                <a:latin typeface="Times New Roman" pitchFamily="18" charset="0"/>
                <a:cs typeface="Times New Roman" pitchFamily="18" charset="0"/>
              </a:rPr>
              <a:t> перед записью объекта. Например, запросить дополнительную информацию, предупредить о чём-либо, дать возможность отказаться.</a:t>
            </a:r>
            <a:endParaRPr lang="en-US" dirty="0" smtClean="0">
              <a:latin typeface="Times New Roman" pitchFamily="18" charset="0"/>
              <a:cs typeface="Times New Roman" pitchFamily="18" charset="0"/>
            </a:endParaRPr>
          </a:p>
          <a:p>
            <a:pPr algn="just"/>
            <a:r>
              <a:rPr lang="ru-RU" b="1" dirty="0" smtClean="0">
                <a:solidFill>
                  <a:srgbClr val="FF0000"/>
                </a:solidFill>
                <a:latin typeface="Times New Roman" pitchFamily="18" charset="0"/>
                <a:cs typeface="Times New Roman" pitchFamily="18" charset="0"/>
              </a:rPr>
              <a:t> Отказ — тип «Булево». Признак отказа от записи. Если в теле процедуры установить этому параметру значение «Истина», запись выполнена не будет и будет вызвано исключение. Значение по умолчанию — «Ложь».</a:t>
            </a:r>
          </a:p>
          <a:p>
            <a:pPr algn="just"/>
            <a:r>
              <a:rPr lang="ru-RU" dirty="0" smtClean="0">
                <a:latin typeface="Times New Roman" pitchFamily="18" charset="0"/>
                <a:cs typeface="Times New Roman" pitchFamily="18" charset="0"/>
              </a:rPr>
              <a:t>    </a:t>
            </a:r>
            <a:r>
              <a:rPr lang="ru-RU" dirty="0" err="1" smtClean="0">
                <a:latin typeface="Times New Roman" pitchFamily="18" charset="0"/>
                <a:cs typeface="Times New Roman" pitchFamily="18" charset="0"/>
              </a:rPr>
              <a:t>ПараметрыЗаписи</a:t>
            </a:r>
            <a:r>
              <a:rPr lang="ru-RU" dirty="0" smtClean="0">
                <a:latin typeface="Times New Roman" pitchFamily="18" charset="0"/>
                <a:cs typeface="Times New Roman" pitchFamily="18" charset="0"/>
              </a:rPr>
              <a:t> — тип «Структура». Содержит параметры записи. Можно добавить свои параметры или использовать предопределённые (например, «</a:t>
            </a:r>
            <a:r>
              <a:rPr lang="ru-RU" dirty="0" err="1" smtClean="0">
                <a:latin typeface="Times New Roman" pitchFamily="18" charset="0"/>
                <a:cs typeface="Times New Roman" pitchFamily="18" charset="0"/>
              </a:rPr>
              <a:t>РежимЗаписи</a:t>
            </a:r>
            <a:r>
              <a:rPr lang="ru-RU" dirty="0" smtClean="0">
                <a:latin typeface="Times New Roman" pitchFamily="18" charset="0"/>
                <a:cs typeface="Times New Roman" pitchFamily="18" charset="0"/>
              </a:rPr>
              <a:t>», «</a:t>
            </a:r>
            <a:r>
              <a:rPr lang="ru-RU" dirty="0" err="1" smtClean="0">
                <a:latin typeface="Times New Roman" pitchFamily="18" charset="0"/>
                <a:cs typeface="Times New Roman" pitchFamily="18" charset="0"/>
              </a:rPr>
              <a:t>РежимПроведения</a:t>
            </a:r>
            <a:r>
              <a:rPr lang="ru-RU"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ru-RU" dirty="0" smtClean="0">
                <a:latin typeface="Times New Roman" pitchFamily="18" charset="0"/>
                <a:cs typeface="Times New Roman" pitchFamily="18" charset="0"/>
              </a:rPr>
              <a:t> Функция </a:t>
            </a:r>
            <a:r>
              <a:rPr lang="ru-RU" dirty="0" err="1" smtClean="0">
                <a:latin typeface="Times New Roman" pitchFamily="18" charset="0"/>
                <a:cs typeface="Times New Roman" pitchFamily="18" charset="0"/>
              </a:rPr>
              <a:t>ЭтоНовый</a:t>
            </a:r>
            <a:r>
              <a:rPr lang="ru-RU" dirty="0" smtClean="0">
                <a:latin typeface="Times New Roman" pitchFamily="18" charset="0"/>
                <a:cs typeface="Times New Roman" pitchFamily="18" charset="0"/>
              </a:rPr>
              <a:t>() проверяет, создаётся ли новый сотрудник в справочнике.</a:t>
            </a:r>
          </a:p>
          <a:p>
            <a:pPr algn="just"/>
            <a:r>
              <a:rPr lang="ru-RU" dirty="0" smtClean="0">
                <a:latin typeface="Times New Roman" pitchFamily="18" charset="0"/>
                <a:cs typeface="Times New Roman" pitchFamily="18" charset="0"/>
              </a:rPr>
              <a:t>    Если сотрудник новый, код сравнивает введённую зарплату с МРОТ.</a:t>
            </a:r>
          </a:p>
          <a:p>
            <a:pPr algn="just"/>
            <a:r>
              <a:rPr lang="ru-RU" dirty="0" smtClean="0">
                <a:latin typeface="Times New Roman" pitchFamily="18" charset="0"/>
                <a:cs typeface="Times New Roman" pitchFamily="18" charset="0"/>
              </a:rPr>
              <a:t>    Если зарплата ниже МРОТ, выполняется:</a:t>
            </a:r>
          </a:p>
          <a:p>
            <a:pPr algn="just"/>
            <a:r>
              <a:rPr lang="ru-RU" dirty="0" smtClean="0">
                <a:latin typeface="Times New Roman" pitchFamily="18" charset="0"/>
                <a:cs typeface="Times New Roman" pitchFamily="18" charset="0"/>
              </a:rPr>
              <a:t>        выводится сообщение с указанием текущей зарплаты и МРОТ;</a:t>
            </a:r>
          </a:p>
          <a:p>
            <a:pPr algn="just"/>
            <a:r>
              <a:rPr lang="ru-RU" dirty="0" smtClean="0">
                <a:latin typeface="Times New Roman" pitchFamily="18" charset="0"/>
                <a:cs typeface="Times New Roman" pitchFamily="18" charset="0"/>
              </a:rPr>
              <a:t>        устанавливается Отказ = Истина — это запрещает сохранить запись в базу данных;</a:t>
            </a:r>
          </a:p>
          <a:p>
            <a:pPr algn="just"/>
            <a:r>
              <a:rPr lang="ru-RU" dirty="0" smtClean="0">
                <a:latin typeface="Times New Roman" pitchFamily="18" charset="0"/>
                <a:cs typeface="Times New Roman" pitchFamily="18" charset="0"/>
              </a:rPr>
              <a:t>        выполняется Возврат — код прекращает работу, дальнейшие проверки не выполняются.</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r>
              <a:rPr lang="ru-RU" dirty="0" smtClean="0">
                <a:latin typeface="Times New Roman" pitchFamily="18" charset="0"/>
                <a:cs typeface="Times New Roman" pitchFamily="18" charset="0"/>
              </a:rPr>
              <a:t>Если </a:t>
            </a:r>
            <a:r>
              <a:rPr lang="ru-RU" dirty="0" smtClean="0">
                <a:latin typeface="Times New Roman" pitchFamily="18" charset="0"/>
                <a:cs typeface="Times New Roman" pitchFamily="18" charset="0"/>
              </a:rPr>
              <a:t>сотрудник уже существует (не новый), код находит его в справочнике по коду</a:t>
            </a:r>
            <a:endParaRPr lang="ru-RU"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0" y="6191250"/>
            <a:ext cx="5324475" cy="66675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2357422" y="5286388"/>
            <a:ext cx="4124325" cy="485775"/>
          </a:xfrm>
          <a:prstGeom prst="rect">
            <a:avLst/>
          </a:prstGeom>
          <a:noFill/>
          <a:ln w="9525">
            <a:noFill/>
            <a:miter lim="800000"/>
            <a:headEnd/>
            <a:tailEnd/>
          </a:ln>
          <a:effectLst/>
        </p:spPr>
      </p:pic>
      <p:sp>
        <p:nvSpPr>
          <p:cNvPr id="5" name="Прямоугольник 4"/>
          <p:cNvSpPr/>
          <p:nvPr/>
        </p:nvSpPr>
        <p:spPr>
          <a:xfrm>
            <a:off x="6572264" y="5221444"/>
            <a:ext cx="2571736" cy="707886"/>
          </a:xfrm>
          <a:prstGeom prst="rect">
            <a:avLst/>
          </a:prstGeom>
          <a:solidFill>
            <a:schemeClr val="bg2"/>
          </a:solidFill>
        </p:spPr>
        <p:txBody>
          <a:bodyPr wrap="square">
            <a:spAutoFit/>
          </a:bodyPr>
          <a:lstStyle/>
          <a:p>
            <a:pPr algn="just"/>
            <a:r>
              <a:rPr lang="ru-RU" sz="1000" dirty="0" smtClean="0">
                <a:latin typeface="Courier New" pitchFamily="49" charset="0"/>
                <a:cs typeface="Courier New" pitchFamily="49" charset="0"/>
              </a:rPr>
              <a:t>Если </a:t>
            </a:r>
            <a:r>
              <a:rPr lang="ru-RU" sz="1000" dirty="0" smtClean="0">
                <a:latin typeface="Courier New" pitchFamily="49" charset="0"/>
                <a:cs typeface="Courier New" pitchFamily="49" charset="0"/>
              </a:rPr>
              <a:t>Зарплата &lt; МРОТ Тогда</a:t>
            </a:r>
            <a:endParaRPr lang="en-US" sz="1000" dirty="0" smtClean="0">
              <a:latin typeface="Courier New" pitchFamily="49" charset="0"/>
              <a:cs typeface="Courier New" pitchFamily="49" charset="0"/>
            </a:endParaRPr>
          </a:p>
          <a:p>
            <a:pPr algn="just"/>
            <a:r>
              <a:rPr lang="ru-RU" sz="1000" dirty="0" smtClean="0">
                <a:latin typeface="Courier New" pitchFamily="49" charset="0"/>
                <a:cs typeface="Courier New" pitchFamily="49" charset="0"/>
              </a:rPr>
              <a:t>Сообщить(</a:t>
            </a:r>
            <a:r>
              <a:rPr lang="ru-RU" sz="1000" dirty="0" smtClean="0">
                <a:latin typeface="Courier New" pitchFamily="49" charset="0"/>
                <a:cs typeface="Courier New" pitchFamily="49" charset="0"/>
              </a:rPr>
              <a:t>"</a:t>
            </a:r>
            <a:r>
              <a:rPr lang="en-US" sz="1000" dirty="0" smtClean="0">
                <a:latin typeface="Courier New" pitchFamily="49" charset="0"/>
                <a:cs typeface="Courier New" pitchFamily="49" charset="0"/>
              </a:rPr>
              <a:t>...</a:t>
            </a:r>
            <a:r>
              <a:rPr lang="ru-RU" sz="1000" dirty="0" smtClean="0">
                <a:latin typeface="Courier New" pitchFamily="49" charset="0"/>
                <a:cs typeface="Courier New" pitchFamily="49" charset="0"/>
              </a:rPr>
              <a:t>");</a:t>
            </a:r>
            <a:endParaRPr lang="ru-RU" sz="1000" dirty="0" smtClean="0">
              <a:latin typeface="Courier New" pitchFamily="49" charset="0"/>
              <a:cs typeface="Courier New" pitchFamily="49" charset="0"/>
            </a:endParaRPr>
          </a:p>
          <a:p>
            <a:pPr algn="just"/>
            <a:r>
              <a:rPr lang="ru-RU" sz="1000" dirty="0" smtClean="0">
                <a:latin typeface="Courier New" pitchFamily="49" charset="0"/>
                <a:cs typeface="Courier New" pitchFamily="49" charset="0"/>
              </a:rPr>
              <a:t>Отказ </a:t>
            </a:r>
            <a:r>
              <a:rPr lang="ru-RU" sz="1000" dirty="0" smtClean="0">
                <a:latin typeface="Courier New" pitchFamily="49" charset="0"/>
                <a:cs typeface="Courier New" pitchFamily="49" charset="0"/>
              </a:rPr>
              <a:t>= Истина</a:t>
            </a:r>
            <a:r>
              <a:rPr lang="ru-RU" sz="1000" dirty="0" smtClean="0">
                <a:latin typeface="Courier New" pitchFamily="49" charset="0"/>
                <a:cs typeface="Courier New" pitchFamily="49" charset="0"/>
              </a:rPr>
              <a:t>;</a:t>
            </a:r>
            <a:endParaRPr lang="en-US" sz="1000" dirty="0" smtClean="0">
              <a:latin typeface="Courier New" pitchFamily="49" charset="0"/>
              <a:cs typeface="Courier New" pitchFamily="49" charset="0"/>
            </a:endParaRPr>
          </a:p>
          <a:p>
            <a:pPr algn="just"/>
            <a:r>
              <a:rPr lang="ru-RU" sz="1000" dirty="0" smtClean="0">
                <a:latin typeface="Courier New" pitchFamily="49" charset="0"/>
                <a:cs typeface="Courier New" pitchFamily="49" charset="0"/>
              </a:rPr>
              <a:t>Возврат;</a:t>
            </a:r>
            <a:endParaRPr lang="ru-RU" sz="1000" dirty="0">
              <a:latin typeface="Courier New" pitchFamily="49" charset="0"/>
              <a:cs typeface="Courier New" pitchFamily="49" charset="0"/>
            </a:endParaRPr>
          </a:p>
        </p:txBody>
      </p:sp>
      <p:cxnSp>
        <p:nvCxnSpPr>
          <p:cNvPr id="6" name="Прямая со стрелкой 5"/>
          <p:cNvCxnSpPr>
            <a:endCxn id="5" idx="1"/>
          </p:cNvCxnSpPr>
          <p:nvPr/>
        </p:nvCxnSpPr>
        <p:spPr>
          <a:xfrm flipV="1">
            <a:off x="4071934" y="5575387"/>
            <a:ext cx="2500330" cy="74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2031325"/>
          </a:xfrm>
          <a:prstGeom prst="rect">
            <a:avLst/>
          </a:prstGeom>
        </p:spPr>
        <p:txBody>
          <a:bodyPr wrap="square">
            <a:spAutoFit/>
          </a:bodyPr>
          <a:lstStyle/>
          <a:p>
            <a:pPr algn="ctr"/>
            <a:r>
              <a:rPr lang="en-US" dirty="0" smtClean="0">
                <a:latin typeface="Times New Roman" pitchFamily="18" charset="0"/>
                <a:cs typeface="Times New Roman" pitchFamily="18" charset="0"/>
                <a:hlinkClick r:id="rId2"/>
              </a:rPr>
              <a:t>https://rutube.ru/video/531a82fea0448ffa123dd615966f8fa6/?ysclid=mm5ckxnih803437845</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r>
              <a:rPr lang="ru-RU" b="1" dirty="0" smtClean="0">
                <a:latin typeface="Times New Roman" pitchFamily="18" charset="0"/>
                <a:cs typeface="Times New Roman" pitchFamily="18" charset="0"/>
              </a:rPr>
              <a:t>Перечисления в программе «1С:Предприятие»</a:t>
            </a:r>
            <a:r>
              <a:rPr lang="ru-RU" dirty="0" smtClean="0">
                <a:latin typeface="Times New Roman" pitchFamily="18" charset="0"/>
                <a:cs typeface="Times New Roman" pitchFamily="18" charset="0"/>
              </a:rPr>
              <a:t> — это прикладные объекты конфигурации, которые позволяют хранить в информационной базе наборы значений, которые не изменяются в процессе работы прикладного решения. </a:t>
            </a:r>
          </a:p>
          <a:p>
            <a:pPr algn="just"/>
            <a:r>
              <a:rPr lang="ru-RU" dirty="0" smtClean="0">
                <a:latin typeface="Times New Roman" pitchFamily="18" charset="0"/>
                <a:cs typeface="Times New Roman" pitchFamily="18" charset="0"/>
              </a:rPr>
              <a:t>Значения перечислений задаются на этапе конфигурирования и не могут быть изменены пользователем.</a:t>
            </a:r>
            <a:endParaRPr lang="ru-RU" dirty="0">
              <a:latin typeface="Times New Roman" pitchFamily="18" charset="0"/>
              <a:cs typeface="Times New Roman" pitchFamily="18" charset="0"/>
            </a:endParaRPr>
          </a:p>
        </p:txBody>
      </p:sp>
      <p:pic>
        <p:nvPicPr>
          <p:cNvPr id="3074" name="Picture 2" descr="Перечисления"/>
          <p:cNvPicPr>
            <a:picLocks noChangeAspect="1" noChangeArrowheads="1"/>
          </p:cNvPicPr>
          <p:nvPr/>
        </p:nvPicPr>
        <p:blipFill>
          <a:blip r:embed="rId3"/>
          <a:srcRect/>
          <a:stretch>
            <a:fillRect/>
          </a:stretch>
        </p:blipFill>
        <p:spPr bwMode="auto">
          <a:xfrm>
            <a:off x="3071802" y="1785926"/>
            <a:ext cx="2562225" cy="3067050"/>
          </a:xfrm>
          <a:prstGeom prst="rect">
            <a:avLst/>
          </a:prstGeom>
          <a:noFill/>
        </p:spPr>
      </p:pic>
      <p:pic>
        <p:nvPicPr>
          <p:cNvPr id="3075" name="Picture 3"/>
          <p:cNvPicPr>
            <a:picLocks noChangeAspect="1" noChangeArrowheads="1"/>
          </p:cNvPicPr>
          <p:nvPr/>
        </p:nvPicPr>
        <p:blipFill>
          <a:blip r:embed="rId4"/>
          <a:srcRect/>
          <a:stretch>
            <a:fillRect/>
          </a:stretch>
        </p:blipFill>
        <p:spPr bwMode="auto">
          <a:xfrm>
            <a:off x="1" y="4747846"/>
            <a:ext cx="9143999" cy="2110154"/>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214290"/>
            <a:ext cx="9144000" cy="1477328"/>
          </a:xfrm>
          <a:prstGeom prst="rect">
            <a:avLst/>
          </a:prstGeom>
        </p:spPr>
        <p:txBody>
          <a:bodyPr wrap="square">
            <a:spAutoFit/>
          </a:bodyPr>
          <a:lstStyle/>
          <a:p>
            <a:pPr algn="just"/>
            <a:r>
              <a:rPr lang="ru-RU" b="1" dirty="0">
                <a:latin typeface="Times New Roman" pitchFamily="18" charset="0"/>
                <a:cs typeface="Times New Roman" pitchFamily="18" charset="0"/>
              </a:rPr>
              <a:t>Формы справочника в 1С</a:t>
            </a:r>
            <a:r>
              <a:rPr lang="ru-RU" dirty="0">
                <a:latin typeface="Times New Roman" pitchFamily="18" charset="0"/>
                <a:cs typeface="Times New Roman" pitchFamily="18" charset="0"/>
              </a:rPr>
              <a:t> предназначены для того, чтобы пользователь мог просматривать и изменять данные, содержащиеся в справочнике. Система может автоматически генерировать все нужные формы справочника, но разработчик имеет возможность создать собственные формы, которые система будет использовать вместо форм по умолчанию.</a:t>
            </a:r>
          </a:p>
        </p:txBody>
      </p:sp>
      <p:pic>
        <p:nvPicPr>
          <p:cNvPr id="18434" name="Picture 2"/>
          <p:cNvPicPr>
            <a:picLocks noChangeAspect="1" noChangeArrowheads="1"/>
          </p:cNvPicPr>
          <p:nvPr/>
        </p:nvPicPr>
        <p:blipFill>
          <a:blip r:embed="rId2"/>
          <a:srcRect/>
          <a:stretch>
            <a:fillRect/>
          </a:stretch>
        </p:blipFill>
        <p:spPr bwMode="auto">
          <a:xfrm>
            <a:off x="1285852" y="1785926"/>
            <a:ext cx="6253192" cy="3609478"/>
          </a:xfrm>
          <a:prstGeom prst="rect">
            <a:avLst/>
          </a:prstGeom>
          <a:noFill/>
          <a:ln w="9525">
            <a:noFill/>
            <a:miter lim="800000"/>
            <a:headEnd/>
            <a:tailEnd/>
          </a:ln>
          <a:effectLst/>
        </p:spPr>
      </p:pic>
      <p:sp>
        <p:nvSpPr>
          <p:cNvPr id="4" name="Прямоугольник 3"/>
          <p:cNvSpPr/>
          <p:nvPr/>
        </p:nvSpPr>
        <p:spPr>
          <a:xfrm>
            <a:off x="0" y="5534561"/>
            <a:ext cx="4572000" cy="1323439"/>
          </a:xfrm>
          <a:prstGeom prst="rect">
            <a:avLst/>
          </a:prstGeom>
        </p:spPr>
        <p:txBody>
          <a:bodyPr>
            <a:spAutoFit/>
          </a:bodyPr>
          <a:lstStyle/>
          <a:p>
            <a:pPr algn="just"/>
            <a:r>
              <a:rPr lang="ru-RU" sz="1600" b="1" dirty="0">
                <a:latin typeface="Times New Roman" pitchFamily="18" charset="0"/>
                <a:cs typeface="Times New Roman" pitchFamily="18" charset="0"/>
              </a:rPr>
              <a:t>Форма элемента</a:t>
            </a:r>
          </a:p>
          <a:p>
            <a:pPr algn="just"/>
            <a:r>
              <a:rPr lang="ru-RU" sz="1600" b="1" dirty="0">
                <a:latin typeface="Times New Roman" pitchFamily="18" charset="0"/>
                <a:cs typeface="Times New Roman" pitchFamily="18" charset="0"/>
              </a:rPr>
              <a:t>Предназначена для просмотра и изменения данных отдельных элементов справочника</a:t>
            </a:r>
            <a:r>
              <a:rPr lang="ru-RU" sz="1600" dirty="0">
                <a:latin typeface="Times New Roman" pitchFamily="18" charset="0"/>
                <a:cs typeface="Times New Roman" pitchFamily="18" charset="0"/>
              </a:rPr>
              <a:t>. Как правило, представляет данные в удобном для восприятия и редактирования виде.</a:t>
            </a:r>
          </a:p>
        </p:txBody>
      </p:sp>
      <p:sp>
        <p:nvSpPr>
          <p:cNvPr id="5" name="Прямоугольник 4"/>
          <p:cNvSpPr/>
          <p:nvPr/>
        </p:nvSpPr>
        <p:spPr>
          <a:xfrm>
            <a:off x="4572000" y="5534561"/>
            <a:ext cx="4572000" cy="1323439"/>
          </a:xfrm>
          <a:prstGeom prst="rect">
            <a:avLst/>
          </a:prstGeom>
        </p:spPr>
        <p:txBody>
          <a:bodyPr>
            <a:spAutoFit/>
          </a:bodyPr>
          <a:lstStyle/>
          <a:p>
            <a:pPr algn="just"/>
            <a:r>
              <a:rPr lang="ru-RU" sz="1600" b="1" dirty="0">
                <a:latin typeface="Times New Roman" pitchFamily="18" charset="0"/>
                <a:cs typeface="Times New Roman" pitchFamily="18" charset="0"/>
              </a:rPr>
              <a:t>Форма списка</a:t>
            </a:r>
          </a:p>
          <a:p>
            <a:pPr algn="just"/>
            <a:r>
              <a:rPr lang="ru-RU" sz="1600" b="1" dirty="0">
                <a:latin typeface="Times New Roman" pitchFamily="18" charset="0"/>
                <a:cs typeface="Times New Roman" pitchFamily="18" charset="0"/>
              </a:rPr>
              <a:t>Используется для просмотра данных, содержащихся в справочнике</a:t>
            </a:r>
            <a:r>
              <a:rPr lang="ru-RU" sz="1600" dirty="0">
                <a:latin typeface="Times New Roman" pitchFamily="18" charset="0"/>
                <a:cs typeface="Times New Roman" pitchFamily="18" charset="0"/>
              </a:rPr>
              <a:t>. В общем случае содержит табличное поле, в которое выводится список элементов справочника.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3970318"/>
          </a:xfrm>
          <a:prstGeom prst="rect">
            <a:avLst/>
          </a:prstGeom>
        </p:spPr>
        <p:txBody>
          <a:bodyPr wrap="square">
            <a:spAutoFit/>
          </a:bodyPr>
          <a:lstStyle/>
          <a:p>
            <a:pPr algn="just"/>
            <a:r>
              <a:rPr lang="ru-RU" dirty="0" smtClean="0">
                <a:latin typeface="Times New Roman" pitchFamily="18" charset="0"/>
                <a:cs typeface="Times New Roman" pitchFamily="18" charset="0"/>
              </a:rPr>
              <a:t>Табличная часть в системе «1С» — это таблица, которая позволяет хранить однотипную информацию элементов справочника. Реквизиты табличной части — это столбцы данной таблицы. </a:t>
            </a:r>
          </a:p>
          <a:p>
            <a:pPr algn="just"/>
            <a:r>
              <a:rPr lang="ru-RU" dirty="0" smtClean="0">
                <a:latin typeface="Times New Roman" pitchFamily="18" charset="0"/>
                <a:cs typeface="Times New Roman" pitchFamily="18" charset="0"/>
              </a:rPr>
              <a:t>Некоторые особенности табличных частей:</a:t>
            </a:r>
          </a:p>
          <a:p>
            <a:pPr algn="just"/>
            <a:r>
              <a:rPr lang="ru-RU" dirty="0" smtClean="0">
                <a:latin typeface="Times New Roman" pitchFamily="18" charset="0"/>
                <a:cs typeface="Times New Roman" pitchFamily="18" charset="0"/>
              </a:rPr>
              <a:t>Количество строк информации заранее неизвестно и может быть разным для разных элементов данных.</a:t>
            </a:r>
          </a:p>
          <a:p>
            <a:pPr algn="just"/>
            <a:r>
              <a:rPr lang="ru-RU" dirty="0" smtClean="0">
                <a:latin typeface="Times New Roman" pitchFamily="18" charset="0"/>
                <a:cs typeface="Times New Roman" pitchFamily="18" charset="0"/>
              </a:rPr>
              <a:t>Табличные части являются единым целым с объектом, к которому относятся: они считываются и записываются вместе с ним, а также используют его права доступа.</a:t>
            </a:r>
            <a:endParaRPr lang="en-US" dirty="0" smtClean="0">
              <a:latin typeface="Times New Roman" pitchFamily="18" charset="0"/>
              <a:cs typeface="Times New Roman" pitchFamily="18" charset="0"/>
            </a:endParaRPr>
          </a:p>
          <a:p>
            <a:pPr algn="just"/>
            <a:r>
              <a:rPr lang="ru-RU" dirty="0" smtClean="0">
                <a:latin typeface="Times New Roman" pitchFamily="18" charset="0"/>
                <a:cs typeface="Times New Roman" pitchFamily="18" charset="0"/>
              </a:rPr>
              <a:t>Пример использования табличной части: справочник «Проекты» может хранить список сведений о задачах: номер задачи, её описание и срочность. </a:t>
            </a:r>
          </a:p>
          <a:p>
            <a:pPr algn="just"/>
            <a:r>
              <a:rPr lang="ru-RU" dirty="0" smtClean="0">
                <a:latin typeface="Times New Roman" pitchFamily="18" charset="0"/>
                <a:cs typeface="Times New Roman" pitchFamily="18" charset="0"/>
              </a:rPr>
              <a:t>Табличные части создаются на закладке «Данные» в конструкторе справочника. У табличной части может быть неограниченное количество реквизитов. Чтобы создать реквизит табличной части, её необходимо выделить и нажать на кнопку «Добавить реквизит».</a:t>
            </a:r>
            <a:endParaRPr lang="ru-RU" dirty="0">
              <a:latin typeface="Times New Roman" pitchFamily="18" charset="0"/>
              <a:cs typeface="Times New Roman" pitchFamily="18" charset="0"/>
            </a:endParaRPr>
          </a:p>
        </p:txBody>
      </p:sp>
      <p:pic>
        <p:nvPicPr>
          <p:cNvPr id="17410" name="Picture 2"/>
          <p:cNvPicPr>
            <a:picLocks noChangeAspect="1" noChangeArrowheads="1"/>
          </p:cNvPicPr>
          <p:nvPr/>
        </p:nvPicPr>
        <p:blipFill>
          <a:blip r:embed="rId2"/>
          <a:srcRect/>
          <a:stretch>
            <a:fillRect/>
          </a:stretch>
        </p:blipFill>
        <p:spPr bwMode="auto">
          <a:xfrm>
            <a:off x="428596" y="5438775"/>
            <a:ext cx="8410575" cy="1419225"/>
          </a:xfrm>
          <a:prstGeom prst="rect">
            <a:avLst/>
          </a:prstGeom>
          <a:noFill/>
          <a:ln w="9525">
            <a:noFill/>
            <a:miter lim="800000"/>
            <a:headEnd/>
            <a:tailEnd/>
          </a:ln>
          <a:effectLst/>
        </p:spPr>
      </p:pic>
      <p:pic>
        <p:nvPicPr>
          <p:cNvPr id="17411" name="Picture 3"/>
          <p:cNvPicPr>
            <a:picLocks noChangeAspect="1" noChangeArrowheads="1"/>
          </p:cNvPicPr>
          <p:nvPr/>
        </p:nvPicPr>
        <p:blipFill>
          <a:blip r:embed="rId3"/>
          <a:srcRect/>
          <a:stretch>
            <a:fillRect/>
          </a:stretch>
        </p:blipFill>
        <p:spPr bwMode="auto">
          <a:xfrm>
            <a:off x="1500166" y="3929066"/>
            <a:ext cx="2105025" cy="1285875"/>
          </a:xfrm>
          <a:prstGeom prst="rect">
            <a:avLst/>
          </a:prstGeom>
          <a:noFill/>
          <a:ln w="9525">
            <a:noFill/>
            <a:miter lim="800000"/>
            <a:headEnd/>
            <a:tailEnd/>
          </a:ln>
          <a:effectLst/>
        </p:spPr>
      </p:pic>
      <p:pic>
        <p:nvPicPr>
          <p:cNvPr id="17412" name="Picture 4"/>
          <p:cNvPicPr>
            <a:picLocks noChangeAspect="1" noChangeArrowheads="1"/>
          </p:cNvPicPr>
          <p:nvPr/>
        </p:nvPicPr>
        <p:blipFill>
          <a:blip r:embed="rId4"/>
          <a:srcRect/>
          <a:stretch>
            <a:fillRect/>
          </a:stretch>
        </p:blipFill>
        <p:spPr bwMode="auto">
          <a:xfrm>
            <a:off x="5357818" y="4000504"/>
            <a:ext cx="2066925" cy="809625"/>
          </a:xfrm>
          <a:prstGeom prst="rect">
            <a:avLst/>
          </a:prstGeom>
          <a:noFill/>
          <a:ln w="9525">
            <a:noFill/>
            <a:miter lim="800000"/>
            <a:headEnd/>
            <a:tailEnd/>
          </a:ln>
          <a:effectLst/>
        </p:spPr>
      </p:pic>
      <p:sp>
        <p:nvSpPr>
          <p:cNvPr id="6" name="Прямоугольник 5"/>
          <p:cNvSpPr/>
          <p:nvPr/>
        </p:nvSpPr>
        <p:spPr>
          <a:xfrm>
            <a:off x="4643438" y="4786322"/>
            <a:ext cx="4051687" cy="369332"/>
          </a:xfrm>
          <a:prstGeom prst="rect">
            <a:avLst/>
          </a:prstGeom>
        </p:spPr>
        <p:txBody>
          <a:bodyPr wrap="none">
            <a:spAutoFit/>
          </a:bodyPr>
          <a:lstStyle/>
          <a:p>
            <a:r>
              <a:rPr lang="ru-RU" dirty="0" smtClean="0">
                <a:latin typeface="Times New Roman" pitchFamily="18" charset="0"/>
                <a:cs typeface="Times New Roman" pitchFamily="18" charset="0"/>
              </a:rPr>
              <a:t>На форме элемента для получения года</a:t>
            </a:r>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a:stretch>
            <a:fillRect/>
          </a:stretch>
        </p:blipFill>
        <p:spPr bwMode="auto">
          <a:xfrm>
            <a:off x="2571736" y="4857760"/>
            <a:ext cx="3724275" cy="714375"/>
          </a:xfrm>
          <a:prstGeom prst="rect">
            <a:avLst/>
          </a:prstGeom>
          <a:noFill/>
          <a:ln w="9525">
            <a:noFill/>
            <a:miter lim="800000"/>
            <a:headEnd/>
            <a:tailEnd/>
          </a:ln>
          <a:effectLst/>
        </p:spPr>
      </p:pic>
      <p:pic>
        <p:nvPicPr>
          <p:cNvPr id="19459" name="Picture 3"/>
          <p:cNvPicPr>
            <a:picLocks noChangeAspect="1" noChangeArrowheads="1"/>
          </p:cNvPicPr>
          <p:nvPr/>
        </p:nvPicPr>
        <p:blipFill>
          <a:blip r:embed="rId3"/>
          <a:srcRect/>
          <a:stretch>
            <a:fillRect/>
          </a:stretch>
        </p:blipFill>
        <p:spPr bwMode="auto">
          <a:xfrm>
            <a:off x="1571604" y="5857892"/>
            <a:ext cx="5819775" cy="800100"/>
          </a:xfrm>
          <a:prstGeom prst="rect">
            <a:avLst/>
          </a:prstGeom>
          <a:noFill/>
          <a:ln w="9525">
            <a:noFill/>
            <a:miter lim="800000"/>
            <a:headEnd/>
            <a:tailEnd/>
          </a:ln>
          <a:effectLst/>
        </p:spPr>
      </p:pic>
      <p:sp>
        <p:nvSpPr>
          <p:cNvPr id="4" name="Прямоугольник 3"/>
          <p:cNvSpPr/>
          <p:nvPr/>
        </p:nvSpPr>
        <p:spPr>
          <a:xfrm>
            <a:off x="0" y="0"/>
            <a:ext cx="9144000" cy="4524315"/>
          </a:xfrm>
          <a:prstGeom prst="rect">
            <a:avLst/>
          </a:prstGeom>
        </p:spPr>
        <p:txBody>
          <a:bodyPr wrap="square">
            <a:spAutoFit/>
          </a:bodyPr>
          <a:lstStyle/>
          <a:p>
            <a:pPr algn="just"/>
            <a:r>
              <a:rPr lang="ru-RU" dirty="0" smtClean="0">
                <a:latin typeface="Times New Roman" pitchFamily="18" charset="0"/>
                <a:cs typeface="Times New Roman" pitchFamily="18" charset="0"/>
              </a:rPr>
              <a:t>Модуль менеджера значения констант в программе 1С — это модуль, в котором описываются обработчики констант. </a:t>
            </a:r>
          </a:p>
          <a:p>
            <a:pPr algn="just"/>
            <a:r>
              <a:rPr lang="ru-RU" dirty="0" smtClean="0">
                <a:latin typeface="Times New Roman" pitchFamily="18" charset="0"/>
                <a:cs typeface="Times New Roman" pitchFamily="18" charset="0"/>
              </a:rPr>
              <a:t>Некоторые возможности модуля:</a:t>
            </a:r>
          </a:p>
          <a:p>
            <a:pPr algn="just"/>
            <a:r>
              <a:rPr lang="ru-RU" dirty="0" smtClean="0">
                <a:latin typeface="Times New Roman" pitchFamily="18" charset="0"/>
                <a:cs typeface="Times New Roman" pitchFamily="18" charset="0"/>
              </a:rPr>
              <a:t>Контроль </a:t>
            </a:r>
            <a:r>
              <a:rPr lang="ru-RU" dirty="0" err="1" smtClean="0">
                <a:latin typeface="Times New Roman" pitchFamily="18" charset="0"/>
                <a:cs typeface="Times New Roman" pitchFamily="18" charset="0"/>
              </a:rPr>
              <a:t>заполненности</a:t>
            </a:r>
            <a:r>
              <a:rPr lang="ru-RU" dirty="0" smtClean="0">
                <a:latin typeface="Times New Roman" pitchFamily="18" charset="0"/>
                <a:cs typeface="Times New Roman" pitchFamily="18" charset="0"/>
              </a:rPr>
              <a:t> константы. Можно проверить, можно ли установить текущее значение константы. </a:t>
            </a:r>
          </a:p>
          <a:p>
            <a:pPr algn="just"/>
            <a:r>
              <a:rPr lang="ru-RU" dirty="0" smtClean="0">
                <a:latin typeface="Times New Roman" pitchFamily="18" charset="0"/>
                <a:cs typeface="Times New Roman" pitchFamily="18" charset="0"/>
              </a:rPr>
              <a:t>Обработка событий записи. В модуле можно выполнить обработку событий записи константы и проверку заполнения. </a:t>
            </a:r>
          </a:p>
          <a:p>
            <a:pPr algn="just"/>
            <a:r>
              <a:rPr lang="ru-RU" dirty="0" smtClean="0">
                <a:latin typeface="Times New Roman" pitchFamily="18" charset="0"/>
                <a:cs typeface="Times New Roman" pitchFamily="18" charset="0"/>
              </a:rPr>
              <a:t>Определение процедур. В модуле можно определить процедуры, которые выполняются перед записью константы и при записи константы. </a:t>
            </a:r>
          </a:p>
          <a:p>
            <a:pPr algn="just"/>
            <a:r>
              <a:rPr lang="ru-RU" dirty="0" smtClean="0">
                <a:latin typeface="Times New Roman" pitchFamily="18" charset="0"/>
                <a:cs typeface="Times New Roman" pitchFamily="18" charset="0"/>
              </a:rPr>
              <a:t>В модуле менеджера констант работают три события:</a:t>
            </a:r>
          </a:p>
          <a:p>
            <a:pPr algn="just"/>
            <a:r>
              <a:rPr lang="ru-RU" dirty="0" smtClean="0">
                <a:latin typeface="Times New Roman" pitchFamily="18" charset="0"/>
                <a:cs typeface="Times New Roman" pitchFamily="18" charset="0"/>
              </a:rPr>
              <a:t>Обработка проверки заполнения. Используется для контроля </a:t>
            </a:r>
            <a:r>
              <a:rPr lang="ru-RU" dirty="0" err="1" smtClean="0">
                <a:latin typeface="Times New Roman" pitchFamily="18" charset="0"/>
                <a:cs typeface="Times New Roman" pitchFamily="18" charset="0"/>
              </a:rPr>
              <a:t>заполненности</a:t>
            </a:r>
            <a:r>
              <a:rPr lang="ru-RU" dirty="0" smtClean="0">
                <a:latin typeface="Times New Roman" pitchFamily="18" charset="0"/>
                <a:cs typeface="Times New Roman" pitchFamily="18" charset="0"/>
              </a:rPr>
              <a:t> константы.</a:t>
            </a:r>
          </a:p>
          <a:p>
            <a:pPr algn="just"/>
            <a:r>
              <a:rPr lang="ru-RU" dirty="0" smtClean="0">
                <a:latin typeface="Times New Roman" pitchFamily="18" charset="0"/>
                <a:cs typeface="Times New Roman" pitchFamily="18" charset="0"/>
              </a:rPr>
              <a:t>Перед записью. Срабатывает перед тем, как константа будет записана.</a:t>
            </a:r>
          </a:p>
          <a:p>
            <a:pPr algn="just"/>
            <a:r>
              <a:rPr lang="ru-RU" dirty="0" smtClean="0">
                <a:latin typeface="Times New Roman" pitchFamily="18" charset="0"/>
                <a:cs typeface="Times New Roman" pitchFamily="18" charset="0"/>
              </a:rPr>
              <a:t>При записи. Возникает, когда константа уже записана, но транзакция ещё не зафиксирована и ещё можно откатиться.</a:t>
            </a:r>
          </a:p>
          <a:p>
            <a:pPr algn="just"/>
            <a:r>
              <a:rPr lang="ru-RU" dirty="0" smtClean="0">
                <a:latin typeface="Times New Roman" pitchFamily="18" charset="0"/>
                <a:cs typeface="Times New Roman" pitchFamily="18" charset="0"/>
              </a:rPr>
              <a:t>Для отказа от записи во всех трёх процедурах есть параметр «Отказ», который можно выставить в «Истина».</a:t>
            </a:r>
            <a:endParaRPr lang="ru-RU"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a:stretch>
            <a:fillRect/>
          </a:stretch>
        </p:blipFill>
        <p:spPr bwMode="auto">
          <a:xfrm>
            <a:off x="214282" y="4857760"/>
            <a:ext cx="8343900" cy="1733550"/>
          </a:xfrm>
          <a:prstGeom prst="rect">
            <a:avLst/>
          </a:prstGeom>
          <a:noFill/>
          <a:ln w="9525">
            <a:noFill/>
            <a:miter lim="800000"/>
            <a:headEnd/>
            <a:tailEnd/>
          </a:ln>
          <a:effectLst/>
        </p:spPr>
      </p:pic>
      <p:sp>
        <p:nvSpPr>
          <p:cNvPr id="3" name="Прямоугольник 2"/>
          <p:cNvSpPr/>
          <p:nvPr/>
        </p:nvSpPr>
        <p:spPr>
          <a:xfrm>
            <a:off x="0" y="2143116"/>
            <a:ext cx="9144000" cy="646331"/>
          </a:xfrm>
          <a:prstGeom prst="rect">
            <a:avLst/>
          </a:prstGeom>
        </p:spPr>
        <p:txBody>
          <a:bodyPr wrap="square">
            <a:spAutoFit/>
          </a:bodyPr>
          <a:lstStyle/>
          <a:p>
            <a:pPr algn="ctr"/>
            <a:r>
              <a:rPr lang="ru-RU" dirty="0" smtClean="0">
                <a:latin typeface="Times New Roman" pitchFamily="18" charset="0"/>
                <a:cs typeface="Times New Roman" pitchFamily="18" charset="0"/>
              </a:rPr>
              <a:t>На клиенте вызываем, но код выполняется на сервере 1С (не на компьютере пользователя). Это нужно для доступа к данным базы.</a:t>
            </a:r>
            <a:endParaRPr lang="ru-RU" dirty="0"/>
          </a:p>
        </p:txBody>
      </p:sp>
      <p:pic>
        <p:nvPicPr>
          <p:cNvPr id="20483" name="Picture 3"/>
          <p:cNvPicPr>
            <a:picLocks noChangeAspect="1" noChangeArrowheads="1"/>
          </p:cNvPicPr>
          <p:nvPr/>
        </p:nvPicPr>
        <p:blipFill>
          <a:blip r:embed="rId3"/>
          <a:srcRect/>
          <a:stretch>
            <a:fillRect/>
          </a:stretch>
        </p:blipFill>
        <p:spPr bwMode="auto">
          <a:xfrm>
            <a:off x="4214810" y="785794"/>
            <a:ext cx="4600575" cy="809625"/>
          </a:xfrm>
          <a:prstGeom prst="rect">
            <a:avLst/>
          </a:prstGeom>
          <a:noFill/>
          <a:ln w="9525">
            <a:noFill/>
            <a:miter lim="800000"/>
            <a:headEnd/>
            <a:tailEnd/>
          </a:ln>
          <a:effectLst/>
        </p:spPr>
      </p:pic>
      <p:sp>
        <p:nvSpPr>
          <p:cNvPr id="5" name="Прямоугольник 4"/>
          <p:cNvSpPr/>
          <p:nvPr/>
        </p:nvSpPr>
        <p:spPr>
          <a:xfrm>
            <a:off x="0" y="2928934"/>
            <a:ext cx="9144000" cy="2062103"/>
          </a:xfrm>
          <a:prstGeom prst="rect">
            <a:avLst/>
          </a:prstGeom>
        </p:spPr>
        <p:txBody>
          <a:bodyPr wrap="square">
            <a:spAutoFit/>
          </a:bodyPr>
          <a:lstStyle/>
          <a:p>
            <a:pPr algn="just"/>
            <a:r>
              <a:rPr lang="ru-RU" sz="1600" dirty="0" smtClean="0">
                <a:latin typeface="Times New Roman" pitchFamily="18" charset="0"/>
                <a:cs typeface="Times New Roman" pitchFamily="18" charset="0"/>
              </a:rPr>
              <a:t>Здесь выполняется проверка корректности данных:</a:t>
            </a:r>
          </a:p>
          <a:p>
            <a:pPr algn="just"/>
            <a:r>
              <a:rPr lang="ru-RU" sz="1600" dirty="0" smtClean="0">
                <a:latin typeface="Times New Roman" pitchFamily="18" charset="0"/>
                <a:cs typeface="Times New Roman" pitchFamily="18" charset="0"/>
              </a:rPr>
              <a:t>    </a:t>
            </a:r>
            <a:r>
              <a:rPr lang="ru-RU" sz="1600" dirty="0" err="1" smtClean="0">
                <a:latin typeface="Times New Roman" pitchFamily="18" charset="0"/>
                <a:cs typeface="Times New Roman" pitchFamily="18" charset="0"/>
              </a:rPr>
              <a:t>ТипЗнч</a:t>
            </a:r>
            <a:r>
              <a:rPr lang="ru-RU" sz="1600" dirty="0" smtClean="0">
                <a:latin typeface="Times New Roman" pitchFamily="18" charset="0"/>
                <a:cs typeface="Times New Roman" pitchFamily="18" charset="0"/>
              </a:rPr>
              <a:t>(</a:t>
            </a:r>
            <a:r>
              <a:rPr lang="ru-RU" sz="1600" dirty="0" err="1" smtClean="0">
                <a:latin typeface="Times New Roman" pitchFamily="18" charset="0"/>
                <a:cs typeface="Times New Roman" pitchFamily="18" charset="0"/>
              </a:rPr>
              <a:t>Объект.Сотрудник</a:t>
            </a:r>
            <a:r>
              <a:rPr lang="ru-RU" sz="1600" dirty="0" smtClean="0">
                <a:latin typeface="Times New Roman" pitchFamily="18" charset="0"/>
                <a:cs typeface="Times New Roman" pitchFamily="18" charset="0"/>
              </a:rPr>
              <a:t>) — проверяет, что в поле «Сотрудник» действительно выбран элемент справочника «Сотрудники» (а не </a:t>
            </a:r>
            <a:r>
              <a:rPr lang="ru-RU" sz="1600" dirty="0" err="1" smtClean="0">
                <a:latin typeface="Times New Roman" pitchFamily="18" charset="0"/>
                <a:cs typeface="Times New Roman" pitchFamily="18" charset="0"/>
              </a:rPr>
              <a:t>что‑то</a:t>
            </a:r>
            <a:r>
              <a:rPr lang="ru-RU" sz="1600" dirty="0" smtClean="0">
                <a:latin typeface="Times New Roman" pitchFamily="18" charset="0"/>
                <a:cs typeface="Times New Roman" pitchFamily="18" charset="0"/>
              </a:rPr>
              <a:t> другое).</a:t>
            </a:r>
          </a:p>
          <a:p>
            <a:pPr algn="just"/>
            <a:r>
              <a:rPr lang="ru-RU" sz="1600" dirty="0" smtClean="0">
                <a:latin typeface="Times New Roman" pitchFamily="18" charset="0"/>
                <a:cs typeface="Times New Roman" pitchFamily="18" charset="0"/>
              </a:rPr>
              <a:t>    Не </a:t>
            </a:r>
            <a:r>
              <a:rPr lang="ru-RU" sz="1600" dirty="0" err="1" smtClean="0">
                <a:latin typeface="Times New Roman" pitchFamily="18" charset="0"/>
                <a:cs typeface="Times New Roman" pitchFamily="18" charset="0"/>
              </a:rPr>
              <a:t>Объект.Сотрудник.Пустая</a:t>
            </a:r>
            <a:r>
              <a:rPr lang="ru-RU" sz="1600" dirty="0" smtClean="0">
                <a:latin typeface="Times New Roman" pitchFamily="18" charset="0"/>
                <a:cs typeface="Times New Roman" pitchFamily="18" charset="0"/>
              </a:rPr>
              <a:t>() — проверяет, что поле не пустое (сотрудник выбран).</a:t>
            </a:r>
          </a:p>
          <a:p>
            <a:pPr algn="just"/>
            <a:r>
              <a:rPr lang="ru-RU" sz="1600" dirty="0" smtClean="0">
                <a:latin typeface="Times New Roman" pitchFamily="18" charset="0"/>
                <a:cs typeface="Times New Roman" pitchFamily="18" charset="0"/>
              </a:rPr>
              <a:t>Если оба условия выполнены, код переходит к расчётам. Если нет — можно добавить блок Иначе</a:t>
            </a:r>
            <a:endParaRPr lang="en-US" sz="1600" dirty="0" smtClean="0">
              <a:latin typeface="Times New Roman" pitchFamily="18" charset="0"/>
              <a:cs typeface="Times New Roman" pitchFamily="18" charset="0"/>
            </a:endParaRPr>
          </a:p>
          <a:p>
            <a:pPr algn="just"/>
            <a:r>
              <a:rPr lang="ru-RU" sz="1600" dirty="0" err="1" smtClean="0">
                <a:latin typeface="Times New Roman" pitchFamily="18" charset="0"/>
                <a:cs typeface="Times New Roman" pitchFamily="18" charset="0"/>
              </a:rPr>
              <a:t>СотрудникОбъект</a:t>
            </a:r>
            <a:r>
              <a:rPr lang="ru-RU" sz="1600" dirty="0" smtClean="0">
                <a:latin typeface="Times New Roman" pitchFamily="18" charset="0"/>
                <a:cs typeface="Times New Roman" pitchFamily="18" charset="0"/>
              </a:rPr>
              <a:t> = </a:t>
            </a:r>
            <a:r>
              <a:rPr lang="ru-RU" sz="1600" dirty="0" err="1" smtClean="0">
                <a:latin typeface="Times New Roman" pitchFamily="18" charset="0"/>
                <a:cs typeface="Times New Roman" pitchFamily="18" charset="0"/>
              </a:rPr>
              <a:t>Объект.Сотрудник.ПолучитьОбъект</a:t>
            </a:r>
            <a:r>
              <a:rPr lang="ru-RU" sz="1600" dirty="0" smtClean="0">
                <a:latin typeface="Times New Roman" pitchFamily="18" charset="0"/>
                <a:cs typeface="Times New Roman" pitchFamily="18" charset="0"/>
              </a:rPr>
              <a:t>();</a:t>
            </a:r>
          </a:p>
          <a:p>
            <a:pPr algn="just"/>
            <a:r>
              <a:rPr lang="ru-RU" sz="1600" dirty="0" smtClean="0">
                <a:latin typeface="Times New Roman" pitchFamily="18" charset="0"/>
                <a:cs typeface="Times New Roman" pitchFamily="18" charset="0"/>
              </a:rPr>
              <a:t>    Получает полный объект сотрудника из базы данных (чтобы прочитать его свойства, например, зарплату).</a:t>
            </a:r>
            <a:endParaRPr lang="ru-RU" sz="1600" dirty="0">
              <a:latin typeface="Times New Roman" pitchFamily="18" charset="0"/>
              <a:cs typeface="Times New Roman" pitchFamily="18" charset="0"/>
            </a:endParaRPr>
          </a:p>
        </p:txBody>
      </p:sp>
      <p:pic>
        <p:nvPicPr>
          <p:cNvPr id="20484" name="Picture 4"/>
          <p:cNvPicPr>
            <a:picLocks noChangeAspect="1" noChangeArrowheads="1"/>
          </p:cNvPicPr>
          <p:nvPr/>
        </p:nvPicPr>
        <p:blipFill>
          <a:blip r:embed="rId4"/>
          <a:srcRect/>
          <a:stretch>
            <a:fillRect/>
          </a:stretch>
        </p:blipFill>
        <p:spPr bwMode="auto">
          <a:xfrm>
            <a:off x="357158" y="0"/>
            <a:ext cx="3552825" cy="2105025"/>
          </a:xfrm>
          <a:prstGeom prst="rect">
            <a:avLst/>
          </a:prstGeom>
          <a:noFill/>
          <a:ln w="9525">
            <a:noFill/>
            <a:miter lim="800000"/>
            <a:headEnd/>
            <a:tailEnd/>
          </a:ln>
          <a:effectLst/>
        </p:spPr>
      </p:pic>
      <p:sp>
        <p:nvSpPr>
          <p:cNvPr id="7" name="Прямоугольник 6"/>
          <p:cNvSpPr/>
          <p:nvPr/>
        </p:nvSpPr>
        <p:spPr>
          <a:xfrm>
            <a:off x="3929058" y="5786454"/>
            <a:ext cx="2869696" cy="307777"/>
          </a:xfrm>
          <a:prstGeom prst="rect">
            <a:avLst/>
          </a:prstGeom>
        </p:spPr>
        <p:txBody>
          <a:bodyPr wrap="none">
            <a:spAutoFit/>
          </a:bodyPr>
          <a:lstStyle/>
          <a:p>
            <a:r>
              <a:rPr lang="ru-RU" sz="1400" dirty="0" err="1" smtClean="0">
                <a:latin typeface="Courier New" pitchFamily="49" charset="0"/>
                <a:cs typeface="Courier New" pitchFamily="49" charset="0"/>
              </a:rPr>
              <a:t>СотрудникОбъект.Зарплата</a:t>
            </a:r>
            <a:r>
              <a:rPr lang="ru-RU" sz="1400" dirty="0" smtClean="0">
                <a:latin typeface="Courier New" pitchFamily="49" charset="0"/>
                <a:cs typeface="Courier New" pitchFamily="49" charset="0"/>
              </a:rPr>
              <a:t>;</a:t>
            </a:r>
            <a:endParaRPr lang="ru-RU" sz="1400" dirty="0">
              <a:latin typeface="Courier New" pitchFamily="49" charset="0"/>
              <a:cs typeface="Courier New" pitchFamily="49" charset="0"/>
            </a:endParaRPr>
          </a:p>
        </p:txBody>
      </p:sp>
      <p:cxnSp>
        <p:nvCxnSpPr>
          <p:cNvPr id="9" name="Прямая со стрелкой 8"/>
          <p:cNvCxnSpPr/>
          <p:nvPr/>
        </p:nvCxnSpPr>
        <p:spPr>
          <a:xfrm rot="10800000" flipV="1">
            <a:off x="3357554" y="5929330"/>
            <a:ext cx="571504" cy="14287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892</Words>
  <Application>Microsoft Office PowerPoint</Application>
  <PresentationFormat>Экран (4:3)</PresentationFormat>
  <Paragraphs>55</Paragraphs>
  <Slides>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8</vt:i4>
      </vt:variant>
    </vt:vector>
  </HeadingPairs>
  <TitlesOfParts>
    <vt:vector size="9" baseType="lpstr">
      <vt:lpstr>Тема Office</vt:lpstr>
      <vt:lpstr>Справочники: структура и реквизиты</vt:lpstr>
      <vt:lpstr>Слайд 2</vt:lpstr>
      <vt:lpstr>Слайд 3</vt:lpstr>
      <vt:lpstr>Слайд 4</vt:lpstr>
      <vt:lpstr>Слайд 5</vt:lpstr>
      <vt:lpstr>Слайд 6</vt:lpstr>
      <vt:lpstr>Слайд 7</vt:lpstr>
      <vt:lpstr>Слайд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user</dc:creator>
  <cp:lastModifiedBy>user</cp:lastModifiedBy>
  <cp:revision>4</cp:revision>
  <dcterms:created xsi:type="dcterms:W3CDTF">2026-02-27T20:22:46Z</dcterms:created>
  <dcterms:modified xsi:type="dcterms:W3CDTF">2026-03-22T09:00:28Z</dcterms:modified>
</cp:coreProperties>
</file>