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Default Extension="gif" ContentType="image/gif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2" r:id="rId3"/>
    <p:sldId id="257" r:id="rId4"/>
    <p:sldId id="264" r:id="rId5"/>
    <p:sldId id="261" r:id="rId6"/>
    <p:sldId id="263" r:id="rId7"/>
  </p:sldIdLst>
  <p:sldSz cx="9144000" cy="6858000" type="screen4x3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7716" autoAdjust="0"/>
    <p:restoredTop sz="94660"/>
  </p:normalViewPr>
  <p:slideViewPr>
    <p:cSldViewPr>
      <p:cViewPr varScale="1">
        <p:scale>
          <a:sx n="107" d="100"/>
          <a:sy n="107" d="100"/>
        </p:scale>
        <p:origin x="-1650" y="-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AB751-8214-4DCA-A67E-1243E59E7911}" type="datetimeFigureOut">
              <a:rPr lang="ru-RU" smtClean="0"/>
              <a:pPr/>
              <a:t>12.05.2026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17A53-1DE9-4820-81FB-20B4CABC57B7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AB751-8214-4DCA-A67E-1243E59E7911}" type="datetimeFigureOut">
              <a:rPr lang="ru-RU" smtClean="0"/>
              <a:pPr/>
              <a:t>12.05.2026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17A53-1DE9-4820-81FB-20B4CABC57B7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AB751-8214-4DCA-A67E-1243E59E7911}" type="datetimeFigureOut">
              <a:rPr lang="ru-RU" smtClean="0"/>
              <a:pPr/>
              <a:t>12.05.2026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17A53-1DE9-4820-81FB-20B4CABC57B7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AB751-8214-4DCA-A67E-1243E59E7911}" type="datetimeFigureOut">
              <a:rPr lang="ru-RU" smtClean="0"/>
              <a:pPr/>
              <a:t>12.05.2026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17A53-1DE9-4820-81FB-20B4CABC57B7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Содержимое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Содержимое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AB751-8214-4DCA-A67E-1243E59E7911}" type="datetimeFigureOut">
              <a:rPr lang="ru-RU" smtClean="0"/>
              <a:pPr/>
              <a:t>12.05.2026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17A53-1DE9-4820-81FB-20B4CABC57B7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AB751-8214-4DCA-A67E-1243E59E7911}" type="datetimeFigureOut">
              <a:rPr lang="ru-RU" smtClean="0"/>
              <a:pPr/>
              <a:t>12.05.2026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17A53-1DE9-4820-81FB-20B4CABC57B7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AB751-8214-4DCA-A67E-1243E59E7911}" type="datetimeFigureOut">
              <a:rPr lang="ru-RU" smtClean="0"/>
              <a:pPr/>
              <a:t>12.05.2026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17A53-1DE9-4820-81FB-20B4CABC57B7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Содержимое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AB751-8214-4DCA-A67E-1243E59E7911}" type="datetimeFigureOut">
              <a:rPr lang="ru-RU" smtClean="0"/>
              <a:pPr/>
              <a:t>12.05.2026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17A53-1DE9-4820-81FB-20B4CABC57B7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AB751-8214-4DCA-A67E-1243E59E7911}" type="datetimeFigureOut">
              <a:rPr lang="ru-RU" smtClean="0"/>
              <a:pPr/>
              <a:t>12.05.2026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17A53-1DE9-4820-81FB-20B4CABC57B7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AB751-8214-4DCA-A67E-1243E59E7911}" type="datetimeFigureOut">
              <a:rPr lang="ru-RU" smtClean="0"/>
              <a:pPr/>
              <a:t>12.05.2026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17A53-1DE9-4820-81FB-20B4CABC57B7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AAB751-8214-4DCA-A67E-1243E59E7911}" type="datetimeFigureOut">
              <a:rPr lang="ru-RU" smtClean="0"/>
              <a:pPr/>
              <a:t>12.05.2026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5517A53-1DE9-4820-81FB-20B4CABC57B7}" type="slidenum">
              <a:rPr lang="ru-RU" smtClean="0"/>
              <a:pPr/>
              <a:t>‹#›</a:t>
            </a:fld>
            <a:endParaRPr lang="ru-RU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1AAB751-8214-4DCA-A67E-1243E59E7911}" type="datetimeFigureOut">
              <a:rPr lang="ru-RU" smtClean="0"/>
              <a:pPr/>
              <a:t>12.05.2026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5517A53-1DE9-4820-81FB-20B4CABC57B7}" type="slidenum">
              <a:rPr lang="ru-RU" smtClean="0"/>
              <a:pPr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habr.com/ru/companies/lad_/articles/813177/" TargetMode="External"/><Relationship Id="rId2" Type="http://schemas.openxmlformats.org/officeDocument/2006/relationships/hyperlink" Target="https://infoblog.mywebguide.ru/articles/page_312691.html?ysclid=molunavhok691532336" TargetMode="External"/><Relationship Id="rId1" Type="http://schemas.openxmlformats.org/officeDocument/2006/relationships/slideLayout" Target="../slideLayouts/slideLayout6.xml"/><Relationship Id="rId4" Type="http://schemas.openxmlformats.org/officeDocument/2006/relationships/hyperlink" Target="https://mbdatateach.github.io/site/%D0%94%D0%9F%D0%9E/%D0%9B%D0%B5%D0%BA%D1%86%D0%B8%D1%8F.pptx" TargetMode="Externa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gif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HTML-</a:t>
            </a:r>
            <a:r>
              <a:rPr lang="ru-RU" dirty="0" smtClean="0"/>
              <a:t>отчёты: основы генерации</a:t>
            </a:r>
            <a:endParaRPr lang="ru-RU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-285776"/>
            <a:ext cx="8229600" cy="1143000"/>
          </a:xfrm>
        </p:spPr>
        <p:txBody>
          <a:bodyPr/>
          <a:lstStyle/>
          <a:p>
            <a:r>
              <a:rPr lang="ru-RU" dirty="0" smtClean="0"/>
              <a:t>Дополнительные материалы</a:t>
            </a:r>
            <a:endParaRPr lang="ru-RU" dirty="0"/>
          </a:p>
        </p:txBody>
      </p:sp>
      <p:sp>
        <p:nvSpPr>
          <p:cNvPr id="3" name="Прямоугольник 2"/>
          <p:cNvSpPr/>
          <p:nvPr/>
        </p:nvSpPr>
        <p:spPr>
          <a:xfrm>
            <a:off x="0" y="1000108"/>
            <a:ext cx="9144000" cy="452431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Как создать HTML-отчет в 1С:Предприятии 8.3 и вывести его на форму или в файл?</a:t>
            </a:r>
          </a:p>
          <a:p>
            <a:pPr algn="just"/>
            <a:r>
              <a:rPr lang="en-US" sz="2400" dirty="0" smtClean="0">
                <a:latin typeface="Times New Roman" pitchFamily="18" charset="0"/>
                <a:cs typeface="Times New Roman" pitchFamily="18" charset="0"/>
                <a:hlinkClick r:id="rId2"/>
              </a:rPr>
              <a:t>https://infoblog.mywebguide.ru/articles/page_312691.html?ysclid=molunavhok691532336</a:t>
            </a: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Поле HTML-документа: для чего можно использовать</a:t>
            </a:r>
          </a:p>
          <a:p>
            <a:pPr algn="just"/>
            <a:r>
              <a:rPr lang="en-US" sz="2400" dirty="0" smtClean="0">
                <a:latin typeface="Times New Roman" pitchFamily="18" charset="0"/>
                <a:cs typeface="Times New Roman" pitchFamily="18" charset="0"/>
                <a:hlinkClick r:id="rId3"/>
              </a:rPr>
              <a:t>https://habr.com/ru/companies/lad_/articles/813177/</a:t>
            </a: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endParaRPr lang="en-US" sz="2400" b="1" dirty="0" smtClean="0">
              <a:solidFill>
                <a:srgbClr val="FF0000"/>
              </a:solidFill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sz="2400" b="1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Основы </a:t>
            </a:r>
            <a:r>
              <a:rPr lang="en-US" sz="2400" b="1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HTML </a:t>
            </a:r>
            <a:r>
              <a:rPr lang="ru-RU" sz="2400" b="1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и </a:t>
            </a:r>
            <a:r>
              <a:rPr lang="en-US" sz="2400" b="1" dirty="0" smtClean="0">
                <a:solidFill>
                  <a:srgbClr val="FF0000"/>
                </a:solidFill>
                <a:latin typeface="Times New Roman" pitchFamily="18" charset="0"/>
                <a:cs typeface="Times New Roman" pitchFamily="18" charset="0"/>
              </a:rPr>
              <a:t>CSS</a:t>
            </a: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en-US" sz="2400" dirty="0" smtClean="0">
                <a:latin typeface="Times New Roman" pitchFamily="18" charset="0"/>
                <a:cs typeface="Times New Roman" pitchFamily="18" charset="0"/>
                <a:hlinkClick r:id="rId4"/>
              </a:rPr>
              <a:t>https://mbdatateach.github.io/site/%D0%94%D0%9F%D0%9E/%D0%9B%D0%B5%D0%BA%D1%86%D0%B8%D1%8F.pptx</a:t>
            </a:r>
            <a:endParaRPr lang="ru-RU" sz="2400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-357214"/>
            <a:ext cx="8229600" cy="1143000"/>
          </a:xfrm>
        </p:spPr>
        <p:txBody>
          <a:bodyPr/>
          <a:lstStyle/>
          <a:p>
            <a:r>
              <a:rPr lang="ru-RU" dirty="0" smtClean="0"/>
              <a:t>Заполнение справочника</a:t>
            </a:r>
            <a:endParaRPr lang="ru-RU" dirty="0"/>
          </a:p>
        </p:txBody>
      </p:sp>
      <p:sp>
        <p:nvSpPr>
          <p:cNvPr id="6" name="Прямоугольник 5"/>
          <p:cNvSpPr/>
          <p:nvPr/>
        </p:nvSpPr>
        <p:spPr>
          <a:xfrm>
            <a:off x="0" y="363915"/>
            <a:ext cx="4572000" cy="6494085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800" dirty="0" smtClean="0"/>
              <a:t>Процедура </a:t>
            </a:r>
            <a:r>
              <a:rPr lang="ru-RU" sz="800" dirty="0" err="1" smtClean="0"/>
              <a:t>ЗаполнитьСправочникПользователей</a:t>
            </a:r>
            <a:r>
              <a:rPr lang="ru-RU" sz="800" dirty="0" smtClean="0"/>
              <a:t>()</a:t>
            </a:r>
          </a:p>
          <a:p>
            <a:r>
              <a:rPr lang="ru-RU" sz="800" dirty="0" smtClean="0"/>
              <a:t>    // Создаём массивы имён и фамилий</a:t>
            </a:r>
          </a:p>
          <a:p>
            <a:r>
              <a:rPr lang="ru-RU" sz="800" dirty="0" smtClean="0"/>
              <a:t>    Имена = Новый Массив;</a:t>
            </a:r>
          </a:p>
          <a:p>
            <a:r>
              <a:rPr lang="ru-RU" sz="800" dirty="0" smtClean="0"/>
              <a:t>    </a:t>
            </a:r>
            <a:r>
              <a:rPr lang="ru-RU" sz="800" dirty="0" err="1" smtClean="0"/>
              <a:t>Имена.Добавить</a:t>
            </a:r>
            <a:r>
              <a:rPr lang="ru-RU" sz="800" dirty="0" smtClean="0"/>
              <a:t>(«…");</a:t>
            </a:r>
          </a:p>
          <a:p>
            <a:r>
              <a:rPr lang="ru-RU" sz="800" dirty="0" smtClean="0"/>
              <a:t>    </a:t>
            </a:r>
            <a:r>
              <a:rPr lang="ru-RU" sz="800" dirty="0" err="1" smtClean="0"/>
              <a:t>Имена.Добавить</a:t>
            </a:r>
            <a:r>
              <a:rPr lang="ru-RU" sz="800" dirty="0" smtClean="0"/>
              <a:t>(«…");</a:t>
            </a:r>
          </a:p>
          <a:p>
            <a:r>
              <a:rPr lang="ru-RU" sz="800" dirty="0" smtClean="0"/>
              <a:t>    </a:t>
            </a:r>
            <a:r>
              <a:rPr lang="ru-RU" sz="800" dirty="0" err="1" smtClean="0"/>
              <a:t>Имена.Добавить</a:t>
            </a:r>
            <a:r>
              <a:rPr lang="ru-RU" sz="800" dirty="0" smtClean="0"/>
              <a:t>(«…");</a:t>
            </a:r>
          </a:p>
          <a:p>
            <a:r>
              <a:rPr lang="ru-RU" sz="800" dirty="0" smtClean="0"/>
              <a:t>    </a:t>
            </a:r>
            <a:r>
              <a:rPr lang="ru-RU" sz="800" dirty="0" err="1" smtClean="0"/>
              <a:t>Имена.Добавить</a:t>
            </a:r>
            <a:r>
              <a:rPr lang="ru-RU" sz="800" dirty="0" smtClean="0"/>
              <a:t>(«…");</a:t>
            </a:r>
          </a:p>
          <a:p>
            <a:r>
              <a:rPr lang="ru-RU" sz="800" dirty="0" smtClean="0"/>
              <a:t>    </a:t>
            </a:r>
            <a:r>
              <a:rPr lang="ru-RU" sz="800" dirty="0" err="1" smtClean="0"/>
              <a:t>Имена.Добавить</a:t>
            </a:r>
            <a:r>
              <a:rPr lang="ru-RU" sz="800" dirty="0" smtClean="0"/>
              <a:t>(«…");</a:t>
            </a:r>
          </a:p>
          <a:p>
            <a:r>
              <a:rPr lang="ru-RU" sz="800" dirty="0" smtClean="0"/>
              <a:t>    </a:t>
            </a:r>
            <a:r>
              <a:rPr lang="ru-RU" sz="800" dirty="0" err="1" smtClean="0"/>
              <a:t>Имена.Добавить</a:t>
            </a:r>
            <a:r>
              <a:rPr lang="ru-RU" sz="800" dirty="0" smtClean="0"/>
              <a:t>(«…");</a:t>
            </a:r>
          </a:p>
          <a:p>
            <a:r>
              <a:rPr lang="ru-RU" sz="800" dirty="0" smtClean="0"/>
              <a:t>    </a:t>
            </a:r>
            <a:r>
              <a:rPr lang="ru-RU" sz="800" dirty="0" err="1" smtClean="0"/>
              <a:t>Имена.Добавить</a:t>
            </a:r>
            <a:r>
              <a:rPr lang="ru-RU" sz="800" dirty="0" smtClean="0"/>
              <a:t>(«…");</a:t>
            </a:r>
          </a:p>
          <a:p>
            <a:r>
              <a:rPr lang="ru-RU" sz="800" dirty="0" smtClean="0"/>
              <a:t>    </a:t>
            </a:r>
            <a:r>
              <a:rPr lang="ru-RU" sz="800" dirty="0" err="1" smtClean="0"/>
              <a:t>Имена.Добавить</a:t>
            </a:r>
            <a:r>
              <a:rPr lang="ru-RU" sz="800" dirty="0" smtClean="0"/>
              <a:t>(«…");</a:t>
            </a:r>
          </a:p>
          <a:p>
            <a:endParaRPr lang="ru-RU" sz="800" dirty="0" smtClean="0"/>
          </a:p>
          <a:p>
            <a:r>
              <a:rPr lang="ru-RU" sz="800" dirty="0" smtClean="0"/>
              <a:t>    Фамилии = Новый Массив;</a:t>
            </a:r>
          </a:p>
          <a:p>
            <a:r>
              <a:rPr lang="ru-RU" sz="800" dirty="0" smtClean="0"/>
              <a:t>    </a:t>
            </a:r>
            <a:r>
              <a:rPr lang="ru-RU" sz="800" dirty="0" err="1" smtClean="0"/>
              <a:t>Фамилии.Добавить</a:t>
            </a:r>
            <a:r>
              <a:rPr lang="ru-RU" sz="800" dirty="0" smtClean="0"/>
              <a:t>(«…");</a:t>
            </a:r>
          </a:p>
          <a:p>
            <a:r>
              <a:rPr lang="ru-RU" sz="800" dirty="0" smtClean="0"/>
              <a:t>    </a:t>
            </a:r>
            <a:r>
              <a:rPr lang="ru-RU" sz="800" dirty="0" err="1" smtClean="0"/>
              <a:t>Фамилии.Добавить</a:t>
            </a:r>
            <a:r>
              <a:rPr lang="ru-RU" sz="800" dirty="0" smtClean="0"/>
              <a:t>(«…");</a:t>
            </a:r>
          </a:p>
          <a:p>
            <a:r>
              <a:rPr lang="ru-RU" sz="800" dirty="0" smtClean="0"/>
              <a:t>    </a:t>
            </a:r>
            <a:r>
              <a:rPr lang="ru-RU" sz="800" dirty="0" err="1" smtClean="0"/>
              <a:t>Фамилии.Добавить</a:t>
            </a:r>
            <a:r>
              <a:rPr lang="ru-RU" sz="800" dirty="0" smtClean="0"/>
              <a:t>(«…");</a:t>
            </a:r>
          </a:p>
          <a:p>
            <a:r>
              <a:rPr lang="ru-RU" sz="800" dirty="0" smtClean="0"/>
              <a:t>    </a:t>
            </a:r>
            <a:r>
              <a:rPr lang="ru-RU" sz="800" dirty="0" err="1" smtClean="0"/>
              <a:t>Фамилии.Добавить</a:t>
            </a:r>
            <a:r>
              <a:rPr lang="ru-RU" sz="800" dirty="0" smtClean="0"/>
              <a:t>(«…");</a:t>
            </a:r>
          </a:p>
          <a:p>
            <a:r>
              <a:rPr lang="ru-RU" sz="800" dirty="0" smtClean="0"/>
              <a:t>    </a:t>
            </a:r>
            <a:r>
              <a:rPr lang="ru-RU" sz="800" dirty="0" err="1" smtClean="0"/>
              <a:t>Фамилии.Добавить</a:t>
            </a:r>
            <a:r>
              <a:rPr lang="ru-RU" sz="800" dirty="0" smtClean="0"/>
              <a:t>(«…");</a:t>
            </a:r>
          </a:p>
          <a:p>
            <a:r>
              <a:rPr lang="ru-RU" sz="800" dirty="0" smtClean="0"/>
              <a:t>    </a:t>
            </a:r>
            <a:r>
              <a:rPr lang="ru-RU" sz="800" dirty="0" err="1" smtClean="0"/>
              <a:t>Фамилии.Добавить</a:t>
            </a:r>
            <a:r>
              <a:rPr lang="ru-RU" sz="800" dirty="0" smtClean="0"/>
              <a:t>(«…");</a:t>
            </a:r>
          </a:p>
          <a:p>
            <a:r>
              <a:rPr lang="ru-RU" sz="800" dirty="0" smtClean="0"/>
              <a:t>    </a:t>
            </a:r>
            <a:r>
              <a:rPr lang="ru-RU" sz="800" dirty="0" err="1" smtClean="0"/>
              <a:t>Фамилии.Добавить</a:t>
            </a:r>
            <a:r>
              <a:rPr lang="ru-RU" sz="800" dirty="0" smtClean="0"/>
              <a:t>(«…");</a:t>
            </a:r>
          </a:p>
          <a:p>
            <a:r>
              <a:rPr lang="ru-RU" sz="800" dirty="0" smtClean="0"/>
              <a:t>    </a:t>
            </a:r>
            <a:r>
              <a:rPr lang="ru-RU" sz="800" dirty="0" err="1" smtClean="0"/>
              <a:t>Фамилии.Добавить</a:t>
            </a:r>
            <a:r>
              <a:rPr lang="ru-RU" sz="800" dirty="0" smtClean="0"/>
              <a:t>(«…");</a:t>
            </a:r>
          </a:p>
          <a:p>
            <a:endParaRPr lang="ru-RU" sz="800" dirty="0" smtClean="0"/>
          </a:p>
          <a:p>
            <a:r>
              <a:rPr lang="ru-RU" sz="800" dirty="0" smtClean="0"/>
              <a:t>    ГСЧ = Новый </a:t>
            </a:r>
            <a:r>
              <a:rPr lang="ru-RU" sz="800" dirty="0" err="1" smtClean="0"/>
              <a:t>ГенераторСлучайныхЧисел</a:t>
            </a:r>
            <a:r>
              <a:rPr lang="ru-RU" sz="800" dirty="0" smtClean="0"/>
              <a:t>();</a:t>
            </a:r>
          </a:p>
          <a:p>
            <a:r>
              <a:rPr lang="ru-RU" sz="800" dirty="0" smtClean="0"/>
              <a:t>    Количество = 120;</a:t>
            </a:r>
          </a:p>
          <a:p>
            <a:endParaRPr lang="ru-RU" sz="800" dirty="0" smtClean="0"/>
          </a:p>
          <a:p>
            <a:r>
              <a:rPr lang="ru-RU" sz="800" dirty="0" smtClean="0"/>
              <a:t>    Для </a:t>
            </a:r>
            <a:r>
              <a:rPr lang="ru-RU" sz="800" dirty="0" err="1" smtClean="0"/>
              <a:t>i</a:t>
            </a:r>
            <a:r>
              <a:rPr lang="ru-RU" sz="800" dirty="0" smtClean="0"/>
              <a:t> = 1 По Количество Цикл</a:t>
            </a:r>
          </a:p>
          <a:p>
            <a:r>
              <a:rPr lang="ru-RU" sz="800" dirty="0" smtClean="0"/>
              <a:t>        // Выбираем случайные имя и фамилию</a:t>
            </a:r>
          </a:p>
          <a:p>
            <a:r>
              <a:rPr lang="ru-RU" sz="800" dirty="0" smtClean="0"/>
              <a:t>        Имя = Имена[</a:t>
            </a:r>
            <a:r>
              <a:rPr lang="ru-RU" sz="800" dirty="0" err="1" smtClean="0"/>
              <a:t>ГСЧ.СлучайноеЧисло</a:t>
            </a:r>
            <a:r>
              <a:rPr lang="ru-RU" sz="800" dirty="0" smtClean="0"/>
              <a:t>(0, </a:t>
            </a:r>
            <a:r>
              <a:rPr lang="ru-RU" sz="800" dirty="0" err="1" smtClean="0"/>
              <a:t>Имена.Количество</a:t>
            </a:r>
            <a:r>
              <a:rPr lang="ru-RU" sz="800" dirty="0" smtClean="0"/>
              <a:t>() - 1)];</a:t>
            </a:r>
          </a:p>
          <a:p>
            <a:r>
              <a:rPr lang="ru-RU" sz="800" dirty="0" smtClean="0"/>
              <a:t>        Фамилия = Фамилии[</a:t>
            </a:r>
            <a:r>
              <a:rPr lang="ru-RU" sz="800" dirty="0" err="1" smtClean="0"/>
              <a:t>ГСЧ.СлучайноеЧисло</a:t>
            </a:r>
            <a:r>
              <a:rPr lang="ru-RU" sz="800" dirty="0" smtClean="0"/>
              <a:t>(0, </a:t>
            </a:r>
            <a:r>
              <a:rPr lang="ru-RU" sz="800" dirty="0" err="1" smtClean="0"/>
              <a:t>Фамилии.Количество</a:t>
            </a:r>
            <a:r>
              <a:rPr lang="ru-RU" sz="800" dirty="0" smtClean="0"/>
              <a:t>() - 1)];</a:t>
            </a:r>
          </a:p>
          <a:p>
            <a:endParaRPr lang="ru-RU" sz="800" dirty="0" smtClean="0"/>
          </a:p>
          <a:p>
            <a:r>
              <a:rPr lang="ru-RU" sz="800" dirty="0" smtClean="0"/>
              <a:t>        // Создаём нового пользователя</a:t>
            </a:r>
          </a:p>
          <a:p>
            <a:r>
              <a:rPr lang="ru-RU" sz="800" dirty="0" smtClean="0"/>
              <a:t>        Пользователь = </a:t>
            </a:r>
            <a:r>
              <a:rPr lang="ru-RU" sz="800" dirty="0" err="1" smtClean="0"/>
              <a:t>Справочники.Пользователи.СоздатьЭлемент</a:t>
            </a:r>
            <a:r>
              <a:rPr lang="ru-RU" sz="800" dirty="0" smtClean="0"/>
              <a:t>();</a:t>
            </a:r>
          </a:p>
          <a:p>
            <a:r>
              <a:rPr lang="ru-RU" sz="800" dirty="0" smtClean="0"/>
              <a:t>        </a:t>
            </a:r>
            <a:r>
              <a:rPr lang="ru-RU" sz="800" dirty="0" err="1" smtClean="0"/>
              <a:t>Пользователь.Наименование</a:t>
            </a:r>
            <a:r>
              <a:rPr lang="ru-RU" sz="800" dirty="0" smtClean="0"/>
              <a:t> = Фамилия + " " + Имя;</a:t>
            </a:r>
          </a:p>
          <a:p>
            <a:endParaRPr lang="ru-RU" sz="800" dirty="0" smtClean="0"/>
          </a:p>
          <a:p>
            <a:r>
              <a:rPr lang="ru-RU" sz="800" dirty="0" smtClean="0"/>
              <a:t>        // 15 % пользователей — никогда не входили</a:t>
            </a:r>
          </a:p>
          <a:p>
            <a:r>
              <a:rPr lang="ru-RU" sz="800" dirty="0" smtClean="0"/>
              <a:t>        Если </a:t>
            </a:r>
            <a:r>
              <a:rPr lang="ru-RU" sz="800" dirty="0" err="1" smtClean="0"/>
              <a:t>ГСЧ.СлучайноеЧисло</a:t>
            </a:r>
            <a:r>
              <a:rPr lang="ru-RU" sz="800" dirty="0" smtClean="0"/>
              <a:t>(1, 100) &lt;= 15 Тогда</a:t>
            </a:r>
          </a:p>
          <a:p>
            <a:r>
              <a:rPr lang="ru-RU" sz="800" dirty="0" smtClean="0"/>
              <a:t>            </a:t>
            </a:r>
            <a:r>
              <a:rPr lang="ru-RU" sz="800" dirty="0" err="1" smtClean="0"/>
              <a:t>Пользователь.ДатаПоследнегоВхода</a:t>
            </a:r>
            <a:r>
              <a:rPr lang="ru-RU" sz="800" dirty="0" smtClean="0"/>
              <a:t> = </a:t>
            </a:r>
            <a:r>
              <a:rPr lang="ru-RU" sz="800" dirty="0" err="1" smtClean="0"/>
              <a:t>Неопределено</a:t>
            </a:r>
            <a:r>
              <a:rPr lang="ru-RU" sz="800" dirty="0" smtClean="0"/>
              <a:t>;</a:t>
            </a:r>
          </a:p>
          <a:p>
            <a:r>
              <a:rPr lang="ru-RU" sz="800" dirty="0" smtClean="0"/>
              <a:t>        Иначе</a:t>
            </a:r>
          </a:p>
          <a:p>
            <a:r>
              <a:rPr lang="ru-RU" sz="800" dirty="0" smtClean="0"/>
              <a:t>            // Случайная дата за последние 1 год (0–365 дней назад)</a:t>
            </a:r>
          </a:p>
          <a:p>
            <a:r>
              <a:rPr lang="ru-RU" sz="800" dirty="0" smtClean="0"/>
              <a:t>            </a:t>
            </a:r>
            <a:r>
              <a:rPr lang="ru-RU" sz="800" dirty="0" err="1" smtClean="0"/>
              <a:t>ДнейНазаду</a:t>
            </a:r>
            <a:r>
              <a:rPr lang="ru-RU" sz="800" dirty="0" smtClean="0"/>
              <a:t> = </a:t>
            </a:r>
            <a:r>
              <a:rPr lang="ru-RU" sz="800" dirty="0" err="1" smtClean="0"/>
              <a:t>ГСЧ.СлучайноеЧисло</a:t>
            </a:r>
            <a:r>
              <a:rPr lang="ru-RU" sz="800" dirty="0" smtClean="0"/>
              <a:t>(0, 365);</a:t>
            </a:r>
          </a:p>
          <a:p>
            <a:r>
              <a:rPr lang="ru-RU" sz="800" dirty="0" smtClean="0"/>
              <a:t>            </a:t>
            </a:r>
            <a:r>
              <a:rPr lang="ru-RU" sz="800" dirty="0" err="1" smtClean="0"/>
              <a:t>Пользователь.ДатаПоследнегоВхода</a:t>
            </a:r>
            <a:r>
              <a:rPr lang="ru-RU" sz="800" dirty="0" smtClean="0"/>
              <a:t> = </a:t>
            </a:r>
            <a:r>
              <a:rPr lang="ru-RU" sz="800" dirty="0" err="1" smtClean="0"/>
              <a:t>ТекущаяДата</a:t>
            </a:r>
            <a:r>
              <a:rPr lang="ru-RU" sz="800" dirty="0" smtClean="0"/>
              <a:t>() - </a:t>
            </a:r>
            <a:r>
              <a:rPr lang="ru-RU" sz="800" dirty="0" err="1" smtClean="0"/>
              <a:t>ДнейНазаду</a:t>
            </a:r>
            <a:r>
              <a:rPr lang="ru-RU" sz="800" dirty="0" smtClean="0"/>
              <a:t> * 86400; // 86 400 секунд в сутках</a:t>
            </a:r>
          </a:p>
          <a:p>
            <a:r>
              <a:rPr lang="ru-RU" sz="800" dirty="0" smtClean="0"/>
              <a:t>        </a:t>
            </a:r>
            <a:r>
              <a:rPr lang="ru-RU" sz="800" dirty="0" err="1" smtClean="0"/>
              <a:t>КонецЕсли</a:t>
            </a:r>
            <a:r>
              <a:rPr lang="ru-RU" sz="800" dirty="0" smtClean="0"/>
              <a:t>;</a:t>
            </a:r>
          </a:p>
          <a:p>
            <a:r>
              <a:rPr lang="ru-RU" sz="800" dirty="0" smtClean="0"/>
              <a:t>        // Записываем пользователя, игнорируем ошибки</a:t>
            </a:r>
          </a:p>
          <a:p>
            <a:r>
              <a:rPr lang="ru-RU" sz="800" dirty="0" smtClean="0"/>
              <a:t>        Попытка</a:t>
            </a:r>
          </a:p>
          <a:p>
            <a:r>
              <a:rPr lang="ru-RU" sz="800" dirty="0" smtClean="0"/>
              <a:t>            </a:t>
            </a:r>
            <a:r>
              <a:rPr lang="ru-RU" sz="800" dirty="0" err="1" smtClean="0"/>
              <a:t>Пользователь.Записать</a:t>
            </a:r>
            <a:r>
              <a:rPr lang="ru-RU" sz="800" dirty="0" smtClean="0"/>
              <a:t>();</a:t>
            </a:r>
          </a:p>
          <a:p>
            <a:r>
              <a:rPr lang="ru-RU" sz="800" dirty="0" smtClean="0"/>
              <a:t>        Исключение</a:t>
            </a:r>
          </a:p>
          <a:p>
            <a:r>
              <a:rPr lang="ru-RU" sz="800" dirty="0" smtClean="0"/>
              <a:t>            // Продолжаем заполнение, даже если </a:t>
            </a:r>
            <a:r>
              <a:rPr lang="ru-RU" sz="800" dirty="0" err="1" smtClean="0"/>
              <a:t>какой‑то</a:t>
            </a:r>
            <a:r>
              <a:rPr lang="ru-RU" sz="800" dirty="0" smtClean="0"/>
              <a:t> пользователь не записался</a:t>
            </a:r>
          </a:p>
          <a:p>
            <a:r>
              <a:rPr lang="ru-RU" sz="800" dirty="0" smtClean="0"/>
              <a:t>        </a:t>
            </a:r>
            <a:r>
              <a:rPr lang="ru-RU" sz="800" dirty="0" err="1" smtClean="0"/>
              <a:t>КонецПопытки</a:t>
            </a:r>
            <a:r>
              <a:rPr lang="ru-RU" sz="800" dirty="0" smtClean="0"/>
              <a:t>;</a:t>
            </a:r>
          </a:p>
          <a:p>
            <a:r>
              <a:rPr lang="ru-RU" sz="800" dirty="0" smtClean="0"/>
              <a:t>    </a:t>
            </a:r>
            <a:r>
              <a:rPr lang="ru-RU" sz="800" dirty="0" err="1" smtClean="0"/>
              <a:t>КонецЦикла</a:t>
            </a:r>
            <a:r>
              <a:rPr lang="ru-RU" sz="800" dirty="0" smtClean="0"/>
              <a:t>;</a:t>
            </a:r>
          </a:p>
          <a:p>
            <a:r>
              <a:rPr lang="ru-RU" sz="800" dirty="0" smtClean="0"/>
              <a:t>    Сообщить("Создано " + Количество + " пользователей!");</a:t>
            </a:r>
          </a:p>
          <a:p>
            <a:r>
              <a:rPr lang="ru-RU" sz="800" dirty="0" err="1" smtClean="0"/>
              <a:t>КонецПроцедуры</a:t>
            </a:r>
            <a:endParaRPr lang="ru-RU" sz="800" dirty="0"/>
          </a:p>
        </p:txBody>
      </p:sp>
      <p:sp>
        <p:nvSpPr>
          <p:cNvPr id="7" name="Прямоугольник 6"/>
          <p:cNvSpPr/>
          <p:nvPr/>
        </p:nvSpPr>
        <p:spPr>
          <a:xfrm>
            <a:off x="4572000" y="500042"/>
            <a:ext cx="4572000" cy="393954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ru-RU" sz="1000" dirty="0" smtClean="0"/>
              <a:t>&amp;</a:t>
            </a:r>
            <a:r>
              <a:rPr lang="ru-RU" sz="1000" dirty="0" err="1" smtClean="0"/>
              <a:t>НаСервере</a:t>
            </a:r>
            <a:endParaRPr lang="ru-RU" sz="1000" dirty="0" smtClean="0"/>
          </a:p>
          <a:p>
            <a:r>
              <a:rPr lang="ru-RU" sz="1000" dirty="0" smtClean="0"/>
              <a:t>Процедура </a:t>
            </a:r>
            <a:r>
              <a:rPr lang="ru-RU" sz="1000" dirty="0" err="1" smtClean="0"/>
              <a:t>ОчиститьСправочникПользователи</a:t>
            </a:r>
            <a:r>
              <a:rPr lang="ru-RU" sz="1000" dirty="0" smtClean="0"/>
              <a:t>()</a:t>
            </a:r>
          </a:p>
          <a:p>
            <a:r>
              <a:rPr lang="ru-RU" sz="1000" dirty="0" smtClean="0"/>
              <a:t>    Попытка</a:t>
            </a:r>
          </a:p>
          <a:p>
            <a:r>
              <a:rPr lang="ru-RU" sz="1000" dirty="0" smtClean="0"/>
              <a:t>        Запрос = Новый Запрос;</a:t>
            </a:r>
          </a:p>
          <a:p>
            <a:r>
              <a:rPr lang="ru-RU" sz="1000" dirty="0" smtClean="0"/>
              <a:t>        </a:t>
            </a:r>
            <a:r>
              <a:rPr lang="ru-RU" sz="1000" dirty="0" err="1" smtClean="0"/>
              <a:t>Запрос.Текст</a:t>
            </a:r>
            <a:r>
              <a:rPr lang="ru-RU" sz="1000" dirty="0" smtClean="0"/>
              <a:t> = "ВЫБРАТЬ</a:t>
            </a:r>
          </a:p>
          <a:p>
            <a:r>
              <a:rPr lang="ru-RU" sz="1000" dirty="0" smtClean="0"/>
              <a:t>            |  </a:t>
            </a:r>
            <a:r>
              <a:rPr lang="ru-RU" sz="1000" dirty="0" err="1" smtClean="0"/>
              <a:t>Пользователи.Ссылка</a:t>
            </a:r>
            <a:r>
              <a:rPr lang="ru-RU" sz="1000" dirty="0" smtClean="0"/>
              <a:t> КАК Ссылка</a:t>
            </a:r>
          </a:p>
          <a:p>
            <a:r>
              <a:rPr lang="ru-RU" sz="1000" dirty="0" smtClean="0"/>
              <a:t>            |ИЗ</a:t>
            </a:r>
          </a:p>
          <a:p>
            <a:r>
              <a:rPr lang="ru-RU" sz="1000" dirty="0" smtClean="0"/>
              <a:t>            |  </a:t>
            </a:r>
            <a:r>
              <a:rPr lang="ru-RU" sz="1000" dirty="0" err="1" smtClean="0"/>
              <a:t>Справочник.Пользователи</a:t>
            </a:r>
            <a:r>
              <a:rPr lang="ru-RU" sz="1000" dirty="0" smtClean="0"/>
              <a:t> КАК Пользователи";</a:t>
            </a:r>
          </a:p>
          <a:p>
            <a:endParaRPr lang="ru-RU" sz="1000" dirty="0" smtClean="0"/>
          </a:p>
          <a:p>
            <a:r>
              <a:rPr lang="ru-RU" sz="1000" dirty="0" smtClean="0"/>
              <a:t>        </a:t>
            </a:r>
            <a:r>
              <a:rPr lang="ru-RU" sz="1000" dirty="0" err="1" smtClean="0"/>
              <a:t>РезультатЗапроса</a:t>
            </a:r>
            <a:r>
              <a:rPr lang="ru-RU" sz="1000" dirty="0" smtClean="0"/>
              <a:t> = </a:t>
            </a:r>
            <a:r>
              <a:rPr lang="ru-RU" sz="1000" dirty="0" err="1" smtClean="0"/>
              <a:t>Запрос.Выполнить</a:t>
            </a:r>
            <a:r>
              <a:rPr lang="ru-RU" sz="1000" dirty="0" smtClean="0"/>
              <a:t>();</a:t>
            </a:r>
          </a:p>
          <a:p>
            <a:r>
              <a:rPr lang="ru-RU" sz="1000" dirty="0" smtClean="0"/>
              <a:t>        Выборка = </a:t>
            </a:r>
            <a:r>
              <a:rPr lang="ru-RU" sz="1000" dirty="0" err="1" smtClean="0"/>
              <a:t>РезультатЗапроса.Выбрать</a:t>
            </a:r>
            <a:r>
              <a:rPr lang="ru-RU" sz="1000" dirty="0" smtClean="0"/>
              <a:t>();</a:t>
            </a:r>
          </a:p>
          <a:p>
            <a:endParaRPr lang="ru-RU" sz="1000" dirty="0" smtClean="0"/>
          </a:p>
          <a:p>
            <a:r>
              <a:rPr lang="ru-RU" sz="1000" dirty="0" smtClean="0"/>
              <a:t>        </a:t>
            </a:r>
            <a:r>
              <a:rPr lang="ru-RU" sz="1000" dirty="0" err="1" smtClean="0"/>
              <a:t>КоличествоУдаленных</a:t>
            </a:r>
            <a:r>
              <a:rPr lang="ru-RU" sz="1000" dirty="0" smtClean="0"/>
              <a:t> = 0;</a:t>
            </a:r>
          </a:p>
          <a:p>
            <a:endParaRPr lang="ru-RU" sz="1000" dirty="0" smtClean="0"/>
          </a:p>
          <a:p>
            <a:r>
              <a:rPr lang="ru-RU" sz="1000" dirty="0" smtClean="0"/>
              <a:t>        Пока </a:t>
            </a:r>
            <a:r>
              <a:rPr lang="ru-RU" sz="1000" dirty="0" err="1" smtClean="0"/>
              <a:t>Выборка.Следующий</a:t>
            </a:r>
            <a:r>
              <a:rPr lang="ru-RU" sz="1000" dirty="0" smtClean="0"/>
              <a:t>() Цикл</a:t>
            </a:r>
          </a:p>
          <a:p>
            <a:r>
              <a:rPr lang="ru-RU" sz="1000" dirty="0" smtClean="0"/>
              <a:t>            Элемент = </a:t>
            </a:r>
            <a:r>
              <a:rPr lang="ru-RU" sz="1000" dirty="0" err="1" smtClean="0"/>
              <a:t>Выборка.Ссылка.ПолучитьОбъект</a:t>
            </a:r>
            <a:r>
              <a:rPr lang="ru-RU" sz="1000" dirty="0" smtClean="0"/>
              <a:t>();</a:t>
            </a:r>
          </a:p>
          <a:p>
            <a:r>
              <a:rPr lang="ru-RU" sz="1000" dirty="0" smtClean="0"/>
              <a:t>            </a:t>
            </a:r>
            <a:r>
              <a:rPr lang="ru-RU" sz="1000" dirty="0" err="1" smtClean="0"/>
              <a:t>Элемент.Удалить</a:t>
            </a:r>
            <a:r>
              <a:rPr lang="ru-RU" sz="1000" dirty="0" smtClean="0"/>
              <a:t>();</a:t>
            </a:r>
          </a:p>
          <a:p>
            <a:r>
              <a:rPr lang="ru-RU" sz="1000" dirty="0" smtClean="0"/>
              <a:t>            </a:t>
            </a:r>
            <a:r>
              <a:rPr lang="ru-RU" sz="1000" dirty="0" err="1" smtClean="0"/>
              <a:t>КоличествоУдаленных</a:t>
            </a:r>
            <a:r>
              <a:rPr lang="ru-RU" sz="1000" dirty="0" smtClean="0"/>
              <a:t> = </a:t>
            </a:r>
            <a:r>
              <a:rPr lang="ru-RU" sz="1000" dirty="0" err="1" smtClean="0"/>
              <a:t>КоличествоУдаленных</a:t>
            </a:r>
            <a:r>
              <a:rPr lang="ru-RU" sz="1000" dirty="0" smtClean="0"/>
              <a:t> + 1;</a:t>
            </a:r>
          </a:p>
          <a:p>
            <a:r>
              <a:rPr lang="ru-RU" sz="1000" dirty="0" smtClean="0"/>
              <a:t>        </a:t>
            </a:r>
            <a:r>
              <a:rPr lang="ru-RU" sz="1000" dirty="0" err="1" smtClean="0"/>
              <a:t>КонецЦикла</a:t>
            </a:r>
            <a:r>
              <a:rPr lang="ru-RU" sz="1000" dirty="0" smtClean="0"/>
              <a:t>;</a:t>
            </a:r>
          </a:p>
          <a:p>
            <a:endParaRPr lang="ru-RU" sz="1000" dirty="0" smtClean="0"/>
          </a:p>
          <a:p>
            <a:r>
              <a:rPr lang="ru-RU" sz="1000" dirty="0" smtClean="0"/>
              <a:t>        Сообщить("Удалено записей: " + </a:t>
            </a:r>
            <a:r>
              <a:rPr lang="ru-RU" sz="1000" dirty="0" err="1" smtClean="0"/>
              <a:t>КоличествоУдаленных</a:t>
            </a:r>
            <a:r>
              <a:rPr lang="ru-RU" sz="1000" dirty="0" smtClean="0"/>
              <a:t>);</a:t>
            </a:r>
          </a:p>
          <a:p>
            <a:r>
              <a:rPr lang="ru-RU" sz="1000" dirty="0" smtClean="0"/>
              <a:t>    Исключение</a:t>
            </a:r>
          </a:p>
          <a:p>
            <a:r>
              <a:rPr lang="ru-RU" sz="1000" dirty="0" smtClean="0"/>
              <a:t>        Сообщить("Ошибка при очистке справочника: " + </a:t>
            </a:r>
            <a:r>
              <a:rPr lang="ru-RU" sz="1000" dirty="0" err="1" smtClean="0"/>
              <a:t>ОписаниеОшибки</a:t>
            </a:r>
            <a:r>
              <a:rPr lang="ru-RU" sz="1000" dirty="0" smtClean="0"/>
              <a:t>());</a:t>
            </a:r>
          </a:p>
          <a:p>
            <a:r>
              <a:rPr lang="ru-RU" sz="1000" dirty="0" smtClean="0"/>
              <a:t>    </a:t>
            </a:r>
            <a:r>
              <a:rPr lang="ru-RU" sz="1000" dirty="0" err="1" smtClean="0"/>
              <a:t>КонецПопытки</a:t>
            </a:r>
            <a:r>
              <a:rPr lang="ru-RU" sz="1000" dirty="0" smtClean="0"/>
              <a:t>;</a:t>
            </a:r>
          </a:p>
          <a:p>
            <a:r>
              <a:rPr lang="ru-RU" sz="1000" dirty="0" err="1" smtClean="0"/>
              <a:t>КонецПроцедуры</a:t>
            </a:r>
            <a:endParaRPr lang="ru-RU" sz="1000" dirty="0"/>
          </a:p>
        </p:txBody>
      </p:sp>
      <p:sp>
        <p:nvSpPr>
          <p:cNvPr id="8" name="Прямоугольник 7"/>
          <p:cNvSpPr/>
          <p:nvPr/>
        </p:nvSpPr>
        <p:spPr>
          <a:xfrm>
            <a:off x="4572000" y="4611231"/>
            <a:ext cx="4572000" cy="2246769"/>
          </a:xfrm>
          <a:prstGeom prst="rect">
            <a:avLst/>
          </a:prstGeom>
          <a:solidFill>
            <a:schemeClr val="bg2"/>
          </a:solidFill>
        </p:spPr>
        <p:txBody>
          <a:bodyPr>
            <a:spAutoFit/>
          </a:bodyPr>
          <a:lstStyle/>
          <a:p>
            <a:pPr algn="just"/>
            <a:r>
              <a:rPr lang="ru-RU" sz="1400" dirty="0" err="1" smtClean="0">
                <a:latin typeface="Times New Roman" pitchFamily="18" charset="0"/>
                <a:cs typeface="Times New Roman" pitchFamily="18" charset="0"/>
              </a:rPr>
              <a:t>ОчиститьСправочникПользователи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() — удаляет все записи из справочника «Пользователи» и сообщает, сколько их было. При ошибке выводит сообщение об ошибке.</a:t>
            </a:r>
          </a:p>
          <a:p>
            <a:pPr algn="just"/>
            <a:endParaRPr lang="ru-RU" sz="1400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sz="1400" dirty="0" err="1" smtClean="0">
                <a:latin typeface="Times New Roman" pitchFamily="18" charset="0"/>
                <a:cs typeface="Times New Roman" pitchFamily="18" charset="0"/>
              </a:rPr>
              <a:t>ЗаполнитьСправочникПользователей</a:t>
            </a:r>
            <a:r>
              <a:rPr lang="ru-RU" sz="1400" dirty="0" smtClean="0">
                <a:latin typeface="Times New Roman" pitchFamily="18" charset="0"/>
                <a:cs typeface="Times New Roman" pitchFamily="18" charset="0"/>
              </a:rPr>
              <a:t>() — создаёт 120 случайных пользователей (с именами и фамилиями из списка), у 15 % не указывает дату входа, у остальных ставит случайную дату за последний год. Сообщает о завершении.</a:t>
            </a:r>
            <a:endParaRPr lang="ru-RU" sz="14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-357214"/>
            <a:ext cx="8229600" cy="1143000"/>
          </a:xfrm>
        </p:spPr>
        <p:txBody>
          <a:bodyPr/>
          <a:lstStyle/>
          <a:p>
            <a:r>
              <a:rPr lang="ru-RU" dirty="0" smtClean="0"/>
              <a:t>Отчеты</a:t>
            </a:r>
            <a:endParaRPr lang="ru-RU" dirty="0"/>
          </a:p>
        </p:txBody>
      </p:sp>
      <p:sp>
        <p:nvSpPr>
          <p:cNvPr id="4" name="Прямоугольник 3"/>
          <p:cNvSpPr/>
          <p:nvPr/>
        </p:nvSpPr>
        <p:spPr>
          <a:xfrm>
            <a:off x="0" y="500042"/>
            <a:ext cx="9144000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400" dirty="0" smtClean="0">
                <a:latin typeface="Times New Roman" pitchFamily="18" charset="0"/>
                <a:cs typeface="Times New Roman" pitchFamily="18" charset="0"/>
              </a:rPr>
              <a:t>В конфигураторе 1С можно создать макет с HTML-кодом, используя HTML-теги и CSS-стили. Для подстановки данных из 1С используются параметры макета.</a:t>
            </a:r>
          </a:p>
        </p:txBody>
      </p:sp>
      <p:pic>
        <p:nvPicPr>
          <p:cNvPr id="3074" name="Picture 2" descr="Picture background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357158" y="1785926"/>
            <a:ext cx="8286804" cy="451712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57200" y="-357214"/>
            <a:ext cx="8229600" cy="1143000"/>
          </a:xfrm>
        </p:spPr>
        <p:txBody>
          <a:bodyPr/>
          <a:lstStyle/>
          <a:p>
            <a:r>
              <a:rPr lang="ru-RU" dirty="0" smtClean="0"/>
              <a:t>Формирование отчета</a:t>
            </a:r>
            <a:endParaRPr lang="ru-RU" dirty="0"/>
          </a:p>
        </p:txBody>
      </p:sp>
      <p:pic>
        <p:nvPicPr>
          <p:cNvPr id="3" name="Picture 1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000100" y="642918"/>
            <a:ext cx="7534268" cy="602912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9144000" cy="2954655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Зачем нужны </a:t>
            </a: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html-</a:t>
            </a:r>
            <a:r>
              <a:rPr lang="ru-RU" sz="2400" b="1" dirty="0" smtClean="0">
                <a:latin typeface="Times New Roman" pitchFamily="18" charset="0"/>
                <a:cs typeface="Times New Roman" pitchFamily="18" charset="0"/>
              </a:rPr>
              <a:t>отчёты в 1С?</a:t>
            </a:r>
            <a:endParaRPr lang="en-US" sz="2400" b="1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endParaRPr lang="ru-RU" b="1" dirty="0" smtClean="0">
              <a:latin typeface="Times New Roman" pitchFamily="18" charset="0"/>
              <a:cs typeface="Times New Roman" pitchFamily="18" charset="0"/>
            </a:endParaRPr>
          </a:p>
          <a:p>
            <a:pPr algn="just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гибкого оформления —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красивая вёрстка, таблицы, графики, цвета, шрифты;</a:t>
            </a:r>
          </a:p>
          <a:p>
            <a:pPr algn="just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интерактивности —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кнопки, ссылки, фильтрация прямо в отчёте;</a:t>
            </a:r>
          </a:p>
          <a:p>
            <a:pPr algn="just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просмотра в браузере —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можно открыть отдельно, отправить по почте, опубликовать в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веб‑интерфейсе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;</a:t>
            </a:r>
          </a:p>
          <a:p>
            <a:pPr algn="just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экспорта —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легко сохранить как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веб‑страницу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 (HTML/HTM);</a:t>
            </a:r>
          </a:p>
          <a:p>
            <a:pPr algn="just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интеграции —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встраивание </a:t>
            </a:r>
            <a:r>
              <a:rPr lang="ru-RU" dirty="0" err="1" smtClean="0">
                <a:latin typeface="Times New Roman" pitchFamily="18" charset="0"/>
                <a:cs typeface="Times New Roman" pitchFamily="18" charset="0"/>
              </a:rPr>
              <a:t>веб‑элементов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, диаграмм, карт или данных из внешних источников;</a:t>
            </a:r>
          </a:p>
          <a:p>
            <a:pPr algn="just"/>
            <a:r>
              <a:rPr lang="ru-RU" b="1" dirty="0" smtClean="0">
                <a:latin typeface="Times New Roman" pitchFamily="18" charset="0"/>
                <a:cs typeface="Times New Roman" pitchFamily="18" charset="0"/>
              </a:rPr>
              <a:t>предварительного просмотра — </a:t>
            </a:r>
            <a:r>
              <a:rPr lang="ru-RU" dirty="0" smtClean="0">
                <a:latin typeface="Times New Roman" pitchFamily="18" charset="0"/>
                <a:cs typeface="Times New Roman" pitchFamily="18" charset="0"/>
              </a:rPr>
              <a:t>наглядное отображение печатных форм перед печатью.</a:t>
            </a:r>
            <a:endParaRPr lang="ru-RU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1025" name="Picture 1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0" y="3071810"/>
            <a:ext cx="9144000" cy="284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4" name="Прямоугольник 3"/>
          <p:cNvSpPr/>
          <p:nvPr/>
        </p:nvSpPr>
        <p:spPr>
          <a:xfrm>
            <a:off x="1428728" y="5857892"/>
            <a:ext cx="5686365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400" i="1" dirty="0" smtClean="0">
                <a:latin typeface="Times New Roman" pitchFamily="18" charset="0"/>
                <a:cs typeface="Times New Roman" pitchFamily="18" charset="0"/>
              </a:rPr>
              <a:t>Пример применения </a:t>
            </a:r>
            <a:r>
              <a:rPr lang="en-US" sz="2400" i="1" dirty="0" smtClean="0">
                <a:latin typeface="Times New Roman" pitchFamily="18" charset="0"/>
                <a:cs typeface="Times New Roman" pitchFamily="18" charset="0"/>
              </a:rPr>
              <a:t>JS-</a:t>
            </a:r>
            <a:r>
              <a:rPr lang="ru-RU" sz="2400" i="1" dirty="0" smtClean="0">
                <a:latin typeface="Times New Roman" pitchFamily="18" charset="0"/>
                <a:cs typeface="Times New Roman" pitchFamily="18" charset="0"/>
              </a:rPr>
              <a:t>функции в отчете</a:t>
            </a:r>
            <a:endParaRPr lang="ru-RU" sz="2400" i="1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Стандартная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231</TotalTime>
  <Words>566</Words>
  <Application>Microsoft Office PowerPoint</Application>
  <PresentationFormat>Экран (4:3)</PresentationFormat>
  <Paragraphs>102</Paragraphs>
  <Slides>6</Slides>
  <Notes>0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6</vt:i4>
      </vt:variant>
    </vt:vector>
  </HeadingPairs>
  <TitlesOfParts>
    <vt:vector size="7" baseType="lpstr">
      <vt:lpstr>Тема Office</vt:lpstr>
      <vt:lpstr>HTML-отчёты: основы генерации</vt:lpstr>
      <vt:lpstr>Дополнительные материалы</vt:lpstr>
      <vt:lpstr>Заполнение справочника</vt:lpstr>
      <vt:lpstr>Отчеты</vt:lpstr>
      <vt:lpstr>Формирование отчета</vt:lpstr>
      <vt:lpstr>Слайд 6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Слайд 1</dc:title>
  <dc:creator>user</dc:creator>
  <cp:lastModifiedBy>user</cp:lastModifiedBy>
  <cp:revision>30</cp:revision>
  <dcterms:created xsi:type="dcterms:W3CDTF">2026-03-28T09:53:23Z</dcterms:created>
  <dcterms:modified xsi:type="dcterms:W3CDTF">2026-05-12T10:43:21Z</dcterms:modified>
</cp:coreProperties>
</file>