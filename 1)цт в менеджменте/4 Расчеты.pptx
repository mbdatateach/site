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59" r:id="rId7"/>
    <p:sldId id="275" r:id="rId8"/>
    <p:sldId id="267" r:id="rId9"/>
    <p:sldId id="262" r:id="rId10"/>
    <p:sldId id="268" r:id="rId11"/>
    <p:sldId id="263" r:id="rId12"/>
    <p:sldId id="269" r:id="rId13"/>
    <p:sldId id="27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  <a:srgbClr val="E2EE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867" autoAdjust="0"/>
    <p:restoredTop sz="94660"/>
  </p:normalViewPr>
  <p:slideViewPr>
    <p:cSldViewPr>
      <p:cViewPr varScale="1">
        <p:scale>
          <a:sx n="107" d="100"/>
          <a:sy n="107" d="100"/>
        </p:scale>
        <p:origin x="-189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umpics.ru/calculation-annuity-payment-excel/?ysclid=m74sdzebe9913672666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xceltable.com/funkcii-excel/primery-funkcii-kper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Финансовые расчеты в </a:t>
            </a:r>
            <a:r>
              <a:rPr lang="en-US" dirty="0" smtClean="0"/>
              <a:t>Excel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32" y="2143140"/>
            <a:ext cx="9144000" cy="27860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1571636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50004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Функция БС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рассчитывает будущую стоимость инвестиций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при условии, что процентная ставка является константой (не меняется с течением времени).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 использования: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помощью функции БС можно узнать, какой будет сумма вклада через определённое время.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071678"/>
            <a:ext cx="91439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Её аргументами является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процентная ставка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 период («Ставка»);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общее количество периодов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в случае кредита на 5 лет и ежемесячных платежах, аргумент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будет равен 5*12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постоянная выплата за каждый период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 – если выплата за период является неизвестной величиной, аргумент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принимать значение 0, но при этом следующий аргумент задается явно.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Приведенная стоимость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– Стоимость на текущий момент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- срок выплаты. Если 0 – платеж должен быть произведен в конце периода. Если значение аргумента равно 1, платеж должен быть произведен в начале периода.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143512"/>
            <a:ext cx="91439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Если совсем простыми словами,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возвращает то сколько получится, если уже имея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на своем счёте и внося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за каждый из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получится при условии, что банк ещё и начисляет процент на Ваши деньги по ставке за каждый период (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0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5572140"/>
            <a:ext cx="9144000" cy="128586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564357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Единицы измерения аргументов "ставка" и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 должны быть согласованы между собой: используйте N%/12 для аргумента "ставка" и N*12 для аргумента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", если речь идет о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ежемесячных платежах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95718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вкладчик, 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как в нашей задаче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один раз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открыл вклад (например, на 100000 рублей) и больше его не трогает, то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остается нулем,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(общая сумма, на основе которой будут считаться дальнейшие денежные выплаты) будет равна -100000.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Пс</a:t>
            </a:r>
            <a:endParaRPr lang="ru-RU" sz="2400" b="1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496"/>
            <a:ext cx="23241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2143116"/>
            <a:ext cx="55530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3857620" y="4857760"/>
            <a:ext cx="78581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100010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 если, например вкладчик открывает вклад на 12 месяцев под 12%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годовых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собирается каждый месяц  вносить по 1000 рублей, параметр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функции будет равняться -1000 (знаком минус показывается, что эти деньги нужно отдавать), тогда формула БС выглядит так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blog.sf.education/wp-content/uploads/2020/04/14-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500306"/>
            <a:ext cx="5605450" cy="3799571"/>
          </a:xfrm>
          <a:prstGeom prst="rect">
            <a:avLst/>
          </a:prstGeom>
          <a:noFill/>
        </p:spPr>
      </p:pic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Плт</a:t>
            </a:r>
            <a:endParaRPr lang="ru-RU" sz="2400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14678" y="5643578"/>
            <a:ext cx="642942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71480"/>
            <a:ext cx="9144000" cy="12144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62300"/>
            <a:ext cx="89916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185736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 облигации номиналом 50000 руб., выпущенной 6 лет, предусмотрен следующий порядок начисления процентов: в первый год — 10%, в следующие 2 года — 20%, в оставшиеся три года — 25%. Определить будущую стоимость облигации.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БЗРАСПИС используется для вычисления будущей стоимости инвестиции с переменной процентной ставкой.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Первичное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Стоимость инвестиции на текущий момент.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Массив применяемых процентных ставок.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357166"/>
            <a:ext cx="9144000" cy="357190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4143380"/>
            <a:ext cx="9144000" cy="135732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5572140"/>
            <a:ext cx="9144000" cy="1214422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357166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ОСПЛТ, ПРПЛТ и 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финансовые функции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 рассчитать различные аспекты платежей по кредиту.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рассчитать сумму, которую нужно платить периодически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погашения ссуды с учётом процентных переплат за один расчётный период. Предполагается, что объём платежей и ставка не меняются. У функции 3 обязательных аргумента и 2 — необязательных: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процент, на который возрастает сумма платежа за один период.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количество выплат или периодов.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общая сумма, которую нужно выплатить.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показывает, сколько останется выплатить после последней выплаты. По умолчанию подразумевается 0 (то есть после последней выплаты стоимость ссуды составит 0 руб.).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аргумент, который принимает значения: 0 — когда платежи совершаются в конце периода, 1 — если в начале.</a:t>
            </a:r>
          </a:p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вычисляет ту часть очередного платежа, которая приходится на выплату самого кредита (тела кредита)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У функции такие же аргументы, как и у ПЛТ: Ставка,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БС, Тип, ещё добавляется обязательный аргумент — Период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высчитать размер выплат по процентам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выбранный период, предполагая неизменяемыми размер платежей и ставку. У функции такие же аргументы, как и у ОСПЛТ, но ещё есть обязательный параметр — Номер периода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42860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ОСПЛТ, ПРПЛТ и 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финансовые функции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 рассчитать различные аспекты платежей по кредиту.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нашем случае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Заёмщик раз в месяц вносит одну и ту же сумму до тех пор, пока полностью не рассчитается с банком.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1246046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таком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графике погашения в состав каждого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входит сумма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период 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основного долга. По мере внесения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основной долг уменьшается, а значит — сокращается сумма начисляемых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Поэтому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начале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действия договора в составе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бóльшую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составляют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основной долг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000372"/>
            <a:ext cx="7572426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Прямая со стрелкой 12"/>
          <p:cNvCxnSpPr/>
          <p:nvPr/>
        </p:nvCxnSpPr>
        <p:spPr>
          <a:xfrm rot="16200000" flipV="1">
            <a:off x="3143240" y="3500438"/>
            <a:ext cx="114300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3571876"/>
            <a:ext cx="1885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 flipH="1" flipV="1">
            <a:off x="5250661" y="3964785"/>
            <a:ext cx="50006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15250" y="3500438"/>
            <a:ext cx="14287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Прямая со стрелкой 18"/>
          <p:cNvCxnSpPr/>
          <p:nvPr/>
        </p:nvCxnSpPr>
        <p:spPr>
          <a:xfrm rot="5400000" flipH="1" flipV="1">
            <a:off x="7822429" y="3964785"/>
            <a:ext cx="50006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6200000" flipV="1">
            <a:off x="4500562" y="5429264"/>
            <a:ext cx="571504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rot="5400000" flipH="1" flipV="1">
            <a:off x="4929190" y="5500702"/>
            <a:ext cx="642942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V="1">
            <a:off x="5072066" y="5429264"/>
            <a:ext cx="178595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4643438" y="6000768"/>
            <a:ext cx="954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СУММ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42860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Аннуитетный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платёж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 тип расчёта по кредиту, при котором общая сумма задолженности, включая тело долга и начисленные за расчётный период пользования кредитом проценты, разделены на равные части.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Заёмщик раз в месяц вносит одну и ту же сумму до тех пор, пока полностью не рассчитается с банком.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3071810"/>
            <a:ext cx="4257659" cy="3371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1582341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аннуитетном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графике погашения в состав каждого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входит сумма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период 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основного долга. По мере внесения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основной долг уменьшается, а значит — сокращается сумма начисляемых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Поэтому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начале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действия договора в составе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бóльшую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составляют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основной долг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5929330"/>
            <a:ext cx="23907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22532" idx="0"/>
          </p:cNvCxnSpPr>
          <p:nvPr/>
        </p:nvCxnSpPr>
        <p:spPr>
          <a:xfrm rot="5400000" flipH="1" flipV="1">
            <a:off x="2562207" y="3348033"/>
            <a:ext cx="2428892" cy="273370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29425" y="5715016"/>
            <a:ext cx="2314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stCxn id="22533" idx="0"/>
          </p:cNvCxnSpPr>
          <p:nvPr/>
        </p:nvCxnSpPr>
        <p:spPr>
          <a:xfrm rot="16200000" flipV="1">
            <a:off x="5886448" y="3614750"/>
            <a:ext cx="2143140" cy="205739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32" y="6488668"/>
            <a:ext cx="914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hlinkClick r:id="rId5"/>
              </a:rPr>
              <a:t>https://lumpics.ru/calculation-annuity-payment-excel/?ysclid=m74sdzebe9913672666</a:t>
            </a:r>
            <a:endParaRPr lang="en-US" b="1" dirty="0" smtClean="0"/>
          </a:p>
          <a:p>
            <a:pPr algn="ctr"/>
            <a:endParaRPr lang="ru-RU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1643050"/>
            <a:ext cx="9144000" cy="3357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71480"/>
            <a:ext cx="9144000" cy="107157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1833643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Функция КПЕР в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 предназначена для расчёта количества периодов выплат погашения определённой суммы задолженности при известных значениях процентной ставки, суммы платежа для каждого периода, начальной суммы задолженности или общей суммы долга с учётом процентов.</a:t>
            </a:r>
          </a:p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: =КПЕР(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ставка;плт;пс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;[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];[тип]).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500042"/>
            <a:ext cx="92868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Дополнительные сведения по использованию КПЕР</a:t>
            </a:r>
            <a:endParaRPr lang="en-US" sz="2400" b="1" dirty="0" smtClean="0"/>
          </a:p>
          <a:p>
            <a:pPr algn="ctr"/>
            <a:r>
              <a:rPr lang="en-US" sz="2400" b="1" dirty="0" smtClean="0">
                <a:hlinkClick r:id="rId2"/>
              </a:rPr>
              <a:t>https://exceltable.com/funkcii-excel/primery-funkcii-kper</a:t>
            </a:r>
            <a:endParaRPr lang="ru-RU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7146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357166"/>
            <a:ext cx="92868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Срок окупаемости для инвестирования</a:t>
            </a:r>
            <a:endParaRPr lang="ru-RU" sz="24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71435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 данном контексте срок окупаемости представляет собой отрезок времени, после которого доход от проекта становится равен сумме вложенных денег. То есть коэффициент срока окупаемости при инвестировании в какое-либо дело будет показывать, сколько нужно будет времени, чтобы вернуть вложенный капитал.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187148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Ставка дисконтирования отражает стоимость денег в будущем, которые теряют покупательную способность со временем из-за инфляции. С ее помощью инвестор может оценить потенциальную доходность нескольких инвестиционных инструментов и выбрать наиболее подходящий.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3000372"/>
            <a:ext cx="9144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В проект нужно вложить 150 тысяч рублей. Планируется, что в течение всего срока доход будет 30 тысяч рублей в год. Ставка дисконтирования (инфляция) постоянная – 10%</a:t>
            </a:r>
            <a:endParaRPr lang="ru-RU" sz="1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643314"/>
            <a:ext cx="52197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 rot="10800000" flipV="1">
            <a:off x="5000628" y="4572008"/>
            <a:ext cx="1214446" cy="57150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215074" y="3857628"/>
            <a:ext cx="2928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Насколько обесцениваются деньги каждый год в соответствии со ставкой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2264" y="4714884"/>
            <a:ext cx="215265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0" y="621508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То есть при такой ставке дисконтирования то, что равнялось 30 тысячам рублей сначала, через восемь лет будет равняться примерно 14 тысячам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642918"/>
            <a:ext cx="9144000" cy="450059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42918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Внутренняя норма доходности (ВНД, IRR) — это процентная ставка, при которой чистая прибыль от проекта по ценам сегодняшнего дня равна нулю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Получается, что прибыль покрывает затраты инвестора с учётом инфляции, но не превышает их.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Значения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обязательный аргумент. Массив или ссылка на ячейки, содержащие числа, для которых требуется подсчитать внутреннюю ставку доходности. В первой ячейке диапазона должна быть указана сумма вложения со знаком «-», а в остальных — суммы поступлений.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78579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Внутренняя норма доходности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скорость оборота инвестиций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 ставка дисконтирования, при которой инвестор получит назад все вложения, то есть выйдет в ноль. Чем </a:t>
            </a: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она выше,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тем выше доходность проекта, потому что можно заложить больше рисков.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14554"/>
            <a:ext cx="750570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(дополнительно)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714356"/>
            <a:ext cx="5715179" cy="6143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0430" y="5286388"/>
            <a:ext cx="4703570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5572132" y="928670"/>
            <a:ext cx="3571868" cy="2031325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Положительное значение ЧПС говорит о том, что проект создает дополнительную стоимость сверх требуемой доходности и является привлекательным для инвестирования.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492</Words>
  <Application>Microsoft Office PowerPoint</Application>
  <PresentationFormat>Экран (4:3)</PresentationFormat>
  <Paragraphs>64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Практическая работа  Финансовые расчеты в Excel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51</cp:revision>
  <dcterms:created xsi:type="dcterms:W3CDTF">2025-01-01T12:55:25Z</dcterms:created>
  <dcterms:modified xsi:type="dcterms:W3CDTF">2026-02-26T18:31:06Z</dcterms:modified>
</cp:coreProperties>
</file>