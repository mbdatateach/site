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7" d="100"/>
          <a:sy n="107" d="100"/>
        </p:scale>
        <p:origin x="-165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E418B2C9-A13B-46D5-9004-CFFC125204EC}" type="datetimeFigureOut">
              <a:rPr lang="ru-RU" smtClean="0"/>
              <a:t>14.05.2026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E418B2C9-A13B-46D5-9004-CFFC125204EC}" type="datetimeFigureOut">
              <a:rPr lang="ru-RU" smtClean="0"/>
              <a:t>14.05.2026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E418B2C9-A13B-46D5-9004-CFFC125204EC}" type="datetimeFigureOut">
              <a:rPr lang="ru-RU" smtClean="0"/>
              <a:t>14.05.2026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E418B2C9-A13B-46D5-9004-CFFC125204EC}" type="datetimeFigureOut">
              <a:rPr lang="ru-RU" smtClean="0"/>
              <a:t>14.05.2026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418B2C9-A13B-46D5-9004-CFFC125204EC}" type="datetimeFigureOut">
              <a:rPr lang="ru-RU" smtClean="0"/>
              <a:t>14.05.2026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E418B2C9-A13B-46D5-9004-CFFC125204EC}" type="datetimeFigureOut">
              <a:rPr lang="ru-RU" smtClean="0"/>
              <a:t>14.05.2026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DE4A22C-0EA0-45EB-9B67-575E3518267C}"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18B2C9-A13B-46D5-9004-CFFC125204EC}" type="datetimeFigureOut">
              <a:rPr lang="ru-RU" smtClean="0"/>
              <a:t>14.05.2026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4A22C-0EA0-45EB-9B67-575E3518267C}"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habr.com/ru/companies/click/articles/541658/" TargetMode="External"/><Relationship Id="rId2" Type="http://schemas.openxmlformats.org/officeDocument/2006/relationships/hyperlink" Target="https://vc.ru/marketing/146047-15-prichin-ispolzovat-video-dlya-prodvizheniya-tovarov-i-uslug?ysclid=m23ai2qpgh74652647" TargetMode="External"/><Relationship Id="rId1" Type="http://schemas.openxmlformats.org/officeDocument/2006/relationships/slideLayout" Target="../slideLayouts/slideLayout6.xml"/><Relationship Id="rId4" Type="http://schemas.openxmlformats.org/officeDocument/2006/relationships/hyperlink" Target="https://vc.ru/services/901628-18-luchshih-ii-generatorov-video-kak-sdelat-video-bez-bolshih-usilii?ysclid=m23apiyuh118705906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Роль видеоматериалов в </a:t>
            </a:r>
            <a:r>
              <a:rPr lang="ru-RU" b="1" dirty="0" smtClean="0"/>
              <a:t>менеджменте</a:t>
            </a: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928670"/>
            <a:ext cx="9144000" cy="6740307"/>
          </a:xfrm>
          <a:prstGeom prst="rect">
            <a:avLst/>
          </a:prstGeom>
          <a:ln>
            <a:noFill/>
          </a:ln>
        </p:spPr>
        <p:txBody>
          <a:bodyPr wrap="square">
            <a:spAutoFit/>
          </a:bodyPr>
          <a:lstStyle/>
          <a:p>
            <a:pPr algn="just"/>
            <a:endParaRPr lang="ru-RU" sz="2400" b="1" dirty="0" smtClean="0">
              <a:latin typeface="Cambria" pitchFamily="18" charset="0"/>
            </a:endParaRPr>
          </a:p>
          <a:p>
            <a:pPr algn="just" fontAlgn="base"/>
            <a:r>
              <a:rPr lang="ru-RU" sz="2400" i="1" dirty="0" smtClean="0">
                <a:latin typeface="Cambria" pitchFamily="18" charset="0"/>
              </a:rPr>
              <a:t>15 причин использовать видео для продвижения товаров и услуг</a:t>
            </a:r>
          </a:p>
          <a:p>
            <a:pPr algn="just"/>
            <a:r>
              <a:rPr lang="en-US" sz="2400" b="1" dirty="0" smtClean="0">
                <a:latin typeface="Cambria" pitchFamily="18" charset="0"/>
                <a:hlinkClick r:id="rId2"/>
              </a:rPr>
              <a:t>https://vc.ru/marketing/146047-15-prichin-ispolzovat-video-dlya-prodvizheniya-tovarov-i-uslug?ysclid=m23ai2qpgh74652647</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7 простых инструментов, которые помогут сделать видео для рекламы</a:t>
            </a:r>
          </a:p>
          <a:p>
            <a:pPr algn="just"/>
            <a:r>
              <a:rPr lang="en-US" sz="2400" b="1" dirty="0" smtClean="0">
                <a:hlinkClick r:id="rId3"/>
              </a:rPr>
              <a:t>https://habr.com/ru/companies/click/articles/541658/</a:t>
            </a:r>
            <a:endParaRPr lang="ru-RU" sz="2400" b="1" dirty="0" smtClean="0"/>
          </a:p>
          <a:p>
            <a:pPr algn="just"/>
            <a:endParaRPr lang="en-US" sz="2400" b="1" i="1" dirty="0" smtClean="0">
              <a:latin typeface="Cambria" pitchFamily="18" charset="0"/>
            </a:endParaRPr>
          </a:p>
          <a:p>
            <a:pPr algn="just"/>
            <a:r>
              <a:rPr lang="ru-RU" sz="2400" i="1" dirty="0" smtClean="0">
                <a:latin typeface="Cambria" pitchFamily="18" charset="0"/>
              </a:rPr>
              <a:t>18 лучших </a:t>
            </a:r>
            <a:r>
              <a:rPr lang="ru-RU" sz="2400" i="1" dirty="0" err="1" smtClean="0">
                <a:latin typeface="Cambria" pitchFamily="18" charset="0"/>
              </a:rPr>
              <a:t>ИИ-генераторов</a:t>
            </a:r>
            <a:r>
              <a:rPr lang="ru-RU" sz="2400" i="1" dirty="0" smtClean="0">
                <a:latin typeface="Cambria" pitchFamily="18" charset="0"/>
              </a:rPr>
              <a:t> видео: как сделать видео без больших усилий</a:t>
            </a:r>
          </a:p>
          <a:p>
            <a:pPr algn="just"/>
            <a:r>
              <a:rPr lang="en-US" sz="2400" b="1" dirty="0" smtClean="0">
                <a:latin typeface="Cambria" pitchFamily="18" charset="0"/>
                <a:hlinkClick r:id="rId4"/>
              </a:rPr>
              <a:t>https://vc.ru/services/901628-18-luchshih-ii-generatorov-video-kak-sdelat-video-bez-bolshih-usilii?ysclid=m23apiyuh1187059062</a:t>
            </a:r>
            <a:endParaRPr lang="en-US" sz="2400" b="1" dirty="0" smtClean="0">
              <a:latin typeface="Cambria" pitchFamily="18" charset="0"/>
            </a:endParaRPr>
          </a:p>
          <a:p>
            <a:pPr algn="just"/>
            <a:endParaRPr lang="en-US" sz="2400" i="1" dirty="0" smtClean="0">
              <a:latin typeface="Cambria" pitchFamily="18" charset="0"/>
            </a:endParaRPr>
          </a:p>
          <a:p>
            <a:pPr algn="just"/>
            <a:endParaRPr lang="ru-RU" sz="2400" b="1" dirty="0" smtClean="0"/>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err="1" smtClean="0"/>
              <a:t>Видеореклама</a:t>
            </a:r>
            <a:endParaRPr lang="ru-RU" b="1" dirty="0"/>
          </a:p>
        </p:txBody>
      </p:sp>
      <p:sp>
        <p:nvSpPr>
          <p:cNvPr id="5" name="Прямоугольник 4"/>
          <p:cNvSpPr/>
          <p:nvPr/>
        </p:nvSpPr>
        <p:spPr>
          <a:xfrm>
            <a:off x="0" y="1000108"/>
            <a:ext cx="9144000" cy="1107996"/>
          </a:xfrm>
          <a:prstGeom prst="rect">
            <a:avLst/>
          </a:prstGeom>
        </p:spPr>
        <p:txBody>
          <a:bodyPr wrap="square">
            <a:spAutoFit/>
          </a:bodyPr>
          <a:lstStyle/>
          <a:p>
            <a:pPr algn="just"/>
            <a:r>
              <a:rPr lang="ru-RU" sz="2200" b="1"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 форма рекламы, размещаемой в интернете, направленная на создание имиджа компании, продвижение услуг или товаров, предоставление информации с целью повышения продаж.</a:t>
            </a:r>
            <a:endParaRPr lang="ru-RU" sz="2200" dirty="0">
              <a:latin typeface="Times New Roman" pitchFamily="18" charset="0"/>
              <a:cs typeface="Times New Roman" pitchFamily="18" charset="0"/>
            </a:endParaRPr>
          </a:p>
        </p:txBody>
      </p:sp>
      <p:sp>
        <p:nvSpPr>
          <p:cNvPr id="6" name="Прямоугольник 5"/>
          <p:cNvSpPr/>
          <p:nvPr/>
        </p:nvSpPr>
        <p:spPr>
          <a:xfrm>
            <a:off x="71438" y="2285992"/>
            <a:ext cx="4572000" cy="2062103"/>
          </a:xfrm>
          <a:prstGeom prst="rect">
            <a:avLst/>
          </a:prstGeom>
          <a:solidFill>
            <a:schemeClr val="bg2"/>
          </a:solidFill>
          <a:ln>
            <a:solidFill>
              <a:schemeClr val="tx1"/>
            </a:solidFill>
          </a:ln>
        </p:spPr>
        <p:txBody>
          <a:bodyPr>
            <a:spAutoFit/>
          </a:bodyPr>
          <a:lstStyle/>
          <a:p>
            <a:pPr algn="just"/>
            <a:r>
              <a:rPr lang="ru-RU" sz="1600" b="1" dirty="0" smtClean="0">
                <a:latin typeface="Times New Roman" pitchFamily="18" charset="0"/>
                <a:cs typeface="Times New Roman" pitchFamily="18" charset="0"/>
              </a:rPr>
              <a:t>Анимационные ролики</a:t>
            </a:r>
            <a:r>
              <a:rPr lang="ru-RU" sz="1600" dirty="0" smtClean="0">
                <a:latin typeface="Times New Roman" pitchFamily="18" charset="0"/>
                <a:cs typeface="Times New Roman" pitchFamily="18" charset="0"/>
              </a:rPr>
              <a:t>. Последовательная демонстрация графических изображений. Графическими инструментами можно создать вымышленных, фантастических персонажей, мультипликационных героев, показать реальные объекты снаружи и изнутри, отразить сложные технические и биологические процессы с помощью виртуальной камеры.</a:t>
            </a:r>
            <a:endParaRPr lang="ru-RU" sz="1600" dirty="0">
              <a:latin typeface="Times New Roman" pitchFamily="18" charset="0"/>
              <a:cs typeface="Times New Roman" pitchFamily="18" charset="0"/>
            </a:endParaRPr>
          </a:p>
        </p:txBody>
      </p:sp>
      <p:sp>
        <p:nvSpPr>
          <p:cNvPr id="7" name="Прямоугольник 6"/>
          <p:cNvSpPr/>
          <p:nvPr/>
        </p:nvSpPr>
        <p:spPr>
          <a:xfrm>
            <a:off x="71438" y="4429132"/>
            <a:ext cx="4572000" cy="2062103"/>
          </a:xfrm>
          <a:prstGeom prst="rect">
            <a:avLst/>
          </a:prstGeom>
          <a:solidFill>
            <a:schemeClr val="bg2"/>
          </a:solidFill>
          <a:ln>
            <a:solidFill>
              <a:schemeClr val="tx1"/>
            </a:solidFill>
          </a:ln>
        </p:spPr>
        <p:txBody>
          <a:bodyPr>
            <a:spAutoFit/>
          </a:bodyPr>
          <a:lstStyle/>
          <a:p>
            <a:pPr algn="just"/>
            <a:r>
              <a:rPr lang="ru-RU" sz="1600" b="1" dirty="0" err="1" smtClean="0">
                <a:latin typeface="Times New Roman" pitchFamily="18" charset="0"/>
                <a:cs typeface="Times New Roman" pitchFamily="18" charset="0"/>
              </a:rPr>
              <a:t>Имиджевое</a:t>
            </a:r>
            <a:r>
              <a:rPr lang="ru-RU" sz="1600" b="1" dirty="0" smtClean="0">
                <a:latin typeface="Times New Roman" pitchFamily="18" charset="0"/>
                <a:cs typeface="Times New Roman" pitchFamily="18" charset="0"/>
              </a:rPr>
              <a:t> видео</a:t>
            </a:r>
            <a:r>
              <a:rPr lang="ru-RU" sz="1600" dirty="0" smtClean="0">
                <a:latin typeface="Times New Roman" pitchFamily="18" charset="0"/>
                <a:cs typeface="Times New Roman" pitchFamily="18" charset="0"/>
              </a:rPr>
              <a:t>. Нацелено на предоставление той или иной информации, однако основной задачей роликов этого жанра является формирование репутации компании. Главной задачей такого видео является отражение наиболее выгодных, исключительных сторон компании, которые могут послужить повышению лояльности клиентов.</a:t>
            </a:r>
            <a:endParaRPr lang="ru-RU" sz="1600" dirty="0">
              <a:latin typeface="Times New Roman" pitchFamily="18" charset="0"/>
              <a:cs typeface="Times New Roman" pitchFamily="18" charset="0"/>
            </a:endParaRPr>
          </a:p>
        </p:txBody>
      </p:sp>
      <p:sp>
        <p:nvSpPr>
          <p:cNvPr id="8" name="Прямоугольник 7"/>
          <p:cNvSpPr/>
          <p:nvPr/>
        </p:nvSpPr>
        <p:spPr>
          <a:xfrm>
            <a:off x="4714908" y="4429132"/>
            <a:ext cx="4286248" cy="2062103"/>
          </a:xfrm>
          <a:prstGeom prst="rect">
            <a:avLst/>
          </a:prstGeom>
          <a:solidFill>
            <a:schemeClr val="bg2"/>
          </a:solidFill>
          <a:ln>
            <a:solidFill>
              <a:schemeClr val="tx1"/>
            </a:solidFill>
          </a:ln>
        </p:spPr>
        <p:txBody>
          <a:bodyPr wrap="square">
            <a:spAutoFit/>
          </a:bodyPr>
          <a:lstStyle/>
          <a:p>
            <a:pPr algn="just"/>
            <a:r>
              <a:rPr lang="ru-RU" sz="1600" b="1" dirty="0" smtClean="0">
                <a:latin typeface="Times New Roman" pitchFamily="18" charset="0"/>
                <a:cs typeface="Times New Roman" pitchFamily="18" charset="0"/>
              </a:rPr>
              <a:t>Постановочные видео</a:t>
            </a:r>
            <a:r>
              <a:rPr lang="ru-RU" sz="1600" dirty="0" smtClean="0">
                <a:latin typeface="Times New Roman" pitchFamily="18" charset="0"/>
                <a:cs typeface="Times New Roman" pitchFamily="18" charset="0"/>
              </a:rPr>
              <a:t>. Оптимальный выбор для рекламы товаров и услуг, которые привлекают своим внешним образом, очевидной практической пользой. В постановочном видео актёры разыгрывают историю, близкую потенциальному клиенту в повседневной жизни, тем самым устанавливая с ним эмоциональную связь.</a:t>
            </a:r>
            <a:endParaRPr lang="ru-RU" sz="1600" dirty="0">
              <a:latin typeface="Times New Roman" pitchFamily="18" charset="0"/>
              <a:cs typeface="Times New Roman" pitchFamily="18" charset="0"/>
            </a:endParaRPr>
          </a:p>
        </p:txBody>
      </p:sp>
      <p:sp>
        <p:nvSpPr>
          <p:cNvPr id="9" name="Прямоугольник 8"/>
          <p:cNvSpPr/>
          <p:nvPr/>
        </p:nvSpPr>
        <p:spPr>
          <a:xfrm>
            <a:off x="4714876" y="2285992"/>
            <a:ext cx="4286280" cy="2031325"/>
          </a:xfrm>
          <a:prstGeom prst="rect">
            <a:avLst/>
          </a:prstGeom>
          <a:solidFill>
            <a:schemeClr val="bg2"/>
          </a:solidFill>
          <a:ln>
            <a:solidFill>
              <a:schemeClr val="tx1"/>
            </a:solidFill>
          </a:ln>
        </p:spPr>
        <p:txBody>
          <a:bodyPr wrap="square">
            <a:spAutoFit/>
          </a:bodyPr>
          <a:lstStyle/>
          <a:p>
            <a:pPr algn="just"/>
            <a:endParaRPr lang="en-US" b="1" dirty="0" smtClean="0">
              <a:latin typeface="Times New Roman" pitchFamily="18" charset="0"/>
              <a:cs typeface="Times New Roman" pitchFamily="18" charset="0"/>
            </a:endParaRPr>
          </a:p>
          <a:p>
            <a:pPr algn="just"/>
            <a:r>
              <a:rPr lang="ru-RU" b="1" dirty="0" smtClean="0">
                <a:latin typeface="Times New Roman" pitchFamily="18" charset="0"/>
                <a:cs typeface="Times New Roman" pitchFamily="18" charset="0"/>
              </a:rPr>
              <a:t>Эксплейнеры</a:t>
            </a:r>
            <a:r>
              <a:rPr lang="ru-RU" dirty="0" smtClean="0">
                <a:latin typeface="Times New Roman" pitchFamily="18" charset="0"/>
                <a:cs typeface="Times New Roman" pitchFamily="18" charset="0"/>
              </a:rPr>
              <a:t>. Короткое объясняющее видео о компании, продукции или принципе работы нового сервиса, приложения.</a:t>
            </a:r>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endParaRPr lang="ru-RU"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b="1" dirty="0" smtClean="0"/>
              <a:t>Роль видеоматериалов</a:t>
            </a:r>
            <a:endParaRPr lang="ru-RU" b="1" dirty="0"/>
          </a:p>
        </p:txBody>
      </p:sp>
      <p:sp>
        <p:nvSpPr>
          <p:cNvPr id="5" name="Прямоугольник 4"/>
          <p:cNvSpPr/>
          <p:nvPr/>
        </p:nvSpPr>
        <p:spPr>
          <a:xfrm>
            <a:off x="0" y="857232"/>
            <a:ext cx="9144000" cy="5847755"/>
          </a:xfrm>
          <a:prstGeom prst="rect">
            <a:avLst/>
          </a:prstGeom>
        </p:spPr>
        <p:txBody>
          <a:bodyPr wrap="square">
            <a:spAutoFit/>
          </a:bodyPr>
          <a:lstStyle/>
          <a:p>
            <a:pPr algn="just"/>
            <a:r>
              <a:rPr lang="ru-RU" sz="2200" b="1" dirty="0" smtClean="0">
                <a:latin typeface="Times New Roman" pitchFamily="18" charset="0"/>
                <a:cs typeface="Times New Roman" pitchFamily="18" charset="0"/>
              </a:rPr>
              <a:t>Показать уникальность продукта</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создаёт позитивные, тёплые ассоциации и вызывает интерес к компании.</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Передать информацию</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о свойствах товара</a:t>
            </a:r>
            <a:r>
              <a:rPr lang="ru-RU" sz="2200" dirty="0" smtClean="0">
                <a:latin typeface="Times New Roman" pitchFamily="18" charset="0"/>
                <a:cs typeface="Times New Roman" pitchFamily="18" charset="0"/>
              </a:rPr>
              <a:t>. Видеоролик позволяет рассказать о свойствах товара, максимально приблизив их к реальным, показать продукты в различной обстановке, продемонстрировать, каким образом они производятся и функционируют в процессе использования.</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smtClean="0">
                <a:latin typeface="Times New Roman" pitchFamily="18" charset="0"/>
                <a:cs typeface="Times New Roman" pitchFamily="18" charset="0"/>
              </a:rPr>
              <a:t>Сформировать положительный образ компании</a:t>
            </a:r>
            <a:r>
              <a:rPr lang="ru-RU" sz="2200" dirty="0" smtClean="0">
                <a:latin typeface="Times New Roman" pitchFamily="18" charset="0"/>
                <a:cs typeface="Times New Roman" pitchFamily="18" charset="0"/>
              </a:rPr>
              <a:t>. Благоприятный имидж способствует повышению лояльности клиентов, ускорению принятия решения о покупке в случае первого обращения и повышению вероятности повторного контакта пользователя с компанией.</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dirty="0" smtClean="0">
                <a:latin typeface="Times New Roman" pitchFamily="18" charset="0"/>
                <a:cs typeface="Times New Roman" pitchFamily="18" charset="0"/>
              </a:rPr>
              <a:t>Кроме того, </a:t>
            </a:r>
            <a:r>
              <a:rPr lang="ru-RU" sz="2200" dirty="0" err="1" smtClean="0">
                <a:latin typeface="Times New Roman" pitchFamily="18" charset="0"/>
                <a:cs typeface="Times New Roman" pitchFamily="18" charset="0"/>
              </a:rPr>
              <a:t>видеореклама</a:t>
            </a:r>
            <a:r>
              <a:rPr lang="ru-RU" sz="2200" dirty="0" smtClean="0">
                <a:latin typeface="Times New Roman" pitchFamily="18" charset="0"/>
                <a:cs typeface="Times New Roman" pitchFamily="18" charset="0"/>
              </a:rPr>
              <a:t> в интернете даёт возможность </a:t>
            </a:r>
            <a:r>
              <a:rPr lang="ru-RU" sz="2200" b="1" dirty="0" smtClean="0">
                <a:latin typeface="Times New Roman" pitchFamily="18" charset="0"/>
                <a:cs typeface="Times New Roman" pitchFamily="18" charset="0"/>
              </a:rPr>
              <a:t>точечного </a:t>
            </a:r>
            <a:r>
              <a:rPr lang="ru-RU" sz="2200" b="1" dirty="0" err="1" smtClean="0">
                <a:latin typeface="Times New Roman" pitchFamily="18" charset="0"/>
                <a:cs typeface="Times New Roman" pitchFamily="18" charset="0"/>
              </a:rPr>
              <a:t>таргетирования</a:t>
            </a:r>
            <a:r>
              <a:rPr lang="ru-RU" sz="2200" b="1" dirty="0" smtClean="0">
                <a:latin typeface="Times New Roman" pitchFamily="18" charset="0"/>
                <a:cs typeface="Times New Roman" pitchFamily="18" charset="0"/>
              </a:rPr>
              <a:t> на определённую аудиторию</a:t>
            </a:r>
            <a:r>
              <a:rPr lang="ru-RU" sz="2200" dirty="0" smtClean="0">
                <a:latin typeface="Times New Roman" pitchFamily="18" charset="0"/>
                <a:cs typeface="Times New Roman" pitchFamily="18" charset="0"/>
              </a:rPr>
              <a:t>. Рекламодатели могут настроить рекламу на определённый возраст, пол, местоположение, интересы и поведенческие факторы.</a:t>
            </a:r>
            <a:endParaRPr lang="ru-RU" sz="22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5072074"/>
            <a:ext cx="9144000" cy="1785926"/>
          </a:xfrm>
          <a:prstGeom prst="rect">
            <a:avLst/>
          </a:prstGeom>
          <a:solidFill>
            <a:srgbClr val="EFF2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p:nvPr/>
        </p:nvSpPr>
        <p:spPr>
          <a:xfrm>
            <a:off x="0" y="3500438"/>
            <a:ext cx="9144000" cy="1357322"/>
          </a:xfrm>
          <a:prstGeom prst="rect">
            <a:avLst/>
          </a:prstGeom>
          <a:solidFill>
            <a:srgbClr val="ECD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Прямоугольник 4"/>
          <p:cNvSpPr/>
          <p:nvPr/>
        </p:nvSpPr>
        <p:spPr>
          <a:xfrm>
            <a:off x="0" y="1071546"/>
            <a:ext cx="9144000" cy="228601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a:xfrm>
            <a:off x="0" y="-142900"/>
            <a:ext cx="9229668" cy="1143000"/>
          </a:xfrm>
        </p:spPr>
        <p:txBody>
          <a:bodyPr>
            <a:noAutofit/>
          </a:bodyPr>
          <a:lstStyle/>
          <a:p>
            <a:r>
              <a:rPr lang="ru-RU" sz="3600" b="1" dirty="0" err="1" smtClean="0"/>
              <a:t>Интернет-технологии</a:t>
            </a:r>
            <a:r>
              <a:rPr lang="ru-RU" sz="3600" b="1" dirty="0" smtClean="0"/>
              <a:t> для создания видеоматериалов</a:t>
            </a:r>
            <a:endParaRPr lang="ru-RU" sz="3600" b="1" dirty="0"/>
          </a:p>
        </p:txBody>
      </p:sp>
      <p:sp>
        <p:nvSpPr>
          <p:cNvPr id="4" name="Прямоугольник 3"/>
          <p:cNvSpPr/>
          <p:nvPr/>
        </p:nvSpPr>
        <p:spPr>
          <a:xfrm>
            <a:off x="0" y="1081707"/>
            <a:ext cx="9144000" cy="5847755"/>
          </a:xfrm>
          <a:prstGeom prst="rect">
            <a:avLst/>
          </a:prstGeom>
        </p:spPr>
        <p:txBody>
          <a:bodyPr wrap="square">
            <a:spAutoFit/>
          </a:bodyPr>
          <a:lstStyle/>
          <a:p>
            <a:pPr algn="just"/>
            <a:r>
              <a:rPr lang="ru-RU" sz="2200" b="1" dirty="0" smtClean="0">
                <a:latin typeface="Times New Roman" pitchFamily="18" charset="0"/>
                <a:cs typeface="Times New Roman" pitchFamily="18" charset="0"/>
              </a:rPr>
              <a:t>Искусственный интеллект (AI)</a:t>
            </a:r>
            <a:r>
              <a:rPr lang="ru-RU" sz="2200" dirty="0" smtClean="0">
                <a:latin typeface="Times New Roman" pitchFamily="18" charset="0"/>
                <a:cs typeface="Times New Roman" pitchFamily="18" charset="0"/>
              </a:rPr>
              <a:t>. При помощи программ, работающих на основе искусственного интеллекта, </a:t>
            </a:r>
            <a:r>
              <a:rPr lang="ru-RU" sz="2200" dirty="0" err="1" smtClean="0">
                <a:latin typeface="Times New Roman" pitchFamily="18" charset="0"/>
                <a:cs typeface="Times New Roman" pitchFamily="18" charset="0"/>
              </a:rPr>
              <a:t>маркетологи</a:t>
            </a:r>
            <a:r>
              <a:rPr lang="ru-RU" sz="2200" dirty="0" smtClean="0">
                <a:latin typeface="Times New Roman" pitchFamily="18" charset="0"/>
                <a:cs typeface="Times New Roman" pitchFamily="18" charset="0"/>
              </a:rPr>
              <a:t> могут создавать персонализированные рекламные материалы с учётом истории активностей пользователя в Сети. Это касается не только содержания </a:t>
            </a:r>
            <a:r>
              <a:rPr lang="ru-RU" sz="2200" dirty="0" err="1" smtClean="0">
                <a:latin typeface="Times New Roman" pitchFamily="18" charset="0"/>
                <a:cs typeface="Times New Roman" pitchFamily="18" charset="0"/>
              </a:rPr>
              <a:t>контента</a:t>
            </a:r>
            <a:r>
              <a:rPr lang="ru-RU" sz="2200" dirty="0" smtClean="0">
                <a:latin typeface="Times New Roman" pitchFamily="18" charset="0"/>
                <a:cs typeface="Times New Roman" pitchFamily="18" charset="0"/>
              </a:rPr>
              <a:t>, но и оптимального времени для показа роликов, учёта локации клиента, в которой определённый товар может вызывать интерес, и др.</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err="1" smtClean="0">
                <a:latin typeface="Times New Roman" pitchFamily="18" charset="0"/>
                <a:cs typeface="Times New Roman" pitchFamily="18" charset="0"/>
              </a:rPr>
              <a:t>Онлайн-сервисы</a:t>
            </a:r>
            <a:r>
              <a:rPr lang="ru-RU" sz="2200" b="1" dirty="0" smtClean="0">
                <a:latin typeface="Times New Roman" pitchFamily="18" charset="0"/>
                <a:cs typeface="Times New Roman" pitchFamily="18" charset="0"/>
              </a:rPr>
              <a:t> для создания видео</a:t>
            </a:r>
            <a:r>
              <a:rPr lang="ru-RU" sz="2200" dirty="0" smtClean="0">
                <a:latin typeface="Times New Roman" pitchFamily="18" charset="0"/>
                <a:cs typeface="Times New Roman" pitchFamily="18" charset="0"/>
              </a:rPr>
              <a:t>. Например, </a:t>
            </a:r>
            <a:r>
              <a:rPr lang="ru-RU" sz="2200" b="1" dirty="0" err="1" smtClean="0">
                <a:latin typeface="Times New Roman" pitchFamily="18" charset="0"/>
                <a:cs typeface="Times New Roman" pitchFamily="18" charset="0"/>
              </a:rPr>
              <a:t>Canva</a:t>
            </a:r>
            <a:r>
              <a:rPr lang="ru-RU" sz="2200" dirty="0" smtClean="0">
                <a:latin typeface="Times New Roman" pitchFamily="18" charset="0"/>
                <a:cs typeface="Times New Roman" pitchFamily="18" charset="0"/>
              </a:rPr>
              <a:t>, </a:t>
            </a:r>
            <a:r>
              <a:rPr lang="ru-RU" sz="2200" b="1" dirty="0" smtClean="0">
                <a:latin typeface="Times New Roman" pitchFamily="18" charset="0"/>
                <a:cs typeface="Times New Roman" pitchFamily="18" charset="0"/>
              </a:rPr>
              <a:t>Lumen5</a:t>
            </a:r>
            <a:r>
              <a:rPr lang="ru-RU" sz="2200" dirty="0" smtClean="0">
                <a:latin typeface="Times New Roman" pitchFamily="18" charset="0"/>
                <a:cs typeface="Times New Roman" pitchFamily="18" charset="0"/>
              </a:rPr>
              <a:t>, </a:t>
            </a:r>
            <a:r>
              <a:rPr lang="ru-RU" sz="2200" b="1" dirty="0" err="1" smtClean="0">
                <a:latin typeface="Times New Roman" pitchFamily="18" charset="0"/>
                <a:cs typeface="Times New Roman" pitchFamily="18" charset="0"/>
              </a:rPr>
              <a:t>Flexclip</a:t>
            </a:r>
            <a:r>
              <a:rPr lang="ru-RU" sz="2200" dirty="0" smtClean="0">
                <a:latin typeface="Times New Roman" pitchFamily="18" charset="0"/>
                <a:cs typeface="Times New Roman" pitchFamily="18" charset="0"/>
              </a:rPr>
              <a:t> или </a:t>
            </a:r>
            <a:r>
              <a:rPr lang="ru-RU" sz="2200" b="1" dirty="0" err="1" smtClean="0">
                <a:latin typeface="Times New Roman" pitchFamily="18" charset="0"/>
                <a:cs typeface="Times New Roman" pitchFamily="18" charset="0"/>
              </a:rPr>
              <a:t>Clipchamp</a:t>
            </a:r>
            <a:r>
              <a:rPr lang="ru-RU" sz="2200" dirty="0" smtClean="0">
                <a:latin typeface="Times New Roman" pitchFamily="18" charset="0"/>
                <a:cs typeface="Times New Roman" pitchFamily="18" charset="0"/>
              </a:rPr>
              <a:t>. В них есть шаблоны для различных платформ, библиотека </a:t>
            </a:r>
            <a:r>
              <a:rPr lang="ru-RU" sz="2200" dirty="0" err="1" smtClean="0">
                <a:latin typeface="Times New Roman" pitchFamily="18" charset="0"/>
                <a:cs typeface="Times New Roman" pitchFamily="18" charset="0"/>
              </a:rPr>
              <a:t>медиафайлов</a:t>
            </a:r>
            <a:r>
              <a:rPr lang="ru-RU" sz="2200" dirty="0" smtClean="0">
                <a:latin typeface="Times New Roman" pitchFamily="18" charset="0"/>
                <a:cs typeface="Times New Roman" pitchFamily="18" charset="0"/>
              </a:rPr>
              <a:t>, инструменты для настройки текста, музыки, закадрового голоса и другие.</a:t>
            </a:r>
            <a:endParaRPr lang="en-US" sz="2200" dirty="0" smtClean="0">
              <a:latin typeface="Times New Roman" pitchFamily="18" charset="0"/>
              <a:cs typeface="Times New Roman" pitchFamily="18" charset="0"/>
            </a:endParaRPr>
          </a:p>
          <a:p>
            <a:pPr algn="just"/>
            <a:endParaRPr lang="ru-RU" sz="2200" dirty="0" smtClean="0">
              <a:latin typeface="Times New Roman" pitchFamily="18" charset="0"/>
              <a:cs typeface="Times New Roman" pitchFamily="18" charset="0"/>
            </a:endParaRPr>
          </a:p>
          <a:p>
            <a:pPr algn="just"/>
            <a:r>
              <a:rPr lang="ru-RU" sz="2200" b="1" dirty="0" err="1" smtClean="0">
                <a:latin typeface="Times New Roman" pitchFamily="18" charset="0"/>
                <a:cs typeface="Times New Roman" pitchFamily="18" charset="0"/>
              </a:rPr>
              <a:t>Видеоконструктор</a:t>
            </a:r>
            <a:r>
              <a:rPr lang="ru-RU" sz="2200" b="1" dirty="0" smtClean="0">
                <a:latin typeface="Times New Roman" pitchFamily="18" charset="0"/>
                <a:cs typeface="Times New Roman" pitchFamily="18" charset="0"/>
              </a:rPr>
              <a:t> в </a:t>
            </a:r>
            <a:r>
              <a:rPr lang="ru-RU" sz="2200" b="1" dirty="0" err="1" smtClean="0">
                <a:latin typeface="Times New Roman" pitchFamily="18" charset="0"/>
                <a:cs typeface="Times New Roman" pitchFamily="18" charset="0"/>
              </a:rPr>
              <a:t>Яндекс</a:t>
            </a:r>
            <a:r>
              <a:rPr lang="ru-RU" sz="2200" b="1" dirty="0" smtClean="0">
                <a:latin typeface="Times New Roman" pitchFamily="18" charset="0"/>
                <a:cs typeface="Times New Roman" pitchFamily="18" charset="0"/>
              </a:rPr>
              <a:t> </a:t>
            </a:r>
            <a:r>
              <a:rPr lang="ru-RU" sz="2200" b="1" dirty="0" err="1" smtClean="0">
                <a:latin typeface="Times New Roman" pitchFamily="18" charset="0"/>
                <a:cs typeface="Times New Roman" pitchFamily="18" charset="0"/>
              </a:rPr>
              <a:t>Директе</a:t>
            </a:r>
            <a:r>
              <a:rPr lang="ru-RU" sz="2200" dirty="0" smtClean="0">
                <a:latin typeface="Times New Roman" pitchFamily="18" charset="0"/>
                <a:cs typeface="Times New Roman" pitchFamily="18" charset="0"/>
              </a:rPr>
              <a:t>. С его помощью можно создавать короткие рекламные ролики в основных форматах. Доступна функция массового создания видеороликов из товарного </a:t>
            </a:r>
            <a:r>
              <a:rPr lang="ru-RU" sz="2200" dirty="0" err="1" smtClean="0">
                <a:latin typeface="Times New Roman" pitchFamily="18" charset="0"/>
                <a:cs typeface="Times New Roman" pitchFamily="18" charset="0"/>
              </a:rPr>
              <a:t>фида</a:t>
            </a:r>
            <a:r>
              <a:rPr lang="ru-RU" sz="2200" dirty="0" smtClean="0">
                <a:latin typeface="Times New Roman" pitchFamily="18" charset="0"/>
                <a:cs typeface="Times New Roman" pitchFamily="18" charset="0"/>
              </a:rPr>
              <a:t>: можно загрузить CSV-файл с информацией о товарах, и сервис создаст однотипные ролики для каждого товара.</a:t>
            </a:r>
            <a:endParaRPr lang="ru-RU" sz="22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278</Words>
  <Application>Microsoft Office PowerPoint</Application>
  <PresentationFormat>Экран (4:3)</PresentationFormat>
  <Paragraphs>33</Paragraphs>
  <Slides>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5</vt:i4>
      </vt:variant>
    </vt:vector>
  </HeadingPairs>
  <TitlesOfParts>
    <vt:vector size="6" baseType="lpstr">
      <vt:lpstr>Тема Office</vt:lpstr>
      <vt:lpstr>Роль видеоматериалов в менеджменте</vt:lpstr>
      <vt:lpstr>Дополнительные материалы</vt:lpstr>
      <vt:lpstr>Видеореклама</vt:lpstr>
      <vt:lpstr>Роль видеоматериалов</vt:lpstr>
      <vt:lpstr>Интернет-технологии для создания видеоматериалов</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Роль видеоматериалов в менеджменте</dc:title>
  <dc:creator>user</dc:creator>
  <cp:lastModifiedBy>user</cp:lastModifiedBy>
  <cp:revision>1</cp:revision>
  <dcterms:created xsi:type="dcterms:W3CDTF">2026-05-14T08:42:57Z</dcterms:created>
  <dcterms:modified xsi:type="dcterms:W3CDTF">2026-05-14T08:43:22Z</dcterms:modified>
</cp:coreProperties>
</file>