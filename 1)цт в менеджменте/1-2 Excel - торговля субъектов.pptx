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5" r:id="rId11"/>
    <p:sldId id="267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Практическая работа </a:t>
            </a:r>
            <a:br>
              <a:rPr lang="ru-RU" dirty="0" smtClean="0"/>
            </a:br>
            <a:r>
              <a:rPr lang="ru-RU" dirty="0" smtClean="0"/>
              <a:t>Таблица «Торговля субъектов»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2571744"/>
            <a:ext cx="7143768" cy="341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Прямая со стрелкой 3"/>
          <p:cNvCxnSpPr>
            <a:stCxn id="6" idx="2"/>
          </p:cNvCxnSpPr>
          <p:nvPr/>
        </p:nvCxnSpPr>
        <p:spPr>
          <a:xfrm rot="5400000">
            <a:off x="2396741" y="932272"/>
            <a:ext cx="1528718" cy="232173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428860" y="64291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7488" y="928670"/>
            <a:ext cx="2928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Выделение всего листа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Прямая со стрелкой 8"/>
          <p:cNvCxnSpPr>
            <a:stCxn id="11" idx="2"/>
          </p:cNvCxnSpPr>
          <p:nvPr/>
        </p:nvCxnSpPr>
        <p:spPr>
          <a:xfrm rot="5400000">
            <a:off x="6725941" y="1975323"/>
            <a:ext cx="442747" cy="132160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5857884" y="135729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86512" y="1214422"/>
            <a:ext cx="2643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Дважды щелкнуть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между любыми столбцами (на белую разделительную линию)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642911" y="3143250"/>
            <a:ext cx="1357323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35748" y="207167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0034" y="1714488"/>
            <a:ext cx="1428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Дважды щелкнуть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между любыми строками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Настройка видимости</a:t>
            </a:r>
            <a:r>
              <a:rPr kumimoji="0" lang="ru-RU" sz="32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таблицы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4914900" cy="56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>
            <a:stCxn id="18" idx="2"/>
          </p:cNvCxnSpPr>
          <p:nvPr/>
        </p:nvCxnSpPr>
        <p:spPr>
          <a:xfrm rot="5400000">
            <a:off x="5691219" y="583412"/>
            <a:ext cx="154736" cy="339330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00760" y="571480"/>
            <a:ext cx="2928958" cy="16312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того, как выделили один столбец, зажмите клавишу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выделить ячейку из другого столбца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00694" y="3571876"/>
            <a:ext cx="3643306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протянуть второй столбец, и не сбросить выделение первого, зажмите клавишу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Shift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выделите последнюю нужную ячейку во втором столбце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>
            <a:stCxn id="22" idx="2"/>
          </p:cNvCxnSpPr>
          <p:nvPr/>
        </p:nvCxnSpPr>
        <p:spPr>
          <a:xfrm rot="5400000">
            <a:off x="5273598" y="4309209"/>
            <a:ext cx="847091" cy="32504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5429256" y="9286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4929190" y="407194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0275"/>
            <a:ext cx="5705475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19775" y="357166"/>
            <a:ext cx="3324225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13" idx="3"/>
          </p:cNvCxnSpPr>
          <p:nvPr/>
        </p:nvCxnSpPr>
        <p:spPr>
          <a:xfrm>
            <a:off x="5143504" y="1304638"/>
            <a:ext cx="1000132" cy="4098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4282" y="642918"/>
            <a:ext cx="492922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отсортировать таблицу с несколькими столбцами, выделите таблицу и выберите пункт «Настраиваемая сортировка»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Прямая со стрелкой 20"/>
          <p:cNvCxnSpPr>
            <a:stCxn id="24" idx="2"/>
          </p:cNvCxnSpPr>
          <p:nvPr/>
        </p:nvCxnSpPr>
        <p:spPr>
          <a:xfrm rot="5400000">
            <a:off x="6122514" y="2514935"/>
            <a:ext cx="363684" cy="275033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5042" y="3000372"/>
            <a:ext cx="2928958" cy="70788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Выберите столбец сортировки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928802"/>
            <a:ext cx="36099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>
            <a:stCxn id="11" idx="2"/>
          </p:cNvCxnSpPr>
          <p:nvPr/>
        </p:nvCxnSpPr>
        <p:spPr>
          <a:xfrm rot="5400000">
            <a:off x="5215861" y="893869"/>
            <a:ext cx="176759" cy="289323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86380" y="928670"/>
            <a:ext cx="292895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протягивания чисел по порядку протяните ячейку за ее угол «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 и зажатой клавишей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Ctrl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4071942"/>
            <a:ext cx="382905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stCxn id="11" idx="2"/>
            <a:endCxn id="4099" idx="3"/>
          </p:cNvCxnSpPr>
          <p:nvPr/>
        </p:nvCxnSpPr>
        <p:spPr>
          <a:xfrm rot="5400000">
            <a:off x="4146661" y="2220219"/>
            <a:ext cx="2572308" cy="263608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785794"/>
            <a:ext cx="61722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928926" y="1500174"/>
            <a:ext cx="2928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Деление в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5286388"/>
            <a:ext cx="1973442" cy="1393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13" idx="1"/>
          </p:cNvCxnSpPr>
          <p:nvPr/>
        </p:nvCxnSpPr>
        <p:spPr>
          <a:xfrm rot="10800000" flipV="1">
            <a:off x="4429124" y="5926082"/>
            <a:ext cx="2000264" cy="746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29388" y="5572140"/>
            <a:ext cx="2278501" cy="70788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Количество знаков после запятой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8794" y="6529352"/>
            <a:ext cx="414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Преобразование в нужный формат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1857364"/>
            <a:ext cx="91440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Чтобы иметь возможность адекватно копировать формулу, необходимо закрепить ячейку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F1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так, чтобы при копировании она не менялась. Для этого в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Excel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существует абсолютная адресация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клавиша </a:t>
            </a: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F4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Абсолютная адресация в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Excel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это ссылка на определённую (фиксированную) ячейку, которая не изменяется при копировании формулы.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абсолютной ссылке перед каждой буквой и цифрой помещается знак $ (например, $А$1). При изменении позиции ячейки, содержащей формулу, абсолютная ссылка не изменяется.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Абсолютные ссылки в формулах используются в случаях: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необходимости применения в формулах констант;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необходимости фиксации диапазона для проведения расчётов.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4500570"/>
            <a:ext cx="9144000" cy="18573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2428868"/>
            <a:ext cx="9144000" cy="1857388"/>
          </a:xfrm>
          <a:prstGeom prst="rect">
            <a:avLst/>
          </a:prstGeom>
          <a:solidFill>
            <a:srgbClr val="E2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00042"/>
            <a:ext cx="9144000" cy="18573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500042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Функция «ЕСЛИ» в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проверяет, соответствуют ли значения в выбранных ячейках заданному условию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Когда условие выполняется, в ячейке выводится один результат, когда нет — другой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Синтаксис функции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значение_если_истина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значение_если_ложь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Аргументы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(обязательно) — условие, которое нужно проверить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Значение_если_истина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(обязательно) — значение, которое должно возвращаться, если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имеет значение ИСТИНА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Значение_если_ложь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(необязательно) — значение, которое должно возвращаться, если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лог_выражение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имеет значение ЛОЖЬ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Примеры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использования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(А1&gt;=3 ; «Зачёт сдал» ; «Зачёт не сдал»)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Если в ячейке А1 оценка больше или равна 3, то зачёт сдан, в противном случае — нет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=ЕСЛИ (А1=«оплачено»; В1; 0)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Эта формула возвращает значение из ячейки В1, если ячейка А1 содержит слово «оплачено», и 0, если в ней находится любое другое значение.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000108"/>
            <a:ext cx="9144000" cy="785818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642918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БИЗВЛЕЧЬ(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база_данных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; поле; критерий)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«БИЗВЛЕЧЬ»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предназначена для удобства поиска информации в больших массивах данных. Она позволяет извлечь из столбца списка или базы данных одно значение, удовлетворяющее заданным условиям.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База_данных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Диапазон ячеек, образующих список или базу данных.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Столбец, используемый функцией. Введите текст с заголовком столбца в двойных кавычках, например "Возраст" или "Урожай", или число (без кавычек), задающее положение столбца в списке: 1 — для первого столбца, 2 — для второго и т. д.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Критерий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Диапазон ячеек, который содержит задаваемые условия. В качестве аргумента "условия" можно использовать любой диапазон, который содержит хотя бы один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заголовок столбца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хотя бы одну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ячейку с условием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расположенную под заголовком столбца.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 descr="Решение с помощью функции БИЗВЛЕЧЬ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4514846"/>
            <a:ext cx="5857884" cy="2343154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0" y="4714884"/>
            <a:ext cx="33575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Примечание: заголовок таблицы и строка с условием в поле «Критерий» должны быть заданы в том же регистре, как они представлены в таблице</a:t>
            </a:r>
            <a:endParaRPr lang="ru-RU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9144000" cy="1832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285984" y="2571744"/>
            <a:ext cx="4357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Применение формулы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БИЗВЛЕЧЬ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3000372"/>
            <a:ext cx="9144000" cy="1200329"/>
          </a:xfrm>
          <a:prstGeom prst="rect">
            <a:avLst/>
          </a:prstGeom>
          <a:solidFill>
            <a:srgbClr val="E2EEEE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Спарклайны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небольшие диаграммы внутри отдельных ячеек на листе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Помогут, например, быстро и компактно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сравнивать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поведение объектов между собой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0" name="Picture 6" descr="Вставка -&gt; Спарклайны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4286256"/>
            <a:ext cx="7573510" cy="25717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а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571480"/>
            <a:ext cx="4966310" cy="290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09875" y="4000504"/>
            <a:ext cx="63341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348" y="3500438"/>
            <a:ext cx="4357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Вставка круговой диаграммы на лист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00496" y="5842337"/>
            <a:ext cx="43577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Настройка внешнего вида диаграммы может осуществляться на вкладке «Конструктор»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б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28736"/>
            <a:ext cx="8715404" cy="3990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stCxn id="9" idx="2"/>
          </p:cNvCxnSpPr>
          <p:nvPr/>
        </p:nvCxnSpPr>
        <p:spPr>
          <a:xfrm rot="5400000">
            <a:off x="4078566" y="292377"/>
            <a:ext cx="1344052" cy="35004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428992" y="57148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57620" y="785794"/>
            <a:ext cx="5286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вставки столбца в готовую диаграмму необходимо: выделить нужный столбец и нажать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Ctrl+C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5400000" flipH="1" flipV="1">
            <a:off x="7724801" y="5419735"/>
            <a:ext cx="1276358" cy="1524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15008" y="6130349"/>
            <a:ext cx="34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Нажать на нужную диаграмму и нажать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Ctrl+V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286380" y="593469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607384" y="59346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71670" y="6130349"/>
            <a:ext cx="278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Провести необходимое редактирование форматов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3929066"/>
            <a:ext cx="2588898" cy="20002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>
            <a:endCxn id="3075" idx="3"/>
          </p:cNvCxnSpPr>
          <p:nvPr/>
        </p:nvCxnSpPr>
        <p:spPr>
          <a:xfrm rot="16200000" flipV="1">
            <a:off x="3080367" y="5152077"/>
            <a:ext cx="1285884" cy="8401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4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357166"/>
            <a:ext cx="3357521" cy="273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0" y="3071810"/>
            <a:ext cx="40004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Условное форматирование в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это инструмент, который автоматически изменяет формат ячеек (например, цвет текста, фона или шрифта) в зависимости от содержания этих ячеек или заданных условий. Он помогает быстро выделять важные данные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95952" y="857232"/>
            <a:ext cx="4548048" cy="281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5400000">
            <a:off x="5900240" y="743442"/>
            <a:ext cx="1915557" cy="15716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72264" y="214290"/>
            <a:ext cx="2571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Область создания правил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5715008" y="3214687"/>
            <a:ext cx="1357322" cy="64294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14810" y="3857628"/>
            <a:ext cx="32861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Стиль выделения ячеек, если ячейка соответствует правилу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5042118"/>
            <a:ext cx="714376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Функция «СЧЁТ»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нужна 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для подсчёта количества ячеек, в которых находятся числа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(например, целые, дробные или ноль). Текстовые значения при этом игнорируются.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Это именно подсчет ячеек с числовыми значениями. Если вместо 1 вы внесете, например число 100 то результат "на сто" больше не станет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 descr="Функция СЧЁТ в excel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15207" y="4162511"/>
            <a:ext cx="1928794" cy="2695489"/>
          </a:xfrm>
          <a:prstGeom prst="rect">
            <a:avLst/>
          </a:prstGeom>
          <a:noFill/>
        </p:spPr>
      </p:pic>
      <p:cxnSp>
        <p:nvCxnSpPr>
          <p:cNvPr id="12" name="Прямая со стрелкой 11"/>
          <p:cNvCxnSpPr/>
          <p:nvPr/>
        </p:nvCxnSpPr>
        <p:spPr>
          <a:xfrm>
            <a:off x="6786578" y="6357958"/>
            <a:ext cx="71438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5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714356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Задача по удалению всех малых предприятий сводится к задаче удалить каждую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строку. Для этого могут подойти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функцит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Функция СТРОКА, которая выдает номер строки для каждой по очереди ячейки, и ОСТАТ, которая возвращает остаток от деления одного числа на другое. В рамках нашей задачи необходимо пометить строки 9,13,17 и т.д. </a:t>
            </a: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=ОСТАТ(СТРОКА(); …) = …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Подумайте, на что нужно делить номер строки и какой должен получиться остаток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500306"/>
            <a:ext cx="8410571" cy="1260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0" y="392906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Фильтр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 инструмент, который позволяет временно скрыть часть данных в таблице, оставив на виду только те записи, которые соответствуют заданным критериям.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4562475"/>
            <a:ext cx="313372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Прямоугольник 18"/>
          <p:cNvSpPr/>
          <p:nvPr/>
        </p:nvSpPr>
        <p:spPr>
          <a:xfrm>
            <a:off x="3714744" y="535782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Получившиеся после фильтрации строки можно удалить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5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571480"/>
            <a:ext cx="200977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3428992" y="114298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Вставить строки на лист можно и через верхнюю панель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0" y="2214554"/>
            <a:ext cx="914400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СУММЕСЛИ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— функция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с помощью которой можно суммировать не все значения выбранного диапазона, а только те, что соответствуют одному заданному пользователем условию. 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Синтаксис функции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: СУММЕСЛИ (диапазон; критерий;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диапазон_суммирования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). 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Аргументы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Диапазон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(обязательный) — ячейки таблицы, в которых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будет искать критерий пользователя. 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Критерий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(обязательный) — значение, которое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должен найти в выбранном диапазоне. 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Диапазон суммирования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— диапазон ячеек, которые нужно суммировать.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906446"/>
            <a:ext cx="4543402" cy="2951554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4786314" y="4143380"/>
            <a:ext cx="435768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Т.е. в нашем случае диапазоном выступает первый столбец (с ячейки А8 и до конца таблицы, критерием выступают микро или средние предприятия, а диапазон суммирования – соответствующий столбец: кол-во, вес, стоимость)</a:t>
            </a:r>
            <a:endParaRPr lang="ru-RU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5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857232"/>
            <a:ext cx="286702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3428992" y="114298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Символы стрелок можно найти здесь. Их нужно скопировать в отдельное место, чтобы в дальнейшем иметь возможность вставлять их в форматы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020102"/>
            <a:ext cx="5000651" cy="3837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5072066" y="3571876"/>
            <a:ext cx="40719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образом можно задать пользовательский формат ячеек. Принцип прост: если в ячейке будет положительное число, то к ней будет применяться первый пользовательский формат, если отрицательное - второй. Между форматами стоит обязательный разделитель - точка с запятой. И ни в коем случае не вставляйте никаких пробелов "для красоты".</a:t>
            </a:r>
          </a:p>
        </p:txBody>
      </p:sp>
      <p:cxnSp>
        <p:nvCxnSpPr>
          <p:cNvPr id="13" name="Прямая со стрелкой 12"/>
          <p:cNvCxnSpPr>
            <a:stCxn id="12" idx="1"/>
          </p:cNvCxnSpPr>
          <p:nvPr/>
        </p:nvCxnSpPr>
        <p:spPr>
          <a:xfrm rot="10800000">
            <a:off x="2428860" y="4214819"/>
            <a:ext cx="2643206" cy="78821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6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3000372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Транспонирование данных</a:t>
            </a: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571480"/>
            <a:ext cx="3038475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 descr="text_to_columns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0" y="714356"/>
            <a:ext cx="4000528" cy="2600880"/>
          </a:xfrm>
          <a:prstGeom prst="rect">
            <a:avLst/>
          </a:prstGeom>
          <a:noFill/>
        </p:spPr>
      </p:pic>
      <p:sp>
        <p:nvSpPr>
          <p:cNvPr id="15" name="Прямоугольник 14"/>
          <p:cNvSpPr/>
          <p:nvPr/>
        </p:nvSpPr>
        <p:spPr>
          <a:xfrm>
            <a:off x="4572000" y="3214686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Выделите ячейки, которые будем делить и выберите в меню Данные - Текст по столбцам</a:t>
            </a: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4" descr="text_to_columns2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00298" y="3929066"/>
            <a:ext cx="3714744" cy="28377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6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9054716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4500562" y="4429132"/>
            <a:ext cx="464343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извлечения первых букв слова из ячейки можно использовать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ЛЕВСИМВ</a:t>
            </a:r>
          </a:p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Чтобы найти пробел необходимо использовать функцию НАЙТИ и передать в начале искомый символ</a:t>
            </a:r>
          </a:p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НАЙТИ(" ";A2)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455791"/>
            <a:ext cx="4333882" cy="2402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695</Words>
  <Application>Microsoft Office PowerPoint</Application>
  <PresentationFormat>Экран (4:3)</PresentationFormat>
  <Paragraphs>94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Практическая работа  Таблица «Торговля субъектов»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Excel</dc:title>
  <dc:creator>user</dc:creator>
  <cp:lastModifiedBy>user</cp:lastModifiedBy>
  <cp:revision>38</cp:revision>
  <dcterms:created xsi:type="dcterms:W3CDTF">2025-01-01T12:55:25Z</dcterms:created>
  <dcterms:modified xsi:type="dcterms:W3CDTF">2026-02-07T20:01:37Z</dcterms:modified>
</cp:coreProperties>
</file>