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8" r:id="rId4"/>
    <p:sldId id="266" r:id="rId5"/>
    <p:sldId id="269" r:id="rId6"/>
    <p:sldId id="270" r:id="rId7"/>
    <p:sldId id="258" r:id="rId8"/>
    <p:sldId id="267" r:id="rId9"/>
    <p:sldId id="265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Практическая работа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Анализ табличных данных и прогнозирование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42918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Корреляционный анализ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– популярный метод статистического исследования, который используется для выявления степени зависимости одного показателя от другого.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имеется специальный инструмент, предназначенный для выполнения этого типа анализа.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«КОРРЕЛ»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— это функция, которая рассчитывает коэффициент корреляции между двумя исследуемыми массивами данных.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Коэффициент корреляции используется для определения взаимосвязи между двумя свойствами.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8" name="Picture 4" descr="Используйте функцию CORREL для возврата коэффициента корреляции двух наборов данных в столбце A &amp; B с =CORREL(A1:A6, B2:B6). Результат — 0,997054486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4612" y="4055673"/>
            <a:ext cx="3314706" cy="26594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714356"/>
            <a:ext cx="7762875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>
            <a:stCxn id="16" idx="0"/>
          </p:cNvCxnSpPr>
          <p:nvPr/>
        </p:nvCxnSpPr>
        <p:spPr>
          <a:xfrm rot="16200000" flipV="1">
            <a:off x="5715000" y="2214562"/>
            <a:ext cx="1500198" cy="16430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72198" y="3786190"/>
            <a:ext cx="24288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Точечная диаграмма по двум столбцам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0" y="5286388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Примечание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: при нажатии правой кнопкой мыши по точкам необходимо выбрать «Добавить линию тренда». Все необходимые для настройки параметры находятся на вкладке «Параметры линии тренда («показывать уравнение» и т.п.)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lang="en-US" sz="3200" b="1" dirty="0" smtClean="0">
                <a:latin typeface="Cambria" pitchFamily="18" charset="0"/>
                <a:ea typeface="+mj-ea"/>
                <a:cs typeface="+mj-cs"/>
              </a:rPr>
              <a:t>: </a:t>
            </a:r>
            <a:r>
              <a:rPr lang="ru-RU" sz="3200" b="1" dirty="0" smtClean="0">
                <a:latin typeface="Cambria" pitchFamily="18" charset="0"/>
                <a:ea typeface="+mj-ea"/>
                <a:cs typeface="+mj-cs"/>
              </a:rPr>
              <a:t>Уравнение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32"/>
            <a:ext cx="4071966" cy="5530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00694" y="3000372"/>
            <a:ext cx="3133725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/>
          <p:nvPr/>
        </p:nvCxnSpPr>
        <p:spPr>
          <a:xfrm rot="10800000" flipV="1">
            <a:off x="357158" y="3571876"/>
            <a:ext cx="3286148" cy="221457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V="1">
            <a:off x="3643306" y="3286124"/>
            <a:ext cx="2571768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14876" y="1214422"/>
            <a:ext cx="2733690" cy="976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2" name="Прямая со стрелкой 21"/>
          <p:cNvCxnSpPr/>
          <p:nvPr/>
        </p:nvCxnSpPr>
        <p:spPr>
          <a:xfrm rot="16200000" flipV="1">
            <a:off x="4786314" y="1857364"/>
            <a:ext cx="1643074" cy="12144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lang="en-US" sz="3200" b="1" dirty="0" smtClean="0">
                <a:latin typeface="Cambria" pitchFamily="18" charset="0"/>
                <a:ea typeface="+mj-ea"/>
                <a:cs typeface="+mj-cs"/>
              </a:rPr>
              <a:t>: </a:t>
            </a:r>
            <a:r>
              <a:rPr lang="ru-RU" sz="3200" b="1" dirty="0" smtClean="0">
                <a:latin typeface="Cambria" pitchFamily="18" charset="0"/>
                <a:ea typeface="+mj-ea"/>
                <a:cs typeface="+mj-cs"/>
              </a:rPr>
              <a:t>Тенденция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6053794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Прямая со стрелкой 8"/>
          <p:cNvCxnSpPr/>
          <p:nvPr/>
        </p:nvCxnSpPr>
        <p:spPr>
          <a:xfrm rot="5400000">
            <a:off x="5250661" y="2964653"/>
            <a:ext cx="1643074" cy="157163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72198" y="2428868"/>
            <a:ext cx="2428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Ctrl+Shift+Enter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-214346" y="5786454"/>
            <a:ext cx="614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Функция ТЕНДЕНЦИЯ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 стрелкой 6"/>
          <p:cNvCxnSpPr/>
          <p:nvPr/>
        </p:nvCxnSpPr>
        <p:spPr>
          <a:xfrm rot="10800000" flipV="1">
            <a:off x="6000760" y="4214818"/>
            <a:ext cx="928694" cy="7953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3214678" y="4357694"/>
            <a:ext cx="2786082" cy="15001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6429388" y="3357562"/>
            <a:ext cx="24288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Функция работает над диапазоном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785794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Сводные таблицы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это инструмент для анализа данных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Они собирают информацию из обычных таблиц, обрабатывают её, группируют в блоки, проводят необходимые вычисления и показывают итог в виде наглядного отчёта.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857496"/>
            <a:ext cx="7466135" cy="2543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857224" y="4071942"/>
            <a:ext cx="1857356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714356"/>
            <a:ext cx="5303482" cy="3390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Прямая со стрелкой 9"/>
          <p:cNvCxnSpPr>
            <a:stCxn id="11" idx="0"/>
          </p:cNvCxnSpPr>
          <p:nvPr/>
        </p:nvCxnSpPr>
        <p:spPr>
          <a:xfrm rot="16200000" flipV="1">
            <a:off x="5965033" y="640589"/>
            <a:ext cx="571504" cy="2786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29388" y="2319374"/>
            <a:ext cx="24288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Диапазон исходной таблицы (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 заголовками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572000" y="4396941"/>
            <a:ext cx="4572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После создания сводной таблицы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откроет панель «Поля сводной таблицы»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Здесь можно выбрать, какие данные включить в сводную таблицу, перетаскивая поля из списка в одну из четырёх областей: «Строки», «Столбцы», «Значения» и «Фильтры».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357694"/>
            <a:ext cx="4581456" cy="2428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0"/>
            <a:ext cx="224617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cxnSp>
        <p:nvCxnSpPr>
          <p:cNvPr id="9" name="Прямая со стрелкой 8"/>
          <p:cNvCxnSpPr>
            <a:stCxn id="12" idx="1"/>
          </p:cNvCxnSpPr>
          <p:nvPr/>
        </p:nvCxnSpPr>
        <p:spPr>
          <a:xfrm rot="10800000">
            <a:off x="1071554" y="1071546"/>
            <a:ext cx="1500183" cy="171352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71736" y="2000240"/>
            <a:ext cx="31432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выборе данных будет формироваться таблица в выбранном диапазоне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/>
          <p:nvPr/>
        </p:nvCxnSpPr>
        <p:spPr>
          <a:xfrm rot="10800000" flipV="1">
            <a:off x="2571736" y="4714884"/>
            <a:ext cx="1428760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00496" y="4214818"/>
            <a:ext cx="39290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Выбранные значения заносятся сюда. Их можно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перетаскивать мышкой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285720" y="3714752"/>
            <a:ext cx="2286016" cy="31432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43636" y="714356"/>
            <a:ext cx="3000364" cy="2152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2" name="Прямая со стрелкой 21"/>
          <p:cNvCxnSpPr>
            <a:stCxn id="12" idx="3"/>
            <a:endCxn id="3076" idx="1"/>
          </p:cNvCxnSpPr>
          <p:nvPr/>
        </p:nvCxnSpPr>
        <p:spPr>
          <a:xfrm flipV="1">
            <a:off x="5715008" y="1790679"/>
            <a:ext cx="428628" cy="99439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571480"/>
            <a:ext cx="9067800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5286388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Примечание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: созданные сводные таблицы можно визуализировать и фильтровать также, как и обычные данные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i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223</Words>
  <Application>Microsoft Office PowerPoint</Application>
  <PresentationFormat>Экран (4:3)</PresentationFormat>
  <Paragraphs>22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Практическая работа  Анализ табличных данных и прогнозирование 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34</cp:revision>
  <dcterms:created xsi:type="dcterms:W3CDTF">2025-01-01T12:55:25Z</dcterms:created>
  <dcterms:modified xsi:type="dcterms:W3CDTF">2025-10-25T20:00:13Z</dcterms:modified>
</cp:coreProperties>
</file>