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8" r:id="rId5"/>
    <p:sldId id="270" r:id="rId6"/>
    <p:sldId id="268" r:id="rId7"/>
    <p:sldId id="259" r:id="rId8"/>
    <p:sldId id="266" r:id="rId9"/>
    <p:sldId id="260" r:id="rId10"/>
    <p:sldId id="269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31.03.2026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excel.ru/funkcziya-poisk-resheniya/?ysclid=m6tojtr6lw18717352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Оптимизация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57364"/>
            <a:ext cx="2862289" cy="186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4214810" y="178592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3438" y="2071678"/>
            <a:ext cx="414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Скопируйте нужный диапазон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 стрелкой 12"/>
          <p:cNvCxnSpPr/>
          <p:nvPr/>
        </p:nvCxnSpPr>
        <p:spPr>
          <a:xfrm rot="10800000" flipV="1">
            <a:off x="2786050" y="2214554"/>
            <a:ext cx="142876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786190"/>
            <a:ext cx="2857488" cy="18476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>
            <a:stCxn id="23" idx="1"/>
          </p:cNvCxnSpPr>
          <p:nvPr/>
        </p:nvCxnSpPr>
        <p:spPr>
          <a:xfrm rot="10800000" flipV="1">
            <a:off x="2714612" y="3757312"/>
            <a:ext cx="723904" cy="74325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3438516" y="3295648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67144" y="3581400"/>
            <a:ext cx="52768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Перейдите на лист со вторым кварталом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второй лист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выделите нужный диапазон вставки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857892"/>
            <a:ext cx="314325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0" name="Прямая со стрелкой 29"/>
          <p:cNvCxnSpPr/>
          <p:nvPr/>
        </p:nvCxnSpPr>
        <p:spPr>
          <a:xfrm rot="10800000" flipV="1">
            <a:off x="2928926" y="5357825"/>
            <a:ext cx="714380" cy="60038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/>
          <p:cNvSpPr/>
          <p:nvPr/>
        </p:nvSpPr>
        <p:spPr>
          <a:xfrm>
            <a:off x="3571868" y="478632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00496" y="4929198"/>
            <a:ext cx="51435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Выделите третий и четвертый квартал </a:t>
            </a:r>
            <a:r>
              <a:rPr lang="ru-RU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с клавишей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 нажмите сочетание клавиш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Ctrl+V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0" y="714356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Как в </a:t>
            </a:r>
            <a:r>
              <a:rPr lang="ru-RU" sz="2400" b="1" i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 скопировать столбец с одного листа сразу на множество других?</a:t>
            </a:r>
            <a:endParaRPr lang="ru-RU" sz="2400" b="1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428604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процессе одновременной обработки нескольких таблиц иногда может потребоваться объединение содержащихся в них однотипных данных, что позволит существенно упростить дальнейшую работу с ними. К счастью, делать это вручную не надо, т.к. в программе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специально для таких случаев предусмотрена функция 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Консолидация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”.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 descr="consolidation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857364"/>
            <a:ext cx="4357686" cy="3658443"/>
          </a:xfrm>
          <a:prstGeom prst="rect">
            <a:avLst/>
          </a:prstGeom>
          <a:noFill/>
        </p:spPr>
      </p:pic>
      <p:pic>
        <p:nvPicPr>
          <p:cNvPr id="3076" name="Picture 4" descr="consolidation4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3857628"/>
            <a:ext cx="3657590" cy="2102772"/>
          </a:xfrm>
          <a:prstGeom prst="rect">
            <a:avLst/>
          </a:prstGeom>
          <a:noFill/>
        </p:spPr>
      </p:pic>
      <p:pic>
        <p:nvPicPr>
          <p:cNvPr id="3078" name="Picture 6" descr="consolidation5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2066" y="2143116"/>
            <a:ext cx="3657600" cy="1600200"/>
          </a:xfrm>
          <a:prstGeom prst="rect">
            <a:avLst/>
          </a:prstGeom>
          <a:noFill/>
        </p:spPr>
      </p:pic>
      <p:cxnSp>
        <p:nvCxnSpPr>
          <p:cNvPr id="20" name="Прямая со стрелкой 19"/>
          <p:cNvCxnSpPr/>
          <p:nvPr/>
        </p:nvCxnSpPr>
        <p:spPr>
          <a:xfrm rot="16200000" flipV="1">
            <a:off x="5822165" y="3679033"/>
            <a:ext cx="428628" cy="714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/>
          <p:nvPr/>
        </p:nvCxnSpPr>
        <p:spPr>
          <a:xfrm flipV="1">
            <a:off x="4214810" y="2714620"/>
            <a:ext cx="1428760" cy="2047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0" y="5500702"/>
            <a:ext cx="3500430" cy="120032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Операция с совпадающими значениями может проводиться даже если данные располагаются в разных файлах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3786182" y="5929330"/>
            <a:ext cx="53578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«Создавать связи с исходными данными»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в консолидации данных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это </a:t>
            </a:r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опция, которая позволяет автоматически пересчитывать данные в консолидированной таблице при обновлении данных в отдельных таблицах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Прямая со стрелкой 36"/>
          <p:cNvCxnSpPr/>
          <p:nvPr/>
        </p:nvCxnSpPr>
        <p:spPr>
          <a:xfrm flipV="1">
            <a:off x="3929058" y="5500702"/>
            <a:ext cx="2928958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857496"/>
            <a:ext cx="8663014" cy="2838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/>
          <p:nvPr/>
        </p:nvCxnSpPr>
        <p:spPr>
          <a:xfrm rot="10800000" flipV="1">
            <a:off x="5429256" y="2285992"/>
            <a:ext cx="2214578" cy="157163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5042" y="1556081"/>
            <a:ext cx="2928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Необходимо добавить данные с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каждого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листа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таблицы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/>
          <p:nvPr/>
        </p:nvCxnSpPr>
        <p:spPr>
          <a:xfrm rot="16200000" flipH="1">
            <a:off x="6929454" y="3000372"/>
            <a:ext cx="1928826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857232"/>
            <a:ext cx="6215074" cy="1461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1 (</a:t>
            </a: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б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857232"/>
            <a:ext cx="634365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 rot="10800000">
            <a:off x="4286248" y="4786322"/>
            <a:ext cx="1928826" cy="78581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2066" y="5572140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Среднее значение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642918"/>
            <a:ext cx="9144000" cy="271464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3500438"/>
            <a:ext cx="9144000" cy="2714644"/>
          </a:xfrm>
          <a:prstGeom prst="rect">
            <a:avLst/>
          </a:prstGeom>
          <a:solidFill>
            <a:srgbClr val="E2EEE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0" y="714356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Дополнительная информация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 «Поиск решений»</a:t>
            </a:r>
            <a:endParaRPr lang="ru-RU" sz="2000" b="1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https://microexcel.ru/funkcziya-poisk-resheniya/?ysclid=m6tojtr6lw18717352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«Поиск решения» в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 — это функция, которая, используя исходные данные, путём перебора находит наиболее оптимальное решение из всех имеющихся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Проще говоря, с её помощью можно определить максимальное или минимальное значение одной ячейки, изменяя другие ячейки.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Для расчета результата необходимо: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Настроить параметры в окне «Поиск решения»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Сначала выбрать «Оптимизировать целевую функцию» и выбрать в таблице ту ячейку, в которой отображается конечный результат всех циклов. Для «Изменяя ячейки переменных» указать область в таблице, в которой алгоритм будет перебирать значения.</a:t>
            </a: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Указать ограничения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 Это нужно, чтобы программа понимала, какие значения может использовать и к какому результату ей стремиться. Для этого нажать «Добавить», чтобы создать первое ограничение.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593407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rot="10800000">
            <a:off x="5643570" y="1643050"/>
            <a:ext cx="714380" cy="714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57950" y="1357298"/>
            <a:ext cx="21431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Целевая ячейка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57475" y="2214554"/>
            <a:ext cx="64865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500438"/>
            <a:ext cx="4775454" cy="2886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714348" y="1785926"/>
            <a:ext cx="4786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Формула для оптимизируемой ячейки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57686" y="3143248"/>
            <a:ext cx="35719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Формула для столбца «Вошло»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8596" y="6457890"/>
            <a:ext cx="37147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Здесь находится поиск решений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57422" y="5643578"/>
            <a:ext cx="41434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Итоговый внешний вид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14356"/>
            <a:ext cx="8467725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285860"/>
            <a:ext cx="5887096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4934562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0034" y="5000636"/>
            <a:ext cx="2928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Выделение диапазона ответов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Прямая со стрелкой 14"/>
          <p:cNvCxnSpPr/>
          <p:nvPr/>
        </p:nvCxnSpPr>
        <p:spPr>
          <a:xfrm flipV="1">
            <a:off x="2428862" y="4500571"/>
            <a:ext cx="1178691" cy="50006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 rot="10800000">
            <a:off x="2428864" y="3571878"/>
            <a:ext cx="3714775" cy="121444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4500562" y="486312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29190" y="4857760"/>
            <a:ext cx="42148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Ввод нужной формулы в первую ячейку (чтобы выделить первую ячейку, нажмите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F2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7" name="Прямая со стрелкой 26"/>
          <p:cNvCxnSpPr/>
          <p:nvPr/>
        </p:nvCxnSpPr>
        <p:spPr>
          <a:xfrm rot="5400000" flipH="1" flipV="1">
            <a:off x="4500562" y="3214686"/>
            <a:ext cx="3357586" cy="714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Прямоугольник 31"/>
          <p:cNvSpPr/>
          <p:nvPr/>
        </p:nvSpPr>
        <p:spPr>
          <a:xfrm>
            <a:off x="2143140" y="59346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43174" y="6000744"/>
            <a:ext cx="39290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Нажать сочетание клавиш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CTRL+SHIFT+ENTER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 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0" y="454967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ячейках C10:C11 лежат текущие значения наших переменных, которые и будут подбираться в процессе оптимизации. В качестве стартовых можно взять любые значения, например, нули или единицы - роли не играет.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зелёных ячейках E10:E11 введены наши уравнения с использованием прямых ссылок на переменные. В результате мы видим, чему равны наши уравнения при текущих значениях переменных.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синих ячейках F9:F10 введены значения правых частей наших уравнений, к которым мы должны стремиться.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8"/>
            <a:ext cx="4572000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74176" y="1857364"/>
            <a:ext cx="4269824" cy="2476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Прямая со стрелкой 16"/>
          <p:cNvCxnSpPr/>
          <p:nvPr/>
        </p:nvCxnSpPr>
        <p:spPr>
          <a:xfrm rot="16200000" flipH="1">
            <a:off x="3857620" y="1500174"/>
            <a:ext cx="1785951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6200000" flipH="1">
            <a:off x="3536150" y="1821648"/>
            <a:ext cx="2286016" cy="107156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57290" y="571480"/>
            <a:ext cx="5072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Необходимо изменять переменные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Левая часть должна быть равна правой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367</Words>
  <Application>Microsoft Office PowerPoint</Application>
  <PresentationFormat>Экран (4:3)</PresentationFormat>
  <Paragraphs>47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Практическая работа Оптимизация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33</cp:revision>
  <dcterms:created xsi:type="dcterms:W3CDTF">2025-01-01T12:55:25Z</dcterms:created>
  <dcterms:modified xsi:type="dcterms:W3CDTF">2026-03-31T11:52:58Z</dcterms:modified>
</cp:coreProperties>
</file>