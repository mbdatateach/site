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2" r:id="rId10"/>
    <p:sldId id="265" r:id="rId11"/>
    <p:sldId id="268" r:id="rId12"/>
    <p:sldId id="269" r:id="rId13"/>
    <p:sldId id="270" r:id="rId14"/>
    <p:sldId id="263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E3F2"/>
    <a:srgbClr val="DDE0F2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620"/>
    <p:restoredTop sz="92386" autoAdjust="0"/>
  </p:normalViewPr>
  <p:slideViewPr>
    <p:cSldViewPr>
      <p:cViewPr>
        <p:scale>
          <a:sx n="75" d="100"/>
          <a:sy n="75" d="100"/>
        </p:scale>
        <p:origin x="-84" y="-8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2B9B73-3143-4350-BBED-DEE082F6FAFE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DC9B77-AA25-4C4C-9D5F-EEB1395BF952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DC9B77-AA25-4C4C-9D5F-EEB1395BF952}" type="slidenum">
              <a:rPr lang="ru-RU" smtClean="0"/>
              <a:pPr/>
              <a:t>3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F7147C-2AAC-473E-AD87-1A0FFEE67DAA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Знакомство со средой разработки </a:t>
            </a:r>
            <a:r>
              <a:rPr lang="ru-RU" b="1" dirty="0" err="1" smtClean="0"/>
              <a:t>SharpDevelop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Практика </a:t>
            </a:r>
            <a:r>
              <a:rPr lang="en-US" dirty="0" smtClean="0"/>
              <a:t>1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0" y="2928934"/>
            <a:ext cx="9144000" cy="1928826"/>
          </a:xfrm>
          <a:prstGeom prst="rect">
            <a:avLst/>
          </a:prstGeom>
          <a:solidFill>
            <a:srgbClr val="DDE3F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0" y="5072074"/>
            <a:ext cx="9144000" cy="178592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ru-RU" b="1" dirty="0" smtClean="0"/>
              <a:t>Среда разработки</a:t>
            </a:r>
            <a:endParaRPr lang="ru-RU" b="1" dirty="0"/>
          </a:p>
        </p:txBody>
      </p:sp>
      <p:sp>
        <p:nvSpPr>
          <p:cNvPr id="3073" name="Rectangle 1"/>
          <p:cNvSpPr>
            <a:spLocks noChangeArrowheads="1"/>
          </p:cNvSpPr>
          <p:nvPr/>
        </p:nvSpPr>
        <p:spPr bwMode="auto">
          <a:xfrm>
            <a:off x="2214546" y="1071546"/>
            <a:ext cx="6929454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SharpDevelop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 — 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свободная среда разработки для 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C#, Visual Basic .NET, Boo, IronPython, IronRuby, F#, C++.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Обычно используется как альтернатива 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Visual Studio .NET.</a:t>
            </a:r>
            <a:endParaRPr kumimoji="0" lang="ru-RU" sz="2200" b="0" i="0" u="none" strike="noStrike" cap="none" normalizeH="0" baseline="0" dirty="0" smtClean="0">
              <a:ln>
                <a:noFill/>
              </a:ln>
              <a:effectLst/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4338" name="Picture 2" descr="Логотип программы SharpDevelop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282" y="714356"/>
            <a:ext cx="1857375" cy="2124075"/>
          </a:xfrm>
          <a:prstGeom prst="rect">
            <a:avLst/>
          </a:prstGeom>
          <a:noFill/>
        </p:spPr>
      </p:pic>
      <p:sp>
        <p:nvSpPr>
          <p:cNvPr id="10" name="Прямоугольник 9"/>
          <p:cNvSpPr/>
          <p:nvPr/>
        </p:nvSpPr>
        <p:spPr>
          <a:xfrm>
            <a:off x="0" y="5072896"/>
            <a:ext cx="91440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200" b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Возможности и особенности</a:t>
            </a:r>
            <a:r>
              <a:rPr lang="en-US" sz="2200" b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:</a:t>
            </a:r>
            <a:endParaRPr lang="en-US" sz="2200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Подсветка синтаксиса для 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C#, IronPython, HTML, ASP, ASP.NET, VBScript, VB.NET, XML, XAML.</a:t>
            </a:r>
          </a:p>
          <a:p>
            <a:pPr algn="just">
              <a:buFont typeface="Arial" pitchFamily="34" charset="0"/>
              <a:buChar char="•"/>
            </a:pP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Визуальный редактор для 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WPF 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и форм 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Windows Forms (COM-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компоненты не поддерживаются).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0" y="2857496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.NET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Framework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 это программная платформа, разработанная компанией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Microsoft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Она предоставляет среду выполнения для приложений на языках программирования C#,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Visual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Basic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.NET и других языках, совместимых с платформой .NET.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Платформа предоставляет разработчикам мощные инструменты и библиотеки для создания разнообразных приложений, включая настольные программы,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веб-сайты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мобильные приложения и службы в облаке.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2910" y="-357214"/>
            <a:ext cx="8229600" cy="1143000"/>
          </a:xfrm>
        </p:spPr>
        <p:txBody>
          <a:bodyPr/>
          <a:lstStyle/>
          <a:p>
            <a:r>
              <a:rPr lang="ru-RU" b="1" dirty="0" smtClean="0"/>
              <a:t>Начало работы</a:t>
            </a:r>
            <a:endParaRPr lang="ru-RU" b="1" dirty="0"/>
          </a:p>
        </p:txBody>
      </p:sp>
      <p:pic>
        <p:nvPicPr>
          <p:cNvPr id="26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5752" y="1571612"/>
            <a:ext cx="6476992" cy="3992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28" name="Прямая со стрелкой 27"/>
          <p:cNvCxnSpPr/>
          <p:nvPr/>
        </p:nvCxnSpPr>
        <p:spPr>
          <a:xfrm rot="16200000" flipH="1">
            <a:off x="535785" y="1393017"/>
            <a:ext cx="2143140" cy="135732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единительная линия 29"/>
          <p:cNvCxnSpPr/>
          <p:nvPr/>
        </p:nvCxnSpPr>
        <p:spPr>
          <a:xfrm rot="10800000">
            <a:off x="0" y="1000108"/>
            <a:ext cx="928694" cy="15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Прямоугольник 30"/>
          <p:cNvSpPr/>
          <p:nvPr/>
        </p:nvSpPr>
        <p:spPr>
          <a:xfrm>
            <a:off x="142876" y="214290"/>
            <a:ext cx="5357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rPr>
              <a:t>1</a:t>
            </a:r>
            <a:endParaRPr lang="ru-RU" sz="5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</a:endParaRPr>
          </a:p>
        </p:txBody>
      </p:sp>
      <p:pic>
        <p:nvPicPr>
          <p:cNvPr id="13313" name="Picture 1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357686" y="2928934"/>
            <a:ext cx="4786314" cy="3675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32" name="Прямая со стрелкой 31"/>
          <p:cNvCxnSpPr>
            <a:endCxn id="33" idx="0"/>
          </p:cNvCxnSpPr>
          <p:nvPr/>
        </p:nvCxnSpPr>
        <p:spPr>
          <a:xfrm rot="5400000">
            <a:off x="6733002" y="2160976"/>
            <a:ext cx="1928824" cy="464349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Скругленный прямоугольник 32"/>
          <p:cNvSpPr/>
          <p:nvPr/>
        </p:nvSpPr>
        <p:spPr>
          <a:xfrm>
            <a:off x="6072198" y="3357562"/>
            <a:ext cx="2786082" cy="135732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/>
          <p:nvPr/>
        </p:nvCxnSpPr>
        <p:spPr>
          <a:xfrm rot="10800000">
            <a:off x="7929586" y="1428736"/>
            <a:ext cx="928694" cy="15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/>
          <p:cNvSpPr/>
          <p:nvPr/>
        </p:nvSpPr>
        <p:spPr>
          <a:xfrm>
            <a:off x="8072462" y="642918"/>
            <a:ext cx="5357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rPr>
              <a:t>2</a:t>
            </a:r>
            <a:endParaRPr lang="ru-RU" sz="5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</a:endParaRPr>
          </a:p>
        </p:txBody>
      </p:sp>
      <p:sp>
        <p:nvSpPr>
          <p:cNvPr id="40" name="Скругленный прямоугольник 39"/>
          <p:cNvSpPr/>
          <p:nvPr/>
        </p:nvSpPr>
        <p:spPr>
          <a:xfrm>
            <a:off x="4714876" y="5429264"/>
            <a:ext cx="4000528" cy="42862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2" name="Прямая со стрелкой 41"/>
          <p:cNvCxnSpPr>
            <a:endCxn id="40" idx="1"/>
          </p:cNvCxnSpPr>
          <p:nvPr/>
        </p:nvCxnSpPr>
        <p:spPr>
          <a:xfrm flipV="1">
            <a:off x="2500298" y="5643578"/>
            <a:ext cx="2214578" cy="57150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/>
          <p:cNvCxnSpPr/>
          <p:nvPr/>
        </p:nvCxnSpPr>
        <p:spPr>
          <a:xfrm rot="10800000">
            <a:off x="2143108" y="6215082"/>
            <a:ext cx="357190" cy="15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Прямоугольник 45"/>
          <p:cNvSpPr/>
          <p:nvPr/>
        </p:nvSpPr>
        <p:spPr>
          <a:xfrm>
            <a:off x="2071670" y="5429264"/>
            <a:ext cx="5357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rPr>
              <a:t>3</a:t>
            </a:r>
            <a:endParaRPr lang="ru-RU" sz="5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</a:endParaRPr>
          </a:p>
        </p:txBody>
      </p:sp>
      <p:sp>
        <p:nvSpPr>
          <p:cNvPr id="47" name="Прямоугольник 46"/>
          <p:cNvSpPr/>
          <p:nvPr/>
        </p:nvSpPr>
        <p:spPr>
          <a:xfrm>
            <a:off x="571472" y="415333"/>
            <a:ext cx="321471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Создать новый проект можно непосредственно в Главном меню</a:t>
            </a:r>
            <a:endParaRPr lang="ru-RU" sz="1600" dirty="0"/>
          </a:p>
        </p:txBody>
      </p:sp>
      <p:sp>
        <p:nvSpPr>
          <p:cNvPr id="48" name="Прямоугольник 47"/>
          <p:cNvSpPr/>
          <p:nvPr/>
        </p:nvSpPr>
        <p:spPr>
          <a:xfrm>
            <a:off x="5500694" y="422956"/>
            <a:ext cx="2714612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Для дисциплины нам понадобятся «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Консольное приложение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 и «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Windows-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приложение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ru-RU" sz="1600"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0" y="5637930"/>
            <a:ext cx="214310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Необходимо задать только имя и расположение (лучше создать новую папку)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14366" y="-357214"/>
            <a:ext cx="8229600" cy="1143000"/>
          </a:xfrm>
        </p:spPr>
        <p:txBody>
          <a:bodyPr/>
          <a:lstStyle/>
          <a:p>
            <a:r>
              <a:rPr lang="ru-RU" b="1" dirty="0" smtClean="0"/>
              <a:t>Задание 1</a:t>
            </a:r>
            <a:endParaRPr lang="ru-RU" dirty="0"/>
          </a:p>
        </p:txBody>
      </p:sp>
      <p:pic>
        <p:nvPicPr>
          <p:cNvPr id="11265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571480"/>
            <a:ext cx="8042019" cy="4676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695575" y="3600450"/>
            <a:ext cx="6448425" cy="3257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7" name="Прямая со стрелкой 16"/>
          <p:cNvCxnSpPr>
            <a:endCxn id="11266" idx="0"/>
          </p:cNvCxnSpPr>
          <p:nvPr/>
        </p:nvCxnSpPr>
        <p:spPr>
          <a:xfrm>
            <a:off x="2214546" y="857232"/>
            <a:ext cx="3705242" cy="274321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Скругленный прямоугольник 22"/>
          <p:cNvSpPr/>
          <p:nvPr/>
        </p:nvSpPr>
        <p:spPr>
          <a:xfrm>
            <a:off x="1928794" y="642918"/>
            <a:ext cx="285752" cy="28575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1571604" y="2285992"/>
            <a:ext cx="2500330" cy="114300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5" name="Прямая со стрелкой 24"/>
          <p:cNvCxnSpPr>
            <a:endCxn id="24" idx="3"/>
          </p:cNvCxnSpPr>
          <p:nvPr/>
        </p:nvCxnSpPr>
        <p:spPr>
          <a:xfrm rot="10800000" flipV="1">
            <a:off x="4071934" y="2071678"/>
            <a:ext cx="3571900" cy="78581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единительная линия 27"/>
          <p:cNvCxnSpPr/>
          <p:nvPr/>
        </p:nvCxnSpPr>
        <p:spPr>
          <a:xfrm rot="10800000">
            <a:off x="7643834" y="2071678"/>
            <a:ext cx="928694" cy="15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Прямоугольник 28"/>
          <p:cNvSpPr/>
          <p:nvPr/>
        </p:nvSpPr>
        <p:spPr>
          <a:xfrm>
            <a:off x="7286644" y="1714488"/>
            <a:ext cx="18573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Область ввода кода</a:t>
            </a:r>
            <a:endParaRPr lang="ru-RU" sz="1600" dirty="0"/>
          </a:p>
        </p:txBody>
      </p:sp>
      <p:sp>
        <p:nvSpPr>
          <p:cNvPr id="30" name="Прямоугольник 29"/>
          <p:cNvSpPr/>
          <p:nvPr/>
        </p:nvSpPr>
        <p:spPr>
          <a:xfrm>
            <a:off x="1071538" y="214290"/>
            <a:ext cx="18573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Запуск программы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57208" y="0"/>
            <a:ext cx="9201208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Задание 1</a:t>
            </a:r>
            <a:br>
              <a:rPr lang="ru-RU" b="1" dirty="0" smtClean="0"/>
            </a:br>
            <a:r>
              <a:rPr lang="ru-RU" b="1" dirty="0" smtClean="0"/>
              <a:t>Типы данных</a:t>
            </a:r>
            <a:r>
              <a:rPr lang="en-US" b="1" dirty="0" smtClean="0"/>
              <a:t>, </a:t>
            </a:r>
            <a:r>
              <a:rPr lang="ru-RU" b="1" dirty="0" smtClean="0"/>
              <a:t>Консольный ввод/вывод</a:t>
            </a:r>
            <a:endParaRPr lang="ru-RU" dirty="0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116277"/>
            <a:ext cx="4491051" cy="57417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54763" y="1223957"/>
            <a:ext cx="4389237" cy="563404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Задание </a:t>
            </a:r>
            <a:r>
              <a:rPr lang="ru-RU" b="1" dirty="0" smtClean="0"/>
              <a:t>1</a:t>
            </a:r>
            <a:r>
              <a:rPr lang="ru-RU" b="1" dirty="0" smtClean="0"/>
              <a:t/>
            </a:r>
            <a:br>
              <a:rPr lang="ru-RU" b="1" dirty="0" smtClean="0"/>
            </a:br>
            <a:r>
              <a:rPr lang="ru-RU" b="1" dirty="0" smtClean="0"/>
              <a:t>Примерный результат вычисления</a:t>
            </a:r>
            <a:endParaRPr lang="ru-RU" dirty="0"/>
          </a:p>
        </p:txBody>
      </p:sp>
      <p:pic>
        <p:nvPicPr>
          <p:cNvPr id="3277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00166" y="3643314"/>
            <a:ext cx="5234014" cy="18002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2772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14282" y="1714488"/>
            <a:ext cx="7778475" cy="46196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>
            <a:stCxn id="32772" idx="2"/>
            <a:endCxn id="32771" idx="0"/>
          </p:cNvCxnSpPr>
          <p:nvPr/>
        </p:nvCxnSpPr>
        <p:spPr>
          <a:xfrm rot="16200000" flipH="1">
            <a:off x="3376915" y="2903056"/>
            <a:ext cx="1466862" cy="13653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Задание </a:t>
            </a:r>
            <a:r>
              <a:rPr lang="en-US" b="1" dirty="0" smtClean="0"/>
              <a:t>2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 rot="10800000">
            <a:off x="5786446" y="1571612"/>
            <a:ext cx="2500330" cy="4275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5500694" y="928670"/>
            <a:ext cx="335758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Смена вкладок для переключения между работой с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WinForms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и кодом</a:t>
            </a:r>
            <a:endParaRPr lang="ru-RU" sz="1600" dirty="0"/>
          </a:p>
        </p:txBody>
      </p:sp>
      <p:pic>
        <p:nvPicPr>
          <p:cNvPr id="33796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28596" y="758926"/>
            <a:ext cx="4097253" cy="60990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Скругленный прямоугольник 6"/>
          <p:cNvSpPr/>
          <p:nvPr/>
        </p:nvSpPr>
        <p:spPr>
          <a:xfrm>
            <a:off x="1857356" y="6357958"/>
            <a:ext cx="1285884" cy="50004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/>
          <p:cNvCxnSpPr>
            <a:endCxn id="7" idx="3"/>
          </p:cNvCxnSpPr>
          <p:nvPr/>
        </p:nvCxnSpPr>
        <p:spPr>
          <a:xfrm rot="5400000">
            <a:off x="1946662" y="2768192"/>
            <a:ext cx="5036365" cy="264320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/>
          <p:cNvSpPr/>
          <p:nvPr/>
        </p:nvSpPr>
        <p:spPr>
          <a:xfrm>
            <a:off x="357158" y="1428736"/>
            <a:ext cx="1428760" cy="100013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3798" name="Picture 6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4733925"/>
            <a:ext cx="1838325" cy="212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21" name="Прямая со стрелкой 20"/>
          <p:cNvCxnSpPr>
            <a:endCxn id="18" idx="3"/>
          </p:cNvCxnSpPr>
          <p:nvPr/>
        </p:nvCxnSpPr>
        <p:spPr>
          <a:xfrm rot="10800000">
            <a:off x="1785918" y="1928802"/>
            <a:ext cx="4572032" cy="100013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рямоугольник 23"/>
          <p:cNvSpPr/>
          <p:nvPr/>
        </p:nvSpPr>
        <p:spPr>
          <a:xfrm>
            <a:off x="6429388" y="2571744"/>
            <a:ext cx="192882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Все файлы проекта</a:t>
            </a:r>
            <a:endParaRPr lang="ru-RU" sz="1600" dirty="0"/>
          </a:p>
        </p:txBody>
      </p:sp>
      <p:cxnSp>
        <p:nvCxnSpPr>
          <p:cNvPr id="25" name="Прямая соединительная линия 24"/>
          <p:cNvCxnSpPr/>
          <p:nvPr/>
        </p:nvCxnSpPr>
        <p:spPr>
          <a:xfrm rot="10800000">
            <a:off x="6429388" y="2928934"/>
            <a:ext cx="2500330" cy="4275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Задание </a:t>
            </a:r>
            <a:r>
              <a:rPr lang="en-US" b="1" dirty="0" smtClean="0"/>
              <a:t>2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 rot="10800000">
            <a:off x="5857884" y="1281585"/>
            <a:ext cx="2500330" cy="4275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5857884" y="642918"/>
            <a:ext cx="278608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Форма для создания графического интерфейса</a:t>
            </a:r>
            <a:endParaRPr lang="ru-RU" sz="1600" dirty="0"/>
          </a:p>
        </p:txBody>
      </p:sp>
      <p:pic>
        <p:nvPicPr>
          <p:cNvPr id="3379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642918"/>
            <a:ext cx="3513437" cy="6215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Скругленный прямоугольник 6"/>
          <p:cNvSpPr/>
          <p:nvPr/>
        </p:nvSpPr>
        <p:spPr>
          <a:xfrm>
            <a:off x="1500166" y="857232"/>
            <a:ext cx="2286016" cy="221457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 стрелкой 7"/>
          <p:cNvCxnSpPr>
            <a:endCxn id="7" idx="3"/>
          </p:cNvCxnSpPr>
          <p:nvPr/>
        </p:nvCxnSpPr>
        <p:spPr>
          <a:xfrm rot="10800000" flipV="1">
            <a:off x="3786182" y="1285859"/>
            <a:ext cx="2071702" cy="67866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Скругленный прямоугольник 12"/>
          <p:cNvSpPr/>
          <p:nvPr/>
        </p:nvSpPr>
        <p:spPr>
          <a:xfrm>
            <a:off x="71438" y="642918"/>
            <a:ext cx="1357290" cy="571504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 стрелкой 14"/>
          <p:cNvCxnSpPr/>
          <p:nvPr/>
        </p:nvCxnSpPr>
        <p:spPr>
          <a:xfrm rot="10800000" flipV="1">
            <a:off x="1428728" y="2071677"/>
            <a:ext cx="4143404" cy="3071833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17"/>
          <p:cNvSpPr/>
          <p:nvPr/>
        </p:nvSpPr>
        <p:spPr>
          <a:xfrm>
            <a:off x="5500694" y="1500174"/>
            <a:ext cx="278608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Возможные для размещения на форме элементы</a:t>
            </a:r>
            <a:endParaRPr lang="ru-RU" sz="1600" dirty="0"/>
          </a:p>
        </p:txBody>
      </p:sp>
      <p:cxnSp>
        <p:nvCxnSpPr>
          <p:cNvPr id="19" name="Прямая соединительная линия 18"/>
          <p:cNvCxnSpPr/>
          <p:nvPr/>
        </p:nvCxnSpPr>
        <p:spPr>
          <a:xfrm rot="10800000">
            <a:off x="5572132" y="2071678"/>
            <a:ext cx="2500330" cy="4275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842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357950" y="2364065"/>
            <a:ext cx="1507312" cy="44939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22" name="Прямая со стрелкой 21"/>
          <p:cNvCxnSpPr>
            <a:endCxn id="35842" idx="1"/>
          </p:cNvCxnSpPr>
          <p:nvPr/>
        </p:nvCxnSpPr>
        <p:spPr>
          <a:xfrm rot="16200000" flipH="1">
            <a:off x="5409744" y="3662826"/>
            <a:ext cx="967719" cy="92869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 rot="10800000">
            <a:off x="4286248" y="3643314"/>
            <a:ext cx="1152532" cy="1380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Прямоугольник 26"/>
          <p:cNvSpPr/>
          <p:nvPr/>
        </p:nvSpPr>
        <p:spPr>
          <a:xfrm>
            <a:off x="4357686" y="3643314"/>
            <a:ext cx="157163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Свойства добавляемых элементов (правая панель) –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клавиша 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F4</a:t>
            </a:r>
            <a:endParaRPr lang="ru-RU" sz="16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285768"/>
            <a:ext cx="8229600" cy="1143000"/>
          </a:xfrm>
        </p:spPr>
        <p:txBody>
          <a:bodyPr>
            <a:normAutofit/>
          </a:bodyPr>
          <a:lstStyle/>
          <a:p>
            <a:r>
              <a:rPr lang="ru-RU" b="1" dirty="0" smtClean="0"/>
              <a:t>Задание </a:t>
            </a:r>
            <a:r>
              <a:rPr lang="en-US" b="1" dirty="0" smtClean="0"/>
              <a:t>2</a:t>
            </a:r>
            <a:endParaRPr lang="ru-RU" dirty="0"/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0" y="714356"/>
            <a:ext cx="9144000" cy="707886"/>
          </a:xfrm>
          <a:prstGeom prst="rect">
            <a:avLst/>
          </a:prstGeom>
          <a:solidFill>
            <a:srgbClr val="F7F7FA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Можете создать два отдельных обработчика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 (</a:t>
            </a:r>
            <a:r>
              <a:rPr kumimoji="0" lang="ru-RU" sz="2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двойной щелчок по </a:t>
            </a:r>
            <a:r>
              <a:rPr lang="ru-RU" sz="2000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кнопке на редакторе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)</a:t>
            </a:r>
            <a:r>
              <a:rPr kumimoji="0" lang="ru-RU" sz="2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 кнопок и прописать</a:t>
            </a:r>
            <a:r>
              <a:rPr kumimoji="0" lang="ru-RU" sz="2000" b="0" i="0" u="none" strike="noStrike" cap="none" normalizeH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 в них условия изменения </a:t>
            </a:r>
            <a:r>
              <a:rPr kumimoji="0" lang="en-US" sz="2000" b="0" i="0" u="none" strike="noStrike" cap="none" normalizeH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Label</a:t>
            </a:r>
            <a:endParaRPr kumimoji="0" lang="ru-RU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0034" y="2000240"/>
            <a:ext cx="2924175" cy="296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80025" y="1500174"/>
            <a:ext cx="3556160" cy="50006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Скругленный прямоугольник 8"/>
          <p:cNvSpPr/>
          <p:nvPr/>
        </p:nvSpPr>
        <p:spPr>
          <a:xfrm>
            <a:off x="857224" y="2428868"/>
            <a:ext cx="2071702" cy="178595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/>
          <p:cNvCxnSpPr>
            <a:endCxn id="9" idx="0"/>
          </p:cNvCxnSpPr>
          <p:nvPr/>
        </p:nvCxnSpPr>
        <p:spPr>
          <a:xfrm rot="16200000" flipH="1">
            <a:off x="1267994" y="1803787"/>
            <a:ext cx="642940" cy="60722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/>
        </p:nvCxnSpPr>
        <p:spPr>
          <a:xfrm rot="10800000">
            <a:off x="1285852" y="1785926"/>
            <a:ext cx="2500330" cy="4275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/>
          <p:cNvSpPr/>
          <p:nvPr/>
        </p:nvSpPr>
        <p:spPr>
          <a:xfrm>
            <a:off x="1714480" y="1428736"/>
            <a:ext cx="17145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Двойной щелчок</a:t>
            </a:r>
            <a:endParaRPr lang="ru-RU" sz="1600" dirty="0"/>
          </a:p>
        </p:txBody>
      </p:sp>
      <p:cxnSp>
        <p:nvCxnSpPr>
          <p:cNvPr id="14" name="Прямая со стрелкой 13"/>
          <p:cNvCxnSpPr>
            <a:stCxn id="9" idx="3"/>
            <a:endCxn id="15" idx="1"/>
          </p:cNvCxnSpPr>
          <p:nvPr/>
        </p:nvCxnSpPr>
        <p:spPr>
          <a:xfrm>
            <a:off x="2928926" y="3321843"/>
            <a:ext cx="2571768" cy="235745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Скругленный прямоугольник 14"/>
          <p:cNvSpPr/>
          <p:nvPr/>
        </p:nvSpPr>
        <p:spPr>
          <a:xfrm>
            <a:off x="5500694" y="5357826"/>
            <a:ext cx="3000396" cy="64294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285768"/>
            <a:ext cx="8229600" cy="1143000"/>
          </a:xfrm>
        </p:spPr>
        <p:txBody>
          <a:bodyPr>
            <a:normAutofit/>
          </a:bodyPr>
          <a:lstStyle/>
          <a:p>
            <a:r>
              <a:rPr lang="ru-RU" b="1" dirty="0" smtClean="0"/>
              <a:t>Задание </a:t>
            </a:r>
            <a:r>
              <a:rPr lang="en-US" b="1" dirty="0" smtClean="0"/>
              <a:t>2</a:t>
            </a:r>
            <a:endParaRPr lang="ru-RU" dirty="0"/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0" y="1285860"/>
            <a:ext cx="9144000" cy="707886"/>
          </a:xfrm>
          <a:prstGeom prst="rect">
            <a:avLst/>
          </a:prstGeom>
          <a:solidFill>
            <a:srgbClr val="F7F7FA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А можете создать общий обработчик для двух кнопок и назначить</a:t>
            </a:r>
            <a:r>
              <a:rPr kumimoji="0" lang="ru-RU" sz="2000" b="0" i="0" u="none" strike="noStrike" cap="none" normalizeH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 его при загрузке формы</a:t>
            </a:r>
            <a:endParaRPr kumimoji="0" lang="ru-RU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2143116"/>
            <a:ext cx="5181600" cy="287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43636" y="3714752"/>
            <a:ext cx="2457446" cy="23956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5857852" y="2143116"/>
            <a:ext cx="3286148" cy="147732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Load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 это событие, которое срабатывает перед первым отображением формы.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добавляется в код двойным щелчком по форме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8" name="Прямая со стрелкой 7"/>
          <p:cNvCxnSpPr>
            <a:stCxn id="7" idx="1"/>
          </p:cNvCxnSpPr>
          <p:nvPr/>
        </p:nvCxnSpPr>
        <p:spPr>
          <a:xfrm rot="10800000">
            <a:off x="1928794" y="2357430"/>
            <a:ext cx="3929058" cy="524350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4929190" y="785794"/>
            <a:ext cx="3143272" cy="10001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Задание </a:t>
            </a:r>
            <a:r>
              <a:rPr lang="en-US" b="1" dirty="0" smtClean="0"/>
              <a:t>2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pic>
        <p:nvPicPr>
          <p:cNvPr id="3686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57356" y="1857364"/>
            <a:ext cx="5575902" cy="24907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Скругленный прямоугольник 11"/>
          <p:cNvSpPr/>
          <p:nvPr/>
        </p:nvSpPr>
        <p:spPr>
          <a:xfrm>
            <a:off x="2357422" y="2143116"/>
            <a:ext cx="1643074" cy="35719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3" name="Прямая со стрелкой 12"/>
          <p:cNvCxnSpPr>
            <a:endCxn id="12" idx="0"/>
          </p:cNvCxnSpPr>
          <p:nvPr/>
        </p:nvCxnSpPr>
        <p:spPr>
          <a:xfrm rot="16200000" flipH="1">
            <a:off x="2375281" y="1339438"/>
            <a:ext cx="857256" cy="750099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/>
          <p:cNvCxnSpPr/>
          <p:nvPr/>
        </p:nvCxnSpPr>
        <p:spPr>
          <a:xfrm rot="10800000">
            <a:off x="2428860" y="1285860"/>
            <a:ext cx="2500330" cy="4275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/>
          <p:cNvSpPr/>
          <p:nvPr/>
        </p:nvSpPr>
        <p:spPr>
          <a:xfrm>
            <a:off x="4929190" y="857232"/>
            <a:ext cx="300039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Изменить содержание текстового поля по его идентификатору 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Design (Name)</a:t>
            </a:r>
            <a:endParaRPr lang="ru-RU" sz="1600" b="1" dirty="0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2214546" y="2928934"/>
            <a:ext cx="3071834" cy="121444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1" name="Прямая со стрелкой 20"/>
          <p:cNvCxnSpPr/>
          <p:nvPr/>
        </p:nvCxnSpPr>
        <p:spPr>
          <a:xfrm rot="10800000">
            <a:off x="2857488" y="4143383"/>
            <a:ext cx="1428761" cy="1402427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/>
          <p:cNvSpPr/>
          <p:nvPr/>
        </p:nvSpPr>
        <p:spPr>
          <a:xfrm>
            <a:off x="4286248" y="4929198"/>
            <a:ext cx="3214678" cy="138499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При выборе соответствующего пункта необходимо изменять содержание текстового поля по его идентификатору 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Design (Name)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14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Примечание: после каждого </a:t>
            </a:r>
            <a:r>
              <a:rPr lang="en-US" sz="1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case</a:t>
            </a:r>
            <a:r>
              <a:rPr lang="en-US" sz="14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должен идти свой </a:t>
            </a:r>
            <a:r>
              <a:rPr lang="en-US" sz="1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break</a:t>
            </a:r>
            <a:r>
              <a:rPr lang="en-US" sz="14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;</a:t>
            </a:r>
            <a:endParaRPr lang="ru-RU" sz="1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4" name="Прямая со стрелкой 13"/>
          <p:cNvCxnSpPr>
            <a:stCxn id="15" idx="2"/>
          </p:cNvCxnSpPr>
          <p:nvPr/>
        </p:nvCxnSpPr>
        <p:spPr>
          <a:xfrm rot="16200000" flipH="1">
            <a:off x="1136128" y="1814798"/>
            <a:ext cx="906670" cy="892975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-32" y="1500174"/>
            <a:ext cx="2286016" cy="307777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Двойной щелчок по списку</a:t>
            </a:r>
            <a:endParaRPr lang="ru-RU" sz="14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Задание </a:t>
            </a:r>
            <a:r>
              <a:rPr lang="en-US" b="1" dirty="0" smtClean="0"/>
              <a:t>2 (</a:t>
            </a:r>
            <a:r>
              <a:rPr lang="ru-RU" b="1" dirty="0" smtClean="0"/>
              <a:t>б</a:t>
            </a:r>
            <a:r>
              <a:rPr lang="en-US" b="1" dirty="0" smtClean="0"/>
              <a:t>)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282" y="714356"/>
            <a:ext cx="4630532" cy="342902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4" name="Прямоугольник 13"/>
          <p:cNvSpPr/>
          <p:nvPr/>
        </p:nvSpPr>
        <p:spPr>
          <a:xfrm>
            <a:off x="5429256" y="571480"/>
            <a:ext cx="3286148" cy="147732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Load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 это событие, которое срабатывает перед первым отображением формы.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добавляется в код двойным щелчком по форме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7" name="Прямая со стрелкой 16"/>
          <p:cNvCxnSpPr>
            <a:stCxn id="14" idx="1"/>
          </p:cNvCxnSpPr>
          <p:nvPr/>
        </p:nvCxnSpPr>
        <p:spPr>
          <a:xfrm rot="10800000">
            <a:off x="1857356" y="1214422"/>
            <a:ext cx="3571900" cy="95722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57620" y="4500570"/>
            <a:ext cx="4548190" cy="9096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28596" y="5857892"/>
            <a:ext cx="3371850" cy="6953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cxnSp>
        <p:nvCxnSpPr>
          <p:cNvPr id="23" name="Прямая со стрелкой 22"/>
          <p:cNvCxnSpPr/>
          <p:nvPr/>
        </p:nvCxnSpPr>
        <p:spPr>
          <a:xfrm>
            <a:off x="3357554" y="3929066"/>
            <a:ext cx="1643074" cy="571504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>
            <a:stCxn id="1029" idx="3"/>
          </p:cNvCxnSpPr>
          <p:nvPr/>
        </p:nvCxnSpPr>
        <p:spPr>
          <a:xfrm flipV="1">
            <a:off x="3800446" y="5072074"/>
            <a:ext cx="1557372" cy="1133481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929322" y="2571744"/>
            <a:ext cx="2105025" cy="7784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1" name="Прямоугольник 10"/>
          <p:cNvSpPr/>
          <p:nvPr/>
        </p:nvSpPr>
        <p:spPr>
          <a:xfrm>
            <a:off x="4857752" y="3357562"/>
            <a:ext cx="428624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Добавление </a:t>
            </a:r>
            <a:r>
              <a:rPr lang="en-US" sz="1400" dirty="0" err="1" smtClean="0">
                <a:latin typeface="Times New Roman" pitchFamily="18" charset="0"/>
                <a:cs typeface="Times New Roman" pitchFamily="18" charset="0"/>
              </a:rPr>
              <a:t>GroupBox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и его содержимого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 (rb1, rb2 – 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=new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RadioButton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()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286116" y="1714488"/>
            <a:ext cx="4357718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Задание </a:t>
            </a:r>
            <a:r>
              <a:rPr lang="en-US" b="1" dirty="0" smtClean="0"/>
              <a:t>3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3357554" y="6000768"/>
            <a:ext cx="435771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Примерный шаблон интерфейса и вывода информации</a:t>
            </a:r>
            <a:endParaRPr lang="ru-RU" sz="2000" dirty="0"/>
          </a:p>
        </p:txBody>
      </p:sp>
      <p:sp>
        <p:nvSpPr>
          <p:cNvPr id="30" name="Прямоугольник 29"/>
          <p:cNvSpPr/>
          <p:nvPr/>
        </p:nvSpPr>
        <p:spPr>
          <a:xfrm>
            <a:off x="0" y="4214818"/>
            <a:ext cx="3214678" cy="203132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400" b="1" dirty="0" err="1" smtClean="0">
                <a:latin typeface="Times New Roman" pitchFamily="18" charset="0"/>
                <a:cs typeface="Times New Roman" pitchFamily="18" charset="0"/>
              </a:rPr>
              <a:t>Panel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 объединяет элементы в группы. Она представляет собой прямоугольное окно без надписи, внутри которого можно помещать произвольные объекты. Если панель имеет много элементов, которые выходят за её границы, её можно сделать прокручиваемой, установив свойство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AutoScroll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true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1214422"/>
            <a:ext cx="4276725" cy="219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31" name="Прямая со стрелкой 30"/>
          <p:cNvCxnSpPr>
            <a:endCxn id="1028" idx="2"/>
          </p:cNvCxnSpPr>
          <p:nvPr/>
        </p:nvCxnSpPr>
        <p:spPr>
          <a:xfrm rot="10800000">
            <a:off x="2138364" y="1433498"/>
            <a:ext cx="3505207" cy="1209685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Скругленный прямоугольник 33"/>
          <p:cNvSpPr/>
          <p:nvPr/>
        </p:nvSpPr>
        <p:spPr>
          <a:xfrm>
            <a:off x="5715008" y="3500438"/>
            <a:ext cx="1285884" cy="71438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2428868"/>
            <a:ext cx="3071802" cy="79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35" name="Прямая со стрелкой 34"/>
          <p:cNvCxnSpPr>
            <a:endCxn id="1029" idx="2"/>
          </p:cNvCxnSpPr>
          <p:nvPr/>
        </p:nvCxnSpPr>
        <p:spPr>
          <a:xfrm rot="10800000">
            <a:off x="1535902" y="3219444"/>
            <a:ext cx="2250281" cy="495309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Скругленный прямоугольник 12"/>
          <p:cNvSpPr/>
          <p:nvPr/>
        </p:nvSpPr>
        <p:spPr>
          <a:xfrm>
            <a:off x="5572132" y="2643182"/>
            <a:ext cx="1857388" cy="42862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429124" y="1214422"/>
            <a:ext cx="4714876" cy="2777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cxnSp>
        <p:nvCxnSpPr>
          <p:cNvPr id="16" name="Прямая со стрелкой 15"/>
          <p:cNvCxnSpPr/>
          <p:nvPr/>
        </p:nvCxnSpPr>
        <p:spPr>
          <a:xfrm rot="5400000" flipH="1" flipV="1">
            <a:off x="6858016" y="1643050"/>
            <a:ext cx="2000264" cy="171451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Скругленный прямоугольник 19"/>
          <p:cNvSpPr/>
          <p:nvPr/>
        </p:nvSpPr>
        <p:spPr>
          <a:xfrm>
            <a:off x="3428992" y="3357562"/>
            <a:ext cx="2214578" cy="107157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5" name="Прямая со стрелкой 24"/>
          <p:cNvCxnSpPr>
            <a:stCxn id="20" idx="1"/>
          </p:cNvCxnSpPr>
          <p:nvPr/>
        </p:nvCxnSpPr>
        <p:spPr>
          <a:xfrm rot="10800000" flipV="1">
            <a:off x="1428728" y="3893347"/>
            <a:ext cx="2000264" cy="32147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5715008" y="5072074"/>
            <a:ext cx="3428992" cy="2667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cxnSp>
        <p:nvCxnSpPr>
          <p:cNvPr id="36" name="Прямая со стрелкой 35"/>
          <p:cNvCxnSpPr/>
          <p:nvPr/>
        </p:nvCxnSpPr>
        <p:spPr>
          <a:xfrm rot="10800000" flipV="1">
            <a:off x="5072066" y="5214950"/>
            <a:ext cx="642942" cy="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17"/>
          <p:cNvSpPr/>
          <p:nvPr/>
        </p:nvSpPr>
        <p:spPr>
          <a:xfrm>
            <a:off x="0" y="571480"/>
            <a:ext cx="9144000" cy="52322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Здесь приведен только один из возможных шаблонов выполнения. Допускается размещать элементы программно или выводить информацию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другим способом (например, в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MessageBox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1400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2928934"/>
            <a:ext cx="9144000" cy="392906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Игра на событиях</a:t>
            </a:r>
            <a:r>
              <a:rPr lang="en-US" b="1" dirty="0" smtClean="0"/>
              <a:t> </a:t>
            </a:r>
            <a:r>
              <a:rPr lang="en-US" b="1" dirty="0" smtClean="0"/>
              <a:t>(</a:t>
            </a:r>
            <a:r>
              <a:rPr lang="ru-RU" b="1" dirty="0" smtClean="0"/>
              <a:t>Дополнительно</a:t>
            </a:r>
            <a:r>
              <a:rPr lang="en-US" b="1" dirty="0" smtClean="0"/>
              <a:t>)</a:t>
            </a:r>
            <a:endParaRPr lang="ru-RU" dirty="0"/>
          </a:p>
        </p:txBody>
      </p:sp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0" y="928670"/>
            <a:ext cx="9144000" cy="1631216"/>
          </a:xfrm>
          <a:prstGeom prst="rect">
            <a:avLst/>
          </a:prstGeom>
          <a:solidFill>
            <a:srgbClr val="F7F7FA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Можете разместить на форме несколько кнопок и у каждой прописать обработчик, который скрывает или показывает определенные кнопки. Тогда у игры </a:t>
            </a:r>
            <a:r>
              <a:rPr lang="ru-RU" sz="2000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будет одно верное решение.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2000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Можете добавить генератор случайных чисел или прописать общий обработчик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000628" y="4868741"/>
            <a:ext cx="414337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Решение у головоломки было такое: запомнить, какие переключатели стоят вертикально в начале уровня. Нажать все по очереди на те, которые были вертикально в самом начале.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97237"/>
            <a:ext cx="4539534" cy="2560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Прямая со стрелкой 7"/>
          <p:cNvCxnSpPr>
            <a:stCxn id="5" idx="1"/>
            <a:endCxn id="12" idx="3"/>
          </p:cNvCxnSpPr>
          <p:nvPr/>
        </p:nvCxnSpPr>
        <p:spPr>
          <a:xfrm rot="10800000" flipV="1">
            <a:off x="3571868" y="5607404"/>
            <a:ext cx="1428760" cy="148809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Скругленный прямоугольник 11"/>
          <p:cNvSpPr/>
          <p:nvPr/>
        </p:nvSpPr>
        <p:spPr>
          <a:xfrm>
            <a:off x="3000364" y="5440221"/>
            <a:ext cx="571504" cy="63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0" y="3297105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Одним из аналогов этой задачи является </a:t>
            </a:r>
            <a:r>
              <a:rPr lang="ru-RU" b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головоломка на холодильнике </a:t>
            </a:r>
            <a:r>
              <a:rPr lang="ru-RU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из </a:t>
            </a:r>
            <a:r>
              <a:rPr lang="ru-RU" dirty="0" err="1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игры-квеста</a:t>
            </a:r>
            <a:r>
              <a:rPr lang="ru-RU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«Братья Пилоты» (1997). Головоломка заключается в том, чтобы выставить все вентили-кнопки в горизонтальное положение.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286116" y="2857496"/>
            <a:ext cx="270516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Интересный факт</a:t>
            </a:r>
            <a:endParaRPr lang="ru-RU" sz="24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374</Words>
  <Application>Microsoft Office PowerPoint</Application>
  <PresentationFormat>Экран (4:3)</PresentationFormat>
  <Paragraphs>53</Paragraphs>
  <Slides>14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Тема Office</vt:lpstr>
      <vt:lpstr>Знакомство со средой разработки SharpDevelop</vt:lpstr>
      <vt:lpstr>Среда разработки</vt:lpstr>
      <vt:lpstr>Начало работы</vt:lpstr>
      <vt:lpstr>Задание 1</vt:lpstr>
      <vt:lpstr>Задание 1 Типы данных, Консольный ввод/вывод</vt:lpstr>
      <vt:lpstr>Задание 1 Примерный результат вычисления</vt:lpstr>
      <vt:lpstr>Задание 2 </vt:lpstr>
      <vt:lpstr>Задание 2 </vt:lpstr>
      <vt:lpstr>Задание 2</vt:lpstr>
      <vt:lpstr>Задание 2</vt:lpstr>
      <vt:lpstr>Задание 2 </vt:lpstr>
      <vt:lpstr>Задание 2 (б) </vt:lpstr>
      <vt:lpstr>Задание 3 </vt:lpstr>
      <vt:lpstr>Игра на событиях (Дополнительно)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Знакомство со средой разработки SharpDevelop</dc:title>
  <dc:creator>user</dc:creator>
  <cp:lastModifiedBy>user</cp:lastModifiedBy>
  <cp:revision>76</cp:revision>
  <dcterms:created xsi:type="dcterms:W3CDTF">2024-02-01T09:49:19Z</dcterms:created>
  <dcterms:modified xsi:type="dcterms:W3CDTF">2026-02-24T14:12:21Z</dcterms:modified>
</cp:coreProperties>
</file>