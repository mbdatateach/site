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75" d="100"/>
          <a:sy n="75" d="100"/>
        </p:scale>
        <p:origin x="-2580" y="-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abs-org.ru/c-sharp8_forms/?ysclid=m1v8m09hmy592617614" TargetMode="External"/><Relationship Id="rId2" Type="http://schemas.openxmlformats.org/officeDocument/2006/relationships/hyperlink" Target="https://ci-sharp.ru/obuchenie/osnovy/odnomernye-massivy-v-c-podrobnyj-gajd-i-primery/?ysclid=m1upi3n73m533342252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zombievdk.clan.su/news/urok_7_console_v_proekte_windows_forms/2016-07-07-33" TargetMode="External"/><Relationship Id="rId5" Type="http://schemas.openxmlformats.org/officeDocument/2006/relationships/hyperlink" Target="https://www.geeksforgeeks.org/passing-arrays-as-arguments-in-c-sharp/?ysclid=m2gamn3onq165133707" TargetMode="External"/><Relationship Id="rId4" Type="http://schemas.openxmlformats.org/officeDocument/2006/relationships/hyperlink" Target="https://proglib.io/p/rukovodstvo-po-s-dlya-nachinayushchih-massivy-i-cikl-foreach-2022-02-04?ysclid=m2gakgzws235240206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Введение в ООП: </a:t>
            </a:r>
            <a:r>
              <a:rPr lang="ru-RU" b="1" dirty="0" smtClean="0"/>
              <a:t>Массивы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5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563231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ru-RU" sz="2000" i="1" dirty="0" smtClean="0">
                <a:latin typeface="Cambria" pitchFamily="18" charset="0"/>
              </a:rPr>
              <a:t>Введение </a:t>
            </a:r>
            <a:r>
              <a:rPr lang="ru-RU" sz="2000" i="1" dirty="0" smtClean="0">
                <a:latin typeface="Cambria" pitchFamily="18" charset="0"/>
              </a:rPr>
              <a:t>в массивы</a:t>
            </a:r>
          </a:p>
          <a:p>
            <a:pPr fontAlgn="base"/>
            <a:r>
              <a:rPr lang="en-US" sz="2000" dirty="0" smtClean="0">
                <a:latin typeface="Cambria" pitchFamily="18" charset="0"/>
                <a:hlinkClick r:id="rId2"/>
              </a:rPr>
              <a:t>https://ci-sharp.ru/obuchenie/osnovy/odnomernye-massivy-v-c-podrobnyj-gajd-i-primery/?ysclid=m1upi3n73m533342252</a:t>
            </a:r>
            <a:endParaRPr lang="ru-RU" sz="2000" dirty="0" smtClean="0">
              <a:latin typeface="Cambria" pitchFamily="18" charset="0"/>
            </a:endParaRPr>
          </a:p>
          <a:p>
            <a:pPr algn="just"/>
            <a:endParaRPr lang="en-US" sz="2000" dirty="0" smtClean="0">
              <a:latin typeface="Cambria" pitchFamily="18" charset="0"/>
            </a:endParaRPr>
          </a:p>
          <a:p>
            <a:r>
              <a:rPr lang="en-US" sz="2000" i="1" dirty="0" err="1" smtClean="0">
                <a:latin typeface="Cambria" pitchFamily="18" charset="0"/>
              </a:rPr>
              <a:t>Урок</a:t>
            </a:r>
            <a:r>
              <a:rPr lang="en-US" sz="2000" i="1" dirty="0" smtClean="0">
                <a:latin typeface="Cambria" pitchFamily="18" charset="0"/>
              </a:rPr>
              <a:t> 8 (windows forms). </a:t>
            </a:r>
            <a:r>
              <a:rPr lang="en-US" sz="2000" i="1" dirty="0" err="1" smtClean="0">
                <a:latin typeface="Cambria" pitchFamily="18" charset="0"/>
              </a:rPr>
              <a:t>Массивы</a:t>
            </a:r>
            <a:endParaRPr lang="en-US" sz="2000" i="1" dirty="0" smtClean="0">
              <a:latin typeface="Cambria" pitchFamily="18" charset="0"/>
            </a:endParaRPr>
          </a:p>
          <a:p>
            <a:pPr algn="just"/>
            <a:r>
              <a:rPr lang="en-US" sz="2000" dirty="0" smtClean="0">
                <a:latin typeface="Cambria" pitchFamily="18" charset="0"/>
                <a:hlinkClick r:id="rId3"/>
              </a:rPr>
              <a:t>https://labs-org.ru/c-sharp8_forms/?</a:t>
            </a:r>
            <a:r>
              <a:rPr lang="en-US" sz="2000" dirty="0" smtClean="0">
                <a:latin typeface="Cambria" pitchFamily="18" charset="0"/>
                <a:hlinkClick r:id="rId3"/>
              </a:rPr>
              <a:t>ysclid=m1v8m09hmy592617614</a:t>
            </a:r>
            <a:endParaRPr lang="ru-RU" sz="2000" dirty="0" smtClean="0">
              <a:latin typeface="Cambria" pitchFamily="18" charset="0"/>
            </a:endParaRPr>
          </a:p>
          <a:p>
            <a:pPr algn="just"/>
            <a:endParaRPr lang="ru-RU" sz="2000" i="1" dirty="0" smtClean="0">
              <a:latin typeface="Cambria" pitchFamily="18" charset="0"/>
            </a:endParaRPr>
          </a:p>
          <a:p>
            <a:r>
              <a:rPr lang="ru-RU" sz="2000" i="1" dirty="0" smtClean="0">
                <a:latin typeface="Cambria" pitchFamily="18" charset="0"/>
              </a:rPr>
              <a:t>массивы и цикл </a:t>
            </a:r>
            <a:r>
              <a:rPr lang="en-US" sz="2000" i="1" dirty="0" err="1" smtClean="0">
                <a:latin typeface="Cambria" pitchFamily="18" charset="0"/>
              </a:rPr>
              <a:t>foreach</a:t>
            </a:r>
            <a:endParaRPr lang="en-US" sz="2000" i="1" dirty="0" smtClean="0">
              <a:latin typeface="Cambria" pitchFamily="18" charset="0"/>
            </a:endParaRPr>
          </a:p>
          <a:p>
            <a:pPr fontAlgn="base"/>
            <a:r>
              <a:rPr lang="en-US" sz="2000" dirty="0" smtClean="0">
                <a:latin typeface="Cambria" pitchFamily="18" charset="0"/>
                <a:hlinkClick r:id="rId4"/>
              </a:rPr>
              <a:t>https://proglib.io/p/rukovodstvo-po-s-dlya-nachinayushchih-massivy-i-cikl-foreach-2022-02-04?ysclid=m2gakgzws2352402063</a:t>
            </a:r>
            <a:endParaRPr lang="ru-RU" sz="2000" dirty="0" smtClean="0">
              <a:latin typeface="Cambria" pitchFamily="18" charset="0"/>
            </a:endParaRPr>
          </a:p>
          <a:p>
            <a:pPr fontAlgn="base"/>
            <a:endParaRPr lang="ru-RU" sz="2000" dirty="0" smtClean="0">
              <a:latin typeface="Cambria" pitchFamily="18" charset="0"/>
            </a:endParaRPr>
          </a:p>
          <a:p>
            <a:pPr fontAlgn="base"/>
            <a:r>
              <a:rPr lang="en-US" sz="2000" i="1" dirty="0" smtClean="0">
                <a:latin typeface="Cambria" pitchFamily="18" charset="0"/>
              </a:rPr>
              <a:t>Passing arrays as arguments in C#</a:t>
            </a:r>
          </a:p>
          <a:p>
            <a:pPr fontAlgn="base"/>
            <a:r>
              <a:rPr lang="en-US" sz="2000" dirty="0" smtClean="0">
                <a:latin typeface="Cambria" pitchFamily="18" charset="0"/>
                <a:hlinkClick r:id="rId5"/>
              </a:rPr>
              <a:t>https://www.geeksforgeeks.org/passing-arrays-as-arguments-in-c-sharp/?ysclid=m2gamn3onq165133707</a:t>
            </a:r>
            <a:endParaRPr lang="en-US" sz="2000" dirty="0" smtClean="0">
              <a:latin typeface="Cambria" pitchFamily="18" charset="0"/>
            </a:endParaRPr>
          </a:p>
          <a:p>
            <a:pPr fontAlgn="base"/>
            <a:endParaRPr lang="en-US" sz="2000" dirty="0" smtClean="0">
              <a:latin typeface="Cambria" pitchFamily="18" charset="0"/>
            </a:endParaRPr>
          </a:p>
          <a:p>
            <a:r>
              <a:rPr lang="ru-RU" sz="2000" i="1" dirty="0" smtClean="0">
                <a:latin typeface="Cambria" pitchFamily="18" charset="0"/>
              </a:rPr>
              <a:t>Урок №7 - </a:t>
            </a:r>
            <a:r>
              <a:rPr lang="en-US" sz="2000" i="1" dirty="0" smtClean="0">
                <a:latin typeface="Cambria" pitchFamily="18" charset="0"/>
              </a:rPr>
              <a:t>Console </a:t>
            </a:r>
            <a:r>
              <a:rPr lang="ru-RU" sz="2000" i="1" dirty="0" smtClean="0">
                <a:latin typeface="Cambria" pitchFamily="18" charset="0"/>
              </a:rPr>
              <a:t>в проекте </a:t>
            </a:r>
            <a:r>
              <a:rPr lang="en-US" sz="2000" i="1" dirty="0" smtClean="0">
                <a:latin typeface="Cambria" pitchFamily="18" charset="0"/>
              </a:rPr>
              <a:t>Windows Forms</a:t>
            </a:r>
          </a:p>
          <a:p>
            <a:r>
              <a:rPr lang="en-US" sz="2000" dirty="0" smtClean="0">
                <a:latin typeface="Cambria" pitchFamily="18" charset="0"/>
                <a:hlinkClick r:id="rId6"/>
              </a:rPr>
              <a:t>https://</a:t>
            </a:r>
            <a:r>
              <a:rPr lang="en-US" sz="2000" dirty="0" smtClean="0">
                <a:latin typeface="Cambria" pitchFamily="18" charset="0"/>
                <a:hlinkClick r:id="rId6"/>
              </a:rPr>
              <a:t>zombievdk.clan.su/news/urok_7_console_v_proekte_windows_forms/2016-07-07-33</a:t>
            </a:r>
            <a:endParaRPr lang="ru-RU" sz="2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42844" y="4857760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</a:t>
            </a:r>
            <a:endParaRPr lang="ru-RU" sz="2000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00174"/>
            <a:ext cx="3357586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Прямоугольник 21"/>
          <p:cNvSpPr/>
          <p:nvPr/>
        </p:nvSpPr>
        <p:spPr>
          <a:xfrm>
            <a:off x="4857752" y="5286388"/>
            <a:ext cx="48577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класса</a:t>
            </a:r>
            <a:endParaRPr lang="ru-RU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88541" y="1000108"/>
            <a:ext cx="5455459" cy="43386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 rot="10800000">
            <a:off x="2285984" y="3143248"/>
            <a:ext cx="1714512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rot="10800000" flipV="1">
            <a:off x="928662" y="3857628"/>
            <a:ext cx="3071834" cy="7143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0" y="5780782"/>
            <a:ext cx="4572000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Доступ 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переменным возможен только внутри одного и того же класса. Иногда нужно получить к ним доступ вне класса — это можно сделать с помощью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методов.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" name="Прямая со стрелкой 14"/>
          <p:cNvCxnSpPr>
            <a:stCxn id="14" idx="0"/>
          </p:cNvCxnSpPr>
          <p:nvPr/>
        </p:nvCxnSpPr>
        <p:spPr>
          <a:xfrm rot="5400000" flipH="1" flipV="1">
            <a:off x="3110365" y="3819081"/>
            <a:ext cx="1137336" cy="2786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rot="16200000" flipV="1">
            <a:off x="4929190" y="5143512"/>
            <a:ext cx="1143008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4643438" y="5786454"/>
            <a:ext cx="4500562" cy="95410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Например, в этом конкретном случае можно сбрасывать переменные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answer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answer_ish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(присвоив им значение =""). Это позволит перезапускать программу несколько раз с новыми данными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1804829"/>
            <a:ext cx="4738682" cy="212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 rot="5400000" flipH="1" flipV="1">
            <a:off x="4643438" y="3500440"/>
            <a:ext cx="928695" cy="78581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2285984" y="4357694"/>
            <a:ext cx="4786314" cy="17543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Генерация чисел в заданном диапазоне (от 10, до 20)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solidFill>
                  <a:srgbClr val="008000"/>
                </a:solidFill>
                <a:latin typeface="Courier New"/>
              </a:rPr>
              <a:t>+</a:t>
            </a:r>
            <a:r>
              <a:rPr lang="en-US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Courier New"/>
              </a:rPr>
              <a:t>Math.Round</a:t>
            </a:r>
            <a:r>
              <a:rPr lang="en-US" dirty="0" smtClean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dirty="0" err="1" smtClean="0">
                <a:solidFill>
                  <a:srgbClr val="000000"/>
                </a:solidFill>
                <a:latin typeface="Courier New"/>
              </a:rPr>
              <a:t>rand.NextDouble</a:t>
            </a:r>
            <a:r>
              <a:rPr lang="en-US" dirty="0" smtClean="0">
                <a:solidFill>
                  <a:srgbClr val="000000"/>
                </a:solidFill>
                <a:latin typeface="Courier New"/>
              </a:rPr>
              <a:t>(),2)</a:t>
            </a:r>
            <a:r>
              <a:rPr lang="ru-RU" dirty="0" smtClean="0">
                <a:solidFill>
                  <a:srgbClr val="008000"/>
                </a:solidFill>
                <a:latin typeface="Courier New"/>
              </a:rPr>
              <a:t> //работа с вещественными числами</a:t>
            </a:r>
            <a:r>
              <a:rPr lang="en-US" dirty="0" smtClean="0">
                <a:solidFill>
                  <a:srgbClr val="008000"/>
                </a:solidFill>
                <a:latin typeface="Courier New"/>
              </a:rPr>
              <a:t> (</a:t>
            </a:r>
            <a:r>
              <a:rPr lang="ru-RU" dirty="0" smtClean="0">
                <a:solidFill>
                  <a:srgbClr val="008000"/>
                </a:solidFill>
                <a:latin typeface="Courier New"/>
              </a:rPr>
              <a:t>два знака после запятой</a:t>
            </a:r>
            <a:r>
              <a:rPr lang="en-US" dirty="0" smtClean="0">
                <a:solidFill>
                  <a:srgbClr val="008000"/>
                </a:solidFill>
                <a:latin typeface="Courier New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rot="5400000">
            <a:off x="4857752" y="1714488"/>
            <a:ext cx="1071570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2928926" y="928670"/>
            <a:ext cx="3786214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Необходимый для генерации объект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ru-RU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85860"/>
            <a:ext cx="3786182" cy="3786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357158" y="5143512"/>
            <a:ext cx="30003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</a:t>
            </a:r>
            <a:endParaRPr lang="ru-RU" sz="20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744" y="3357562"/>
            <a:ext cx="5429256" cy="138260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>
            <a:stCxn id="3075" idx="0"/>
          </p:cNvCxnSpPr>
          <p:nvPr/>
        </p:nvCxnSpPr>
        <p:spPr>
          <a:xfrm rot="16200000" flipV="1">
            <a:off x="4071926" y="1000116"/>
            <a:ext cx="1000132" cy="37147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3075" idx="0"/>
          </p:cNvCxnSpPr>
          <p:nvPr/>
        </p:nvCxnSpPr>
        <p:spPr>
          <a:xfrm rot="5400000" flipH="1" flipV="1">
            <a:off x="5786438" y="2714612"/>
            <a:ext cx="1285884" cy="1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4572000" y="1425347"/>
            <a:ext cx="3786214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Считать из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TextBox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информацию через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пробел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занести ее в массив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4000464" y="4786322"/>
            <a:ext cx="51435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Этот код можно поместить в конструктор класса (считывать информацию в массив из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TextBox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textBox1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ru-RU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071670" y="4243336"/>
            <a:ext cx="30003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Основной класс</a:t>
            </a:r>
            <a:endParaRPr lang="ru-RU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857232"/>
            <a:ext cx="6848475" cy="3476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43275" y="4752971"/>
            <a:ext cx="5800725" cy="1533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>
            <a:off x="2786050" y="2285992"/>
            <a:ext cx="5715040" cy="307183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4714876" y="6286520"/>
            <a:ext cx="35719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Инициализация в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WinForms</a:t>
            </a:r>
            <a:endParaRPr lang="ru-RU" sz="200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0" y="4857760"/>
            <a:ext cx="3071802" cy="160043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При выходе из метода в C# объект, лежащий в стеке, становится доступным для сборки мусора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 Однако сама сборка не происходит сразу же, поэтому объект может просуществовать ещё какое-то неопределённое время.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Прямая со стрелкой 22"/>
          <p:cNvCxnSpPr>
            <a:stCxn id="21" idx="3"/>
          </p:cNvCxnSpPr>
          <p:nvPr/>
        </p:nvCxnSpPr>
        <p:spPr>
          <a:xfrm flipV="1">
            <a:off x="3071802" y="5500702"/>
            <a:ext cx="785818" cy="15727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3148027"/>
            <a:ext cx="9144001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715008" y="1928802"/>
            <a:ext cx="3428992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Функция возвращает одномерный массив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типа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double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28" y="3571876"/>
            <a:ext cx="3405183" cy="10001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0" y="785794"/>
            <a:ext cx="5643538" cy="17543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того чтобы воспользоваться массивом в программе, требуется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двухэтапная процедура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Во-первых, необходимо объявить переменную, которая может обращаться к массиву. И во-вторых, нужно создать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экземпляр массива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(объект), используя оператор </a:t>
            </a:r>
            <a:r>
              <a:rPr lang="ru-RU" b="1" i="1" dirty="0" err="1" smtClean="0">
                <a:latin typeface="Times New Roman" pitchFamily="18" charset="0"/>
                <a:cs typeface="Times New Roman" pitchFamily="18" charset="0"/>
              </a:rPr>
              <a:t>new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Прямая со стрелкой 16"/>
          <p:cNvCxnSpPr>
            <a:stCxn id="16" idx="2"/>
          </p:cNvCxnSpPr>
          <p:nvPr/>
        </p:nvCxnSpPr>
        <p:spPr>
          <a:xfrm rot="5400000">
            <a:off x="1752247" y="2145164"/>
            <a:ext cx="674567" cy="146447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11" idx="2"/>
          </p:cNvCxnSpPr>
          <p:nvPr/>
        </p:nvCxnSpPr>
        <p:spPr>
          <a:xfrm rot="5400000">
            <a:off x="6181048" y="2394857"/>
            <a:ext cx="1068180" cy="14287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2500298" y="3286125"/>
            <a:ext cx="5143536" cy="28575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2: </a:t>
            </a:r>
            <a:r>
              <a:rPr lang="ru-RU" b="1" dirty="0" smtClean="0"/>
              <a:t>Подключение консоли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71480"/>
            <a:ext cx="9144000" cy="34163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        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void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consondeb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        {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            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NativeMethods.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AllocConsole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()) {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                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IntPtr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stdHandle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NativeMethods.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GetStdHandle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NativeMethods.</a:t>
            </a:r>
            <a:r>
              <a:rPr lang="en-US" i="1" dirty="0" err="1" smtClean="0">
                <a:latin typeface="Courier New" pitchFamily="49" charset="0"/>
                <a:cs typeface="Courier New" pitchFamily="49" charset="0"/>
              </a:rPr>
              <a:t>STD_OUTPUT_HANDLE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);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                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Console.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WriteLine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Запуск консоли");</a:t>
            </a:r>
            <a:br>
              <a:rPr lang="ru-RU" dirty="0" smtClean="0">
                <a:latin typeface="Courier New" pitchFamily="49" charset="0"/>
                <a:cs typeface="Courier New" pitchFamily="49" charset="0"/>
              </a:rPr>
            </a:br>
            <a:r>
              <a:rPr lang="ru-RU" dirty="0" smtClean="0">
                <a:latin typeface="Courier New" pitchFamily="49" charset="0"/>
                <a:cs typeface="Courier New" pitchFamily="49" charset="0"/>
              </a:rPr>
              <a:t>            }</a:t>
            </a:r>
            <a:br>
              <a:rPr lang="ru-RU" dirty="0" smtClean="0">
                <a:latin typeface="Courier New" pitchFamily="49" charset="0"/>
                <a:cs typeface="Courier New" pitchFamily="49" charset="0"/>
              </a:rPr>
            </a:br>
            <a:r>
              <a:rPr lang="ru-RU" dirty="0" smtClean="0">
                <a:latin typeface="Courier New" pitchFamily="49" charset="0"/>
                <a:cs typeface="Courier New" pitchFamily="49" charset="0"/>
              </a:rPr>
              <a:t>            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            {</a:t>
            </a:r>
            <a:br>
              <a:rPr lang="en-US" dirty="0" smtClean="0">
                <a:latin typeface="Courier New" pitchFamily="49" charset="0"/>
                <a:cs typeface="Courier New" pitchFamily="49" charset="0"/>
              </a:rPr>
            </a:br>
            <a:r>
              <a:rPr lang="en-US" dirty="0" smtClean="0">
                <a:latin typeface="Courier New" pitchFamily="49" charset="0"/>
                <a:cs typeface="Courier New" pitchFamily="49" charset="0"/>
              </a:rPr>
              <a:t>                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Console.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WriteLine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("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Консоль Активна!");</a:t>
            </a:r>
            <a:br>
              <a:rPr lang="ru-RU" dirty="0" smtClean="0">
                <a:latin typeface="Courier New" pitchFamily="49" charset="0"/>
                <a:cs typeface="Courier New" pitchFamily="49" charset="0"/>
              </a:rPr>
            </a:br>
            <a:r>
              <a:rPr lang="ru-RU" dirty="0" smtClean="0">
                <a:latin typeface="Courier New" pitchFamily="49" charset="0"/>
                <a:cs typeface="Courier New" pitchFamily="49" charset="0"/>
              </a:rPr>
              <a:t>            }</a:t>
            </a:r>
            <a:br>
              <a:rPr lang="ru-RU" dirty="0" smtClean="0">
                <a:latin typeface="Courier New" pitchFamily="49" charset="0"/>
                <a:cs typeface="Courier New" pitchFamily="49" charset="0"/>
              </a:rPr>
            </a:br>
            <a:r>
              <a:rPr lang="ru-RU" dirty="0" smtClean="0">
                <a:latin typeface="Courier New" pitchFamily="49" charset="0"/>
                <a:cs typeface="Courier New" pitchFamily="49" charset="0"/>
              </a:rPr>
              <a:t>        }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4519064"/>
            <a:ext cx="9144000" cy="13388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900" b="1" dirty="0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partial class 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NativeMethods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9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        {</a:t>
            </a:r>
            <a:br>
              <a:rPr lang="en-US" sz="9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            </a:t>
            </a:r>
            <a:r>
              <a:rPr lang="en-US" sz="900" b="1" dirty="0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static </a:t>
            </a:r>
            <a:r>
              <a:rPr lang="en-US" sz="900" b="1" dirty="0" smtClean="0">
                <a:latin typeface="Courier New" pitchFamily="49" charset="0"/>
                <a:cs typeface="Courier New" pitchFamily="49" charset="0"/>
              </a:rPr>
              <a:t>Int32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i="1" dirty="0" smtClean="0">
                <a:latin typeface="Courier New" pitchFamily="49" charset="0"/>
                <a:cs typeface="Courier New" pitchFamily="49" charset="0"/>
              </a:rPr>
              <a:t>STD_OUTPUT_HANDLE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= -11;</a:t>
            </a:r>
            <a:br>
              <a:rPr lang="en-US" sz="9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            [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System.Runtime.InteropServices.DllImportAttribute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("kernel32.dll", 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EntryPoint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GetStdHandle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")]</a:t>
            </a:r>
            <a:br>
              <a:rPr lang="en-US" sz="9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            </a:t>
            </a:r>
            <a:r>
              <a:rPr lang="en-US" sz="900" b="1" dirty="0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static extern 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System.</a:t>
            </a:r>
            <a:r>
              <a:rPr lang="en-US" sz="900" b="1" dirty="0" err="1" smtClean="0">
                <a:latin typeface="Courier New" pitchFamily="49" charset="0"/>
                <a:cs typeface="Courier New" pitchFamily="49" charset="0"/>
              </a:rPr>
              <a:t>IntPtr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b="1" dirty="0" err="1" smtClean="0">
                <a:latin typeface="Courier New" pitchFamily="49" charset="0"/>
                <a:cs typeface="Courier New" pitchFamily="49" charset="0"/>
              </a:rPr>
              <a:t>GetStdHandle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900" b="1" dirty="0" smtClean="0">
                <a:latin typeface="Courier New" pitchFamily="49" charset="0"/>
                <a:cs typeface="Courier New" pitchFamily="49" charset="0"/>
              </a:rPr>
              <a:t>Int32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nStdHandle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);</a:t>
            </a:r>
            <a:br>
              <a:rPr lang="en-US" sz="9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            [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System.Runtime.InteropServices.DllImportAttribute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("kernel32.dll", 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EntryPoint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= "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AllocConsole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")]</a:t>
            </a:r>
            <a:br>
              <a:rPr lang="en-US" sz="9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            [return: 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System.Runtime.InteropServices.MarshalAsAttribute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System.Runtime.InteropServices.</a:t>
            </a:r>
            <a:r>
              <a:rPr lang="en-US" sz="900" b="1" dirty="0" err="1" smtClean="0">
                <a:latin typeface="Courier New" pitchFamily="49" charset="0"/>
                <a:cs typeface="Courier New" pitchFamily="49" charset="0"/>
              </a:rPr>
              <a:t>UnmanagedType</a:t>
            </a:r>
            <a:r>
              <a:rPr lang="en-US" sz="900" dirty="0" err="1" smtClean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sz="900" i="1" dirty="0" err="1" smtClean="0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)]</a:t>
            </a:r>
            <a:br>
              <a:rPr lang="en-US" sz="9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            </a:t>
            </a:r>
            <a:r>
              <a:rPr lang="en-US" sz="900" b="1" dirty="0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static extern </a:t>
            </a:r>
            <a:r>
              <a:rPr lang="en-US" sz="900" b="1" dirty="0" err="1" smtClean="0">
                <a:latin typeface="Courier New" pitchFamily="49" charset="0"/>
                <a:cs typeface="Courier New" pitchFamily="49" charset="0"/>
              </a:rPr>
              <a:t>bool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b="1" dirty="0" err="1" smtClean="0">
                <a:latin typeface="Courier New" pitchFamily="49" charset="0"/>
                <a:cs typeface="Courier New" pitchFamily="49" charset="0"/>
              </a:rPr>
              <a:t>AllocConsole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sz="9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        }</a:t>
            </a:r>
            <a:endParaRPr lang="ru-RU" sz="9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86050" y="4000504"/>
            <a:ext cx="35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Функция для вызова консоли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0" y="5857892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Этот класс предназначен для использования внутри других классов, обеспечивая доступ к специфическим API или другим функциональным возможностям.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086792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Задание </a:t>
            </a:r>
            <a:r>
              <a:rPr lang="en-US" b="1" dirty="0" smtClean="0"/>
              <a:t>2: </a:t>
            </a:r>
            <a:r>
              <a:rPr lang="ru-RU" b="1" dirty="0" smtClean="0"/>
              <a:t>Расположение класса консоли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428736"/>
            <a:ext cx="7715250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357298"/>
            <a:ext cx="6003584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2: </a:t>
            </a:r>
            <a:r>
              <a:rPr lang="ru-RU" b="1" dirty="0" smtClean="0"/>
              <a:t>Внешний вид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142976" y="5000636"/>
            <a:ext cx="35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Примерный интерфейс задания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Прямая со стрелкой 6"/>
          <p:cNvCxnSpPr/>
          <p:nvPr/>
        </p:nvCxnSpPr>
        <p:spPr>
          <a:xfrm rot="10800000">
            <a:off x="2357422" y="2143116"/>
            <a:ext cx="3643338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6000760" y="3500438"/>
            <a:ext cx="314324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consondeb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14356"/>
            <a:ext cx="9144000" cy="29908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86050" y="4071942"/>
            <a:ext cx="3562350" cy="4191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>
            <a:stCxn id="10" idx="0"/>
          </p:cNvCxnSpPr>
          <p:nvPr/>
        </p:nvCxnSpPr>
        <p:spPr>
          <a:xfrm rot="16200000" flipV="1">
            <a:off x="5250653" y="3964793"/>
            <a:ext cx="1714512" cy="235743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5715008" y="6000768"/>
            <a:ext cx="314324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Элемент находится на побочной диагонали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71472" y="6000768"/>
            <a:ext cx="314324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Элемент находится на главной диагонали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>
            <a:stCxn id="13" idx="0"/>
          </p:cNvCxnSpPr>
          <p:nvPr/>
        </p:nvCxnSpPr>
        <p:spPr>
          <a:xfrm rot="5400000" flipH="1" flipV="1">
            <a:off x="1928786" y="4500562"/>
            <a:ext cx="1714512" cy="12859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00694" y="500042"/>
            <a:ext cx="3429000" cy="9525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304</Words>
  <Application>Microsoft Office PowerPoint</Application>
  <PresentationFormat>Экран (4:3)</PresentationFormat>
  <Paragraphs>50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Введение в ООП: Массивы</vt:lpstr>
      <vt:lpstr>Дополнительные материалы</vt:lpstr>
      <vt:lpstr>Задание 1 </vt:lpstr>
      <vt:lpstr>Задание 1 </vt:lpstr>
      <vt:lpstr>Задание 1 </vt:lpstr>
      <vt:lpstr>Задание 1 </vt:lpstr>
      <vt:lpstr>Задание 1 </vt:lpstr>
      <vt:lpstr>Задание 2: Подключение консоли </vt:lpstr>
      <vt:lpstr> Задание 2: Расположение класса консоли </vt:lpstr>
      <vt:lpstr>Задание 2: Внешний вид </vt:lpstr>
      <vt:lpstr>Задание 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ООП: Одномерные массивы</dc:title>
  <dc:creator>user</dc:creator>
  <cp:lastModifiedBy>user</cp:lastModifiedBy>
  <cp:revision>96</cp:revision>
  <dcterms:created xsi:type="dcterms:W3CDTF">2024-02-01T09:49:19Z</dcterms:created>
  <dcterms:modified xsi:type="dcterms:W3CDTF">2026-03-25T15:44:33Z</dcterms:modified>
</cp:coreProperties>
</file>