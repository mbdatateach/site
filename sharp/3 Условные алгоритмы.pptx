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79" r:id="rId4"/>
    <p:sldId id="285" r:id="rId5"/>
    <p:sldId id="286" r:id="rId6"/>
    <p:sldId id="287" r:id="rId7"/>
    <p:sldId id="288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860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3.45.php?ysclid=m52kcz7jei165648356" TargetMode="External"/><Relationship Id="rId7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2" Type="http://schemas.openxmlformats.org/officeDocument/2006/relationships/hyperlink" Target="https://metanit.com/sharp/tutorial/3.1.php?ysclid=m51c7uxcnt757303497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metanit.com/sharp/tutorial/20.2.php?ysclid=m1c4t75sz6218180615" TargetMode="External"/><Relationship Id="rId5" Type="http://schemas.openxmlformats.org/officeDocument/2006/relationships/hyperlink" Target="https://metanit.com/sharp/tutorial/2.6.php?ysclid=m1nf82z3i3333863072" TargetMode="External"/><Relationship Id="rId4" Type="http://schemas.openxmlformats.org/officeDocument/2006/relationships/hyperlink" Target="https://metanit.com/sharp/tutorial/2.5.ph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Введение в ООП: Программирование алгоритмов разветвляющихся структур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3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895629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Классы и объекты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https://metanit.com/sharp/tutorial/3.1.php?ysclid=m51c7uxcnt757303497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Конструкция </a:t>
            </a:r>
            <a:r>
              <a:rPr lang="en-US" sz="2400" i="1" dirty="0" smtClean="0">
                <a:latin typeface="Cambria" pitchFamily="18" charset="0"/>
              </a:rPr>
              <a:t>switch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https://metanit.com/sharp/tutorial/3.45.php?ysclid=m52kcz7jei165648356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Конструкция </a:t>
            </a:r>
            <a:r>
              <a:rPr lang="ru-RU" sz="2400" i="1" dirty="0" err="1" smtClean="0">
                <a:latin typeface="Cambria" pitchFamily="18" charset="0"/>
              </a:rPr>
              <a:t>if</a:t>
            </a:r>
            <a:r>
              <a:rPr lang="ru-RU" sz="2400" i="1" dirty="0" smtClean="0">
                <a:latin typeface="Cambria" pitchFamily="18" charset="0"/>
              </a:rPr>
              <a:t>..</a:t>
            </a:r>
            <a:r>
              <a:rPr lang="ru-RU" sz="2400" i="1" dirty="0" err="1" smtClean="0">
                <a:latin typeface="Cambria" pitchFamily="18" charset="0"/>
              </a:rPr>
              <a:t>else</a:t>
            </a:r>
            <a:r>
              <a:rPr lang="ru-RU" sz="2400" i="1" dirty="0" smtClean="0">
                <a:latin typeface="Cambria" pitchFamily="18" charset="0"/>
              </a:rPr>
              <a:t> и тернарная операция</a:t>
            </a:r>
          </a:p>
          <a:p>
            <a:pPr fontAlgn="base"/>
            <a:r>
              <a:rPr lang="en-US" sz="2400" b="1" dirty="0" smtClean="0">
                <a:latin typeface="Cambria" pitchFamily="18" charset="0"/>
                <a:hlinkClick r:id="rId4"/>
              </a:rPr>
              <a:t>https://metanit.com/sharp/tutorial/2.5.php</a:t>
            </a:r>
            <a:endParaRPr lang="en-US" sz="2400" b="1" dirty="0" smtClean="0">
              <a:latin typeface="Cambria" pitchFamily="18" charset="0"/>
              <a:hlinkClick r:id="rId5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6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7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500174"/>
            <a:ext cx="4214842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Скругленный прямоугольник 13"/>
          <p:cNvSpPr/>
          <p:nvPr/>
        </p:nvSpPr>
        <p:spPr>
          <a:xfrm>
            <a:off x="1357290" y="2714620"/>
            <a:ext cx="1643074" cy="5715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14" idx="3"/>
          </p:cNvCxnSpPr>
          <p:nvPr/>
        </p:nvCxnSpPr>
        <p:spPr>
          <a:xfrm rot="10800000" flipV="1">
            <a:off x="3000364" y="1785924"/>
            <a:ext cx="2571768" cy="12144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rot="10800000">
            <a:off x="5572132" y="1785926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5357818" y="785794"/>
            <a:ext cx="3143272" cy="10001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5357818" y="857232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Количество входных полей зависит от задания</a:t>
            </a:r>
            <a:endParaRPr lang="ru-RU" sz="20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642910" y="5643578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0" y="1142984"/>
            <a:ext cx="4071934" cy="107157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390775"/>
            <a:ext cx="55911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Скругленный прямоугольник 10"/>
          <p:cNvSpPr/>
          <p:nvPr/>
        </p:nvSpPr>
        <p:spPr>
          <a:xfrm>
            <a:off x="642910" y="2747965"/>
            <a:ext cx="2143140" cy="5715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/>
          <p:cNvCxnSpPr>
            <a:endCxn id="11" idx="3"/>
          </p:cNvCxnSpPr>
          <p:nvPr/>
        </p:nvCxnSpPr>
        <p:spPr>
          <a:xfrm rot="10800000" flipV="1">
            <a:off x="2786050" y="2462213"/>
            <a:ext cx="3357586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Скругленный прямоугольник 20"/>
          <p:cNvSpPr/>
          <p:nvPr/>
        </p:nvSpPr>
        <p:spPr>
          <a:xfrm>
            <a:off x="642910" y="3890973"/>
            <a:ext cx="5429288" cy="26432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4572000" y="174783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Поля класса</a:t>
            </a:r>
            <a:r>
              <a:rPr lang="ru-RU" dirty="0" smtClean="0">
                <a:latin typeface="Cambria" pitchFamily="18" charset="0"/>
              </a:rPr>
              <a:t> — это данные, содержащиеся внутри класса.</a:t>
            </a:r>
          </a:p>
        </p:txBody>
      </p:sp>
      <p:cxnSp>
        <p:nvCxnSpPr>
          <p:cNvPr id="23" name="Прямая со стрелкой 22"/>
          <p:cNvCxnSpPr/>
          <p:nvPr/>
        </p:nvCxnSpPr>
        <p:spPr>
          <a:xfrm rot="10800000" flipV="1">
            <a:off x="6072198" y="4929198"/>
            <a:ext cx="571504" cy="39053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6143668" y="4005868"/>
            <a:ext cx="30003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Методы класса </a:t>
            </a:r>
            <a:r>
              <a:rPr lang="ru-RU" dirty="0" smtClean="0">
                <a:latin typeface="Cambria" pitchFamily="18" charset="0"/>
              </a:rPr>
              <a:t>— это функции, входящие в состав класса.</a:t>
            </a:r>
            <a:endParaRPr lang="ru-RU" dirty="0">
              <a:latin typeface="Cambria" pitchFamily="18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0" y="1071546"/>
            <a:ext cx="40719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Класс </a:t>
            </a:r>
            <a:r>
              <a:rPr lang="ru-RU" dirty="0" smtClean="0">
                <a:latin typeface="Cambria" pitchFamily="18" charset="0"/>
              </a:rPr>
              <a:t>—</a:t>
            </a:r>
            <a:r>
              <a:rPr lang="ru-RU" b="1" dirty="0" smtClean="0">
                <a:latin typeface="Cambria" pitchFamily="18" charset="0"/>
              </a:rPr>
              <a:t> </a:t>
            </a:r>
            <a:r>
              <a:rPr lang="ru-RU" dirty="0" smtClean="0">
                <a:latin typeface="Cambria" pitchFamily="18" charset="0"/>
              </a:rPr>
              <a:t>это абстракция, описывающая свойства и методы ещё не существующих объектов (пользовательский тип данных).</a:t>
            </a:r>
          </a:p>
        </p:txBody>
      </p:sp>
      <p:cxnSp>
        <p:nvCxnSpPr>
          <p:cNvPr id="28" name="Прямая со стрелкой 27"/>
          <p:cNvCxnSpPr/>
          <p:nvPr/>
        </p:nvCxnSpPr>
        <p:spPr>
          <a:xfrm rot="10800000" flipV="1">
            <a:off x="3000364" y="3357562"/>
            <a:ext cx="571504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3571868" y="2862860"/>
            <a:ext cx="52149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Конструктор</a:t>
            </a:r>
            <a:r>
              <a:rPr lang="ru-RU" dirty="0" smtClean="0">
                <a:latin typeface="Cambria" pitchFamily="18" charset="0"/>
              </a:rPr>
              <a:t> вызывается при создании объекта класса и может использоваться для инициализации начальных значений полей.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428868"/>
            <a:ext cx="5927876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Скругленный прямоугольник 32"/>
          <p:cNvSpPr/>
          <p:nvPr/>
        </p:nvSpPr>
        <p:spPr>
          <a:xfrm>
            <a:off x="0" y="2357430"/>
            <a:ext cx="3571868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Прямая со стрелкой 33"/>
          <p:cNvCxnSpPr>
            <a:stCxn id="43" idx="2"/>
            <a:endCxn id="40" idx="3"/>
          </p:cNvCxnSpPr>
          <p:nvPr/>
        </p:nvCxnSpPr>
        <p:spPr>
          <a:xfrm rot="5400000">
            <a:off x="5672223" y="2457537"/>
            <a:ext cx="1264282" cy="203596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1571604" y="121442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Cambria" pitchFamily="18" charset="0"/>
              </a:rPr>
              <a:t>Инициализация объекта класса</a:t>
            </a:r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785786" y="3571876"/>
            <a:ext cx="4500594" cy="10715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5500694" y="1643050"/>
            <a:ext cx="36433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Cambria" pitchFamily="18" charset="0"/>
              </a:rPr>
              <a:t>Запись информации в поля класса, вызов методов класса, отображение с помощью интерфейса полей класса</a:t>
            </a:r>
          </a:p>
        </p:txBody>
      </p:sp>
      <p:cxnSp>
        <p:nvCxnSpPr>
          <p:cNvPr id="44" name="Прямая со стрелкой 43"/>
          <p:cNvCxnSpPr>
            <a:stCxn id="39" idx="2"/>
            <a:endCxn id="33" idx="0"/>
          </p:cNvCxnSpPr>
          <p:nvPr/>
        </p:nvCxnSpPr>
        <p:spPr>
          <a:xfrm rot="5400000">
            <a:off x="2434931" y="934757"/>
            <a:ext cx="773676" cy="20716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4090165" cy="2085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500034" y="3429000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155" y="4143380"/>
            <a:ext cx="8620125" cy="17430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142876" y="5857892"/>
            <a:ext cx="900112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Метод объекта класса получает индекс выбора (по умолчанию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индексируется с нуля) и в зависимости от числа возвращает нужную строку.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 есть метод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change_choice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просто набор условий по проверке индекса</a:t>
            </a:r>
            <a:endParaRPr lang="ru-RU" sz="2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1428736"/>
            <a:ext cx="4311241" cy="1838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5214942" y="3286124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Программное заполнение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3</a:t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357298"/>
            <a:ext cx="3661486" cy="186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1357298"/>
            <a:ext cx="3641937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2050" idx="3"/>
            <a:endCxn id="2051" idx="1"/>
          </p:cNvCxnSpPr>
          <p:nvPr/>
        </p:nvCxnSpPr>
        <p:spPr>
          <a:xfrm flipV="1">
            <a:off x="4018644" y="2285992"/>
            <a:ext cx="1196298" cy="49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2143108" y="1000108"/>
            <a:ext cx="52864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4678" y="3500438"/>
            <a:ext cx="3348033" cy="238916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1026" idx="0"/>
          </p:cNvCxnSpPr>
          <p:nvPr/>
        </p:nvCxnSpPr>
        <p:spPr>
          <a:xfrm rot="5400000" flipH="1" flipV="1">
            <a:off x="4980381" y="1908554"/>
            <a:ext cx="1500199" cy="1683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1026" idx="0"/>
          </p:cNvCxnSpPr>
          <p:nvPr/>
        </p:nvCxnSpPr>
        <p:spPr>
          <a:xfrm rot="16200000" flipV="1">
            <a:off x="2587208" y="1198951"/>
            <a:ext cx="1500198" cy="31027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857892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Один из способов менять интерфейс – написать функцию, показывающую и скрывающую его части и поместить ее в обработчик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ComboBox1SelectedIndexChanged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188</Words>
  <Application>Microsoft Office PowerPoint</Application>
  <PresentationFormat>Экран (4:3)</PresentationFormat>
  <Paragraphs>42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Введение в ООП: Программирование алгоритмов разветвляющихся структур</vt:lpstr>
      <vt:lpstr>Дополнительные материалы</vt:lpstr>
      <vt:lpstr>Слайд 3</vt:lpstr>
      <vt:lpstr>Задание 1 Решение с помощью ООП </vt:lpstr>
      <vt:lpstr>Задание 1 Решение с помощью ООП </vt:lpstr>
      <vt:lpstr>Задание 2 Решение с помощью ООП </vt:lpstr>
      <vt:lpstr>Задание 3 Решение с помощью ООП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ООП: Программирование алгоритмов разветвляющихся структур</dc:title>
  <dc:creator>user</dc:creator>
  <cp:lastModifiedBy>user</cp:lastModifiedBy>
  <cp:revision>83</cp:revision>
  <dcterms:created xsi:type="dcterms:W3CDTF">2024-02-01T09:49:19Z</dcterms:created>
  <dcterms:modified xsi:type="dcterms:W3CDTF">2026-03-04T09:21:44Z</dcterms:modified>
</cp:coreProperties>
</file>