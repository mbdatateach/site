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76" r:id="rId4"/>
    <p:sldId id="267" r:id="rId5"/>
    <p:sldId id="268" r:id="rId6"/>
    <p:sldId id="269" r:id="rId7"/>
    <p:sldId id="270" r:id="rId8"/>
    <p:sldId id="271" r:id="rId9"/>
    <p:sldId id="272" r:id="rId10"/>
    <p:sldId id="274" r:id="rId11"/>
    <p:sldId id="275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66" d="100"/>
          <a:sy n="66" d="100"/>
        </p:scale>
        <p:origin x="-2850" y="-11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Relationship Id="rId3" Type="http://schemas.openxmlformats.org/officeDocument/2006/relationships/hyperlink" Target="https://proglib.io/p/samouchitel-po-c-dlya-nachinayushchih-za-30-minut-chast-2-oop-i-kollekcii-2022-03-08" TargetMode="External"/><Relationship Id="rId7" Type="http://schemas.openxmlformats.org/officeDocument/2006/relationships/hyperlink" Target="https://metanit.com/sharp/tutorial/20.2.php?ysclid=m1c4t75sz6218180615" TargetMode="External"/><Relationship Id="rId2" Type="http://schemas.openxmlformats.org/officeDocument/2006/relationships/hyperlink" Target="https://metanit.com/sharp/tutorial/2.13.php?ysclid=m8li7qhu1u489090447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metanit.com/sharp/tutorial/3.1.php?ysclid=m51c7uxcnt757303497" TargetMode="External"/><Relationship Id="rId5" Type="http://schemas.openxmlformats.org/officeDocument/2006/relationships/hyperlink" Target="https://sky.pro/wiki/gamedev/risovanie-na-forme-v-windows-forms/" TargetMode="External"/><Relationship Id="rId4" Type="http://schemas.openxmlformats.org/officeDocument/2006/relationships/hyperlink" Target="https://metanit.com/sharp/tutorial/3.7.ph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Наследование и полиморфизм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6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1080295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i="1" dirty="0" smtClean="0">
                <a:latin typeface="Cambria" pitchFamily="18" charset="0"/>
              </a:rPr>
              <a:t>Структуры в </a:t>
            </a:r>
            <a:r>
              <a:rPr lang="en-US" sz="2400" i="1" dirty="0" smtClean="0">
                <a:latin typeface="Cambria" pitchFamily="18" charset="0"/>
              </a:rPr>
              <a:t>C# </a:t>
            </a:r>
            <a:r>
              <a:rPr lang="en-US" sz="2400" i="1" dirty="0" smtClean="0">
                <a:latin typeface="Cambria" pitchFamily="18" charset="0"/>
                <a:hlinkClick r:id="rId2"/>
              </a:rPr>
              <a:t>https://metanit.com/sharp/tutorial/2.13.php?ysclid=m8li7qhu1u489090447</a:t>
            </a:r>
            <a:endParaRPr lang="en-US" sz="2400" i="1" dirty="0" smtClean="0">
              <a:latin typeface="Cambria" pitchFamily="18" charset="0"/>
            </a:endParaRPr>
          </a:p>
          <a:p>
            <a:endParaRPr lang="ru-RU" sz="2400" i="1" dirty="0" smtClean="0">
              <a:latin typeface="Cambria" pitchFamily="18" charset="0"/>
            </a:endParaRPr>
          </a:p>
          <a:p>
            <a:r>
              <a:rPr lang="ru-RU" sz="2400" i="1" dirty="0" smtClean="0">
                <a:latin typeface="Cambria" pitchFamily="18" charset="0"/>
              </a:rPr>
              <a:t>ООП и коллекции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3"/>
              </a:rPr>
              <a:t>https://proglib.io/p/samouchitel-po-c-dlya-nachinayushchih-za-30-minut-chast-2-oop-i-kollekcii-2022-03-08</a:t>
            </a:r>
            <a:endParaRPr lang="en-US" sz="2400" dirty="0" smtClean="0">
              <a:latin typeface="Cambria" pitchFamily="18" charset="0"/>
            </a:endParaRPr>
          </a:p>
          <a:p>
            <a:pPr fontAlgn="base"/>
            <a:endParaRPr lang="en-US" sz="2400" dirty="0" smtClean="0">
              <a:latin typeface="Cambria" pitchFamily="18" charset="0"/>
            </a:endParaRPr>
          </a:p>
          <a:p>
            <a:pPr fontAlgn="base"/>
            <a:r>
              <a:rPr lang="ru-RU" sz="2400" i="1" dirty="0" smtClean="0">
                <a:latin typeface="Cambria" pitchFamily="18" charset="0"/>
              </a:rPr>
              <a:t>Наследование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4"/>
              </a:rPr>
              <a:t>https://metanit.com/sharp/tutorial/3.7.php</a:t>
            </a:r>
            <a:endParaRPr lang="en-US" sz="2400" dirty="0" smtClean="0">
              <a:latin typeface="Cambria" pitchFamily="18" charset="0"/>
            </a:endParaRPr>
          </a:p>
          <a:p>
            <a:pPr fontAlgn="base"/>
            <a:endParaRPr lang="en-US" sz="2400" dirty="0" smtClean="0">
              <a:latin typeface="Cambria" pitchFamily="18" charset="0"/>
            </a:endParaRPr>
          </a:p>
          <a:p>
            <a:pPr fontAlgn="base"/>
            <a:r>
              <a:rPr lang="ru-RU" sz="2400" i="1" dirty="0" smtClean="0">
                <a:latin typeface="Cambria" pitchFamily="18" charset="0"/>
              </a:rPr>
              <a:t>Рисование на форме в </a:t>
            </a:r>
            <a:r>
              <a:rPr lang="ru-RU" sz="2400" i="1" dirty="0" err="1" smtClean="0">
                <a:latin typeface="Cambria" pitchFamily="18" charset="0"/>
              </a:rPr>
              <a:t>Windows</a:t>
            </a:r>
            <a:r>
              <a:rPr lang="ru-RU" sz="2400" i="1" dirty="0" smtClean="0">
                <a:latin typeface="Cambria" pitchFamily="18" charset="0"/>
              </a:rPr>
              <a:t> </a:t>
            </a:r>
            <a:r>
              <a:rPr lang="ru-RU" sz="2400" i="1" dirty="0" err="1" smtClean="0">
                <a:latin typeface="Cambria" pitchFamily="18" charset="0"/>
              </a:rPr>
              <a:t>Forms</a:t>
            </a:r>
            <a:endParaRPr lang="en-US" sz="2400" i="1" dirty="0" smtClean="0">
              <a:latin typeface="Cambria" pitchFamily="18" charset="0"/>
            </a:endParaRPr>
          </a:p>
          <a:p>
            <a:pPr fontAlgn="base"/>
            <a:r>
              <a:rPr lang="en-US" sz="2400" dirty="0" smtClean="0">
                <a:latin typeface="Cambria" pitchFamily="18" charset="0"/>
                <a:hlinkClick r:id="rId5"/>
              </a:rPr>
              <a:t>https://sky.pro/wiki/gamedev/risovanie-na-forme-v-windows-forms/</a:t>
            </a:r>
            <a:endParaRPr lang="en-US" sz="2400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6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6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7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8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28129" y="3571876"/>
            <a:ext cx="5315871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4823" y="3143248"/>
            <a:ext cx="3547266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327931" y="4929198"/>
            <a:ext cx="4896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Структура координат и из объявление в классе</a:t>
            </a:r>
            <a:endParaRPr lang="ru-RU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71480"/>
            <a:ext cx="9144000" cy="95410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Можете реализовать это задание в консольном интерфейсе</a:t>
            </a:r>
            <a:endParaRPr lang="ru-RU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1500174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Структуры в 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встроенная структура данных, объединяющая данные разных типов под одним именем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и предоставляющая возможность работы с ними как по отдельности, так и как с целым объектом. 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Они помогают организовать данные в более понятной и логичной форме, что облегчает их использование и управление.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5715016"/>
            <a:ext cx="854392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2928926" y="6357958"/>
            <a:ext cx="3019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Наследование конструктора</a:t>
            </a:r>
            <a:endParaRPr lang="ru-RU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38675" y="642918"/>
            <a:ext cx="4505325" cy="578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5638807" y="6488668"/>
            <a:ext cx="2442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Основы наследования</a:t>
            </a:r>
            <a:endParaRPr lang="ru-RU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714356"/>
            <a:ext cx="3133725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142844" y="5857892"/>
            <a:ext cx="4067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Консольный внешний вид программы</a:t>
            </a:r>
            <a:endParaRPr lang="ru-RU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5000628" y="1000108"/>
            <a:ext cx="414337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Virtual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в C# — ключевое слово, которым помечают методы и свойства в базовом классе, чтобы сделать их доступными для переопределения. Такие методы и свойства называют виртуальными.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28736"/>
            <a:ext cx="3738559" cy="3721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857224" y="5143512"/>
            <a:ext cx="2927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Переопределение методов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000628" y="3214686"/>
            <a:ext cx="4143372" cy="181588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Override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модификатор для переопределения виртуальных методов, свойств и событий базового класса. 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Переопределённый метод в классе-наследнике должен иметь тот же набор параметров, что и виртуальный метод в базовом классе.</a:t>
            </a:r>
          </a:p>
        </p:txBody>
      </p:sp>
      <p:cxnSp>
        <p:nvCxnSpPr>
          <p:cNvPr id="17" name="Прямая со стрелкой 16"/>
          <p:cNvCxnSpPr>
            <a:stCxn id="16" idx="1"/>
          </p:cNvCxnSpPr>
          <p:nvPr/>
        </p:nvCxnSpPr>
        <p:spPr>
          <a:xfrm rot="10800000" flipV="1">
            <a:off x="2071670" y="1661828"/>
            <a:ext cx="2928958" cy="526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1"/>
          </p:cNvCxnSpPr>
          <p:nvPr/>
        </p:nvCxnSpPr>
        <p:spPr>
          <a:xfrm rot="10800000">
            <a:off x="2143108" y="3214687"/>
            <a:ext cx="2857520" cy="90794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571868" y="6215082"/>
            <a:ext cx="1986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Хранение данных</a:t>
            </a:r>
            <a:endParaRPr lang="ru-RU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3286124"/>
            <a:ext cx="661987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00042"/>
            <a:ext cx="383857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3075" idx="2"/>
          </p:cNvCxnSpPr>
          <p:nvPr/>
        </p:nvCxnSpPr>
        <p:spPr>
          <a:xfrm rot="16200000" flipH="1">
            <a:off x="1309670" y="2452685"/>
            <a:ext cx="1514497" cy="2952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4214810" y="1142984"/>
            <a:ext cx="457200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хранения объектов класса в C# можно использовать коллекции из пространства имён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System.Collections.Generic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Они обеспечивают безопасность типов и позволяют указывать, объекты какого типа будут храниться в коллекции.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Прямая со стрелкой 17"/>
          <p:cNvCxnSpPr>
            <a:stCxn id="15" idx="2"/>
          </p:cNvCxnSpPr>
          <p:nvPr/>
        </p:nvCxnSpPr>
        <p:spPr>
          <a:xfrm rot="5400000">
            <a:off x="4733645" y="1518960"/>
            <a:ext cx="819703" cy="2714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2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28596" y="5214950"/>
            <a:ext cx="3618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Примерный внешний вид задания</a:t>
            </a:r>
            <a:endParaRPr lang="en-US" i="1" dirty="0" smtClean="0">
              <a:latin typeface="Cambria" pitchFamily="18" charset="0"/>
            </a:endParaRP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4424666" cy="425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06621" y="1571612"/>
            <a:ext cx="3537379" cy="3395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4786314" y="857232"/>
            <a:ext cx="2928926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PictureBox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>
            <a:stCxn id="9" idx="2"/>
          </p:cNvCxnSpPr>
          <p:nvPr/>
        </p:nvCxnSpPr>
        <p:spPr>
          <a:xfrm rot="16200000" flipH="1">
            <a:off x="5667491" y="1809849"/>
            <a:ext cx="2202438" cy="103586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2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43525"/>
            <a:ext cx="633412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26" y="2516638"/>
            <a:ext cx="2643174" cy="434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5122" idx="0"/>
            <a:endCxn id="5123" idx="1"/>
          </p:cNvCxnSpPr>
          <p:nvPr/>
        </p:nvCxnSpPr>
        <p:spPr>
          <a:xfrm rot="5400000" flipH="1" flipV="1">
            <a:off x="4505841" y="3348541"/>
            <a:ext cx="656206" cy="333376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0" y="571480"/>
            <a:ext cx="9144000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Абстрактный класс в C# объявляется с ключевым словом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Такой класс имеет следующие правила: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нельзя создавать экземпляры (объекты) абстрактного класса;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абстрактный класс может содержать как абстрактные методы/свойства, так и обычные;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классе-наследнике должны быть реализованы все абстрактные методы и свойства, объявленные в базовом классе.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Абстрактный метод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— это метод, который не имеет своей реализации в базовом классе, но он должен быть реализован в классе-наследнике. Абстрактный метод может быть объявлен только в абстрактном классе.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0" y="2571744"/>
            <a:ext cx="5429256" cy="206210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Объявление абстрактного метода происходит при помощи ключевого слова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при этом фигурные скобки опускаются, точка с запятой ставится после заголовка метода.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Реализация абстрактного метода в классе-наследнике происходит так же, как и переопределение метода, при помощи ключевого слова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override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2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4451594" cy="61070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8" name="Picture 4" descr="https://c-sharp.pro/wp-content/uploads/2018/03/%D0%9A%D0%BE%D1%80%D0%B0%D0%B1%D0%BB%D0%B8%D0%B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3409" y="1500174"/>
            <a:ext cx="4830591" cy="2681274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4857752" y="4214818"/>
            <a:ext cx="4017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Рисование на форме в </a:t>
            </a:r>
            <a:r>
              <a:rPr lang="ru-RU" i="1" dirty="0" err="1" smtClean="0">
                <a:latin typeface="Cambria" pitchFamily="18" charset="0"/>
              </a:rPr>
              <a:t>Windows</a:t>
            </a:r>
            <a:r>
              <a:rPr lang="ru-RU" i="1" dirty="0" smtClean="0">
                <a:latin typeface="Cambria" pitchFamily="18" charset="0"/>
              </a:rPr>
              <a:t> </a:t>
            </a:r>
            <a:r>
              <a:rPr lang="ru-RU" i="1" dirty="0" err="1" smtClean="0">
                <a:latin typeface="Cambria" pitchFamily="18" charset="0"/>
              </a:rPr>
              <a:t>Forms</a:t>
            </a:r>
            <a:endParaRPr lang="en-US" i="1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642974" y="-285776"/>
            <a:ext cx="10372740" cy="1143000"/>
          </a:xfrm>
        </p:spPr>
        <p:txBody>
          <a:bodyPr>
            <a:noAutofit/>
          </a:bodyPr>
          <a:lstStyle/>
          <a:p>
            <a:r>
              <a:rPr lang="ru-RU" sz="3800" b="1" dirty="0" smtClean="0"/>
              <a:t>Дополнительно</a:t>
            </a:r>
            <a:r>
              <a:rPr lang="en-US" sz="3800" b="1" dirty="0" smtClean="0"/>
              <a:t>: </a:t>
            </a:r>
            <a:r>
              <a:rPr lang="ru-RU" sz="3800" b="1" dirty="0" smtClean="0"/>
              <a:t>работа с изображениями</a:t>
            </a:r>
            <a:endParaRPr lang="ru-RU" sz="38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71546"/>
            <a:ext cx="4786303" cy="29682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1643042" y="4071942"/>
            <a:ext cx="2221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Шаблон класса </a:t>
            </a:r>
            <a:r>
              <a:rPr lang="en-US" i="1" dirty="0" smtClean="0">
                <a:latin typeface="Cambria" pitchFamily="18" charset="0"/>
              </a:rPr>
              <a:t>Item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5357818" y="6215082"/>
            <a:ext cx="339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Вариант интерфейсной части</a:t>
            </a:r>
            <a:endParaRPr lang="en-US" i="1" dirty="0" smtClean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2928934"/>
            <a:ext cx="4714876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072074"/>
            <a:ext cx="4286248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5786454"/>
            <a:ext cx="43689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Начало обработчика клика на картинку</a:t>
            </a:r>
            <a:endParaRPr lang="en-US" i="1" dirty="0" smtClean="0">
              <a:latin typeface="Cambria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286380" y="857232"/>
            <a:ext cx="385762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Механики, реализованные в этом задании, позволяют создавать игру  жанра «Поиск предметов»</a:t>
            </a:r>
            <a:endParaRPr lang="en-US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allsoft.ru/upload/screenshots/24a/24a1a30c54f96fd143e159f8eec4425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4762512" cy="3571884"/>
          </a:xfrm>
          <a:prstGeom prst="rect">
            <a:avLst/>
          </a:prstGeom>
          <a:noFill/>
        </p:spPr>
      </p:pic>
      <p:pic>
        <p:nvPicPr>
          <p:cNvPr id="2052" name="Picture 4" descr="https://sun9-14.userapi.com/impf/Jxscdm3o1JMWi3UhdSEe1yZeag-b6IUj4k691g/ugbKjrS_u2Y.jpg?size=1771x997&amp;quality=96&amp;proxy=1&amp;sign=1bd19de7f69f0176fd4a48afb68aab39&amp;type=albu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06763" y="3571876"/>
            <a:ext cx="5837237" cy="3286124"/>
          </a:xfrm>
          <a:prstGeom prst="rect">
            <a:avLst/>
          </a:prstGeom>
          <a:noFill/>
        </p:spPr>
      </p:pic>
      <p:sp>
        <p:nvSpPr>
          <p:cNvPr id="12" name="Прямоугольник 11"/>
          <p:cNvSpPr/>
          <p:nvPr/>
        </p:nvSpPr>
        <p:spPr>
          <a:xfrm>
            <a:off x="1214414" y="4286256"/>
            <a:ext cx="1790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Тайны города </a:t>
            </a:r>
            <a:r>
              <a:rPr lang="en-US" i="1" dirty="0" smtClean="0">
                <a:latin typeface="Cambria" pitchFamily="18" charset="0"/>
              </a:rPr>
              <a:t>N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500694" y="3214686"/>
            <a:ext cx="25476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Рождественская песнь</a:t>
            </a:r>
            <a:endParaRPr lang="en-US" i="1" dirty="0" smtClean="0">
              <a:latin typeface="Cambria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857752" y="928670"/>
            <a:ext cx="4286248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«Поиск предметов»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(англ.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Hidden object game, Hidden picture, Hidden object game adventure, HOPA) —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поджанр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игр-головоломок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 которых игрок должен находить предметы из списка, скрытые на уровне.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0" y="4929198"/>
            <a:ext cx="3214678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Предметы, как правило, замаскированы в окружающей обстановке, а сама обстановка задумана так, чтобы найти их было сложнее.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-642974" y="-285776"/>
            <a:ext cx="10372740" cy="1143000"/>
          </a:xfrm>
        </p:spPr>
        <p:txBody>
          <a:bodyPr>
            <a:noAutofit/>
          </a:bodyPr>
          <a:lstStyle/>
          <a:p>
            <a:r>
              <a:rPr lang="ru-RU" sz="3800" b="1" dirty="0" smtClean="0"/>
              <a:t>Дополнительно</a:t>
            </a:r>
            <a:r>
              <a:rPr lang="en-US" sz="3800" b="1" dirty="0" smtClean="0"/>
              <a:t>: </a:t>
            </a:r>
            <a:r>
              <a:rPr lang="ru-RU" sz="3800" b="1" dirty="0" smtClean="0"/>
              <a:t>идея проекта</a:t>
            </a:r>
            <a:endParaRPr lang="ru-RU" sz="3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320</Words>
  <Application>Microsoft Office PowerPoint</Application>
  <PresentationFormat>Экран (4:3)</PresentationFormat>
  <Paragraphs>63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Наследование и полиморфизм</vt:lpstr>
      <vt:lpstr>Дополнительные материалы</vt:lpstr>
      <vt:lpstr>Задание 1 </vt:lpstr>
      <vt:lpstr>Задание 1 </vt:lpstr>
      <vt:lpstr>Задание 1 </vt:lpstr>
      <vt:lpstr>Задание 1 </vt:lpstr>
      <vt:lpstr>Задание 2 </vt:lpstr>
      <vt:lpstr>Задание 2 </vt:lpstr>
      <vt:lpstr>Задание 2 </vt:lpstr>
      <vt:lpstr>Дополнительно: работа с изображениями</vt:lpstr>
      <vt:lpstr>Дополнительно: идея проекта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Наследование и полиморфизм</dc:title>
  <dc:creator>user</dc:creator>
  <cp:lastModifiedBy>user</cp:lastModifiedBy>
  <cp:revision>100</cp:revision>
  <dcterms:created xsi:type="dcterms:W3CDTF">2024-02-01T09:49:19Z</dcterms:created>
  <dcterms:modified xsi:type="dcterms:W3CDTF">2026-03-29T11:57:41Z</dcterms:modified>
</cp:coreProperties>
</file>