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  <p:sldId id="264" r:id="rId5"/>
    <p:sldId id="266" r:id="rId6"/>
    <p:sldId id="259" r:id="rId7"/>
    <p:sldId id="267" r:id="rId8"/>
    <p:sldId id="277" r:id="rId9"/>
    <p:sldId id="278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  <a:srgbClr val="E2EE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lumpics.ru/calculation-annuity-payment-excel/?ysclid=m74sdzebe9913672666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Расчеты</a:t>
            </a:r>
            <a:r>
              <a:rPr lang="en-US" dirty="0" smtClean="0"/>
              <a:t> </a:t>
            </a:r>
            <a:r>
              <a:rPr lang="ru-RU" dirty="0" smtClean="0"/>
              <a:t>и документация в </a:t>
            </a:r>
            <a:r>
              <a:rPr lang="en-US" dirty="0" smtClean="0"/>
              <a:t>Excel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-32" y="2143140"/>
            <a:ext cx="9144000" cy="27860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00042"/>
            <a:ext cx="9144000" cy="1571636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500042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Функция БС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рассчитывает будущую стоимость инвестиций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при условии, что процентная ставка является константой (не меняется с течением времени).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Пример использования: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помощью функции БС можно узнать, какой будет сумма вклада через определённое время.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2071678"/>
            <a:ext cx="914396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Её аргументами является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процентная ставка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 период («Ставка»);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общее количество периодов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например, в случае кредита на 5 лет и ежемесячных платежах, аргумент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 будет равен 5*12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постоянная выплата за каждый период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») – если выплата за период является неизвестной величиной, аргумент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может принимать значение 0, но при этом следующий аргумент задается явно.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Приведенная стоимость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») – Стоимость на текущий момент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тип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- срок выплаты. Если 0 – платеж должен быть произведен в конце периода. Если значение аргумента равно 1, платеж должен быть произведен в начале периода.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0" y="5143512"/>
            <a:ext cx="914396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Если совсем простыми словами,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БС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возвращает то сколько получится, если уже имея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на своем счёте и внося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за каждый из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получится при условии, что банк ещё и начисляет процент на Ваши деньги по ставке за каждый период (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СТАВКА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). </a:t>
            </a:r>
            <a:endParaRPr lang="ru-RU" sz="20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5572140"/>
            <a:ext cx="9144000" cy="1285860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0" y="5643578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Примечание: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Единицы измерения аргументов "ставка" и "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" должны быть согласованы между собой: используйте N%/12 для аргумента "ставка" и N*12 для аргумента "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", если речь идет о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ежемесячных платежах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957188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вкладчик, </a:t>
            </a:r>
            <a:r>
              <a:rPr lang="ru-RU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как в нашей задаче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один раз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открыл вклад (например, на 100000 рублей) и больше его не трогает, то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остается нулем, 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(общая сумма, на основе которой будут считаться дальнейшие денежные выплаты) будет равна -100000.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785786" y="500042"/>
            <a:ext cx="7715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Пример применения аргумента </a:t>
            </a:r>
            <a:r>
              <a:rPr lang="ru-RU" sz="2400" b="1" dirty="0" err="1" smtClean="0"/>
              <a:t>Пс</a:t>
            </a:r>
            <a:endParaRPr lang="ru-RU" sz="2400" b="1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857496"/>
            <a:ext cx="23241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4678" y="2143116"/>
            <a:ext cx="5553075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Скругленный прямоугольник 8"/>
          <p:cNvSpPr/>
          <p:nvPr/>
        </p:nvSpPr>
        <p:spPr>
          <a:xfrm>
            <a:off x="3857620" y="4857760"/>
            <a:ext cx="785818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1000108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 если, например вкладчик открывает вклад на 12 месяцев под 12%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годовых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собирается каждый месяц  вносить по 1000 рублей, параметр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»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функции будет равняться -1000 (знаком минус показывается, что эти деньги нужно отдавать), тогда формула БС выглядит так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https://blog.sf.education/wp-content/uploads/2020/04/14-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2500306"/>
            <a:ext cx="5605450" cy="3799571"/>
          </a:xfrm>
          <a:prstGeom prst="rect">
            <a:avLst/>
          </a:prstGeom>
          <a:noFill/>
        </p:spPr>
      </p:pic>
      <p:sp>
        <p:nvSpPr>
          <p:cNvPr id="15" name="Прямоугольник 14"/>
          <p:cNvSpPr/>
          <p:nvPr/>
        </p:nvSpPr>
        <p:spPr>
          <a:xfrm>
            <a:off x="785786" y="500042"/>
            <a:ext cx="7715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Пример применения аргумента </a:t>
            </a:r>
            <a:r>
              <a:rPr lang="ru-RU" sz="2400" b="1" dirty="0" err="1" smtClean="0"/>
              <a:t>Плт</a:t>
            </a:r>
            <a:endParaRPr lang="ru-RU" sz="2400" b="1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14678" y="5643578"/>
            <a:ext cx="642942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571480"/>
            <a:ext cx="9144000" cy="12144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б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162300"/>
            <a:ext cx="8991600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1857364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 облигации номиналом 50000 руб., выпущенной 6 лет, предусмотрен следующий порядок начисления процентов: в первый год — 10%, в следующие 2 года — 20%, в оставшиеся три года — 25%. Определить будущую стоимость облигации.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7148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Функция БЗРАСПИС используется для вычисления будущей стоимости инвестиции с переменной процентной ставкой.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Первичное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обязательный аргумент. Стоимость инвестиции на текущий момент.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обязательный аргумент. Массив применяемых процентных ставок.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357166"/>
            <a:ext cx="9144000" cy="3571900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4143380"/>
            <a:ext cx="9144000" cy="135732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0" y="5572140"/>
            <a:ext cx="9144000" cy="1214422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-14290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0" y="357166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ОСПЛТ, ПРПЛТ и 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финансовые функции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которые помогают рассчитать различные аспекты платежей по кредиту.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помогает рассчитать сумму, которую нужно платить периодически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для погашения ссуды с учётом процентных переплат за один расчётный период. Предполагается, что объём платежей и ставка не меняются. У функции 3 обязательных аргумента и 2 — необязательных: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Ставка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процент, на который возрастает сумма платежа за один период.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количество выплат или периодов.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общая сумма, которую нужно выплатить.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показывает, сколько останется выплатить после последней выплаты. По умолчанию подразумевается 0 (то есть после последней выплаты стоимость ссуды составит 0 руб.).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Тип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аргумент, который принимает значения: 0 — когда платежи совершаются в конце периода, 1 — если в начале.</a:t>
            </a:r>
          </a:p>
          <a:p>
            <a:pPr algn="just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вычисляет ту часть очередного платежа, которая приходится на выплату самого кредита (тела кредита)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У функции такие же аргументы, как и у ПЛТ: Ставка,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БС, Тип, ещё добавляется обязательный аргумент — Период (число от 1 до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помогает высчитать размер выплат по процентам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за выбранный период, предполагая неизменяемыми размер платежей и ставку. У функции такие же аргументы, как и у ОСПЛТ, но ещё есть обязательный параметр — Номер периода (число от 1 до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-14290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42860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Аннуитетный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платёж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 тип расчёта по кредиту, при котором общая сумма задолженности, включая тело долга и начисленные за расчётный период пользования кредитом проценты, разделены на равные части. 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Заёмщик раз в месяц вносит одну и ту же сумму до тех пор, пока полностью не рассчитается с банком.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3071810"/>
            <a:ext cx="4257659" cy="3371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1582341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аннуитетном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графике погашения в состав каждого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ежемесячного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входит сумма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за период 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часть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основного долга. По мере внесения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основной долг уменьшается, а значит — сокращается сумма начисляемых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Поэтому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начале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срока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действия договора в составе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ежемесячного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бóльшую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часть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составляют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концу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срока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основной долг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5929330"/>
            <a:ext cx="23907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>
            <a:stCxn id="22532" idx="0"/>
          </p:cNvCxnSpPr>
          <p:nvPr/>
        </p:nvCxnSpPr>
        <p:spPr>
          <a:xfrm rot="5400000" flipH="1" flipV="1">
            <a:off x="2562207" y="3348033"/>
            <a:ext cx="2428892" cy="273370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29425" y="5715016"/>
            <a:ext cx="2314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8" name="Прямая со стрелкой 17"/>
          <p:cNvCxnSpPr>
            <a:stCxn id="22533" idx="0"/>
          </p:cNvCxnSpPr>
          <p:nvPr/>
        </p:nvCxnSpPr>
        <p:spPr>
          <a:xfrm rot="16200000" flipV="1">
            <a:off x="5886448" y="3614750"/>
            <a:ext cx="2143140" cy="205739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32" y="6488668"/>
            <a:ext cx="9143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hlinkClick r:id="rId5"/>
              </a:rPr>
              <a:t>https://lumpics.ru/calculation-annuity-payment-excel/?ysclid=m74sdzebe9913672666</a:t>
            </a:r>
            <a:endParaRPr lang="en-US" b="1" dirty="0" smtClean="0"/>
          </a:p>
          <a:p>
            <a:pPr algn="ctr"/>
            <a:endParaRPr lang="ru-RU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214554"/>
            <a:ext cx="600075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Копирование таблиц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5400000" flipH="1" flipV="1">
            <a:off x="321439" y="4607727"/>
            <a:ext cx="3000396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8596" y="6027003"/>
            <a:ext cx="2428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Выделить столбец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2" y="714356"/>
            <a:ext cx="91439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копировании таблиц, например, из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MS Word,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денежный формат может скопировать как текстовый – с буквами «р.»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Можно достаточно быстро удалить лишние символы из целого столбца с помощью функционала «Найти и заменить»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 rot="16200000" flipV="1">
            <a:off x="5179223" y="5036355"/>
            <a:ext cx="857256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29190" y="5786454"/>
            <a:ext cx="2428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Ctrl+F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3:</a:t>
            </a: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</a:t>
            </a:r>
            <a:r>
              <a:rPr kumimoji="0" lang="ru-RU" sz="32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Консолидация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19" y="3929066"/>
            <a:ext cx="8663014" cy="2838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 rot="10800000" flipV="1">
            <a:off x="5429255" y="3357562"/>
            <a:ext cx="2214578" cy="157163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5042" y="2714620"/>
            <a:ext cx="2928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Данные с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каждого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листа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таблицы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 rot="16200000" flipH="1">
            <a:off x="6929453" y="4071942"/>
            <a:ext cx="1928826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396105"/>
            <a:ext cx="6215074" cy="1461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571480"/>
            <a:ext cx="9144000" cy="1754326"/>
          </a:xfrm>
          <a:prstGeom prst="rect">
            <a:avLst/>
          </a:prstGeom>
          <a:solidFill>
            <a:srgbClr val="E2EEEE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Консолидация данных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процесс объединения информации из нескольких источников в единую таблицу или отчёт. Это позволяет суммировать, анализировать и представлять разрозненные данные в едином формате.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Применение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консолидация используется, например: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работе с ежемесячными отчётами из разных отделов или филиалов;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необходимости объединить информацию из документов с идентичной структурой;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358</Words>
  <Application>Microsoft Office PowerPoint</Application>
  <PresentationFormat>Экран (4:3)</PresentationFormat>
  <Paragraphs>50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Практическая работа  Расчеты и документация в Excel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53</cp:revision>
  <dcterms:created xsi:type="dcterms:W3CDTF">2025-01-01T12:55:25Z</dcterms:created>
  <dcterms:modified xsi:type="dcterms:W3CDTF">2025-09-24T10:27:05Z</dcterms:modified>
</cp:coreProperties>
</file>