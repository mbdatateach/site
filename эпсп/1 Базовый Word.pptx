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7" r:id="rId4"/>
    <p:sldId id="258" r:id="rId5"/>
    <p:sldId id="259" r:id="rId6"/>
    <p:sldId id="260" r:id="rId7"/>
    <p:sldId id="261" r:id="rId8"/>
    <p:sldId id="262" r:id="rId9"/>
    <p:sldId id="263" r:id="rId10"/>
    <p:sldId id="266" r:id="rId11"/>
    <p:sldId id="269" r:id="rId12"/>
    <p:sldId id="268" r:id="rId13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>
        <p:scale>
          <a:sx n="100" d="100"/>
          <a:sy n="100" d="100"/>
        </p:scale>
        <p:origin x="-1944" y="-3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E2F7E-1D3A-4535-ADE3-523CE7CBECC4}" type="datetimeFigureOut">
              <a:rPr lang="ru-RU" smtClean="0"/>
              <a:pPr/>
              <a:t>24.09.2025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18B4A-D24F-48D2-A927-FD67349E3991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E2F7E-1D3A-4535-ADE3-523CE7CBECC4}" type="datetimeFigureOut">
              <a:rPr lang="ru-RU" smtClean="0"/>
              <a:pPr/>
              <a:t>24.09.2025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18B4A-D24F-48D2-A927-FD67349E3991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E2F7E-1D3A-4535-ADE3-523CE7CBECC4}" type="datetimeFigureOut">
              <a:rPr lang="ru-RU" smtClean="0"/>
              <a:pPr/>
              <a:t>24.09.2025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18B4A-D24F-48D2-A927-FD67349E3991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E2F7E-1D3A-4535-ADE3-523CE7CBECC4}" type="datetimeFigureOut">
              <a:rPr lang="ru-RU" smtClean="0"/>
              <a:pPr/>
              <a:t>24.09.2025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18B4A-D24F-48D2-A927-FD67349E3991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E2F7E-1D3A-4535-ADE3-523CE7CBECC4}" type="datetimeFigureOut">
              <a:rPr lang="ru-RU" smtClean="0"/>
              <a:pPr/>
              <a:t>24.09.2025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18B4A-D24F-48D2-A927-FD67349E3991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E2F7E-1D3A-4535-ADE3-523CE7CBECC4}" type="datetimeFigureOut">
              <a:rPr lang="ru-RU" smtClean="0"/>
              <a:pPr/>
              <a:t>24.09.2025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18B4A-D24F-48D2-A927-FD67349E3991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E2F7E-1D3A-4535-ADE3-523CE7CBECC4}" type="datetimeFigureOut">
              <a:rPr lang="ru-RU" smtClean="0"/>
              <a:pPr/>
              <a:t>24.09.2025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18B4A-D24F-48D2-A927-FD67349E3991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E2F7E-1D3A-4535-ADE3-523CE7CBECC4}" type="datetimeFigureOut">
              <a:rPr lang="ru-RU" smtClean="0"/>
              <a:pPr/>
              <a:t>24.09.2025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18B4A-D24F-48D2-A927-FD67349E3991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E2F7E-1D3A-4535-ADE3-523CE7CBECC4}" type="datetimeFigureOut">
              <a:rPr lang="ru-RU" smtClean="0"/>
              <a:pPr/>
              <a:t>24.09.2025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18B4A-D24F-48D2-A927-FD67349E3991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E2F7E-1D3A-4535-ADE3-523CE7CBECC4}" type="datetimeFigureOut">
              <a:rPr lang="ru-RU" smtClean="0"/>
              <a:pPr/>
              <a:t>24.09.2025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18B4A-D24F-48D2-A927-FD67349E3991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E2F7E-1D3A-4535-ADE3-523CE7CBECC4}" type="datetimeFigureOut">
              <a:rPr lang="ru-RU" smtClean="0"/>
              <a:pPr/>
              <a:t>24.09.2025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18B4A-D24F-48D2-A927-FD67349E3991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CE2F7E-1D3A-4535-ADE3-523CE7CBECC4}" type="datetimeFigureOut">
              <a:rPr lang="ru-RU" smtClean="0"/>
              <a:pPr/>
              <a:t>24.09.2025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818B4A-D24F-48D2-A927-FD67349E3991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Работа с текстом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1500174"/>
            <a:ext cx="9144000" cy="3429024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ru-RU" sz="2400" b="1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Информационные технологии (ИТ)</a:t>
            </a:r>
            <a:r>
              <a:rPr lang="ru-RU" sz="24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— это совокупность методов, процессов и программных инструментов, используемых для сбора, хранения, обработки и передачи информации. </a:t>
            </a:r>
            <a:endParaRPr lang="en-US" sz="24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4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В этом контексте MS </a:t>
            </a:r>
            <a:r>
              <a:rPr lang="ru-RU" sz="24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Word</a:t>
            </a:r>
            <a:r>
              <a:rPr lang="ru-RU" sz="2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выступает как один из инструментов ИТ, поскольку он помогает пользователям создавать, редактировать, форматировать и обмениваться текстовыми документами, таблицами, графиками и другой информацией.</a:t>
            </a:r>
            <a:endParaRPr lang="ru-RU" sz="2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4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MS Word </a:t>
            </a:r>
            <a:r>
              <a:rPr lang="ru-RU" dirty="0" smtClean="0"/>
              <a:t>как информационная технология</a:t>
            </a:r>
            <a:endParaRPr lang="ru-RU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0" y="2357430"/>
            <a:ext cx="9144000" cy="450057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Прямоугольник 3"/>
          <p:cNvSpPr/>
          <p:nvPr/>
        </p:nvSpPr>
        <p:spPr>
          <a:xfrm>
            <a:off x="0" y="1142984"/>
            <a:ext cx="9144000" cy="1143008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4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MS Word </a:t>
            </a:r>
            <a:r>
              <a:rPr lang="ru-RU" dirty="0" smtClean="0"/>
              <a:t>как информационная технология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0" y="1082837"/>
            <a:ext cx="914400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b="1" dirty="0" err="1">
                <a:latin typeface="Times New Roman" pitchFamily="18" charset="0"/>
                <a:cs typeface="Times New Roman" pitchFamily="18" charset="0"/>
              </a:rPr>
              <a:t>Microsoft</a:t>
            </a:r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Word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 — это </a:t>
            </a:r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полнофункциональная прикладная программа для редактирования и обработки текстовой и графической информации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, создания документов как в электронном виде, так и в виде печатных копий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Некоторые возможности программы:</a:t>
            </a:r>
          </a:p>
          <a:p>
            <a:pPr algn="just"/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создание нового документа с помощью специальных шаблонов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;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одновременное открытие и работа с большим количеством документов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;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автоматическая проверка орфографии, грамматики и даже стилистики при вводе документа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;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возможность работы с математическими формулами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;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возможность автоматического создания указателей и оглавления документа; </a:t>
            </a: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расширенные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возможности форматирования документа, например, выравнивание по обоим краям, многоколоночная вёрстка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;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использование стилей для быстрого форматирования документа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;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возможность автоматизации ввода повторяющихся и стандартных элементов текста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;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автоматизация формирования и работы со списками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;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удобные механизмы работы с ссылками, сносками,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колонтитулами.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4"/>
            <a:ext cx="8229600" cy="1143000"/>
          </a:xfrm>
        </p:spPr>
        <p:txBody>
          <a:bodyPr>
            <a:normAutofit/>
          </a:bodyPr>
          <a:lstStyle/>
          <a:p>
            <a:r>
              <a:rPr lang="ru-RU" dirty="0" smtClean="0"/>
              <a:t>Рабочее поле </a:t>
            </a:r>
            <a:r>
              <a:rPr lang="en-US" dirty="0" smtClean="0"/>
              <a:t>MS Word</a:t>
            </a:r>
            <a:endParaRPr lang="ru-RU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42910" y="857232"/>
            <a:ext cx="7972425" cy="5695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4"/>
            <a:ext cx="8229600" cy="1143000"/>
          </a:xfrm>
        </p:spPr>
        <p:txBody>
          <a:bodyPr>
            <a:normAutofit/>
          </a:bodyPr>
          <a:lstStyle/>
          <a:p>
            <a:r>
              <a:rPr lang="ru-RU" dirty="0" smtClean="0"/>
              <a:t>Вкладка Шрифт</a:t>
            </a:r>
            <a:endParaRPr lang="ru-RU" dirty="0"/>
          </a:p>
        </p:txBody>
      </p:sp>
      <p:sp>
        <p:nvSpPr>
          <p:cNvPr id="16386" name="AutoShape 2" descr="https://resh.edu.ru/uploads/lesson_extract/7331/20200113122043/OEBPS/objects/t_info_7_14_13/5dccff2ae200247758101ba5.png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6392" name="Picture 8" descr="Группа Шрифт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214678" y="928670"/>
            <a:ext cx="2857497" cy="1507434"/>
          </a:xfrm>
          <a:prstGeom prst="rect">
            <a:avLst/>
          </a:prstGeom>
          <a:noFill/>
        </p:spPr>
      </p:pic>
      <p:sp>
        <p:nvSpPr>
          <p:cNvPr id="19" name="Прямоугольник 18"/>
          <p:cNvSpPr/>
          <p:nvPr/>
        </p:nvSpPr>
        <p:spPr>
          <a:xfrm>
            <a:off x="0" y="2428868"/>
            <a:ext cx="9144000" cy="41242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300" dirty="0">
                <a:latin typeface="Times New Roman" pitchFamily="18" charset="0"/>
                <a:cs typeface="Times New Roman" pitchFamily="18" charset="0"/>
              </a:rPr>
              <a:t>Данная группа объединяет в себе все функции по работе с оформлением текста.</a:t>
            </a:r>
          </a:p>
          <a:p>
            <a:pPr algn="just"/>
            <a:r>
              <a:rPr lang="ru-RU" sz="1300" dirty="0">
                <a:latin typeface="Times New Roman" pitchFamily="18" charset="0"/>
                <a:cs typeface="Times New Roman" pitchFamily="18" charset="0"/>
              </a:rPr>
              <a:t>1. Шрифт – выбор начертания текста из большого списка предустановленных шрифтов.</a:t>
            </a:r>
          </a:p>
          <a:p>
            <a:pPr algn="just"/>
            <a:r>
              <a:rPr lang="ru-RU" sz="1300" dirty="0">
                <a:latin typeface="Times New Roman" pitchFamily="18" charset="0"/>
                <a:cs typeface="Times New Roman" pitchFamily="18" charset="0"/>
              </a:rPr>
              <a:t>2. Размер шрифта – размер текста на странице.</a:t>
            </a:r>
          </a:p>
          <a:p>
            <a:pPr algn="just"/>
            <a:r>
              <a:rPr lang="ru-RU" sz="1300" dirty="0">
                <a:latin typeface="Times New Roman" pitchFamily="18" charset="0"/>
                <a:cs typeface="Times New Roman" pitchFamily="18" charset="0"/>
              </a:rPr>
              <a:t>3. Увеличение размера шрифта – при нажатии на данную кнопку каждый раз происходит увеличение размера текста.</a:t>
            </a:r>
          </a:p>
          <a:p>
            <a:pPr algn="just"/>
            <a:r>
              <a:rPr lang="ru-RU" sz="1300" dirty="0">
                <a:latin typeface="Times New Roman" pitchFamily="18" charset="0"/>
                <a:cs typeface="Times New Roman" pitchFamily="18" charset="0"/>
              </a:rPr>
              <a:t>4. Уменьшение размера шрифта – при нажатии на данную кнопку каждый раз происходит уменьшение размера текста.</a:t>
            </a:r>
          </a:p>
          <a:p>
            <a:pPr algn="just"/>
            <a:r>
              <a:rPr lang="ru-RU" sz="1300" dirty="0">
                <a:latin typeface="Times New Roman" pitchFamily="18" charset="0"/>
                <a:cs typeface="Times New Roman" pitchFamily="18" charset="0"/>
              </a:rPr>
              <a:t>5. Регистр – позволяет привести регистр букв в тесте к одному виду. Это может быть оформление как в предложениях – Первая буква после точки с заглавная, все строчные, ВСЕ ПРОПИСНЫЕ, Каждое Слово Начинается С Прописных и инвертирование регистра – </a:t>
            </a:r>
            <a:r>
              <a:rPr lang="ru-RU" sz="1300" dirty="0" err="1">
                <a:latin typeface="Times New Roman" pitchFamily="18" charset="0"/>
                <a:cs typeface="Times New Roman" pitchFamily="18" charset="0"/>
              </a:rPr>
              <a:t>зАГЛАВНЫЕ</a:t>
            </a:r>
            <a:r>
              <a:rPr lang="ru-RU" sz="1300" dirty="0">
                <a:latin typeface="Times New Roman" pitchFamily="18" charset="0"/>
                <a:cs typeface="Times New Roman" pitchFamily="18" charset="0"/>
              </a:rPr>
              <a:t> СТАНУТ СТРОЧНЫМИ, А СТРОЧНЫЕ </a:t>
            </a:r>
            <a:r>
              <a:rPr lang="ru-RU" sz="1300" dirty="0" err="1">
                <a:latin typeface="Times New Roman" pitchFamily="18" charset="0"/>
                <a:cs typeface="Times New Roman" pitchFamily="18" charset="0"/>
              </a:rPr>
              <a:t>зАГЛАВНЫМИ</a:t>
            </a:r>
            <a:r>
              <a:rPr lang="ru-RU" sz="13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r>
              <a:rPr lang="ru-RU" sz="1300" dirty="0">
                <a:latin typeface="Times New Roman" pitchFamily="18" charset="0"/>
                <a:cs typeface="Times New Roman" pitchFamily="18" charset="0"/>
              </a:rPr>
              <a:t>6. Удалить форматирование – убирается все форматирование текста. Остается лишь текст со стандартным оформлением.</a:t>
            </a:r>
          </a:p>
          <a:p>
            <a:pPr algn="just"/>
            <a:r>
              <a:rPr lang="ru-RU" sz="1300" dirty="0">
                <a:latin typeface="Times New Roman" pitchFamily="18" charset="0"/>
                <a:cs typeface="Times New Roman" pitchFamily="18" charset="0"/>
              </a:rPr>
              <a:t>7. Полужирный – выделение фрагмента текста полужирным начертанием.</a:t>
            </a:r>
          </a:p>
          <a:p>
            <a:pPr algn="just"/>
            <a:r>
              <a:rPr lang="ru-RU" sz="1300" dirty="0">
                <a:latin typeface="Times New Roman" pitchFamily="18" charset="0"/>
                <a:cs typeface="Times New Roman" pitchFamily="18" charset="0"/>
              </a:rPr>
              <a:t>8. Курсив – выделение фрагмента текста </a:t>
            </a:r>
            <a:r>
              <a:rPr lang="ru-RU" sz="1300" i="1" dirty="0">
                <a:latin typeface="Times New Roman" pitchFamily="18" charset="0"/>
                <a:cs typeface="Times New Roman" pitchFamily="18" charset="0"/>
              </a:rPr>
              <a:t>курсивным</a:t>
            </a:r>
            <a:r>
              <a:rPr lang="ru-RU" sz="1300" dirty="0">
                <a:latin typeface="Times New Roman" pitchFamily="18" charset="0"/>
                <a:cs typeface="Times New Roman" pitchFamily="18" charset="0"/>
              </a:rPr>
              <a:t> начертанием.</a:t>
            </a:r>
          </a:p>
          <a:p>
            <a:pPr algn="just"/>
            <a:r>
              <a:rPr lang="ru-RU" sz="1300" dirty="0">
                <a:latin typeface="Times New Roman" pitchFamily="18" charset="0"/>
                <a:cs typeface="Times New Roman" pitchFamily="18" charset="0"/>
              </a:rPr>
              <a:t>9. Подчеркнутый – подчеркивание выделенного фрагмента текста.</a:t>
            </a:r>
          </a:p>
          <a:p>
            <a:pPr algn="just"/>
            <a:r>
              <a:rPr lang="ru-RU" sz="1300" dirty="0">
                <a:latin typeface="Times New Roman" pitchFamily="18" charset="0"/>
                <a:cs typeface="Times New Roman" pitchFamily="18" charset="0"/>
              </a:rPr>
              <a:t>10. Зачеркнутый – зачеркивание выделенного текста.</a:t>
            </a:r>
          </a:p>
          <a:p>
            <a:pPr algn="just"/>
            <a:r>
              <a:rPr lang="ru-RU" sz="1300" dirty="0">
                <a:latin typeface="Times New Roman" pitchFamily="18" charset="0"/>
                <a:cs typeface="Times New Roman" pitchFamily="18" charset="0"/>
              </a:rPr>
              <a:t>11. Подстрочный текст – написание текста под основным текстом: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текст</a:t>
            </a:r>
            <a:r>
              <a:rPr lang="ru-RU" sz="1400" baseline="30000" dirty="0" err="1" smtClean="0">
                <a:latin typeface="Times New Roman" pitchFamily="18" charset="0"/>
                <a:cs typeface="Times New Roman" pitchFamily="18" charset="0"/>
              </a:rPr>
              <a:t>текст</a:t>
            </a:r>
            <a:endParaRPr lang="ru-RU" sz="13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1300" dirty="0">
                <a:latin typeface="Times New Roman" pitchFamily="18" charset="0"/>
                <a:cs typeface="Times New Roman" pitchFamily="18" charset="0"/>
              </a:rPr>
              <a:t>12. Надстрочный текст – написание текста над основным текстом: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текст</a:t>
            </a:r>
            <a:r>
              <a:rPr lang="ru-RU" sz="1400" baseline="-25000" dirty="0" err="1" smtClean="0">
                <a:latin typeface="Times New Roman" pitchFamily="18" charset="0"/>
                <a:cs typeface="Times New Roman" pitchFamily="18" charset="0"/>
              </a:rPr>
              <a:t>текст</a:t>
            </a:r>
            <a:endParaRPr lang="ru-RU" sz="13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1300" dirty="0">
                <a:latin typeface="Times New Roman" pitchFamily="18" charset="0"/>
                <a:cs typeface="Times New Roman" pitchFamily="18" charset="0"/>
              </a:rPr>
              <a:t>13. Текстовые эффекты и оформление – здесь вы сможете оформить текст: добавить к нему цвет, тень, отражение, подсветку и т.д.</a:t>
            </a:r>
          </a:p>
          <a:p>
            <a:pPr algn="just"/>
            <a:r>
              <a:rPr lang="ru-RU" sz="1300" dirty="0">
                <a:latin typeface="Times New Roman" pitchFamily="18" charset="0"/>
                <a:cs typeface="Times New Roman" pitchFamily="18" charset="0"/>
              </a:rPr>
              <a:t>14. Цвет выделения текста – это своеобразный </a:t>
            </a:r>
            <a:r>
              <a:rPr lang="ru-RU" sz="1300" dirty="0" err="1">
                <a:latin typeface="Times New Roman" pitchFamily="18" charset="0"/>
                <a:cs typeface="Times New Roman" pitchFamily="18" charset="0"/>
              </a:rPr>
              <a:t>текстовыделитель</a:t>
            </a:r>
            <a:r>
              <a:rPr lang="ru-RU" sz="1300" dirty="0">
                <a:latin typeface="Times New Roman" pitchFamily="18" charset="0"/>
                <a:cs typeface="Times New Roman" pitchFamily="18" charset="0"/>
              </a:rPr>
              <a:t> – меняется цвет фона. Вы сможете выделить текст любым цветом.</a:t>
            </a:r>
          </a:p>
          <a:p>
            <a:pPr algn="just"/>
            <a:r>
              <a:rPr lang="ru-RU" sz="1300" dirty="0">
                <a:latin typeface="Times New Roman" pitchFamily="18" charset="0"/>
                <a:cs typeface="Times New Roman" pitchFamily="18" charset="0"/>
              </a:rPr>
              <a:t>15. Цвет текста – здесь задается цвет текста</a:t>
            </a:r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sz="13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4"/>
            <a:ext cx="8229600" cy="1143000"/>
          </a:xfrm>
        </p:spPr>
        <p:txBody>
          <a:bodyPr>
            <a:normAutofit/>
          </a:bodyPr>
          <a:lstStyle/>
          <a:p>
            <a:r>
              <a:rPr lang="ru-RU" dirty="0" smtClean="0"/>
              <a:t>Вкладка Шрифт</a:t>
            </a:r>
            <a:endParaRPr lang="ru-RU" dirty="0"/>
          </a:p>
        </p:txBody>
      </p:sp>
      <p:sp>
        <p:nvSpPr>
          <p:cNvPr id="16386" name="AutoShape 2" descr="https://resh.edu.ru/uploads/lesson_extract/7331/20200113122043/OEBPS/objects/t_info_7_14_13/5dccff2ae200247758101ba5.png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638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43042" y="928670"/>
            <a:ext cx="5724525" cy="1428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7" name="Прямая со стрелкой 6"/>
          <p:cNvCxnSpPr/>
          <p:nvPr/>
        </p:nvCxnSpPr>
        <p:spPr>
          <a:xfrm rot="10800000">
            <a:off x="4429124" y="2285992"/>
            <a:ext cx="1071570" cy="285752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Прямоугольник 7"/>
          <p:cNvSpPr/>
          <p:nvPr/>
        </p:nvSpPr>
        <p:spPr>
          <a:xfrm>
            <a:off x="4214810" y="2071678"/>
            <a:ext cx="214314" cy="28575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6389" name="Picture 5" descr="Вкладка Шрифт 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112542" y="2786058"/>
            <a:ext cx="3173970" cy="3286148"/>
          </a:xfrm>
          <a:prstGeom prst="rect">
            <a:avLst/>
          </a:prstGeom>
          <a:noFill/>
        </p:spPr>
      </p:pic>
      <p:cxnSp>
        <p:nvCxnSpPr>
          <p:cNvPr id="10" name="Прямая со стрелкой 9"/>
          <p:cNvCxnSpPr>
            <a:endCxn id="16389" idx="0"/>
          </p:cNvCxnSpPr>
          <p:nvPr/>
        </p:nvCxnSpPr>
        <p:spPr>
          <a:xfrm rot="10800000" flipV="1">
            <a:off x="4699528" y="2571746"/>
            <a:ext cx="801171" cy="214312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Прямоугольник 8"/>
          <p:cNvSpPr/>
          <p:nvPr/>
        </p:nvSpPr>
        <p:spPr>
          <a:xfrm>
            <a:off x="0" y="6072206"/>
            <a:ext cx="914400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На этой вкладке содержатся дополнительные параметры для видоизменения текста</a:t>
            </a:r>
            <a:endParaRPr lang="ru-RU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4"/>
            <a:ext cx="8229600" cy="1143000"/>
          </a:xfrm>
        </p:spPr>
        <p:txBody>
          <a:bodyPr>
            <a:normAutofit/>
          </a:bodyPr>
          <a:lstStyle/>
          <a:p>
            <a:r>
              <a:rPr lang="ru-RU" dirty="0" smtClean="0"/>
              <a:t>Вкладка Абзац</a:t>
            </a:r>
            <a:endParaRPr lang="ru-RU" dirty="0"/>
          </a:p>
        </p:txBody>
      </p:sp>
      <p:sp>
        <p:nvSpPr>
          <p:cNvPr id="16386" name="AutoShape 2" descr="https://resh.edu.ru/uploads/lesson_extract/7331/20200113122043/OEBPS/objects/t_info_7_14_13/5dccff2ae200247758101ba5.png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8434" name="Picture 2" descr="Группа Абзац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357554" y="857232"/>
            <a:ext cx="2390772" cy="1421540"/>
          </a:xfrm>
          <a:prstGeom prst="rect">
            <a:avLst/>
          </a:prstGeom>
          <a:noFill/>
        </p:spPr>
      </p:pic>
      <p:sp>
        <p:nvSpPr>
          <p:cNvPr id="11" name="Прямоугольник 10"/>
          <p:cNvSpPr/>
          <p:nvPr/>
        </p:nvSpPr>
        <p:spPr>
          <a:xfrm>
            <a:off x="0" y="2235869"/>
            <a:ext cx="9144000" cy="46935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300" dirty="0">
                <a:latin typeface="Times New Roman" pitchFamily="18" charset="0"/>
                <a:cs typeface="Times New Roman" pitchFamily="18" charset="0"/>
              </a:rPr>
              <a:t>Здесь располагаются все функции, которые предполагают работу со списками, выравниванием текста и отступами.</a:t>
            </a:r>
          </a:p>
          <a:p>
            <a:pPr algn="just"/>
            <a:r>
              <a:rPr lang="ru-RU" sz="1300" dirty="0">
                <a:latin typeface="Times New Roman" pitchFamily="18" charset="0"/>
                <a:cs typeface="Times New Roman" pitchFamily="18" charset="0"/>
              </a:rPr>
              <a:t>1. Маркированный список – </a:t>
            </a:r>
            <a:r>
              <a:rPr lang="ru-RU" sz="1300" dirty="0" err="1">
                <a:latin typeface="Times New Roman" pitchFamily="18" charset="0"/>
                <a:cs typeface="Times New Roman" pitchFamily="18" charset="0"/>
              </a:rPr>
              <a:t>список</a:t>
            </a:r>
            <a:r>
              <a:rPr lang="ru-RU" sz="1300" dirty="0">
                <a:latin typeface="Times New Roman" pitchFamily="18" charset="0"/>
                <a:cs typeface="Times New Roman" pitchFamily="18" charset="0"/>
              </a:rPr>
              <a:t>, значения которого разделяются знаками: точкой, кружком, галкой и т.д.</a:t>
            </a:r>
          </a:p>
          <a:p>
            <a:pPr algn="just"/>
            <a:r>
              <a:rPr lang="ru-RU" sz="1300" dirty="0">
                <a:latin typeface="Times New Roman" pitchFamily="18" charset="0"/>
                <a:cs typeface="Times New Roman" pitchFamily="18" charset="0"/>
              </a:rPr>
              <a:t>2. Нумерованный список – </a:t>
            </a:r>
            <a:r>
              <a:rPr lang="ru-RU" sz="1300" dirty="0" err="1">
                <a:latin typeface="Times New Roman" pitchFamily="18" charset="0"/>
                <a:cs typeface="Times New Roman" pitchFamily="18" charset="0"/>
              </a:rPr>
              <a:t>список</a:t>
            </a:r>
            <a:r>
              <a:rPr lang="ru-RU" sz="1300" dirty="0">
                <a:latin typeface="Times New Roman" pitchFamily="18" charset="0"/>
                <a:cs typeface="Times New Roman" pitchFamily="18" charset="0"/>
              </a:rPr>
              <a:t>, значения которого автоматически нумеруются. Нумерованный список может быть арабскими, римскими цифрами, буквами латинского алфавита.</a:t>
            </a:r>
          </a:p>
          <a:p>
            <a:pPr algn="just"/>
            <a:r>
              <a:rPr lang="ru-RU" sz="1300" dirty="0">
                <a:latin typeface="Times New Roman" pitchFamily="18" charset="0"/>
                <a:cs typeface="Times New Roman" pitchFamily="18" charset="0"/>
              </a:rPr>
              <a:t>3. Многоуровневый список – такой список подразумевает наличие подуровней на каждом уровне списка. То есть у номер 1, могут быть подуровни 1.1, 1.2, 1.1.1 и т.д.</a:t>
            </a:r>
          </a:p>
          <a:p>
            <a:pPr algn="just"/>
            <a:r>
              <a:rPr lang="ru-RU" sz="1300" dirty="0">
                <a:latin typeface="Times New Roman" pitchFamily="18" charset="0"/>
                <a:cs typeface="Times New Roman" pitchFamily="18" charset="0"/>
              </a:rPr>
              <a:t>4. Уменьшить отступ – позволяет уменьшить отступ от края листа.</a:t>
            </a:r>
          </a:p>
          <a:p>
            <a:pPr algn="just"/>
            <a:r>
              <a:rPr lang="ru-RU" sz="1300" dirty="0">
                <a:latin typeface="Times New Roman" pitchFamily="18" charset="0"/>
                <a:cs typeface="Times New Roman" pitchFamily="18" charset="0"/>
              </a:rPr>
              <a:t>5. Увеличить отступ – позволяет увеличить отступ от края листа.</a:t>
            </a:r>
          </a:p>
          <a:p>
            <a:pPr algn="just"/>
            <a:r>
              <a:rPr lang="ru-RU" sz="1300" dirty="0">
                <a:latin typeface="Times New Roman" pitchFamily="18" charset="0"/>
                <a:cs typeface="Times New Roman" pitchFamily="18" charset="0"/>
              </a:rPr>
              <a:t>6. Сортировка – упорядочивает список по алфавиту или по числовым значениям. Чаще всего используется для упорядочивания списка в таблицах.</a:t>
            </a:r>
          </a:p>
          <a:p>
            <a:pPr algn="just"/>
            <a:r>
              <a:rPr lang="ru-RU" sz="1300" dirty="0">
                <a:latin typeface="Times New Roman" pitchFamily="18" charset="0"/>
                <a:cs typeface="Times New Roman" pitchFamily="18" charset="0"/>
              </a:rPr>
              <a:t>7. Отобразить все знаки – кнопка, которая отображает все скрытые знаки форматирования. Особенно полезна при выполнении сложного форматирования.</a:t>
            </a:r>
          </a:p>
          <a:p>
            <a:pPr algn="just"/>
            <a:r>
              <a:rPr lang="ru-RU" sz="1300" dirty="0">
                <a:latin typeface="Times New Roman" pitchFamily="18" charset="0"/>
                <a:cs typeface="Times New Roman" pitchFamily="18" charset="0"/>
              </a:rPr>
              <a:t>8. Выравнивание по левому краю – выравнивает текст по левому краю, правый край при этом получается «рваным».</a:t>
            </a:r>
          </a:p>
          <a:p>
            <a:pPr algn="just"/>
            <a:r>
              <a:rPr lang="ru-RU" sz="1300" dirty="0">
                <a:latin typeface="Times New Roman" pitchFamily="18" charset="0"/>
                <a:cs typeface="Times New Roman" pitchFamily="18" charset="0"/>
              </a:rPr>
              <a:t>9. Выравнивание по центру – текст располагается посередине листа, с правой и с левой стороны отступ от края листа одинаковый.</a:t>
            </a:r>
          </a:p>
          <a:p>
            <a:pPr algn="just"/>
            <a:r>
              <a:rPr lang="ru-RU" sz="1300" dirty="0">
                <a:latin typeface="Times New Roman" pitchFamily="18" charset="0"/>
                <a:cs typeface="Times New Roman" pitchFamily="18" charset="0"/>
              </a:rPr>
              <a:t>10. Выравнивание по правому краю – текст выравнивается по правому краю, при этом левый край текста будет неровным.</a:t>
            </a:r>
          </a:p>
          <a:p>
            <a:pPr algn="just"/>
            <a:r>
              <a:rPr lang="ru-RU" sz="1300" dirty="0">
                <a:latin typeface="Times New Roman" pitchFamily="18" charset="0"/>
                <a:cs typeface="Times New Roman" pitchFamily="18" charset="0"/>
              </a:rPr>
              <a:t>11. Выравнивание по ширине – как правая, так и левая сторона текста будет ровная. Текст автоматически распределяется по листу.</a:t>
            </a:r>
          </a:p>
          <a:p>
            <a:pPr algn="just"/>
            <a:r>
              <a:rPr lang="ru-RU" sz="1300" dirty="0">
                <a:latin typeface="Times New Roman" pitchFamily="18" charset="0"/>
                <a:cs typeface="Times New Roman" pitchFamily="18" charset="0"/>
              </a:rPr>
              <a:t>12. Интервал – позволяет увеличить отступ между строками текста. По умолчанию устанавливается интервал, равный 1,15. Для оформления рефератов и различных работ обычно используется полуторный или двойной интервал.</a:t>
            </a:r>
          </a:p>
          <a:p>
            <a:pPr algn="just"/>
            <a:r>
              <a:rPr lang="ru-RU" sz="1300" dirty="0">
                <a:latin typeface="Times New Roman" pitchFamily="18" charset="0"/>
                <a:cs typeface="Times New Roman" pitchFamily="18" charset="0"/>
              </a:rPr>
              <a:t>13. Заливка – с помощью данной кнопки вы сможете поменять цвет фона у выделенного текста или ячейки таблицы.</a:t>
            </a:r>
          </a:p>
          <a:p>
            <a:pPr algn="just"/>
            <a:r>
              <a:rPr lang="ru-RU" sz="1300" dirty="0">
                <a:latin typeface="Times New Roman" pitchFamily="18" charset="0"/>
                <a:cs typeface="Times New Roman" pitchFamily="18" charset="0"/>
              </a:rPr>
              <a:t>14. Границы – данная кнопка предназначена для работы с границами таблиц. Позволяет добавлять или убирать видимые границы </a:t>
            </a:r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к введенному тексту.</a:t>
            </a:r>
            <a:endParaRPr lang="ru-RU" sz="13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AutoShape 2" descr="https://resh.edu.ru/uploads/lesson_extract/7331/20200113122043/OEBPS/objects/t_info_7_14_13/5dccff2ae200247758101ba5.png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9459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00100" y="1071546"/>
            <a:ext cx="4076705" cy="42268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Прямоугольник 7"/>
          <p:cNvSpPr/>
          <p:nvPr/>
        </p:nvSpPr>
        <p:spPr>
          <a:xfrm>
            <a:off x="-1" y="5500702"/>
            <a:ext cx="9144001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Все параметры форматирования можно применять к отдельным словам или фразам </a:t>
            </a:r>
            <a:r>
              <a:rPr lang="ru-RU" sz="2200" b="1" dirty="0" smtClean="0">
                <a:latin typeface="Times New Roman" pitchFamily="18" charset="0"/>
                <a:cs typeface="Times New Roman" pitchFamily="18" charset="0"/>
              </a:rPr>
              <a:t>по щелчку правой кнопкой мыши</a:t>
            </a:r>
            <a:endParaRPr lang="ru-RU" sz="2200" b="1" dirty="0"/>
          </a:p>
        </p:txBody>
      </p:sp>
      <p:cxnSp>
        <p:nvCxnSpPr>
          <p:cNvPr id="9" name="Прямая со стрелкой 8"/>
          <p:cNvCxnSpPr/>
          <p:nvPr/>
        </p:nvCxnSpPr>
        <p:spPr>
          <a:xfrm rot="10800000" flipV="1">
            <a:off x="3714744" y="2143116"/>
            <a:ext cx="1785950" cy="285752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Прямоугольник 13"/>
          <p:cNvSpPr/>
          <p:nvPr/>
        </p:nvSpPr>
        <p:spPr>
          <a:xfrm>
            <a:off x="5500694" y="1785926"/>
            <a:ext cx="3643306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Быстрое сочетание клавиш </a:t>
            </a:r>
            <a:r>
              <a:rPr lang="en-US" sz="2200" b="1" dirty="0" err="1" smtClean="0">
                <a:latin typeface="Times New Roman" pitchFamily="18" charset="0"/>
                <a:cs typeface="Times New Roman" pitchFamily="18" charset="0"/>
              </a:rPr>
              <a:t>Ctrl+C</a:t>
            </a:r>
            <a:endParaRPr lang="ru-RU" sz="2200" b="1" dirty="0"/>
          </a:p>
        </p:txBody>
      </p:sp>
      <p:sp>
        <p:nvSpPr>
          <p:cNvPr id="15" name="Прямоугольник 14"/>
          <p:cNvSpPr/>
          <p:nvPr/>
        </p:nvSpPr>
        <p:spPr>
          <a:xfrm>
            <a:off x="5500694" y="3000372"/>
            <a:ext cx="3643306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Быстрое сочетание клавиш </a:t>
            </a:r>
            <a:r>
              <a:rPr lang="en-US" sz="2200" b="1" dirty="0" err="1" smtClean="0">
                <a:latin typeface="Times New Roman" pitchFamily="18" charset="0"/>
                <a:cs typeface="Times New Roman" pitchFamily="18" charset="0"/>
              </a:rPr>
              <a:t>Ctrl+V</a:t>
            </a:r>
            <a:endParaRPr lang="ru-RU" sz="2200" b="1" dirty="0"/>
          </a:p>
        </p:txBody>
      </p:sp>
      <p:cxnSp>
        <p:nvCxnSpPr>
          <p:cNvPr id="16" name="Прямая со стрелкой 15"/>
          <p:cNvCxnSpPr>
            <a:stCxn id="15" idx="1"/>
          </p:cNvCxnSpPr>
          <p:nvPr/>
        </p:nvCxnSpPr>
        <p:spPr>
          <a:xfrm rot="10800000">
            <a:off x="3571868" y="2714621"/>
            <a:ext cx="1928826" cy="670473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 стрелкой 19"/>
          <p:cNvCxnSpPr/>
          <p:nvPr/>
        </p:nvCxnSpPr>
        <p:spPr>
          <a:xfrm rot="10800000" flipV="1">
            <a:off x="3500430" y="1571612"/>
            <a:ext cx="2357454" cy="642942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Прямоугольник 22"/>
          <p:cNvSpPr/>
          <p:nvPr/>
        </p:nvSpPr>
        <p:spPr>
          <a:xfrm>
            <a:off x="5500694" y="500042"/>
            <a:ext cx="3643306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Удалить текст из текущей позиции + операция «Скопировать»</a:t>
            </a:r>
            <a:endParaRPr lang="ru-RU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AutoShape 2" descr="https://resh.edu.ru/uploads/lesson_extract/7331/20200113122043/OEBPS/objects/t_info_7_14_13/5dccff2ae200247758101ba5.png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786050" y="1000108"/>
            <a:ext cx="3676650" cy="1114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Заголовок 1"/>
          <p:cNvSpPr>
            <a:spLocks noGrp="1"/>
          </p:cNvSpPr>
          <p:nvPr>
            <p:ph type="title"/>
          </p:nvPr>
        </p:nvSpPr>
        <p:spPr>
          <a:xfrm>
            <a:off x="457200" y="-24"/>
            <a:ext cx="8229600" cy="1143000"/>
          </a:xfrm>
        </p:spPr>
        <p:txBody>
          <a:bodyPr>
            <a:normAutofit/>
          </a:bodyPr>
          <a:lstStyle/>
          <a:p>
            <a:r>
              <a:rPr lang="ru-RU" dirty="0" smtClean="0"/>
              <a:t>Меню Вставка</a:t>
            </a:r>
            <a:endParaRPr lang="ru-RU" dirty="0"/>
          </a:p>
        </p:txBody>
      </p:sp>
      <p:sp>
        <p:nvSpPr>
          <p:cNvPr id="13" name="Прямоугольник 12"/>
          <p:cNvSpPr/>
          <p:nvPr/>
        </p:nvSpPr>
        <p:spPr>
          <a:xfrm>
            <a:off x="0" y="2143116"/>
            <a:ext cx="91440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>
                <a:latin typeface="Times New Roman" pitchFamily="18" charset="0"/>
                <a:cs typeface="Times New Roman" pitchFamily="18" charset="0"/>
              </a:rPr>
              <a:t>Инструмент </a:t>
            </a:r>
            <a:r>
              <a:rPr lang="ru-RU" b="1" dirty="0">
                <a:latin typeface="Times New Roman" pitchFamily="18" charset="0"/>
                <a:cs typeface="Times New Roman" pitchFamily="18" charset="0"/>
              </a:rPr>
              <a:t>«Рисунок»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позволяет вставить существующий рисунок, сохранённый на компьютере или съёмном носителе. При нажатии на кнопку «Рисунок» откроется окно выбора файла,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и после выбора рисунок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будет вставлен в документ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 коллекции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«Клип»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хранится подборка картинок текстового редактора.</a:t>
            </a:r>
          </a:p>
          <a:p>
            <a:pPr algn="just"/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Инструмент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«Фигуры»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используется для добавления графических примитивов. Необходимо выбранный примитив методом протягивания разместить на странице. Для сохранения правильных пропорций фигур при рисовании нужно удерживать клавишу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Shift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 При выделенной фигуре на ленте появляется дополнительная вкладка Формат инструмента Средства рисования.</a:t>
            </a:r>
          </a:p>
          <a:p>
            <a:pPr algn="just"/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Объекты 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SmartArt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используются для быстрого создания различных красочных схем.</a:t>
            </a:r>
          </a:p>
          <a:p>
            <a:pPr algn="just"/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Вкладка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«Диаграмма»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в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Microsoft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Word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позволяет визуально передавать данные и указывать на соотношения в таблице, которые можно не заметить.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AutoShape 2" descr="https://resh.edu.ru/uploads/lesson_extract/7331/20200113122043/OEBPS/objects/t_info_7_14_13/5dccff2ae200247758101ba5.png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2" name="Заголовок 1"/>
          <p:cNvSpPr>
            <a:spLocks noGrp="1"/>
          </p:cNvSpPr>
          <p:nvPr>
            <p:ph type="title"/>
          </p:nvPr>
        </p:nvSpPr>
        <p:spPr>
          <a:xfrm>
            <a:off x="457200" y="-24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 smtClean="0"/>
              <a:t>WordArt</a:t>
            </a:r>
            <a:endParaRPr lang="ru-RU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0" y="928670"/>
            <a:ext cx="9144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b="1" dirty="0" err="1">
                <a:latin typeface="Times New Roman" pitchFamily="18" charset="0"/>
                <a:cs typeface="Times New Roman" pitchFamily="18" charset="0"/>
              </a:rPr>
              <a:t>WordArt</a:t>
            </a: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 в </a:t>
            </a:r>
            <a:r>
              <a:rPr lang="ru-RU" sz="2400" b="1" dirty="0" err="1">
                <a:latin typeface="Times New Roman" pitchFamily="18" charset="0"/>
                <a:cs typeface="Times New Roman" pitchFamily="18" charset="0"/>
              </a:rPr>
              <a:t>Microsoft</a:t>
            </a: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b="1" dirty="0" err="1">
                <a:latin typeface="Times New Roman" pitchFamily="18" charset="0"/>
                <a:cs typeface="Times New Roman" pitchFamily="18" charset="0"/>
              </a:rPr>
              <a:t>Word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 — это </a:t>
            </a: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коллекция текстовых стилей, которые можно добавлять в документы для создания декоративных эффектов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, таких как тени или отражённый текст. </a:t>
            </a:r>
          </a:p>
          <a:p>
            <a:pPr algn="just"/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С помощью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WordArt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можно, например, растянуть заголовок, наклонить текст, вписать текст в фигуру или применить градиентную заливку.</a:t>
            </a:r>
          </a:p>
        </p:txBody>
      </p:sp>
      <p:pic>
        <p:nvPicPr>
          <p:cNvPr id="23554" name="Picture 2" descr="Picture background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14546" y="3161131"/>
            <a:ext cx="4929158" cy="3696869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/>
          <a:lstStyle/>
          <a:p>
            <a:r>
              <a:rPr lang="en-US" dirty="0" err="1" smtClean="0"/>
              <a:t>SmartArt</a:t>
            </a: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0" y="928670"/>
            <a:ext cx="9144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SmartArt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 в </a:t>
            </a:r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Microsoft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Word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 — инструмент для создания ярких и информативных визуализаций. С его помощью можно кратко и наглядно излагать важную информацию в графическом виде.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28662" y="2285992"/>
            <a:ext cx="7124029" cy="45720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AutoShape 2" descr="https://resh.edu.ru/uploads/lesson_extract/7331/20200113122043/OEBPS/objects/t_info_7_14_13/5dccff2ae200247758101ba5.png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2" name="Заголовок 1"/>
          <p:cNvSpPr>
            <a:spLocks noGrp="1"/>
          </p:cNvSpPr>
          <p:nvPr>
            <p:ph type="title"/>
          </p:nvPr>
        </p:nvSpPr>
        <p:spPr>
          <a:xfrm>
            <a:off x="457200" y="-24"/>
            <a:ext cx="8229600" cy="1143000"/>
          </a:xfrm>
        </p:spPr>
        <p:txBody>
          <a:bodyPr>
            <a:normAutofit/>
          </a:bodyPr>
          <a:lstStyle/>
          <a:p>
            <a:r>
              <a:rPr lang="ru-RU" dirty="0" smtClean="0"/>
              <a:t>Таблицы</a:t>
            </a:r>
            <a:endParaRPr lang="ru-RU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0" y="928670"/>
            <a:ext cx="9144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Таблица в программе </a:t>
            </a:r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Word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 —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это совокупность строк и столбцов, которые состоят из прямоугольных блоков — ячеек. В них можно заполнять текстовыми или графическими данными.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0" y="2143116"/>
            <a:ext cx="4572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Способ создания №1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Перейдите: меню «Вставка» → «Таблица».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 сетке выделите нужное количество строк и столбцов. Например, 3×4.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Нажмите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Enter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— таблица появится в документе.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85852" y="3786190"/>
            <a:ext cx="2635208" cy="3071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Прямоугольник 8"/>
          <p:cNvSpPr/>
          <p:nvPr/>
        </p:nvSpPr>
        <p:spPr>
          <a:xfrm>
            <a:off x="4572000" y="2031864"/>
            <a:ext cx="4572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Способ создания №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2</a:t>
            </a:r>
            <a:endParaRPr lang="ru-RU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Перейдите: меню «Вставка» → «Таблица» → «Нарисовать таблицу».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Курсор превратится в карандаш. Нарисуйте прямоугольник — это будет граница таблицы.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Проведите линии внутри, чтобы добавить строки и столбцы.</a:t>
            </a:r>
          </a:p>
          <a:p>
            <a:pPr algn="just"/>
            <a:endParaRPr lang="ru-RU" dirty="0" smtClean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000760" y="4026005"/>
            <a:ext cx="1656599" cy="2831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365</Words>
  <Application>Microsoft Office PowerPoint</Application>
  <PresentationFormat>Экран (4:3)</PresentationFormat>
  <Paragraphs>82</Paragraphs>
  <Slides>12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3" baseType="lpstr">
      <vt:lpstr>Тема Office</vt:lpstr>
      <vt:lpstr>Работа с текстом</vt:lpstr>
      <vt:lpstr>MS Word как информационная технология</vt:lpstr>
      <vt:lpstr>MS Word как информационная технология</vt:lpstr>
      <vt:lpstr>Рабочее поле MS Word</vt:lpstr>
      <vt:lpstr>Вкладка Шрифт</vt:lpstr>
      <vt:lpstr>Вкладка Шрифт</vt:lpstr>
      <vt:lpstr>Вкладка Абзац</vt:lpstr>
      <vt:lpstr>Слайд 8</vt:lpstr>
      <vt:lpstr>Меню Вставка</vt:lpstr>
      <vt:lpstr>WordArt</vt:lpstr>
      <vt:lpstr>SmartArt</vt:lpstr>
      <vt:lpstr>Таблицы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Работа с текстом</dc:title>
  <dc:creator>user</dc:creator>
  <cp:lastModifiedBy>user</cp:lastModifiedBy>
  <cp:revision>10</cp:revision>
  <dcterms:created xsi:type="dcterms:W3CDTF">2025-02-07T10:21:27Z</dcterms:created>
  <dcterms:modified xsi:type="dcterms:W3CDTF">2025-09-24T09:53:46Z</dcterms:modified>
</cp:coreProperties>
</file>