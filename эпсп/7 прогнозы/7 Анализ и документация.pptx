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8" r:id="rId4"/>
    <p:sldId id="266" r:id="rId5"/>
    <p:sldId id="269" r:id="rId6"/>
    <p:sldId id="270" r:id="rId7"/>
    <p:sldId id="258" r:id="rId8"/>
    <p:sldId id="267" r:id="rId9"/>
    <p:sldId id="265" r:id="rId10"/>
    <p:sldId id="271" r:id="rId11"/>
    <p:sldId id="272" r:id="rId12"/>
    <p:sldId id="273" r:id="rId1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EEEE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161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DBB08-F6AD-4B9E-A2D8-7F4CDC30666D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pt-online.org/262620?ysclid=m8d4eavrv2603088131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Практическая работа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Анализ табличных данных и прогнозирование</a:t>
            </a:r>
            <a:br>
              <a:rPr lang="ru-RU" dirty="0" smtClean="0"/>
            </a:b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1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642918"/>
            <a:ext cx="9144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Корреляционный анализ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– популярный метод статистического исследования, который используется для выявления степени зависимости одного показателя от другого. В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имеется специальный инструмент, предназначенный для выполнения этого типа анализа.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«КОРРЕЛ» в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— это функция, которая рассчитывает коэффициент корреляции между двумя исследуемыми массивами данных.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Коэффициент корреляции используется для определения взаимосвязи между двумя свойствами.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148" name="Picture 4" descr="Используйте функцию CORREL для возврата коэффициента корреляции двух наборов данных в столбце A &amp; B с =CORREL(A1:A6, B2:B6). Результат — 0,997054486.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14612" y="4055673"/>
            <a:ext cx="3314706" cy="26594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1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714356"/>
            <a:ext cx="7762875" cy="286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5" name="Прямая со стрелкой 14"/>
          <p:cNvCxnSpPr>
            <a:stCxn id="16" idx="0"/>
          </p:cNvCxnSpPr>
          <p:nvPr/>
        </p:nvCxnSpPr>
        <p:spPr>
          <a:xfrm rot="16200000" flipV="1">
            <a:off x="5715000" y="2214562"/>
            <a:ext cx="1500198" cy="164305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072198" y="3786190"/>
            <a:ext cx="24288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Точечная диаграмма по двум столбцам</a:t>
            </a:r>
          </a:p>
        </p:txBody>
      </p:sp>
      <p:sp>
        <p:nvSpPr>
          <p:cNvPr id="19" name="Прямоугольник 18"/>
          <p:cNvSpPr/>
          <p:nvPr/>
        </p:nvSpPr>
        <p:spPr>
          <a:xfrm>
            <a:off x="0" y="5286388"/>
            <a:ext cx="9144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Примечание</a:t>
            </a:r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: при нажатии правой кнопкой мыши по точкам необходимо выбрать «Добавить линию тренда». Все необходимые для настройки параметры находятся на вкладке «Параметры линии тренда («показывать уравнение» и т.п.)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1</a:t>
            </a:r>
            <a:r>
              <a:rPr lang="en-US" sz="3200" b="1" dirty="0" smtClean="0">
                <a:latin typeface="Cambria" pitchFamily="18" charset="0"/>
                <a:ea typeface="+mj-ea"/>
                <a:cs typeface="+mj-cs"/>
              </a:rPr>
              <a:t>: </a:t>
            </a:r>
            <a:r>
              <a:rPr lang="ru-RU" sz="3200" b="1" dirty="0" smtClean="0">
                <a:latin typeface="Cambria" pitchFamily="18" charset="0"/>
                <a:ea typeface="+mj-ea"/>
                <a:cs typeface="+mj-cs"/>
              </a:rPr>
              <a:t>Уравнение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857232"/>
            <a:ext cx="4071966" cy="5530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00694" y="3000372"/>
            <a:ext cx="3133725" cy="2609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5" name="Прямая со стрелкой 14"/>
          <p:cNvCxnSpPr/>
          <p:nvPr/>
        </p:nvCxnSpPr>
        <p:spPr>
          <a:xfrm rot="10800000" flipV="1">
            <a:off x="357158" y="3571876"/>
            <a:ext cx="3286148" cy="221457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/>
          <p:nvPr/>
        </p:nvCxnSpPr>
        <p:spPr>
          <a:xfrm flipV="1">
            <a:off x="3643306" y="3286124"/>
            <a:ext cx="2571768" cy="28575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14876" y="1214422"/>
            <a:ext cx="2733690" cy="976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2" name="Прямая со стрелкой 21"/>
          <p:cNvCxnSpPr/>
          <p:nvPr/>
        </p:nvCxnSpPr>
        <p:spPr>
          <a:xfrm rot="16200000" flipV="1">
            <a:off x="4786314" y="1857364"/>
            <a:ext cx="1643074" cy="121444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1</a:t>
            </a:r>
            <a:r>
              <a:rPr lang="en-US" sz="3200" b="1" dirty="0" smtClean="0">
                <a:latin typeface="Cambria" pitchFamily="18" charset="0"/>
                <a:ea typeface="+mj-ea"/>
                <a:cs typeface="+mj-cs"/>
              </a:rPr>
              <a:t>: </a:t>
            </a:r>
            <a:r>
              <a:rPr lang="ru-RU" sz="3200" b="1" dirty="0" smtClean="0">
                <a:latin typeface="Cambria" pitchFamily="18" charset="0"/>
                <a:ea typeface="+mj-ea"/>
                <a:cs typeface="+mj-cs"/>
              </a:rPr>
              <a:t>Тенденция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85794"/>
            <a:ext cx="6053794" cy="5072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9" name="Прямая со стрелкой 8"/>
          <p:cNvCxnSpPr/>
          <p:nvPr/>
        </p:nvCxnSpPr>
        <p:spPr>
          <a:xfrm rot="5400000">
            <a:off x="5250661" y="2964653"/>
            <a:ext cx="1643074" cy="157163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072198" y="2428868"/>
            <a:ext cx="2428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Ctrl+Shift+Enter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-214346" y="5786454"/>
            <a:ext cx="6143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Функция ТЕНДЕНЦИЯ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" name="Прямая со стрелкой 6"/>
          <p:cNvCxnSpPr/>
          <p:nvPr/>
        </p:nvCxnSpPr>
        <p:spPr>
          <a:xfrm rot="10800000" flipV="1">
            <a:off x="6000760" y="4214818"/>
            <a:ext cx="928694" cy="79534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Прямоугольник 11"/>
          <p:cNvSpPr/>
          <p:nvPr/>
        </p:nvSpPr>
        <p:spPr>
          <a:xfrm>
            <a:off x="3214678" y="4357694"/>
            <a:ext cx="2786082" cy="15001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6429388" y="3357562"/>
            <a:ext cx="24288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Функция работает над диапазоном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2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0" y="785794"/>
            <a:ext cx="9144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Сводные таблицы в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— 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это инструмент для анализа данных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 Они собирают информацию из обычных таблиц, обрабатывают её, группируют в блоки, проводят необходимые вычисления и показывают итог в виде наглядного отчёта.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2857496"/>
            <a:ext cx="7466135" cy="2543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Прямоугольник 12"/>
          <p:cNvSpPr/>
          <p:nvPr/>
        </p:nvSpPr>
        <p:spPr>
          <a:xfrm>
            <a:off x="857224" y="4071942"/>
            <a:ext cx="1857356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2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714356"/>
            <a:ext cx="5303482" cy="33909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0" name="Прямая со стрелкой 9"/>
          <p:cNvCxnSpPr>
            <a:stCxn id="11" idx="0"/>
          </p:cNvCxnSpPr>
          <p:nvPr/>
        </p:nvCxnSpPr>
        <p:spPr>
          <a:xfrm rot="16200000" flipV="1">
            <a:off x="5965033" y="640589"/>
            <a:ext cx="571504" cy="278606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29388" y="2319374"/>
            <a:ext cx="24288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Диапазон исходной таблицы (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с заголовками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572000" y="4396941"/>
            <a:ext cx="45720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После создания сводной таблицы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откроет панель «Поля сводной таблицы»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Здесь можно выбрать, какие данные включить в сводную таблицу, перетаскивая поля из списка в одну из четырёх областей: «Строки», «Столбцы», «Значения» и «Фильтры».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4357694"/>
            <a:ext cx="4581456" cy="24288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0"/>
            <a:ext cx="2246174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2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cxnSp>
        <p:nvCxnSpPr>
          <p:cNvPr id="9" name="Прямая со стрелкой 8"/>
          <p:cNvCxnSpPr>
            <a:stCxn id="12" idx="1"/>
          </p:cNvCxnSpPr>
          <p:nvPr/>
        </p:nvCxnSpPr>
        <p:spPr>
          <a:xfrm rot="10800000">
            <a:off x="1071554" y="1071546"/>
            <a:ext cx="1500183" cy="171352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571736" y="2000240"/>
            <a:ext cx="31432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При выборе данных будет формироваться таблица в выбранном диапазоне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4" name="Прямая со стрелкой 13"/>
          <p:cNvCxnSpPr/>
          <p:nvPr/>
        </p:nvCxnSpPr>
        <p:spPr>
          <a:xfrm rot="10800000" flipV="1">
            <a:off x="2571736" y="4714884"/>
            <a:ext cx="1428760" cy="50006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000496" y="4214818"/>
            <a:ext cx="39290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Выбранные значения заносятся сюда. Их можно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перетаскивать мышкой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285720" y="3714752"/>
            <a:ext cx="2286016" cy="31432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43636" y="714356"/>
            <a:ext cx="3000364" cy="2152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2" name="Прямая со стрелкой 21"/>
          <p:cNvCxnSpPr>
            <a:stCxn id="12" idx="3"/>
            <a:endCxn id="3076" idx="1"/>
          </p:cNvCxnSpPr>
          <p:nvPr/>
        </p:nvCxnSpPr>
        <p:spPr>
          <a:xfrm flipV="1">
            <a:off x="5715008" y="1790679"/>
            <a:ext cx="428628" cy="994391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</a:t>
            </a: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2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571480"/>
            <a:ext cx="9067800" cy="483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0" y="5286388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Примечание</a:t>
            </a:r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: созданные сводные таблицы можно визуализировать и фильтровать также, как и обычные данные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400" i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9"/>
          <p:cNvGrpSpPr/>
          <p:nvPr/>
        </p:nvGrpSpPr>
        <p:grpSpPr>
          <a:xfrm>
            <a:off x="571472" y="4000504"/>
            <a:ext cx="8010525" cy="2647950"/>
            <a:chOff x="571472" y="4000504"/>
            <a:chExt cx="8010525" cy="2647950"/>
          </a:xfrm>
        </p:grpSpPr>
        <p:grpSp>
          <p:nvGrpSpPr>
            <p:cNvPr id="3" name="Группа 15"/>
            <p:cNvGrpSpPr/>
            <p:nvPr/>
          </p:nvGrpSpPr>
          <p:grpSpPr>
            <a:xfrm>
              <a:off x="571472" y="4000504"/>
              <a:ext cx="8010525" cy="2647950"/>
              <a:chOff x="1133475" y="3929066"/>
              <a:chExt cx="8010525" cy="2647950"/>
            </a:xfrm>
          </p:grpSpPr>
          <p:pic>
            <p:nvPicPr>
              <p:cNvPr id="1027" name="Picture 3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1133475" y="3929066"/>
                <a:ext cx="8010525" cy="26479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15" name="Прямоугольник 14"/>
              <p:cNvSpPr/>
              <p:nvPr/>
            </p:nvSpPr>
            <p:spPr>
              <a:xfrm>
                <a:off x="2000232" y="4357694"/>
                <a:ext cx="4857784" cy="14287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19" name="Прямоугольник 18"/>
            <p:cNvSpPr/>
            <p:nvPr/>
          </p:nvSpPr>
          <p:spPr>
            <a:xfrm>
              <a:off x="2214546" y="5214950"/>
              <a:ext cx="4143404" cy="2143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Слияние данных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14546" y="995366"/>
            <a:ext cx="4752975" cy="293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Прямая со стрелкой 7"/>
          <p:cNvCxnSpPr/>
          <p:nvPr/>
        </p:nvCxnSpPr>
        <p:spPr>
          <a:xfrm>
            <a:off x="6367451" y="5572140"/>
            <a:ext cx="714380" cy="28575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rot="10800000">
            <a:off x="3581370" y="5572140"/>
            <a:ext cx="2776581" cy="158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Прямоугольник 20"/>
          <p:cNvSpPr/>
          <p:nvPr/>
        </p:nvSpPr>
        <p:spPr>
          <a:xfrm>
            <a:off x="0" y="500042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  <a:hlinkClick r:id="rId4"/>
              </a:rPr>
              <a:t>https://ppt-online.org/262620?ysclid=m8d4eavrv2603088131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Слияние данных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8434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71480"/>
            <a:ext cx="9086850" cy="6477000"/>
          </a:xfrm>
          <a:prstGeom prst="rect">
            <a:avLst/>
          </a:prstGeom>
          <a:noFill/>
        </p:spPr>
      </p:pic>
      <p:sp>
        <p:nvSpPr>
          <p:cNvPr id="10" name="Прямоугольник 9"/>
          <p:cNvSpPr/>
          <p:nvPr/>
        </p:nvSpPr>
        <p:spPr>
          <a:xfrm>
            <a:off x="7286644" y="4214818"/>
            <a:ext cx="1214446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Создание </a:t>
            </a: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правил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 </a:t>
            </a: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и итоговый документ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 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28670"/>
            <a:ext cx="3143250" cy="246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Рисунок 5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14612" y="642918"/>
            <a:ext cx="6429388" cy="3103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Рисунок 4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4857760"/>
            <a:ext cx="3935351" cy="1357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157103" y="3643290"/>
            <a:ext cx="2986897" cy="3214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4286248" y="5000636"/>
            <a:ext cx="152477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ИЛИ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</TotalTime>
  <Words>236</Words>
  <Application>Microsoft Office PowerPoint</Application>
  <PresentationFormat>Экран (4:3)</PresentationFormat>
  <Paragraphs>27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Тема Office</vt:lpstr>
      <vt:lpstr>Практическая работа  Анализ табличных данных и прогнозирование 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Практическая работа Оптимизация</dc:title>
  <dc:creator>user</dc:creator>
  <cp:lastModifiedBy>user</cp:lastModifiedBy>
  <cp:revision>34</cp:revision>
  <dcterms:created xsi:type="dcterms:W3CDTF">2025-01-01T12:55:25Z</dcterms:created>
  <dcterms:modified xsi:type="dcterms:W3CDTF">2025-09-24T10:35:38Z</dcterms:modified>
</cp:coreProperties>
</file>