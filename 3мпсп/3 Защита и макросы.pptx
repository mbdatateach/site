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4" r:id="rId5"/>
    <p:sldId id="267" r:id="rId6"/>
    <p:sldId id="269" r:id="rId7"/>
    <p:sldId id="268" r:id="rId8"/>
    <p:sldId id="270" r:id="rId9"/>
    <p:sldId id="271" r:id="rId10"/>
    <p:sldId id="272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B55BDE-7E86-43B1-A4C9-0507AFCBAF08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93AF4AE-4FCF-4289-B57F-EEAB44AD4284}">
      <dgm:prSet phldrT="[Текст]"/>
      <dgm:spPr/>
      <dgm:t>
        <a:bodyPr/>
        <a:lstStyle/>
        <a:p>
          <a:r>
            <a:rPr lang="ru-RU" dirty="0" smtClean="0"/>
            <a:t>В режиме программирования</a:t>
          </a:r>
          <a:endParaRPr lang="ru-RU" dirty="0"/>
        </a:p>
      </dgm:t>
    </dgm:pt>
    <dgm:pt modelId="{8D79C3BA-0F51-4B64-B7BE-02B11FD39D15}" type="parTrans" cxnId="{D4839DB9-2C7D-469F-9328-FDC2BCCC4253}">
      <dgm:prSet/>
      <dgm:spPr/>
      <dgm:t>
        <a:bodyPr/>
        <a:lstStyle/>
        <a:p>
          <a:endParaRPr lang="ru-RU"/>
        </a:p>
      </dgm:t>
    </dgm:pt>
    <dgm:pt modelId="{F21A46AA-9FC8-4B74-B815-B30F9BC3B67D}" type="sibTrans" cxnId="{D4839DB9-2C7D-469F-9328-FDC2BCCC4253}">
      <dgm:prSet/>
      <dgm:spPr/>
      <dgm:t>
        <a:bodyPr/>
        <a:lstStyle/>
        <a:p>
          <a:endParaRPr lang="ru-RU"/>
        </a:p>
      </dgm:t>
    </dgm:pt>
    <dgm:pt modelId="{C6D77ED8-3574-4ED9-9BE7-58501D2040FD}">
      <dgm:prSet phldrT="[Текст]"/>
      <dgm:spPr/>
      <dgm:t>
        <a:bodyPr/>
        <a:lstStyle/>
        <a:p>
          <a:pPr algn="just"/>
          <a:r>
            <a:rPr lang="ru-RU" dirty="0" smtClean="0"/>
            <a:t>Вводится код на языке </a:t>
          </a:r>
          <a:r>
            <a:rPr lang="en-US" dirty="0" smtClean="0"/>
            <a:t>Visual Basic </a:t>
          </a:r>
          <a:r>
            <a:rPr lang="ru-RU" dirty="0" smtClean="0"/>
            <a:t>для приложений </a:t>
          </a:r>
          <a:r>
            <a:rPr lang="en-US" dirty="0" smtClean="0"/>
            <a:t>VBA (Visual Basic for Applications)</a:t>
          </a:r>
          <a:endParaRPr lang="ru-RU" dirty="0"/>
        </a:p>
      </dgm:t>
    </dgm:pt>
    <dgm:pt modelId="{B6392C7E-AD07-45E8-B637-C273160D341F}" type="parTrans" cxnId="{3B0E4B3A-5042-4E0F-99F8-95E53D3A6638}">
      <dgm:prSet/>
      <dgm:spPr/>
      <dgm:t>
        <a:bodyPr/>
        <a:lstStyle/>
        <a:p>
          <a:endParaRPr lang="ru-RU"/>
        </a:p>
      </dgm:t>
    </dgm:pt>
    <dgm:pt modelId="{4A82ACA7-909A-4F6B-BD04-47294599D5E5}" type="sibTrans" cxnId="{3B0E4B3A-5042-4E0F-99F8-95E53D3A6638}">
      <dgm:prSet/>
      <dgm:spPr/>
      <dgm:t>
        <a:bodyPr/>
        <a:lstStyle/>
        <a:p>
          <a:endParaRPr lang="ru-RU"/>
        </a:p>
      </dgm:t>
    </dgm:pt>
    <dgm:pt modelId="{3A06C698-6A97-4DFD-8CF1-6FF88B3A999C}">
      <dgm:prSet phldrT="[Текст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ru-RU" b="1" dirty="0" smtClean="0">
              <a:solidFill>
                <a:schemeClr val="tx1"/>
              </a:solidFill>
            </a:rPr>
            <a:t>В режиме «обучения» редактора</a:t>
          </a:r>
          <a:endParaRPr lang="ru-RU" b="1" dirty="0">
            <a:solidFill>
              <a:schemeClr val="tx1"/>
            </a:solidFill>
          </a:endParaRPr>
        </a:p>
      </dgm:t>
    </dgm:pt>
    <dgm:pt modelId="{88233F48-EFC3-4C6E-9A41-0BEA5D5D4910}" type="parTrans" cxnId="{E5CC9652-3C9C-4A7E-A35E-0967932C143A}">
      <dgm:prSet/>
      <dgm:spPr/>
      <dgm:t>
        <a:bodyPr/>
        <a:lstStyle/>
        <a:p>
          <a:endParaRPr lang="ru-RU"/>
        </a:p>
      </dgm:t>
    </dgm:pt>
    <dgm:pt modelId="{17222EFE-93E0-44B1-9F1E-421CFD147462}" type="sibTrans" cxnId="{E5CC9652-3C9C-4A7E-A35E-0967932C143A}">
      <dgm:prSet/>
      <dgm:spPr/>
      <dgm:t>
        <a:bodyPr/>
        <a:lstStyle/>
        <a:p>
          <a:endParaRPr lang="ru-RU"/>
        </a:p>
      </dgm:t>
    </dgm:pt>
    <dgm:pt modelId="{819133D5-4ECF-4CEC-895C-00D2B5A98408}">
      <dgm:prSet phldrT="[Текст]"/>
      <dgm:spPr>
        <a:solidFill>
          <a:schemeClr val="accent6">
            <a:lumMod val="20000"/>
            <a:lumOff val="80000"/>
            <a:alpha val="90000"/>
          </a:schemeClr>
        </a:solidFill>
      </dgm:spPr>
      <dgm:t>
        <a:bodyPr/>
        <a:lstStyle/>
        <a:p>
          <a:pPr algn="just"/>
          <a:r>
            <a:rPr lang="ru-RU" dirty="0" smtClean="0"/>
            <a:t>Используются средства для записи макросов в виде последовательности действий</a:t>
          </a:r>
          <a:endParaRPr lang="ru-RU" dirty="0"/>
        </a:p>
      </dgm:t>
    </dgm:pt>
    <dgm:pt modelId="{ED62D1C4-C8C8-4153-A096-B0AF033E8F35}" type="parTrans" cxnId="{DD5A8FCA-C123-48BB-A29D-535A0D65505E}">
      <dgm:prSet/>
      <dgm:spPr/>
      <dgm:t>
        <a:bodyPr/>
        <a:lstStyle/>
        <a:p>
          <a:endParaRPr lang="ru-RU"/>
        </a:p>
      </dgm:t>
    </dgm:pt>
    <dgm:pt modelId="{FD625B32-83E6-4AED-A17D-280FF9820565}" type="sibTrans" cxnId="{DD5A8FCA-C123-48BB-A29D-535A0D65505E}">
      <dgm:prSet/>
      <dgm:spPr/>
      <dgm:t>
        <a:bodyPr/>
        <a:lstStyle/>
        <a:p>
          <a:endParaRPr lang="ru-RU"/>
        </a:p>
      </dgm:t>
    </dgm:pt>
    <dgm:pt modelId="{85151C5D-5F51-4AA8-B62C-ECD6A995831D}" type="pres">
      <dgm:prSet presAssocID="{EDB55BDE-7E86-43B1-A4C9-0507AFCBAF08}" presName="Name0" presStyleCnt="0">
        <dgm:presLayoutVars>
          <dgm:dir/>
          <dgm:animLvl val="lvl"/>
          <dgm:resizeHandles/>
        </dgm:presLayoutVars>
      </dgm:prSet>
      <dgm:spPr/>
      <dgm:t>
        <a:bodyPr/>
        <a:lstStyle/>
        <a:p>
          <a:endParaRPr lang="ru-RU"/>
        </a:p>
      </dgm:t>
    </dgm:pt>
    <dgm:pt modelId="{3834135B-ABDB-4E90-A2CE-196B46D13DB3}" type="pres">
      <dgm:prSet presAssocID="{C93AF4AE-4FCF-4289-B57F-EEAB44AD4284}" presName="linNode" presStyleCnt="0"/>
      <dgm:spPr/>
    </dgm:pt>
    <dgm:pt modelId="{D99040EC-7B05-4371-8D78-B7FAA1E23F64}" type="pres">
      <dgm:prSet presAssocID="{C93AF4AE-4FCF-4289-B57F-EEAB44AD4284}" presName="parent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51CCA4-0EA8-4A44-94E5-B2111176E000}" type="pres">
      <dgm:prSet presAssocID="{C93AF4AE-4FCF-4289-B57F-EEAB44AD4284}" presName="childShp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827AB5-8CDE-4C64-A211-D64FEC8ED21A}" type="pres">
      <dgm:prSet presAssocID="{F21A46AA-9FC8-4B74-B815-B30F9BC3B67D}" presName="spacing" presStyleCnt="0"/>
      <dgm:spPr/>
    </dgm:pt>
    <dgm:pt modelId="{16154DDB-4584-4DED-8EE3-0839E5A3704E}" type="pres">
      <dgm:prSet presAssocID="{3A06C698-6A97-4DFD-8CF1-6FF88B3A999C}" presName="linNode" presStyleCnt="0"/>
      <dgm:spPr/>
    </dgm:pt>
    <dgm:pt modelId="{F8DE2FAD-6829-4F55-B54F-9BAC23662B3B}" type="pres">
      <dgm:prSet presAssocID="{3A06C698-6A97-4DFD-8CF1-6FF88B3A999C}" presName="parent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04C160D-E589-4CCE-8DEF-FE368CDEE566}" type="pres">
      <dgm:prSet presAssocID="{3A06C698-6A97-4DFD-8CF1-6FF88B3A999C}" presName="childShp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2027890-D1FD-406E-9E81-A65A3E3E7E3F}" type="presOf" srcId="{EDB55BDE-7E86-43B1-A4C9-0507AFCBAF08}" destId="{85151C5D-5F51-4AA8-B62C-ECD6A995831D}" srcOrd="0" destOrd="0" presId="urn:microsoft.com/office/officeart/2005/8/layout/vList6"/>
    <dgm:cxn modelId="{3AF35723-3A17-40E0-AC9B-14994434E5BA}" type="presOf" srcId="{C93AF4AE-4FCF-4289-B57F-EEAB44AD4284}" destId="{D99040EC-7B05-4371-8D78-B7FAA1E23F64}" srcOrd="0" destOrd="0" presId="urn:microsoft.com/office/officeart/2005/8/layout/vList6"/>
    <dgm:cxn modelId="{3B0E4B3A-5042-4E0F-99F8-95E53D3A6638}" srcId="{C93AF4AE-4FCF-4289-B57F-EEAB44AD4284}" destId="{C6D77ED8-3574-4ED9-9BE7-58501D2040FD}" srcOrd="0" destOrd="0" parTransId="{B6392C7E-AD07-45E8-B637-C273160D341F}" sibTransId="{4A82ACA7-909A-4F6B-BD04-47294599D5E5}"/>
    <dgm:cxn modelId="{DD5A8FCA-C123-48BB-A29D-535A0D65505E}" srcId="{3A06C698-6A97-4DFD-8CF1-6FF88B3A999C}" destId="{819133D5-4ECF-4CEC-895C-00D2B5A98408}" srcOrd="0" destOrd="0" parTransId="{ED62D1C4-C8C8-4153-A096-B0AF033E8F35}" sibTransId="{FD625B32-83E6-4AED-A17D-280FF9820565}"/>
    <dgm:cxn modelId="{858B11C6-B2A0-45D8-B72B-79DDA3062BA3}" type="presOf" srcId="{3A06C698-6A97-4DFD-8CF1-6FF88B3A999C}" destId="{F8DE2FAD-6829-4F55-B54F-9BAC23662B3B}" srcOrd="0" destOrd="0" presId="urn:microsoft.com/office/officeart/2005/8/layout/vList6"/>
    <dgm:cxn modelId="{D4839DB9-2C7D-469F-9328-FDC2BCCC4253}" srcId="{EDB55BDE-7E86-43B1-A4C9-0507AFCBAF08}" destId="{C93AF4AE-4FCF-4289-B57F-EEAB44AD4284}" srcOrd="0" destOrd="0" parTransId="{8D79C3BA-0F51-4B64-B7BE-02B11FD39D15}" sibTransId="{F21A46AA-9FC8-4B74-B815-B30F9BC3B67D}"/>
    <dgm:cxn modelId="{E5CC9652-3C9C-4A7E-A35E-0967932C143A}" srcId="{EDB55BDE-7E86-43B1-A4C9-0507AFCBAF08}" destId="{3A06C698-6A97-4DFD-8CF1-6FF88B3A999C}" srcOrd="1" destOrd="0" parTransId="{88233F48-EFC3-4C6E-9A41-0BEA5D5D4910}" sibTransId="{17222EFE-93E0-44B1-9F1E-421CFD147462}"/>
    <dgm:cxn modelId="{C778980A-044B-4720-AB93-7BCC2CEA8137}" type="presOf" srcId="{C6D77ED8-3574-4ED9-9BE7-58501D2040FD}" destId="{9D51CCA4-0EA8-4A44-94E5-B2111176E000}" srcOrd="0" destOrd="0" presId="urn:microsoft.com/office/officeart/2005/8/layout/vList6"/>
    <dgm:cxn modelId="{BCEB9093-69D4-47E3-8194-1DE3C5784579}" type="presOf" srcId="{819133D5-4ECF-4CEC-895C-00D2B5A98408}" destId="{B04C160D-E589-4CCE-8DEF-FE368CDEE566}" srcOrd="0" destOrd="0" presId="urn:microsoft.com/office/officeart/2005/8/layout/vList6"/>
    <dgm:cxn modelId="{1019B1B1-53D2-4887-990E-123C7F1CC19A}" type="presParOf" srcId="{85151C5D-5F51-4AA8-B62C-ECD6A995831D}" destId="{3834135B-ABDB-4E90-A2CE-196B46D13DB3}" srcOrd="0" destOrd="0" presId="urn:microsoft.com/office/officeart/2005/8/layout/vList6"/>
    <dgm:cxn modelId="{7B717A4B-B9CE-42B1-8B9A-EFE900A5DE5C}" type="presParOf" srcId="{3834135B-ABDB-4E90-A2CE-196B46D13DB3}" destId="{D99040EC-7B05-4371-8D78-B7FAA1E23F64}" srcOrd="0" destOrd="0" presId="urn:microsoft.com/office/officeart/2005/8/layout/vList6"/>
    <dgm:cxn modelId="{BD982794-454A-4333-B150-347CB23A7DC5}" type="presParOf" srcId="{3834135B-ABDB-4E90-A2CE-196B46D13DB3}" destId="{9D51CCA4-0EA8-4A44-94E5-B2111176E000}" srcOrd="1" destOrd="0" presId="urn:microsoft.com/office/officeart/2005/8/layout/vList6"/>
    <dgm:cxn modelId="{3BEF02C1-398B-4908-9AE6-B3716C9AE218}" type="presParOf" srcId="{85151C5D-5F51-4AA8-B62C-ECD6A995831D}" destId="{4D827AB5-8CDE-4C64-A211-D64FEC8ED21A}" srcOrd="1" destOrd="0" presId="urn:microsoft.com/office/officeart/2005/8/layout/vList6"/>
    <dgm:cxn modelId="{864720C0-125B-4ED0-8418-FC9E16AAE5A0}" type="presParOf" srcId="{85151C5D-5F51-4AA8-B62C-ECD6A995831D}" destId="{16154DDB-4584-4DED-8EE3-0839E5A3704E}" srcOrd="2" destOrd="0" presId="urn:microsoft.com/office/officeart/2005/8/layout/vList6"/>
    <dgm:cxn modelId="{9BF22BC1-D6CA-4390-9560-ACD159414594}" type="presParOf" srcId="{16154DDB-4584-4DED-8EE3-0839E5A3704E}" destId="{F8DE2FAD-6829-4F55-B54F-9BAC23662B3B}" srcOrd="0" destOrd="0" presId="urn:microsoft.com/office/officeart/2005/8/layout/vList6"/>
    <dgm:cxn modelId="{A8C711E2-7DCC-44FC-9D07-887619520705}" type="presParOf" srcId="{16154DDB-4584-4DED-8EE3-0839E5A3704E}" destId="{B04C160D-E589-4CCE-8DEF-FE368CDEE566}" srcOrd="1" destOrd="0" presId="urn:microsoft.com/office/officeart/2005/8/layout/vList6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08.11.2025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zen.ru/a/YosR7d4ARmo3Mi7F?ysclid=m6gjhp1bbj196622212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Защита и макросы</a:t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2714620"/>
            <a:ext cx="9144000" cy="22860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Понятие «Макрос»</a:t>
            </a:r>
            <a:endParaRPr lang="ru-RU" sz="3200" b="1" dirty="0">
              <a:latin typeface="Cambria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214422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Макрос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это набор определённых действий, команд и/или инструкций, которые сгруппированы в одну целостную команду, обеспечивающую автоматическое выполнение той или иной задачи.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Макросы в 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Excel 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используются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 для:</a:t>
            </a:r>
          </a:p>
          <a:p>
            <a:pPr algn="just">
              <a:buFont typeface="Arial" pitchFamily="34" charset="0"/>
              <a:buChar char="•"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Автоматизация повторяющихся операций. </a:t>
            </a:r>
          </a:p>
          <a:p>
            <a:pPr algn="just">
              <a:buFont typeface="Arial" pitchFamily="34" charset="0"/>
              <a:buChar char="•"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Форматирование и заполнение таблиц;</a:t>
            </a:r>
          </a:p>
          <a:p>
            <a:pPr algn="just">
              <a:buFont typeface="Arial" pitchFamily="34" charset="0"/>
              <a:buChar char="•"/>
            </a:pP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Поиск и перенос данных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latin typeface="Cambria" pitchFamily="18" charset="0"/>
              </a:rPr>
              <a:t>Методы создания макросов</a:t>
            </a:r>
            <a:endParaRPr lang="ru-RU" sz="3200" b="1" dirty="0">
              <a:latin typeface="Cambria" pitchFamily="18" charset="0"/>
            </a:endParaRPr>
          </a:p>
        </p:txBody>
      </p:sp>
      <p:graphicFrame>
        <p:nvGraphicFramePr>
          <p:cNvPr id="8" name="Схема 7"/>
          <p:cNvGraphicFramePr/>
          <p:nvPr/>
        </p:nvGraphicFramePr>
        <p:xfrm>
          <a:off x="1714480" y="1428736"/>
          <a:ext cx="704852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148" name="Picture 4" descr="Picture background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2844" y="3714752"/>
            <a:ext cx="1485719" cy="16430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Алгоритм записи макросов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785794"/>
            <a:ext cx="4071934" cy="2826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057650"/>
            <a:ext cx="340995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>
            <a:stCxn id="13" idx="1"/>
          </p:cNvCxnSpPr>
          <p:nvPr/>
        </p:nvCxnSpPr>
        <p:spPr>
          <a:xfrm rot="10800000">
            <a:off x="1928794" y="1428736"/>
            <a:ext cx="4214842" cy="46943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43636" y="928670"/>
            <a:ext cx="24288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Макросы можно записать с помощью вкладки Разработчик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Прямая со стрелкой 16"/>
          <p:cNvCxnSpPr>
            <a:endCxn id="1027" idx="0"/>
          </p:cNvCxnSpPr>
          <p:nvPr/>
        </p:nvCxnSpPr>
        <p:spPr>
          <a:xfrm rot="5400000">
            <a:off x="430991" y="2702723"/>
            <a:ext cx="2628912" cy="8094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571804" y="4180344"/>
            <a:ext cx="55721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/>
              <a:t>«Имя макроса»</a:t>
            </a:r>
            <a:r>
              <a:rPr lang="ru-RU" sz="2400" dirty="0" smtClean="0"/>
              <a:t>. Первым символом в названии обязательно должна быть буква. Другие символы могут быть буквами или цифрами. Важно не использовать пробелы в названии — их можно заменить символом подчёркивания.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/>
          <p:cNvSpPr/>
          <p:nvPr/>
        </p:nvSpPr>
        <p:spPr>
          <a:xfrm>
            <a:off x="3571868" y="2143116"/>
            <a:ext cx="5572132" cy="21431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Алгоритм записи макросов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3028950" cy="376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438650"/>
            <a:ext cx="3152775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Прямая со стрелкой 10"/>
          <p:cNvCxnSpPr>
            <a:stCxn id="13" idx="1"/>
          </p:cNvCxnSpPr>
          <p:nvPr/>
        </p:nvCxnSpPr>
        <p:spPr>
          <a:xfrm rot="10800000">
            <a:off x="3000364" y="1714486"/>
            <a:ext cx="500066" cy="92234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00430" y="928670"/>
            <a:ext cx="56435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начала записи осуществите все необходимые действия: введите формулы, постройте графики</a:t>
            </a:r>
          </a:p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перед началом ввода формулы выберите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конкретную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 ячейку, в которой будет отображаться ответ, чтобы при повторном воспроизведении макроса формула </a:t>
            </a:r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отображалась в одной и той же ячейке</a:t>
            </a:r>
            <a:endParaRPr lang="ru-RU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Прямая со стрелкой 17"/>
          <p:cNvCxnSpPr/>
          <p:nvPr/>
        </p:nvCxnSpPr>
        <p:spPr>
          <a:xfrm rot="10800000">
            <a:off x="1285852" y="4572009"/>
            <a:ext cx="2857522" cy="85725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43372" y="4643446"/>
            <a:ext cx="24288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После выполнения всех действий остановите запись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4500570"/>
            <a:ext cx="1285852" cy="214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Назначение макросов в </a:t>
            </a: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Excel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00108"/>
            <a:ext cx="4324350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2066" y="2714620"/>
            <a:ext cx="3838575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4" name="Прямая со стрелкой 13"/>
          <p:cNvCxnSpPr/>
          <p:nvPr/>
        </p:nvCxnSpPr>
        <p:spPr>
          <a:xfrm rot="10800000" flipV="1">
            <a:off x="1571604" y="1214422"/>
            <a:ext cx="4143404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29256" y="714356"/>
            <a:ext cx="24288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Правая кнопка мыши по фигуре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Прямая со стрелкой 18"/>
          <p:cNvCxnSpPr>
            <a:endCxn id="2053" idx="1"/>
          </p:cNvCxnSpPr>
          <p:nvPr/>
        </p:nvCxnSpPr>
        <p:spPr>
          <a:xfrm>
            <a:off x="3071802" y="3643314"/>
            <a:ext cx="2000264" cy="82866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Защита данных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9144000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143108" y="3286124"/>
            <a:ext cx="4857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Проверка данных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3857628"/>
            <a:ext cx="768667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2143108" y="5786454"/>
            <a:ext cx="4857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Защита ячеек от неправомерного доступа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5286388"/>
            <a:ext cx="2143108" cy="59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Защита данных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6000759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67450" y="714356"/>
            <a:ext cx="2876550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/>
          <p:nvPr/>
        </p:nvCxnSpPr>
        <p:spPr>
          <a:xfrm flipV="1">
            <a:off x="2928926" y="1500174"/>
            <a:ext cx="3357586" cy="7143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0" y="4286256"/>
            <a:ext cx="9144032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/>
              <a:t>Как установить защиту ячейки, листа или рабочей книги </a:t>
            </a:r>
            <a:r>
              <a:rPr lang="ru-RU" sz="2400" b="1" dirty="0" err="1" smtClean="0"/>
              <a:t>Excel</a:t>
            </a:r>
            <a:r>
              <a:rPr lang="ru-RU" sz="2400" b="1" dirty="0" smtClean="0"/>
              <a:t>?</a:t>
            </a:r>
          </a:p>
          <a:p>
            <a:pPr algn="ctr"/>
            <a:r>
              <a:rPr lang="en-US" sz="2200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https://dzen.ru/a/YosR7d4ARmo3Mi7F?ysclid=m6gjhp1bbj196622212</a:t>
            </a:r>
            <a:endParaRPr lang="ru-RU" sz="2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Дополнительные возможности: флажок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428868"/>
            <a:ext cx="4476750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71438" y="4972050"/>
            <a:ext cx="4638675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500042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Флажок (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checkbox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элемент управления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который может быть в одном из двух положений: включённом (ИСТИНА) или выключенном (ЛОЖЬ). Чтобы связать флажок с ячейкой, нужно кликнуть на него правой кнопкой мыши, в контекстном меню выбрать «Формат объекта». В появившемся окне выбрать вкладку «Элемент управления».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33875" y="2638425"/>
            <a:ext cx="4810125" cy="421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Дополнительные возможности: </a:t>
            </a:r>
            <a:r>
              <a:rPr kumimoji="0" lang="ru-RU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поле со списком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1071546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«Поле со списком» —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элемент управления формы в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который представляет собой сочетание текстового поля и раскрывающегося списка. Используется, когда нужно выбрать единственное значение из заранее подготовленного списка.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2714621"/>
            <a:ext cx="9021862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230</Words>
  <Application>Microsoft Office PowerPoint</Application>
  <PresentationFormat>Экран (4:3)</PresentationFormat>
  <Paragraphs>32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Практическая работа  Защита и макросы </vt:lpstr>
      <vt:lpstr>Понятие «Макрос»</vt:lpstr>
      <vt:lpstr>Методы создания макросов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42</cp:revision>
  <dcterms:created xsi:type="dcterms:W3CDTF">2025-01-01T12:55:25Z</dcterms:created>
  <dcterms:modified xsi:type="dcterms:W3CDTF">2025-11-08T18:50:47Z</dcterms:modified>
</cp:coreProperties>
</file>