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59" r:id="rId7"/>
    <p:sldId id="262" r:id="rId8"/>
    <p:sldId id="263" r:id="rId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50" d="100"/>
          <a:sy n="50" d="100"/>
        </p:scale>
        <p:origin x="1934" y="9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FCBDAD-76C0-41F5-AA29-B53D4D5844DF}" type="datetimeFigureOut">
              <a:rPr lang="ru-RU" smtClean="0"/>
              <a:pPr/>
              <a:t>23.10.2026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B84729-0C21-4750-A0CD-5FB9F8C3EB81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90997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FCBDAD-76C0-41F5-AA29-B53D4D5844DF}" type="datetimeFigureOut">
              <a:rPr lang="ru-RU" smtClean="0"/>
              <a:pPr/>
              <a:t>23.10.2026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B84729-0C21-4750-A0CD-5FB9F8C3EB81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75775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FCBDAD-76C0-41F5-AA29-B53D4D5844DF}" type="datetimeFigureOut">
              <a:rPr lang="ru-RU" smtClean="0"/>
              <a:pPr/>
              <a:t>23.10.2026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B84729-0C21-4750-A0CD-5FB9F8C3EB81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63474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FCBDAD-76C0-41F5-AA29-B53D4D5844DF}" type="datetimeFigureOut">
              <a:rPr lang="ru-RU" smtClean="0"/>
              <a:pPr/>
              <a:t>23.10.2026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B84729-0C21-4750-A0CD-5FB9F8C3EB81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5535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FCBDAD-76C0-41F5-AA29-B53D4D5844DF}" type="datetimeFigureOut">
              <a:rPr lang="ru-RU" smtClean="0"/>
              <a:pPr/>
              <a:t>23.10.2026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B84729-0C21-4750-A0CD-5FB9F8C3EB81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57245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FCBDAD-76C0-41F5-AA29-B53D4D5844DF}" type="datetimeFigureOut">
              <a:rPr lang="ru-RU" smtClean="0"/>
              <a:pPr/>
              <a:t>23.10.2026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B84729-0C21-4750-A0CD-5FB9F8C3EB81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9420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FCBDAD-76C0-41F5-AA29-B53D4D5844DF}" type="datetimeFigureOut">
              <a:rPr lang="ru-RU" smtClean="0"/>
              <a:pPr/>
              <a:t>23.10.2026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B84729-0C21-4750-A0CD-5FB9F8C3EB81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61464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FCBDAD-76C0-41F5-AA29-B53D4D5844DF}" type="datetimeFigureOut">
              <a:rPr lang="ru-RU" smtClean="0"/>
              <a:pPr/>
              <a:t>23.10.2026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B84729-0C21-4750-A0CD-5FB9F8C3EB81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17567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FCBDAD-76C0-41F5-AA29-B53D4D5844DF}" type="datetimeFigureOut">
              <a:rPr lang="ru-RU" smtClean="0"/>
              <a:pPr/>
              <a:t>23.10.2026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B84729-0C21-4750-A0CD-5FB9F8C3EB81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7390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FCBDAD-76C0-41F5-AA29-B53D4D5844DF}" type="datetimeFigureOut">
              <a:rPr lang="ru-RU" smtClean="0"/>
              <a:pPr/>
              <a:t>23.10.2026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B84729-0C21-4750-A0CD-5FB9F8C3EB81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8714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FCBDAD-76C0-41F5-AA29-B53D4D5844DF}" type="datetimeFigureOut">
              <a:rPr lang="ru-RU" smtClean="0"/>
              <a:pPr/>
              <a:t>23.10.2026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B84729-0C21-4750-A0CD-5FB9F8C3EB81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90909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FCBDAD-76C0-41F5-AA29-B53D4D5844DF}" type="datetimeFigureOut">
              <a:rPr lang="ru-RU" smtClean="0"/>
              <a:pPr/>
              <a:t>23.10.2026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B84729-0C21-4750-A0CD-5FB9F8C3EB81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28307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ru-RU" b="1" dirty="0" smtClean="0"/>
              <a:t>Сетевая связность и приватность</a:t>
            </a:r>
            <a:r>
              <a:rPr lang="en-US" b="1" dirty="0" smtClean="0"/>
              <a:t> </a:t>
            </a:r>
            <a:r>
              <a:rPr lang="ru-RU" b="1" dirty="0" smtClean="0"/>
              <a:t>в </a:t>
            </a:r>
            <a:r>
              <a:rPr lang="en-US" b="1" dirty="0" smtClean="0"/>
              <a:t>Cisco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749779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39087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800" b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Задание 1</a:t>
            </a:r>
            <a:endParaRPr lang="ru-RU" sz="2800" b="1" dirty="0" smtClean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Вы создаёте ситуацию, когда внутри сети (в офисе) есть сервер с «личным» адресом, который никому снаружи не виден, но при этом люди из интернета должны к нему попадать. Роутер выступает переводчиком: он заранее знает правило — «если кто-то стучится на внешний адрес 203.0.113.10, отдай этот запрос на внутренний сервер 192.168.1.10».</a:t>
            </a:r>
          </a:p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В шагах задания вы буквально прописываете это правило и помечаете интерфейсы:</a:t>
            </a:r>
          </a:p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  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ip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nat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inside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— это «наша сеть, тут адреса приватные».</a:t>
            </a:r>
          </a:p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  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ip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nat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outside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— это «интернет, тут адреса публичные».</a:t>
            </a:r>
          </a:p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  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ip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nat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inside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source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static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192.168.1.10 203.0.113.10 — жёсткое правило: «этот внутренний IP всегда виден снаружи вот под этим публичным IP».</a:t>
            </a:r>
          </a:p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Проверка через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show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ip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nat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translations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показывает таблицу этих переводов, а в симуляции видно, как у пакетов меняется адрес источника/назначения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ru-RU" sz="2000" dirty="0" smtClean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480" y="3781614"/>
            <a:ext cx="6035040" cy="307638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68634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Для </a:t>
            </a:r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чего это нужно</a:t>
            </a:r>
          </a:p>
          <a:p>
            <a:pPr algn="just"/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    Чтобы публиковать внутренние сервисы наружу.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Веб‑сервер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, почтовый сервер, терминальный сервер — всё это должно быть доступно извне, но не раскрывать реальные внутренние адреса.</a:t>
            </a:r>
          </a:p>
          <a:p>
            <a:pPr algn="just"/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    Для безопасности.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Внутри сети используют приватные адреса (192.168.x.x), которые не маршрутизируются в интернете. Так ты прячешь топологию своей сети: снаружи видно только внешний IP, а не реальные IP серверов и рабочих станций.</a:t>
            </a:r>
          </a:p>
          <a:p>
            <a:pPr algn="just"/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    Для контроля доступа.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Все входящие запросы идут через шлюз (роутер/межсетевой экран), где можно поставить правила безопасности,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логирование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, фильтрацию.</a:t>
            </a:r>
          </a:p>
          <a:p>
            <a:pPr algn="just"/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    Для экономии публичных </a:t>
            </a:r>
            <a:r>
              <a:rPr lang="ru-RU" sz="2000" b="1" dirty="0" err="1" smtClean="0">
                <a:latin typeface="Times New Roman" pitchFamily="18" charset="0"/>
                <a:cs typeface="Times New Roman" pitchFamily="18" charset="0"/>
              </a:rPr>
              <a:t>IP‑адресов</a:t>
            </a:r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.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Раньше их было мало, и NAT был способом «растянуть» несколько внутренних устройств на один внешний IP. Сейчас это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по‑прежнему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стандарт, даже когда публичных адресов хватает.</a:t>
            </a:r>
          </a:p>
          <a:p>
            <a:pPr algn="ctr"/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Простой пример из реального мира</a:t>
            </a:r>
          </a:p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Представьте небольшой офис интернет‑магазина:</a:t>
            </a:r>
          </a:p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   Внутри у них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веб‑сервер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на адресе 192.168.1.10 — он отдаёт сайт магазина.</a:t>
            </a:r>
          </a:p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   У провайдера им выдали один публичный IP, например 203.0.113.10.</a:t>
            </a:r>
          </a:p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   Клиенты заходят на сайт по этому публичному IP.</a:t>
            </a:r>
          </a:p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Администратор настраивает на пограничном роутере статический NAT: «запросы на 203.0.113.10 отправляй на 192.168.1.10». Теперь:</a:t>
            </a:r>
          </a:p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   Клиент из интернета видит только 203.0.113.10 и открывает сайт.</a:t>
            </a:r>
          </a:p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   Внутри офиса никто не менял настройки сервера.</a:t>
            </a:r>
          </a:p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   Если завтра сервер переедет на другой внутренний IP, администратор просто поменяет правило на роутере, и снаружи ничего не изменится.</a:t>
            </a:r>
          </a:p>
        </p:txBody>
      </p:sp>
    </p:spTree>
    <p:extLst>
      <p:ext uri="{BB962C8B-B14F-4D97-AF65-F5344CB8AC3E}">
        <p14:creationId xmlns:p14="http://schemas.microsoft.com/office/powerpoint/2010/main" val="34591017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200" b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Задание 2</a:t>
            </a:r>
            <a:endParaRPr lang="ru-RU" sz="2200" b="1" dirty="0" smtClean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Трансляция </a:t>
            </a:r>
            <a:r>
              <a:rPr lang="ru-RU" sz="2200" dirty="0">
                <a:latin typeface="Times New Roman" pitchFamily="18" charset="0"/>
                <a:cs typeface="Times New Roman" pitchFamily="18" charset="0"/>
              </a:rPr>
              <a:t>«многие ко многим» вместо «один к одному». В отличие от статического NAT, здесь не нужно вручную прописывать соответствие каждого внутреннего IP внешнему. Роутер сам назначает свободные адреса из пула (209.165.201.5–7) для исходящих соединений.</a:t>
            </a:r>
          </a:p>
          <a:p>
            <a:pPr algn="just"/>
            <a:r>
              <a:rPr lang="ru-RU" sz="2200" dirty="0">
                <a:latin typeface="Times New Roman" pitchFamily="18" charset="0"/>
                <a:cs typeface="Times New Roman" pitchFamily="18" charset="0"/>
              </a:rPr>
              <a:t>Роль ACL. Список доступа (</a:t>
            </a:r>
            <a:r>
              <a:rPr lang="ru-RU" sz="2200" dirty="0" err="1">
                <a:latin typeface="Times New Roman" pitchFamily="18" charset="0"/>
                <a:cs typeface="Times New Roman" pitchFamily="18" charset="0"/>
              </a:rPr>
              <a:t>access-list</a:t>
            </a:r>
            <a:r>
              <a:rPr lang="ru-RU" sz="2200" dirty="0">
                <a:latin typeface="Times New Roman" pitchFamily="18" charset="0"/>
                <a:cs typeface="Times New Roman" pitchFamily="18" charset="0"/>
              </a:rPr>
              <a:t> 1 </a:t>
            </a:r>
            <a:r>
              <a:rPr lang="ru-RU" sz="2200" dirty="0" err="1">
                <a:latin typeface="Times New Roman" pitchFamily="18" charset="0"/>
                <a:cs typeface="Times New Roman" pitchFamily="18" charset="0"/>
              </a:rPr>
              <a:t>permit</a:t>
            </a:r>
            <a:r>
              <a:rPr lang="ru-RU" sz="2200" dirty="0">
                <a:latin typeface="Times New Roman" pitchFamily="18" charset="0"/>
                <a:cs typeface="Times New Roman" pitchFamily="18" charset="0"/>
              </a:rPr>
              <a:t> 192.168.2.0 0.0.0.255) говорит роутеру: «Только этот диапазон может использовать NAT». Это контроль и безопасность.</a:t>
            </a:r>
          </a:p>
          <a:p>
            <a:pPr algn="just"/>
            <a:r>
              <a:rPr lang="ru-RU" sz="2200" dirty="0">
                <a:latin typeface="Times New Roman" pitchFamily="18" charset="0"/>
                <a:cs typeface="Times New Roman" pitchFamily="18" charset="0"/>
              </a:rPr>
              <a:t>Пул адресов. Команда </a:t>
            </a:r>
            <a:r>
              <a:rPr lang="ru-RU" sz="2200" dirty="0" err="1">
                <a:latin typeface="Times New Roman" pitchFamily="18" charset="0"/>
                <a:cs typeface="Times New Roman" pitchFamily="18" charset="0"/>
              </a:rPr>
              <a:t>ip</a:t>
            </a:r>
            <a:r>
              <a:rPr lang="ru-RU" sz="22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200" dirty="0" err="1">
                <a:latin typeface="Times New Roman" pitchFamily="18" charset="0"/>
                <a:cs typeface="Times New Roman" pitchFamily="18" charset="0"/>
              </a:rPr>
              <a:t>nat</a:t>
            </a:r>
            <a:r>
              <a:rPr lang="ru-RU" sz="22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200" dirty="0" err="1">
                <a:latin typeface="Times New Roman" pitchFamily="18" charset="0"/>
                <a:cs typeface="Times New Roman" pitchFamily="18" charset="0"/>
              </a:rPr>
              <a:t>pool</a:t>
            </a:r>
            <a:r>
              <a:rPr lang="ru-RU" sz="2200" dirty="0">
                <a:latin typeface="Times New Roman" pitchFamily="18" charset="0"/>
                <a:cs typeface="Times New Roman" pitchFamily="18" charset="0"/>
              </a:rPr>
              <a:t> INTERNET 209.165.201.5 209.165.201.7 задаёт ограниченный набор публичных адресов — имитацию дорогой и дефицитной публичной адресного пространства.</a:t>
            </a:r>
          </a:p>
          <a:p>
            <a:pPr algn="just"/>
            <a:r>
              <a:rPr lang="ru-RU" sz="2200" dirty="0">
                <a:latin typeface="Times New Roman" pitchFamily="18" charset="0"/>
                <a:cs typeface="Times New Roman" pitchFamily="18" charset="0"/>
              </a:rPr>
              <a:t>Метки интерфейсов. </a:t>
            </a:r>
            <a:r>
              <a:rPr lang="ru-RU" sz="2200" dirty="0" err="1">
                <a:latin typeface="Times New Roman" pitchFamily="18" charset="0"/>
                <a:cs typeface="Times New Roman" pitchFamily="18" charset="0"/>
              </a:rPr>
              <a:t>ip</a:t>
            </a:r>
            <a:r>
              <a:rPr lang="ru-RU" sz="22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200" dirty="0" err="1">
                <a:latin typeface="Times New Roman" pitchFamily="18" charset="0"/>
                <a:cs typeface="Times New Roman" pitchFamily="18" charset="0"/>
              </a:rPr>
              <a:t>nat</a:t>
            </a:r>
            <a:r>
              <a:rPr lang="ru-RU" sz="22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200" dirty="0" err="1">
                <a:latin typeface="Times New Roman" pitchFamily="18" charset="0"/>
                <a:cs typeface="Times New Roman" pitchFamily="18" charset="0"/>
              </a:rPr>
              <a:t>inside</a:t>
            </a:r>
            <a:r>
              <a:rPr lang="ru-RU" sz="2200" dirty="0">
                <a:latin typeface="Times New Roman" pitchFamily="18" charset="0"/>
                <a:cs typeface="Times New Roman" pitchFamily="18" charset="0"/>
              </a:rPr>
              <a:t> (G0/0) и </a:t>
            </a:r>
            <a:r>
              <a:rPr lang="ru-RU" sz="2200" dirty="0" err="1">
                <a:latin typeface="Times New Roman" pitchFamily="18" charset="0"/>
                <a:cs typeface="Times New Roman" pitchFamily="18" charset="0"/>
              </a:rPr>
              <a:t>ip</a:t>
            </a:r>
            <a:r>
              <a:rPr lang="ru-RU" sz="22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200" dirty="0" err="1">
                <a:latin typeface="Times New Roman" pitchFamily="18" charset="0"/>
                <a:cs typeface="Times New Roman" pitchFamily="18" charset="0"/>
              </a:rPr>
              <a:t>nat</a:t>
            </a:r>
            <a:r>
              <a:rPr lang="ru-RU" sz="22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200" dirty="0" err="1">
                <a:latin typeface="Times New Roman" pitchFamily="18" charset="0"/>
                <a:cs typeface="Times New Roman" pitchFamily="18" charset="0"/>
              </a:rPr>
              <a:t>outside</a:t>
            </a:r>
            <a:r>
              <a:rPr lang="ru-RU" sz="2200" dirty="0">
                <a:latin typeface="Times New Roman" pitchFamily="18" charset="0"/>
                <a:cs typeface="Times New Roman" pitchFamily="18" charset="0"/>
              </a:rPr>
              <a:t> (G0/1) показывают роутеру, где «внутри» и где «снаружи», чтобы корректно менять адреса в пакетах.</a:t>
            </a:r>
          </a:p>
          <a:p>
            <a:pPr algn="just"/>
            <a:r>
              <a:rPr lang="ru-RU" sz="2200" dirty="0">
                <a:latin typeface="Times New Roman" pitchFamily="18" charset="0"/>
                <a:cs typeface="Times New Roman" pitchFamily="18" charset="0"/>
              </a:rPr>
              <a:t>Динамические записи. При каждом новом соединении роутер создаёт временную запись в таблице NAT; она исчезает после окончания сессии (или по таймауту). Это видно в </a:t>
            </a:r>
            <a:r>
              <a:rPr lang="ru-RU" sz="2200" dirty="0" err="1">
                <a:latin typeface="Times New Roman" pitchFamily="18" charset="0"/>
                <a:cs typeface="Times New Roman" pitchFamily="18" charset="0"/>
              </a:rPr>
              <a:t>show</a:t>
            </a:r>
            <a:r>
              <a:rPr lang="ru-RU" sz="22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200" dirty="0" err="1">
                <a:latin typeface="Times New Roman" pitchFamily="18" charset="0"/>
                <a:cs typeface="Times New Roman" pitchFamily="18" charset="0"/>
              </a:rPr>
              <a:t>ip</a:t>
            </a:r>
            <a:r>
              <a:rPr lang="ru-RU" sz="22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200" dirty="0" err="1">
                <a:latin typeface="Times New Roman" pitchFamily="18" charset="0"/>
                <a:cs typeface="Times New Roman" pitchFamily="18" charset="0"/>
              </a:rPr>
              <a:t>nat</a:t>
            </a:r>
            <a:r>
              <a:rPr lang="ru-RU" sz="22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200" dirty="0" err="1">
                <a:latin typeface="Times New Roman" pitchFamily="18" charset="0"/>
                <a:cs typeface="Times New Roman" pitchFamily="18" charset="0"/>
              </a:rPr>
              <a:t>translations</a:t>
            </a:r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ru-RU" sz="22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74730"/>
            <a:ext cx="8888284" cy="118327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0298" y="4191684"/>
            <a:ext cx="3001701" cy="2666315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880" y="4103105"/>
            <a:ext cx="6743700" cy="1571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14648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62478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b="1" dirty="0">
                <a:latin typeface="Times New Roman" pitchFamily="18" charset="0"/>
                <a:cs typeface="Times New Roman" pitchFamily="18" charset="0"/>
              </a:rPr>
              <a:t>В чём польза (практический смысл)</a:t>
            </a:r>
          </a:p>
          <a:p>
            <a:pPr algn="just"/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Экономия публичных IP‑адресов. В реальной сети публичных адресов мало и они стоят денег. Динамический NAT позволяет десяткам или сотням устройств в локальной сети выходить в интернет через небольшой пул внешних адресов.</a:t>
            </a:r>
          </a:p>
          <a:p>
            <a:pPr algn="just"/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Безопасность за счёт сокрытия. Внутренние адреса (192.168.2.x) не видны снаружи. Внешний мир видит только адреса из пула. Даже если кто‑то «просканирует» публичные адреса, он не узнает реальную адресацию внутренней сети.</a:t>
            </a:r>
          </a:p>
          <a:p>
            <a:pPr algn="just"/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Упрощённое управление. Не нужно вручную создавать статические правила для каждого устройства. Достаточно одного пула и одного ACL.</a:t>
            </a:r>
          </a:p>
          <a:p>
            <a:pPr algn="just"/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Контроль доступа. ACL позволяет явно разрешить выход только нужным подсетям и заблокировать остальной трафик на уровне NAT.</a:t>
            </a:r>
          </a:p>
          <a:p>
            <a:pPr algn="just"/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Наглядность для обучения. В </a:t>
            </a:r>
            <a:r>
              <a:rPr lang="ru-RU" sz="2000" dirty="0" err="1">
                <a:latin typeface="Times New Roman" pitchFamily="18" charset="0"/>
                <a:cs typeface="Times New Roman" pitchFamily="18" charset="0"/>
              </a:rPr>
              <a:t>Packet</a:t>
            </a:r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000" dirty="0" err="1">
                <a:latin typeface="Times New Roman" pitchFamily="18" charset="0"/>
                <a:cs typeface="Times New Roman" pitchFamily="18" charset="0"/>
              </a:rPr>
              <a:t>Tracer</a:t>
            </a:r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 ты видишь живые записи в таблице NAT и можешь сопоставить каждое соединение с конкретной парой «внутренний IP → внешний IP из пула».</a:t>
            </a:r>
          </a:p>
          <a:p>
            <a:pPr algn="ctr"/>
            <a:r>
              <a:rPr lang="ru-RU" sz="2000" b="1" dirty="0">
                <a:latin typeface="Times New Roman" pitchFamily="18" charset="0"/>
                <a:cs typeface="Times New Roman" pitchFamily="18" charset="0"/>
              </a:rPr>
              <a:t>Что, что они успешно выходят «наружу</a:t>
            </a:r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» и получают ответы.</a:t>
            </a:r>
          </a:p>
          <a:p>
            <a:pPr algn="just"/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Команда </a:t>
            </a:r>
            <a:r>
              <a:rPr lang="ru-RU" sz="2000" dirty="0" err="1">
                <a:latin typeface="Times New Roman" pitchFamily="18" charset="0"/>
                <a:cs typeface="Times New Roman" pitchFamily="18" charset="0"/>
              </a:rPr>
              <a:t>show</a:t>
            </a:r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000" dirty="0" err="1">
                <a:latin typeface="Times New Roman" pitchFamily="18" charset="0"/>
                <a:cs typeface="Times New Roman" pitchFamily="18" charset="0"/>
              </a:rPr>
              <a:t>ip</a:t>
            </a:r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000" dirty="0" err="1">
                <a:latin typeface="Times New Roman" pitchFamily="18" charset="0"/>
                <a:cs typeface="Times New Roman" pitchFamily="18" charset="0"/>
              </a:rPr>
              <a:t>nat</a:t>
            </a:r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000" dirty="0" err="1">
                <a:latin typeface="Times New Roman" pitchFamily="18" charset="0"/>
                <a:cs typeface="Times New Roman" pitchFamily="18" charset="0"/>
              </a:rPr>
              <a:t>translations</a:t>
            </a:r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000" dirty="0" err="1">
                <a:latin typeface="Times New Roman" pitchFamily="18" charset="0"/>
                <a:cs typeface="Times New Roman" pitchFamily="18" charset="0"/>
              </a:rPr>
              <a:t>подтдемонстрирует</a:t>
            </a:r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 проверка (вывод)</a:t>
            </a:r>
          </a:p>
          <a:p>
            <a:pPr algn="just"/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Команда </a:t>
            </a:r>
            <a:r>
              <a:rPr lang="ru-RU" sz="2000" dirty="0" err="1">
                <a:latin typeface="Times New Roman" pitchFamily="18" charset="0"/>
                <a:cs typeface="Times New Roman" pitchFamily="18" charset="0"/>
              </a:rPr>
              <a:t>ping</a:t>
            </a:r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 с внутренних ПК </a:t>
            </a:r>
            <a:r>
              <a:rPr lang="ru-RU" sz="2000" dirty="0" err="1">
                <a:latin typeface="Times New Roman" pitchFamily="18" charset="0"/>
                <a:cs typeface="Times New Roman" pitchFamily="18" charset="0"/>
              </a:rPr>
              <a:t>показываетверждает</a:t>
            </a:r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: роутер действительно подменяет внутренние адреса на адреса из пула, и эти записи появляются и исчезают динамически.</a:t>
            </a:r>
          </a:p>
          <a:p>
            <a:pPr algn="just"/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Ограниченный размер пула (всего 3 адреса) наглядно показывает, что при одновременном выходе большего числа устройств часть сессий может не установиться — это имитирует реальные ограничения и помогает понять, когда нужен PAT (перегрузка NAT с портами).</a:t>
            </a:r>
          </a:p>
        </p:txBody>
      </p:sp>
    </p:spTree>
    <p:extLst>
      <p:ext uri="{BB962C8B-B14F-4D97-AF65-F5344CB8AC3E}">
        <p14:creationId xmlns:p14="http://schemas.microsoft.com/office/powerpoint/2010/main" val="13378207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3254839"/>
              </p:ext>
            </p:extLst>
          </p:nvPr>
        </p:nvGraphicFramePr>
        <p:xfrm>
          <a:off x="0" y="1"/>
          <a:ext cx="12192000" cy="692598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064000"/>
                <a:gridCol w="4064000"/>
                <a:gridCol w="4064000"/>
              </a:tblGrid>
              <a:tr h="588855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</a:rPr>
                        <a:t>Характеристика</a:t>
                      </a:r>
                      <a:endParaRPr lang="ru-RU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000">
                          <a:effectLst/>
                        </a:rPr>
                        <a:t>Динамический NAT</a:t>
                      </a:r>
                      <a:endParaRPr lang="ru-RU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000">
                          <a:effectLst/>
                        </a:rPr>
                        <a:t>PAT / NAT Overload</a:t>
                      </a:r>
                      <a:endParaRPr lang="ru-RU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</a:tr>
              <a:tr h="1707062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000">
                          <a:effectLst/>
                        </a:rPr>
                        <a:t>Соотношение адресов</a:t>
                      </a:r>
                      <a:endParaRPr lang="ru-RU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</a:rPr>
                        <a:t>«Многие ко многим» (но ограничено пулом). Например, 100 устройств могут выходить в интернет, только если у тебя есть 100 публичных IP.</a:t>
                      </a:r>
                      <a:endParaRPr lang="ru-RU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000">
                          <a:effectLst/>
                        </a:rPr>
                        <a:t>«Многие к одному». Сотни или тысячи устройств могут выходить через один-единственный публичный IP.</a:t>
                      </a:r>
                      <a:endParaRPr lang="ru-RU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</a:tr>
              <a:tr h="1707062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000">
                          <a:effectLst/>
                        </a:rPr>
                        <a:t>Что меняется в пакете</a:t>
                      </a:r>
                      <a:endParaRPr lang="ru-RU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000">
                          <a:effectLst/>
                        </a:rPr>
                        <a:t>Только IP-адрес источника. Порт остаётся тем же, что был у устройства.</a:t>
                      </a:r>
                      <a:endParaRPr lang="ru-RU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000">
                          <a:effectLst/>
                        </a:rPr>
                        <a:t>Меняется и IP-адрес, и порт источника. Роутер подменяет внутренний порт на свой случайный высокий порт (например, 1025, 48901 и т.д.).</a:t>
                      </a:r>
                      <a:endParaRPr lang="ru-RU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</a:tr>
              <a:tr h="2266166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000">
                          <a:effectLst/>
                        </a:rPr>
                        <a:t>Как работает таблица NAT</a:t>
                      </a:r>
                      <a:endParaRPr lang="ru-RU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000">
                          <a:effectLst/>
                        </a:rPr>
                        <a:t>В таблице хранится пара: Внутренний IP ↔ Внешний IP.</a:t>
                      </a:r>
                      <a:endParaRPr lang="ru-RU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000">
                          <a:effectLst/>
                        </a:rPr>
                        <a:t>В таблице хранится тройка: Внутренний IP:Порт ↔ Внешний IP:Порт. Именно порт позволяет роутеру понять, кому из внутренних устройств вернуть ответ, если все сидят за одним IP.</a:t>
                      </a:r>
                      <a:endParaRPr lang="ru-RU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</a:tr>
              <a:tr h="588855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000">
                          <a:effectLst/>
                        </a:rPr>
                        <a:t>Команда в Cisco IOS</a:t>
                      </a:r>
                      <a:endParaRPr lang="ru-RU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effectLst/>
                        </a:rPr>
                        <a:t>ip</a:t>
                      </a:r>
                      <a:r>
                        <a:rPr lang="en-US" sz="2000" dirty="0">
                          <a:effectLst/>
                        </a:rPr>
                        <a:t> </a:t>
                      </a:r>
                      <a:r>
                        <a:rPr lang="en-US" sz="2000" dirty="0" err="1">
                          <a:effectLst/>
                        </a:rPr>
                        <a:t>nat</a:t>
                      </a:r>
                      <a:r>
                        <a:rPr lang="en-US" sz="2000" dirty="0">
                          <a:effectLst/>
                        </a:rPr>
                        <a:t> inside source list &lt;ACL&gt; pool &lt;</a:t>
                      </a:r>
                      <a:r>
                        <a:rPr lang="ru-RU" sz="2000" dirty="0" err="1">
                          <a:effectLst/>
                        </a:rPr>
                        <a:t>ИмяПула</a:t>
                      </a:r>
                      <a:r>
                        <a:rPr lang="en-US" sz="2000" dirty="0">
                          <a:effectLst/>
                        </a:rPr>
                        <a:t>&gt;</a:t>
                      </a:r>
                      <a:endParaRPr lang="ru-RU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effectLst/>
                        </a:rPr>
                        <a:t>ip</a:t>
                      </a:r>
                      <a:r>
                        <a:rPr lang="en-US" sz="2000" dirty="0">
                          <a:effectLst/>
                        </a:rPr>
                        <a:t> </a:t>
                      </a:r>
                      <a:r>
                        <a:rPr lang="en-US" sz="2000" dirty="0" err="1">
                          <a:effectLst/>
                        </a:rPr>
                        <a:t>nat</a:t>
                      </a:r>
                      <a:r>
                        <a:rPr lang="en-US" sz="2000" dirty="0">
                          <a:effectLst/>
                        </a:rPr>
                        <a:t> inside source list &lt;ACL&gt; interface &lt;</a:t>
                      </a:r>
                      <a:r>
                        <a:rPr lang="ru-RU" sz="2000" dirty="0">
                          <a:effectLst/>
                        </a:rPr>
                        <a:t>Интерфейс</a:t>
                      </a:r>
                      <a:r>
                        <a:rPr lang="en-US" sz="2000" dirty="0">
                          <a:effectLst/>
                        </a:rPr>
                        <a:t>&gt; overload</a:t>
                      </a:r>
                      <a:endParaRPr lang="ru-RU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1819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8960" y="2057399"/>
            <a:ext cx="5273040" cy="3385161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0" y="1502688"/>
            <a:ext cx="6918960" cy="53553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и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предоставляет HTTP‑сервис для проверки сквозной связности.</a:t>
            </a:r>
          </a:p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Передача данных между приватной сетью и внешним сегментом строится на статических маршрутах, явно указывающих направление трафика. На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Router_LAN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настроен маршрут по умолчанию, перенаправляющий весь внешний трафик на интерфейс, ведущий к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Router_Internet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В свою очередь,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Router_Internet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содержит статическую запись о расположении сети 192.168.1.0/24, что позволяет возвращать ответные пакеты в локальную сеть. Такая схема гарантирует предсказуемую доставку трафика без использования динамических протоколов маршрутизации.</a:t>
            </a:r>
          </a:p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выхода в публичный сегмент применяется PAT, позволяющий множеству устройств использовать один внешний IP‑адрес. При отправке трафика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Router_LAN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заменяет внутренние адреса компьютеров на адрес своего WAN‑интерфейса, дополняя каждый сеанс уникальным портом. Это обеспечивает однозначное сопоставление обратных ответов и позволяет трём компьютерам одновременно взаимодействовать с сервером, оставаясь скрытыми за одним публичным адресом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0"/>
            <a:ext cx="1219200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модели реализована сегментированная сеть с выделенной локальной зоной и внешним сегментом, имитирующим интернет. Три компьютера объединены в приватную подсеть 192.168.1.0/24 под управлением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Router_LAN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который одновременно выполняет функции шлюза и транслятора адресов. Второй роутер,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Router_Internet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выступает транзитным узлом к публичному ресурсу и обеспечивает маршрутизацию трафика между сегментами. Сервер размещён в отдельном стыковом сегменте и предоставляет HTTP‑сервис для проверки сквозной связности.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85713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6120" y="3368908"/>
            <a:ext cx="5135880" cy="2362200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0" y="2123658"/>
            <a:ext cx="7056120" cy="47089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Корректная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работа PAT напрямую зависит от правильной разметки интерфейсов как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inside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outside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определяющей направление трансляции адресов. Список доступа (ACL) ограничивает область действия NAT, разрешая трансляцию только для узлов локальной сети. Это предотвращает случайное преобразование трафика из других сегментов и повышает управляемость и безопасность конфигурации.</a:t>
            </a: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Представленная модель отражает типовую архитектуру домашних и небольших офисных сетей, где единый публичный IP используется всеми внутренними устройствами. Настройка статической маршрутизации и PAT в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Packet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Tracer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позволяет наглядно изучить принципы межсетевого взаимодействия, понять логику таблиц маршрутизации и NAT, а также освоить методы диагностики связности, применимые в реальных сетевых инфраструктурах.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0"/>
            <a:ext cx="12192000" cy="2123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Когда все три компьютера одновременно отправляют ICMP‑запросы к серверу, каждый пакет проходит процедуру трансляции на </a:t>
            </a:r>
            <a:r>
              <a:rPr lang="ru-RU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Router_LAN</a:t>
            </a: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 присвоением индивидуального порта. Трафик передаётся через </a:t>
            </a:r>
            <a:r>
              <a:rPr lang="ru-RU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Router_Internet</a:t>
            </a: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 серверу, который формирует ответы на внешний адрес роутера. При получении ответов </a:t>
            </a:r>
            <a:r>
              <a:rPr lang="ru-RU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Router_LAN</a:t>
            </a: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анализирует порты и корректно перенаправляет пакеты соответствующим компьютерам. Таким образом, одновременные сеансы не конфликтуют и обслуживаются независимо друг от друга.</a:t>
            </a:r>
            <a:endParaRPr lang="ru-RU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522692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363</TotalTime>
  <Words>1349</Words>
  <Application>Microsoft Office PowerPoint</Application>
  <PresentationFormat>Широкоэкранный</PresentationFormat>
  <Paragraphs>60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Times New Roman</vt:lpstr>
      <vt:lpstr>Тема Office</vt:lpstr>
      <vt:lpstr>Сетевая связность и приватность в Cisco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user</dc:creator>
  <cp:lastModifiedBy>user</cp:lastModifiedBy>
  <cp:revision>14</cp:revision>
  <dcterms:created xsi:type="dcterms:W3CDTF">2026-10-19T09:16:06Z</dcterms:created>
  <dcterms:modified xsi:type="dcterms:W3CDTF">2026-10-23T09:52:48Z</dcterms:modified>
</cp:coreProperties>
</file>