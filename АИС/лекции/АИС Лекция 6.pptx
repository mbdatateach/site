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36407-C9D9-42EE-BAE8-898C36A0846C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AC10-08E4-4F1E-ABFE-6575EBEB6B4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36407-C9D9-42EE-BAE8-898C36A0846C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AC10-08E4-4F1E-ABFE-6575EBEB6B4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36407-C9D9-42EE-BAE8-898C36A0846C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AC10-08E4-4F1E-ABFE-6575EBEB6B4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36407-C9D9-42EE-BAE8-898C36A0846C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AC10-08E4-4F1E-ABFE-6575EBEB6B4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36407-C9D9-42EE-BAE8-898C36A0846C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AC10-08E4-4F1E-ABFE-6575EBEB6B4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36407-C9D9-42EE-BAE8-898C36A0846C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AC10-08E4-4F1E-ABFE-6575EBEB6B4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36407-C9D9-42EE-BAE8-898C36A0846C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AC10-08E4-4F1E-ABFE-6575EBEB6B4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36407-C9D9-42EE-BAE8-898C36A0846C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AC10-08E4-4F1E-ABFE-6575EBEB6B4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36407-C9D9-42EE-BAE8-898C36A0846C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AC10-08E4-4F1E-ABFE-6575EBEB6B4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36407-C9D9-42EE-BAE8-898C36A0846C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AC10-08E4-4F1E-ABFE-6575EBEB6B4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36407-C9D9-42EE-BAE8-898C36A0846C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AC10-08E4-4F1E-ABFE-6575EBEB6B4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936407-C9D9-42EE-BAE8-898C36A0846C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ACAC10-08E4-4F1E-ABFE-6575EBEB6B45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remontka.pro/lock-windows-10-password-attempts/?ysclid=mu2udv5zh6417017046" TargetMode="External"/><Relationship Id="rId2" Type="http://schemas.openxmlformats.org/officeDocument/2006/relationships/hyperlink" Target="https://passwork.ru/blog/password-policy/?ysclid=mu2udo2wdk583001651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tproger.ru/articles/kak-avtomatizirovat-prostye-zadachi-s-pomoshhyu-skriptov-?ysclid=mu2uiu3bz9196077308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Практические аспекты администрирования АИС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Политики паролей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Определяют требования к надёжности учётных данных: минимальную длину, запрет на использование имени пользователя, необходимость комбинации разных типов символов, историю паролей (чтобы нельзя было повторно применять старые значения) и срок их действия. Такие правила снижают риск подбора и использования слабых паролей, повышая общую защищённость системы.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Блокировка учётных записей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Реализуется как реакция на многократные неудачные попытки входа: при превышении заданного порога система временно блокирует учётную запись. Это защищает от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брутфорс‑атак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ограничивая возможности злоумышленника по перебору паролей; дополнительно настраивают окно сброса счётчика попыток и длительность блокировки.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Ограничение прав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Базируется на принципе минимальных привилегий: пользователю предоставляют только те права, которые необходимы для выполнения его задач. Разграничение реализуется через роли, группы и списки контроля доступа (ACL), снижая ущерб при компрометации учётной записи и предотвращая несанкционированные действия внутри инфраструктуры.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>
                <a:latin typeface="Times New Roman" pitchFamily="18" charset="0"/>
                <a:cs typeface="Times New Roman" pitchFamily="18" charset="0"/>
              </a:rPr>
              <a:t>Что такое парольная политика организации?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  <a:hlinkClick r:id="rId2"/>
              </a:rPr>
              <a:t>https://passwork.ru/blog/password-policy/?ysclid=mu2udo2wdk583001651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>
                <a:latin typeface="Times New Roman" pitchFamily="18" charset="0"/>
                <a:cs typeface="Times New Roman" pitchFamily="18" charset="0"/>
              </a:rPr>
              <a:t>Как заблокировать 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10 если кто-то пытается угадать пароль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  <a:hlinkClick r:id="rId3"/>
              </a:rPr>
              <a:t>https://remontka.pro/lock-windows-10-password-attempts/?ysclid=mu2udv5zh6417017046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Принципы резервного копирования</a:t>
            </a:r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Ключевыми ориентирами выступают RPO (допустимая потеря данных) и RTO (допустимое время восстановления): они задают, как часто создавать копии и насколько быстро нужно возвращать систему в работу. Важен принцип «3‑2‑1»: три копии данных, два разных типа носителей, одна копия вне основной площадки — это снижает риски при сбоях и инцидентах. Обязательна проверка возможности восстановления: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бэкап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без успешного теста — не гарантия сохранности данных.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Подходы к формированию копий</a:t>
            </a:r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Полное копирование даёт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самодостаточную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копию всей системы, но требует много места и времени; его обычно делают периодически как основу. Инкрементное сохраняет только изменения с момента прошлой копии — экономит ресурсы, но восстановление зависит от целостности всей цепочки. Дифференциальное фиксирует изменения с момента последнего полного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бэкапа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 восстановление быстрее, чем при инкрементном, а нагрузка на хранилище умеренная. Выбор подхода зависит от объёма данных, частоты изменений и требований к скорости возврата сервиса.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Методы и условия копирования</a:t>
            </a:r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Горячее копирование выполняют при работающей системе — оно удобно для сервисов с минимальными допустимыми простоями, но нужно учитывать согласованность данных. Холодное делают при остановке приложений или сервера — так проще добиться целостности состояния. Для критичных компонентов применяют шифрование и контроль целостности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хеши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), а хранение организуют отдельно от основной инфраструктуры, чтобы исключить одновременную потерю оригинала и копии.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Схемы хранения и ротации</a:t>
            </a:r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Схема «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дед‑отец‑сын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» распределяет копии по периодам: ежедневные («сын»), еженедельные («отец»), ежемесячные («дед») — это позволяет восстановить данные за нужный момент и соблюдать требования к истории хранения. Ротация старых копий и контроль сроков хранения предотвращают переполнение хранилища и обеспечивают актуальность архивов. Автоматизация создания и проверки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бэкапов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снижает влияние человеческого фактора и делает процесс воспроизводимым.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6326" y="1357298"/>
            <a:ext cx="6637674" cy="5500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0" y="0"/>
            <a:ext cx="557213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latin typeface="Times New Roman" pitchFamily="18" charset="0"/>
                <a:cs typeface="Times New Roman" pitchFamily="18" charset="0"/>
              </a:rPr>
              <a:t>Матрица доступа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— это наглядная таблица (или программный инструмент), которая фиксирует, кто из сотрудников или ролей имеет доступ к каким ресурсам и с какими правами. Она помогает систематизировать управление правами, снизить риски утечки данных и упростить аудит.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593467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latin typeface="Times New Roman" pitchFamily="18" charset="0"/>
                <a:cs typeface="Times New Roman" pitchFamily="18" charset="0"/>
              </a:rPr>
              <a:t>Как автоматизировать простые задачи с помощью 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скриптов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?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https://tproger.ru/articles/kak-avtomatizirovat-prostye-zadachi-s-pomoshhyu-skriptov-?ysclid=mu2uiu3bz9196077308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Скрипт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— это текстовый файл с последовательностью команд, который выполняет определённую задачу. Его не нужно компилировать — интерпретатор выполняет команды «на лету».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Скрипты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автоматизируют повторяющиеся операции: резервное копирование, очистку логов, управление пользователями, мониторинг системы.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0" y="1303928"/>
            <a:ext cx="9144000" cy="4293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Автоматизация через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PowerShell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bash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превращает рутинные действия в воспроизводимые сценарии: это снижает влияние человеческого фактора, сокращает время на типовые операции и делает процессы прозрачными за счёт фиксации результатов. Такой подход особенно ценен в эксплуатации, где важна стабильность и предсказуемость поведения системы.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Базовые элементы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скриптов</a:t>
            </a:r>
            <a:endParaRPr lang="ru-RU" sz="13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скриптах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используют переменные для хранения параметров (путей, порогов), условия для принятия решений (например, «если место &lt;10% —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алёрт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»), циклы для обработки списков объектов и обработку ошибок, чтобы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скрипт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не прерывался без уведомления. В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PowerShell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для этого применяют конструкции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foreach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try-catch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, в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bash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—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и проверку кода возврата $?.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Работа с файловой системой и путями</a:t>
            </a:r>
          </a:p>
          <a:p>
            <a:pPr algn="just"/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Скрипты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регулярно проверяют существование файлов и каталогов, создают недостающие директории, копируют и удаляют данные. Для надёжности используют безопасные приёмы: в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PowerShell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—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Test-Path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Join-Path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, в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bash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— проверки [ -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]/[ -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] и аккуратное объединение путей. Это предотвращает ошибки при выполнении операций с файлами.</a:t>
            </a:r>
          </a:p>
          <a:p>
            <a:pPr algn="just"/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Логирование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и отчётность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Любой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скрипт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должен фиксировать свои действия: временную метку, уровень важности (INFO/WARNING/ERROR) и результат операции. В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для записи в лог применяют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Add-Content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или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Write-EventLog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, в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— перенаправление вывода или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logger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. Дополнительно формируют краткие отчёты (например, в CSV) с итогами выполнения: сколько объектов обработано, сколько ошибок зафиксировано.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Планирование и эксплуатация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Для регулярного запуска используют встроенные планировщики: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Task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Scheduler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(с настройкой триггеров, действий и учётной записи) и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cron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(через строки в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crontab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). Важно, чтобы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скрипты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были документированы (комментарии в коде), имели понятные пороги срабатывания и единый формат логов — это упрощает передачу процессов другому администратору и подтверждает готовность системы к эксплуатации.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SLI (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Service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Level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Indicator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) — измеримые метрики качества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6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SLI — это конкретные количественные показатели, отражающие реальное состояние сервиса: доля успешных запросов, время отклика, процент времени доступности, частота ошибок. Их подбирают так, чтобы они напрямую влияли на пользовательский опыт: например, «95 % запросов обрабатываются менее чем за 200 мс» или «доступность сервиса — 99,8 % за сутки». SLI служат базой для объективной оценки работы системы без субъективных оценок.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SLO (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Service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Level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Objective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) — целевые уровни надёжности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6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SLO — это согласованные целевые значения для SLI, которые команда обязуется поддерживать: например, «не менее 99,9 % успешных запросов» или «время отклика в пределах 300 мс в 98 % случаев». SLO устанавливают реалистичные, но требовательные пороги, оставляя небольшой «бюджет ошибок» для внедрения изменений и устранения инцидентов. Они помогают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приоритизировать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задачи: если показатель близок к нарушению SLO, исправление проблемы становится первоочередным.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843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3214686"/>
            <a:ext cx="5857916" cy="362574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 rotWithShape="1">
          <a:blip r:embed="rId2">
            <a:extLst>
              <a:ext uri="{28A0092B-C50C-407E-A947-70E740481C1C}">
                <a14:useLocalDpi xmlns:lc="http://schemas.openxmlformats.org/drawingml/2006/lockedCanvas" xmlns:pic="http://schemas.openxmlformats.org/drawingml/2006/picture" xmlns:a14="http://schemas.microsoft.com/office/drawing/2010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6sdtdh="http://schemas.microsoft.com/office/word/2020/wordml/sdtdatahash" xmlns:w16="http://schemas.microsoft.com/office/word/2018/wordml" xmlns:w16cid="http://schemas.microsoft.com/office/word/2016/wordml/cid" xmlns:w16cex="http://schemas.microsoft.com/office/word/2018/wordml/cex" xmlns:w15="http://schemas.microsoft.com/office/word/2012/wordml" xmlns:w14="http://schemas.microsoft.com/office/word/2010/wordml" xmlns:w="http://schemas.openxmlformats.org/wordprocessingml/2006/main" xmlns:w10="urn:schemas-microsoft-com:office:word" xmlns:wp="http://schemas.openxmlformats.org/drawingml/2006/wordprocessingDrawing" xmlns:wp14="http://schemas.microsoft.com/office/word/2010/wordprocessingDrawing" xmlns:v="urn:schemas-microsoft-com:vml" xmlns:m="http://schemas.openxmlformats.org/officeDocument/2006/math" xmlns:o="urn:schemas-microsoft-com:office:office" xmlns:am3d="http://schemas.microsoft.com/office/drawing/2017/model3d" xmlns:aink="http://schemas.microsoft.com/office/drawing/2016/ink" xmlns:mc="http://schemas.openxmlformats.org/markup-compatibility/2006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cx1="http://schemas.microsoft.com/office/drawing/2015/9/8/chartex" xmlns:cx="http://schemas.microsoft.com/office/drawing/2014/chartex" xmlns:wpc="http://schemas.microsoft.com/office/word/2010/wordprocessingCanvas" xmlns="" val="0"/>
              </a:ext>
            </a:extLst>
          </a:blip>
          <a:srcRect l="1170" r="4209"/>
          <a:stretch/>
        </p:blipFill>
        <p:spPr bwMode="auto">
          <a:xfrm>
            <a:off x="857224" y="1391494"/>
            <a:ext cx="7359787" cy="546650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lc="http://schemas.openxmlformats.org/drawingml/2006/lockedCanvas" xmlns:pic="http://schemas.openxmlformats.org/drawingml/2006/picture" xmlns:a14="http://schemas.microsoft.com/office/drawing/2010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6sdtdh="http://schemas.microsoft.com/office/word/2020/wordml/sdtdatahash" xmlns:w16="http://schemas.microsoft.com/office/word/2018/wordml" xmlns:w16cid="http://schemas.microsoft.com/office/word/2016/wordml/cid" xmlns:w16cex="http://schemas.microsoft.com/office/word/2018/wordml/cex" xmlns:w15="http://schemas.microsoft.com/office/word/2012/wordml" xmlns:w14="http://schemas.microsoft.com/office/word/2010/wordml" xmlns:w="http://schemas.openxmlformats.org/wordprocessingml/2006/main" xmlns:w10="urn:schemas-microsoft-com:office:word" xmlns:wp="http://schemas.openxmlformats.org/drawingml/2006/wordprocessingDrawing" xmlns:wp14="http://schemas.microsoft.com/office/word/2010/wordprocessingDrawing" xmlns:v="urn:schemas-microsoft-com:vml" xmlns:m="http://schemas.openxmlformats.org/officeDocument/2006/math" xmlns:o="urn:schemas-microsoft-com:office:office" xmlns:am3d="http://schemas.microsoft.com/office/drawing/2017/model3d" xmlns:aink="http://schemas.microsoft.com/office/drawing/2016/ink" xmlns:mc="http://schemas.openxmlformats.org/markup-compatibility/2006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cx1="http://schemas.microsoft.com/office/drawing/2015/9/8/chartex" xmlns:cx="http://schemas.microsoft.com/office/drawing/2014/chartex" xmlns:wpc="http://schemas.microsoft.com/office/word/2010/wordprocessingCanvas" xmlns=""/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0" y="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Организационная структура — это, по сути, 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схема, которая показывает, как устроена работа в компании: кто за что отвечает, кому подчиняется и как отделы и сотрудники взаимодействуют между собой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. Проще говоря, это каркас, который держит все процессы компании и помогает им слаженно работать.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214290"/>
            <a:ext cx="6898032" cy="5628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Прямоугольник 2"/>
          <p:cNvSpPr/>
          <p:nvPr/>
        </p:nvSpPr>
        <p:spPr>
          <a:xfrm>
            <a:off x="1071538" y="5715016"/>
            <a:ext cx="702083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Методы сбора данных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1"/>
            <a:ext cx="4286247" cy="3312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22126" y="1142984"/>
            <a:ext cx="5021874" cy="5715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3214686"/>
            <a:ext cx="421481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Оценка </a:t>
            </a:r>
            <a:r>
              <a:rPr lang="ru-RU" sz="1500" dirty="0" err="1">
                <a:latin typeface="Times New Roman" pitchFamily="18" charset="0"/>
                <a:cs typeface="Times New Roman" pitchFamily="18" charset="0"/>
              </a:rPr>
              <a:t>ИТ‑инфраструктуры</a:t>
            </a:r>
            <a:r>
              <a:rPr lang="ru-RU" sz="1500" dirty="0">
                <a:latin typeface="Times New Roman" pitchFamily="18" charset="0"/>
                <a:cs typeface="Times New Roman" pitchFamily="18" charset="0"/>
              </a:rPr>
              <a:t> и уровня информационной безопасности нужна, чтобы:</a:t>
            </a:r>
          </a:p>
          <a:p>
            <a:pPr algn="just"/>
            <a:r>
              <a:rPr lang="ru-RU" sz="1500" b="1" dirty="0">
                <a:latin typeface="Times New Roman" pitchFamily="18" charset="0"/>
                <a:cs typeface="Times New Roman" pitchFamily="18" charset="0"/>
              </a:rPr>
              <a:t>выявить слабые места</a:t>
            </a:r>
            <a:r>
              <a:rPr lang="ru-RU" sz="1500" dirty="0">
                <a:latin typeface="Times New Roman" pitchFamily="18" charset="0"/>
                <a:cs typeface="Times New Roman" pitchFamily="18" charset="0"/>
              </a:rPr>
              <a:t> — уязвимости, устаревшее ПО, несогласованные настройки;</a:t>
            </a:r>
          </a:p>
          <a:p>
            <a:pPr algn="just"/>
            <a:r>
              <a:rPr lang="ru-RU" sz="1500" b="1" dirty="0">
                <a:latin typeface="Times New Roman" pitchFamily="18" charset="0"/>
                <a:cs typeface="Times New Roman" pitchFamily="18" charset="0"/>
              </a:rPr>
              <a:t>понять риски</a:t>
            </a:r>
            <a:r>
              <a:rPr lang="ru-RU" sz="1500" dirty="0">
                <a:latin typeface="Times New Roman" pitchFamily="18" charset="0"/>
                <a:cs typeface="Times New Roman" pitchFamily="18" charset="0"/>
              </a:rPr>
              <a:t> — какие угрозы реальны и к каким последствиям (утечка, простой, штрафы) могут привести;</a:t>
            </a:r>
          </a:p>
          <a:p>
            <a:pPr algn="just"/>
            <a:r>
              <a:rPr lang="ru-RU" sz="1500" b="1" dirty="0">
                <a:latin typeface="Times New Roman" pitchFamily="18" charset="0"/>
                <a:cs typeface="Times New Roman" pitchFamily="18" charset="0"/>
              </a:rPr>
              <a:t>обосновать доработки</a:t>
            </a:r>
            <a:r>
              <a:rPr lang="ru-RU" sz="1500" dirty="0">
                <a:latin typeface="Times New Roman" pitchFamily="18" charset="0"/>
                <a:cs typeface="Times New Roman" pitchFamily="18" charset="0"/>
              </a:rPr>
              <a:t> — показать, что именно стоит внедрить или исправить и зачем;</a:t>
            </a:r>
          </a:p>
          <a:p>
            <a:pPr algn="just"/>
            <a:r>
              <a:rPr lang="ru-RU" sz="1500" b="1" dirty="0">
                <a:latin typeface="Times New Roman" pitchFamily="18" charset="0"/>
                <a:cs typeface="Times New Roman" pitchFamily="18" charset="0"/>
              </a:rPr>
              <a:t>обеспечить соответствие требованиям</a:t>
            </a:r>
            <a:r>
              <a:rPr lang="ru-RU" sz="1500" dirty="0">
                <a:latin typeface="Times New Roman" pitchFamily="18" charset="0"/>
                <a:cs typeface="Times New Roman" pitchFamily="18" charset="0"/>
              </a:rPr>
              <a:t> — нормативным, отраслевым, внутренним политикам;</a:t>
            </a:r>
          </a:p>
          <a:p>
            <a:pPr algn="just"/>
            <a:r>
              <a:rPr lang="ru-RU" sz="1500" b="1" dirty="0">
                <a:latin typeface="Times New Roman" pitchFamily="18" charset="0"/>
                <a:cs typeface="Times New Roman" pitchFamily="18" charset="0"/>
              </a:rPr>
              <a:t>сбалансировать безопасность и работоспособность</a:t>
            </a:r>
            <a:r>
              <a:rPr lang="ru-RU" sz="1500" dirty="0">
                <a:latin typeface="Times New Roman" pitchFamily="18" charset="0"/>
                <a:cs typeface="Times New Roman" pitchFamily="18" charset="0"/>
              </a:rPr>
              <a:t> — не ломать процессы избыточными мерами, а закрывать реальные риски.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643438" y="357166"/>
            <a:ext cx="4322145" cy="5078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27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Используемые </a:t>
            </a:r>
            <a:r>
              <a:rPr lang="ru-RU" sz="2700" b="1" cap="none" spc="0" dirty="0" err="1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ИТ-средства</a:t>
            </a:r>
            <a:endParaRPr lang="ru-RU" sz="27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5286380" cy="39109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61298" y="3071810"/>
            <a:ext cx="4882702" cy="3786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5143504" y="571480"/>
            <a:ext cx="400049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IDEF0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Integration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Definition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Function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Modeling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 — это нотация для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функционального моделирования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она показывает,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какие функции (действия) есть в системе и при каких условиях они выполняются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а не последовательность шагов.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3929066"/>
            <a:ext cx="4572000" cy="280076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Блок (прямоугольник) — функция/действие (например, «Обработать заявку»).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Стрелки с чёткой семантикой: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Слева (входы) — что преобразуется (данные, документы, материалы).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Справа (выходы) — результат работы (отчёт, договор, обновлённая запись).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Сверху (управление) — правила, регламенты, законы, политики (то, что диктует, как делать).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Снизу (механизмы) — кто и чем выполняет (сотрудник, программа, станок).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591</Words>
  <Application>Microsoft Office PowerPoint</Application>
  <PresentationFormat>Экран (4:3)</PresentationFormat>
  <Paragraphs>52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Практические аспекты администрирования АИС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2</cp:revision>
  <dcterms:created xsi:type="dcterms:W3CDTF">2026-09-15T15:43:19Z</dcterms:created>
  <dcterms:modified xsi:type="dcterms:W3CDTF">2026-09-15T15:58:04Z</dcterms:modified>
</cp:coreProperties>
</file>