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6A219-3FCD-46E5-81EF-F55FBF3BAFE4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E5C9C-FCAD-4F65-BE50-77FD97B224F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Роль администрирования в жизненном цикле </a:t>
            </a:r>
            <a:r>
              <a:rPr lang="ru-RU" b="1" dirty="0" smtClean="0"/>
              <a:t>ИС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890588"/>
            <a:ext cx="91440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1214414" y="0"/>
            <a:ext cx="64171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Жизненный цикл ИС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 b="10606"/>
          <a:stretch>
            <a:fillRect/>
          </a:stretch>
        </p:blipFill>
        <p:spPr bwMode="auto">
          <a:xfrm>
            <a:off x="0" y="1214421"/>
            <a:ext cx="9144000" cy="4536695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261456" y="0"/>
            <a:ext cx="87397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Основные задачи администратора</a:t>
            </a:r>
            <a:endParaRPr lang="ru-RU" sz="4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166843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Доступность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администратор обеспечивает бесперебойную работу систем и оперативный доступ пользователей, устраняет простои, настраивает резервирование и отказоустойчивость.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Целостность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контролирует сохранность и корректность данных, управляет правами доступа, резервным копированием и восстановлением, предотвращает несанкционированные изменения.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Производительность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мониторит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нагрузку, оптимизирует ресурсы и настройки, выявляет и устраняет узкие места, поддерживает требуемый уровень быстродействия системы.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2015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Зоны ответственности администратора</a:t>
            </a:r>
            <a:endParaRPr lang="ru-RU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305342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•	ADR: фиксирует, почему выбрали именно эту схему балансировки нагрузки и какие альтернативы отвергли (например, «не используем простой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round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robin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потому что у нас разные мощности серверов»).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•	README: пишет, как поднять сервис, какие порты и зависимости нужны, как проверить, что всё работает (команды, ожидаемые ответы).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•	Матрица рисков: перечисляет основные угрозы (падение базы данных, переполнение диска,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DDoS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и для каждой указывает меры (резервные копии, мониторинг места, правила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фаервола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и целевые показатели (RTO, RPO).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2015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Артефакты администратора</a:t>
            </a:r>
            <a:endParaRPr lang="ru-RU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88984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«Инфраструктура как код»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IaC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без сложной автоматизации — это описание инфраструктуры в текстовых файлах (YAML, JSON, HCL), а не ручная настройка.</a:t>
            </a:r>
          </a:p>
          <a:p>
            <a:pPr lvl="0"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Что фиксируют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параметры серверов, сети, ОС, установленных пакетов — в виде декларативного описания.</a:t>
            </a:r>
          </a:p>
          <a:p>
            <a:pPr lvl="0"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Инструменты на минимуме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Terraform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(инфраструктура),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Ansible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(конфигурация), простые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bash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0"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Как применяют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один раз пишут шаблон, потом воспроизводят на разных средах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dev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test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prod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 — получают одинаковые окружения.</a:t>
            </a:r>
          </a:p>
          <a:p>
            <a:pPr lvl="0"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Контроль и прозрачность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файлы хранят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видно изменения, кто и когда их вносил.</a:t>
            </a:r>
          </a:p>
          <a:p>
            <a:pPr lvl="0"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Минимум автоматизации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без сложных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пайплайнов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запуск вручную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terraform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apply,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ansible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-playbook).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2015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Инфраструктура как код</a:t>
            </a:r>
            <a:endParaRPr lang="ru-RU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0" y="0"/>
            <a:ext cx="9144000" cy="678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ctr" defTabSz="914400" rtl="0" eaLnBrk="1" fontAlgn="base" latinLnBrk="0" hangingPunct="1">
              <a:buClrTx/>
              <a:buSzTx/>
              <a:buFontTx/>
              <a:buNone/>
              <a:tabLst/>
            </a:pP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Безопасность «по умолчанию»</a:t>
            </a:r>
            <a:endParaRPr kumimoji="0" lang="ru-RU" sz="15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just" defTabSz="914400" rtl="0" eaLnBrk="0" fontAlgn="base" latinLnBrk="0" hangingPunct="0">
              <a:buClrTx/>
              <a:buSzTx/>
              <a:buFontTx/>
              <a:buChar char="•"/>
              <a:tabLst/>
            </a:pP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Отключить лишнее.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Выключить неиспользуемые службы и протоколы (например,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Telnet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устаревшие версии SMB/FTP) — так уменьшается число потенциальных уязвимостей.</a:t>
            </a:r>
          </a:p>
          <a:p>
            <a:pPr marL="0" marR="0" lvl="0" algn="just" defTabSz="914400" rtl="0" eaLnBrk="0" fontAlgn="base" latinLnBrk="0" hangingPunct="0">
              <a:buClrTx/>
              <a:buSzTx/>
              <a:buFontTx/>
              <a:buChar char="•"/>
              <a:tabLst/>
            </a:pP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Сменить заводские пароли.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У многих устройств и ПО есть предустановленные учётные данные, которые общедоступны в интернете: их обязательно заменяют на сложные уникальные пароли сразу после развёртывания.</a:t>
            </a:r>
          </a:p>
          <a:p>
            <a:pPr marL="0" marR="0" lvl="0" algn="just" defTabSz="914400" rtl="0" eaLnBrk="0" fontAlgn="base" latinLnBrk="0" hangingPunct="0">
              <a:buClrTx/>
              <a:buSzTx/>
              <a:buFontTx/>
              <a:buChar char="•"/>
              <a:tabLst/>
            </a:pP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Ограничить права.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Применять принцип наименьших привилегий: у пользователей — только нужные для работы права, для администрирования — временное повышение прав (например, через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sudo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Linux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а не постоянный вход под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root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/администратором.</a:t>
            </a:r>
          </a:p>
          <a:p>
            <a:pPr marL="0" marR="0" lvl="0" algn="just" defTabSz="914400" rtl="0" eaLnBrk="0" fontAlgn="base" latinLnBrk="0" hangingPunct="0">
              <a:buClrTx/>
              <a:buSzTx/>
              <a:buFontTx/>
              <a:buChar char="•"/>
              <a:tabLst/>
            </a:pP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Использовать SSH.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Для удалённого доступа применять SSH вместо незашифрованных протоколов: он шифрует трафик и поддерживает аутентификацию по ключам, что надёжнее паролей.</a:t>
            </a:r>
          </a:p>
          <a:p>
            <a:pPr marL="0" marR="0" lvl="0" algn="just" defTabSz="914400" rtl="0" eaLnBrk="0" fontAlgn="base" latinLnBrk="0" hangingPunct="0">
              <a:buClrTx/>
              <a:buSzTx/>
              <a:buFontTx/>
              <a:buChar char="•"/>
              <a:tabLst/>
            </a:pP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Включить </a:t>
            </a:r>
            <a:r>
              <a:rPr kumimoji="0" lang="ru-RU" sz="1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фаервол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Настроить правило «запретить всё по умолчанию, разрешить только явно нужный трафик» (например, только SSH на 22‑й порт и HTTP/HTTPS на 80/443).</a:t>
            </a:r>
            <a:endParaRPr kumimoji="0" lang="ru-RU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just" defTabSz="914400" rtl="0" eaLnBrk="0" fontAlgn="base" latinLnBrk="0" hangingPunct="0">
              <a:buClrTx/>
              <a:buSzTx/>
              <a:buFontTx/>
              <a:buNone/>
              <a:tabLst/>
            </a:pPr>
            <a:endParaRPr kumimoji="0" lang="ru-RU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Надёжность «по умолчанию»</a:t>
            </a:r>
            <a:endParaRPr lang="ru-RU" sz="15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Регулярные </a:t>
            </a:r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бэкапы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Настроить автоматическое создание резервных копий конфигурации и данных с периодичностью, подходящей под критичность системы (например, ежедневно), и хранить их отдельно от основной системы (на внешнем диске, в другом сегменте сети или в облаке).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Резервирование критичных компонентов.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В небольших системах это может быть дублирование важных элементов (например, второй диск в RAID1 для ОС и данных, резервный канал связи) либо хотя бы продуманный план быстрого восстановления (образ системы, список настроек,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развёртывания).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Контроль целостности.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Использовать простые средства проверки неизменности ключевых файлов (например, 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aide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или 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tripwire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средства контроля целостности в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 либо хотя бы периодическую проверку контрольных сумм и дат изменения важных конфигураций.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Своевременные обновления.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Регулярно устанавливать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патчи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безопасности и обновления ОС и ПО — это закрывает известные уязвимости и исправляет ошибки, влияющие на стабильность.</a:t>
            </a:r>
          </a:p>
          <a:p>
            <a:pPr algn="just"/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Выключить звук</a:t>
            </a:r>
          </a:p>
          <a:p>
            <a:pPr algn="just"/>
            <a:r>
              <a:rPr lang="ru-RU" sz="15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500" dirty="0">
                <a:latin typeface="Times New Roman" pitchFamily="18" charset="0"/>
                <a:cs typeface="Times New Roman" pitchFamily="18" charset="0"/>
              </a:rPr>
            </a:br>
            <a:endParaRPr kumimoji="0" lang="ru-RU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</Words>
  <Application>Microsoft Office PowerPoint</Application>
  <PresentationFormat>Экран (4:3)</PresentationFormat>
  <Paragraphs>33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Роль администрирования в жизненном цикле ИС 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2026-08-30T11:44:10Z</dcterms:created>
  <dcterms:modified xsi:type="dcterms:W3CDTF">2026-08-30T11:57:38Z</dcterms:modified>
</cp:coreProperties>
</file>