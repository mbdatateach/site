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2580" y="-7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pPr/>
              <a:t>03.10.2026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pPr/>
              <a:t>03.10.2026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pPr/>
              <a:t>03.10.2026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pPr/>
              <a:t>03.10.2026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Содержимое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Содержимое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pPr/>
              <a:t>03.10.2026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pPr/>
              <a:t>03.10.2026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pPr/>
              <a:t>03.10.2026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pPr/>
              <a:t>03.10.2026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pPr/>
              <a:t>03.10.2026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pPr/>
              <a:t>03.10.2026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8D225B-36E9-41EA-BE2C-3A45DE311A3C}" type="datetimeFigureOut">
              <a:rPr lang="ru-RU" smtClean="0"/>
              <a:pPr/>
              <a:t>03.10.2026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C4DE8E-4333-49B3-A827-6A748C4771BE}" type="slidenum">
              <a:rPr lang="ru-RU" smtClean="0"/>
              <a:pPr/>
              <a:t>‹#›</a:t>
            </a:fld>
            <a:endParaRPr lang="ru-R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8D225B-36E9-41EA-BE2C-3A45DE311A3C}" type="datetimeFigureOut">
              <a:rPr lang="ru-RU" smtClean="0"/>
              <a:pPr/>
              <a:t>03.10.2026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CC4DE8E-4333-49B3-A827-6A748C4771BE}" type="slidenum">
              <a:rPr lang="ru-RU" smtClean="0"/>
              <a:pPr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ru-RU" b="1" dirty="0"/>
              <a:t>Технологии распределённых вычислений и межсистемная интеграция (SOAP, WSDL, COM)</a:t>
            </a:r>
            <a:r>
              <a:rPr lang="ru-RU" dirty="0"/>
              <a:t/>
            </a:r>
            <a:br>
              <a:rPr lang="ru-RU" dirty="0"/>
            </a:br>
            <a:endParaRPr lang="ru-RU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643042" y="571456"/>
            <a:ext cx="6286544" cy="628654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u-RU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архитектура </a:t>
            </a:r>
            <a:r>
              <a:rPr kumimoji="0" lang="ru-RU" sz="1600" b="1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клиент‑сервер</a:t>
            </a:r>
            <a:r>
              <a:rPr kumimoji="0" lang="ru-RU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 паттерны проектирования (REST, RPC, </a:t>
            </a:r>
            <a:r>
              <a:rPr kumimoji="0" lang="ru-RU" sz="1600" b="1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Publish‑Subscribe</a:t>
            </a:r>
            <a:r>
              <a:rPr kumimoji="0" lang="ru-RU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), особенности реализации и </a:t>
            </a:r>
            <a:r>
              <a:rPr kumimoji="0" lang="ru-RU" sz="1600" b="1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ограничения</a:t>
            </a:r>
            <a:endParaRPr kumimoji="0" lang="ru-RU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214546" y="857232"/>
            <a:ext cx="4600575" cy="5133975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3786182" y="0"/>
            <a:ext cx="1309974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RPC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2" descr="https://avatars.mds.yandex.net/i?id=4f8c716545af3377157644c7df1478f0_l-5221636-images-thumbs&amp;n=1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857224" y="2000240"/>
            <a:ext cx="7667564" cy="3512814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3786182" y="0"/>
            <a:ext cx="266611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  <a:scene3d>
              <a:camera prst="orthographicFront"/>
              <a:lightRig rig="flat" dir="tl">
                <a:rot lat="0" lon="0" rev="6600000"/>
              </a:lightRig>
            </a:scene3d>
            <a:sp3d extrusionH="25400" contourW="8890">
              <a:bevelT w="38100" h="31750"/>
              <a:contourClr>
                <a:schemeClr val="accent2">
                  <a:shade val="75000"/>
                </a:schemeClr>
              </a:contourClr>
            </a:sp3d>
          </a:bodyPr>
          <a:lstStyle/>
          <a:p>
            <a:pPr algn="ctr"/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Pub</a:t>
            </a:r>
            <a:r>
              <a:rPr lang="ru-RU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/</a:t>
            </a:r>
            <a:r>
              <a:rPr lang="en-US" sz="5400" b="1" cap="none" spc="0" dirty="0" smtClean="0">
                <a:ln w="11430"/>
                <a:gradFill>
                  <a:gsLst>
                    <a:gs pos="0">
                      <a:schemeClr val="accent2">
                        <a:tint val="70000"/>
                        <a:satMod val="245000"/>
                      </a:schemeClr>
                    </a:gs>
                    <a:gs pos="75000">
                      <a:schemeClr val="accent2">
                        <a:tint val="90000"/>
                        <a:shade val="60000"/>
                        <a:satMod val="240000"/>
                      </a:schemeClr>
                    </a:gs>
                    <a:gs pos="100000">
                      <a:schemeClr val="accent2">
                        <a:tint val="100000"/>
                        <a:shade val="50000"/>
                        <a:satMod val="240000"/>
                      </a:schemeClr>
                    </a:gs>
                  </a:gsLst>
                  <a:lin ang="5400000"/>
                </a:gra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</a:rPr>
              <a:t>Sub</a:t>
            </a:r>
            <a:endParaRPr lang="ru-RU" sz="5400" b="1" cap="none" spc="0" dirty="0">
              <a:ln w="11430"/>
              <a:gradFill>
                <a:gsLst>
                  <a:gs pos="0">
                    <a:schemeClr val="accent2">
                      <a:tint val="70000"/>
                      <a:satMod val="245000"/>
                    </a:schemeClr>
                  </a:gs>
                  <a:gs pos="75000">
                    <a:schemeClr val="accent2">
                      <a:tint val="90000"/>
                      <a:shade val="60000"/>
                      <a:satMod val="240000"/>
                    </a:schemeClr>
                  </a:gs>
                  <a:gs pos="100000">
                    <a:schemeClr val="accent2">
                      <a:tint val="100000"/>
                      <a:shade val="50000"/>
                      <a:satMod val="240000"/>
                    </a:schemeClr>
                  </a:gs>
                </a:gsLst>
                <a:lin ang="5400000"/>
              </a:gra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Разработка серверной части: ключевые аспекты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0" y="517803"/>
            <a:ext cx="9144000" cy="63401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Выбор стека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Под задачу и команду: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Java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Spring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Boot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— стабильность, корпоративный стандарт;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FastAPI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Django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— скорость разработки, аналитика;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Go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Gin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— высокая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конкурентность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микросервисы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;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Node.js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I/O нагрузки.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С учётом интеграции: если есть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legacy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на .NET или 1С — логично использовать C#; для быстрой аналитики и отчётов —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Для диплома: выбирайте стек, где можно показать измеримые метрики (RPS,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latency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и архитектурные решения (очереди, кэширование).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________________________________________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Обработка конкурентных запросов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Модель параллелизма: потоки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thread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pool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— для CPU нагрузок; асинхронность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async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await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event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loop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— для I/O (БД, внешние API).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Ограничение параллелизма: лимиты на число одновременных задач,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backpressure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rate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limiting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— чтобы не «уронить» сервис при всплесках.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Идемпотентность операций: повторные запросы не должны дублировать действия (актуально для платежей, отчётов).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________________________________________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Пулы соединений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К базе данных: фиксированный размер пула (например, 20–50 соединений), таймауты на получение соединения, метрики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active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idle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waiting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К внешним сервисам: отдельные пулы для разных зависимостей — изоляция отказов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circuit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breaker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Переиспользование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: снижает накладные расходы на установку соединений и защищает БД от перегрузки.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________________________________________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Таймауты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На каждом уровне: HTTP запрос (3–10 с), соединение с БД (2–5 с), вызов внешнего API (5–15 с).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Дедлайны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и отмена: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propagate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cancellation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CancellationToken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 .NET,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context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в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Go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asyncio.timeout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в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•	Обработка ошибок: возвращать понятные коды (504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Timeout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, 503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Unavailable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) и </a:t>
            </a:r>
            <a:r>
              <a:rPr lang="ru-RU" sz="1400" dirty="0" err="1" smtClean="0">
                <a:latin typeface="Times New Roman" pitchFamily="18" charset="0"/>
                <a:cs typeface="Times New Roman" pitchFamily="18" charset="0"/>
              </a:rPr>
              <a:t>логировать</a:t>
            </a:r>
            <a:r>
              <a:rPr lang="ru-RU" sz="1400" dirty="0" smtClean="0">
                <a:latin typeface="Times New Roman" pitchFamily="18" charset="0"/>
                <a:cs typeface="Times New Roman" pitchFamily="18" charset="0"/>
              </a:rPr>
              <a:t> причины — это критично для диагностики в экономических системах (расчёты, отчёты).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0" y="0"/>
            <a:ext cx="9144000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400" b="1" dirty="0" smtClean="0">
                <a:latin typeface="Times New Roman" pitchFamily="18" charset="0"/>
                <a:cs typeface="Times New Roman" pitchFamily="18" charset="0"/>
              </a:rPr>
              <a:t>Разработка клиентского приложения</a:t>
            </a:r>
            <a:endParaRPr lang="ru-RU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17" name="Прямоугольник 16"/>
          <p:cNvSpPr/>
          <p:nvPr/>
        </p:nvSpPr>
        <p:spPr>
          <a:xfrm>
            <a:off x="0" y="563969"/>
            <a:ext cx="9144000" cy="62940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Стратегии повторных попыток (</a:t>
            </a:r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Retry</a:t>
            </a:r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)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Экспоненциальный </a:t>
            </a:r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backoff</a:t>
            </a:r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 + </a:t>
            </a:r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jitter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задержка между попытками растёт экспоненциально (2 с → 4 с → 8 с),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джиттер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(случайное смещение) предотвращает «эффект стадности» при массовых запросах.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Ограничение числа попыток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обычно 3–5 попыток — дальше считаем ошибку устойчивой.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Фильтрация по типам ошибок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повторять только временные сбои (503, таймауты, сетевые разрывы); не повторять клиентские ошибки (400, 401, 404).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Идемпотентность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для операций с побочными эффектами (платёж, заказ) гарантировать, что повтор не создаст дубликат (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токены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идемпотентности, ключи корреляции).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Инструменты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готовые библиотеки (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Polly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для .NET,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tenacity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для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Python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resilience4j для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Java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) вместо «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самописных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» циклов.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Обработка ошибок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Слой абстракции ошибок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переводить низкоуровневые исключения (сеть,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парсинг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JSON) в понятные доменные ошибки («Не удалось получить данные», «Ошибка авторизации»).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Градация сообщений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пользователю — кратко и конструктивно («Попробуйте позже» + кнопка «Повторить»); в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логи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— полный контекст (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RequestId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URL, статус, тело запроса/ответа без секретов).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Fallback-стратегии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при недоступности сервиса — показать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закэшированные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данные,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демо-режим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статические шаблоны отчётов.</a:t>
            </a:r>
          </a:p>
          <a:p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Circuit</a:t>
            </a:r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Breaker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если сервис стабильно падает, временно блокировать запросы к нему, чтобы не «забивать» клиент и не тратить ресурсы.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Мониторинг и </a:t>
            </a:r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алерты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фиксировать всплески ошибок и задержки; для экономических задач критично отличать «медленно, но верно» от «совсем не работает».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Кэширование ответов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Уровни кэширования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</a:t>
            </a:r>
          </a:p>
          <a:p>
            <a:pPr lvl="1"/>
            <a:r>
              <a:rPr lang="ru-RU" sz="1300" i="1" dirty="0" err="1" smtClean="0">
                <a:latin typeface="Times New Roman" pitchFamily="18" charset="0"/>
                <a:cs typeface="Times New Roman" pitchFamily="18" charset="0"/>
              </a:rPr>
              <a:t>In-memory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(быстрый, но теряется при перезапуске) — для временных данных (курсы валют на 1–5 минут).</a:t>
            </a:r>
          </a:p>
          <a:p>
            <a:pPr lvl="1"/>
            <a:r>
              <a:rPr lang="ru-RU" sz="1300" i="1" dirty="0" smtClean="0">
                <a:latin typeface="Times New Roman" pitchFamily="18" charset="0"/>
                <a:cs typeface="Times New Roman" pitchFamily="18" charset="0"/>
              </a:rPr>
              <a:t>Локальный файл/</a:t>
            </a:r>
            <a:r>
              <a:rPr lang="ru-RU" sz="1300" i="1" dirty="0" err="1" smtClean="0">
                <a:latin typeface="Times New Roman" pitchFamily="18" charset="0"/>
                <a:cs typeface="Times New Roman" pitchFamily="18" charset="0"/>
              </a:rPr>
              <a:t>SQLite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— для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офлайн-доступа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и сохранения справочников.</a:t>
            </a:r>
          </a:p>
          <a:p>
            <a:pPr lvl="1"/>
            <a:r>
              <a:rPr lang="ru-RU" sz="1300" i="1" dirty="0" err="1" smtClean="0">
                <a:latin typeface="Times New Roman" pitchFamily="18" charset="0"/>
                <a:cs typeface="Times New Roman" pitchFamily="18" charset="0"/>
              </a:rPr>
              <a:t>Redis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— для распределённых клиентов и согласованности.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Политика TTL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жёстко задавать время жизни (например, курсы валют — 5 минут, справочник товаров — 24 часа). Избегать «вечного»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кэша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r>
              <a:rPr lang="ru-RU" sz="1300" b="1" dirty="0" err="1" smtClean="0">
                <a:latin typeface="Times New Roman" pitchFamily="18" charset="0"/>
                <a:cs typeface="Times New Roman" pitchFamily="18" charset="0"/>
              </a:rPr>
              <a:t>Инвалидация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по событию (обновление справочника), по версии API или по HTTP-заголовкам (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ETag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Last-Modified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).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Кэш-ключи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включать версию API, параметры запроса и идентификатор клиента (если данные персонализированы).</a:t>
            </a:r>
          </a:p>
          <a:p>
            <a:r>
              <a:rPr lang="ru-RU" sz="1300" b="1" dirty="0" smtClean="0">
                <a:latin typeface="Times New Roman" pitchFamily="18" charset="0"/>
                <a:cs typeface="Times New Roman" pitchFamily="18" charset="0"/>
              </a:rPr>
              <a:t>HTTP-кэширование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: использовать заголовки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Cache-Control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, </a:t>
            </a:r>
            <a:r>
              <a:rPr lang="ru-RU" sz="1300" dirty="0" err="1" smtClean="0">
                <a:latin typeface="Times New Roman" pitchFamily="18" charset="0"/>
                <a:cs typeface="Times New Roman" pitchFamily="18" charset="0"/>
              </a:rPr>
              <a:t>ETag</a:t>
            </a:r>
            <a:r>
              <a:rPr lang="ru-RU" sz="1300" dirty="0" smtClean="0">
                <a:latin typeface="Times New Roman" pitchFamily="18" charset="0"/>
                <a:cs typeface="Times New Roman" pitchFamily="18" charset="0"/>
              </a:rPr>
              <a:t> на уровне HTTP-клиента (особенно для GET-запросов отчётов и справочников).</a:t>
            </a:r>
            <a:endParaRPr lang="ru-RU" sz="13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3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857356" y="2305049"/>
            <a:ext cx="5657850" cy="4552951"/>
          </a:xfrm>
          <a:prstGeom prst="rect">
            <a:avLst/>
          </a:prstGeom>
          <a:noFill/>
        </p:spPr>
      </p:pic>
      <p:sp>
        <p:nvSpPr>
          <p:cNvPr id="3" name="Прямоугольник 2"/>
          <p:cNvSpPr/>
          <p:nvPr/>
        </p:nvSpPr>
        <p:spPr>
          <a:xfrm>
            <a:off x="0" y="0"/>
            <a:ext cx="9144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WSDL (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Web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Services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Description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ru-RU" sz="2400" b="1" dirty="0" err="1">
                <a:latin typeface="Times New Roman" pitchFamily="18" charset="0"/>
                <a:cs typeface="Times New Roman" pitchFamily="18" charset="0"/>
              </a:rPr>
              <a:t>Language</a:t>
            </a:r>
            <a:r>
              <a:rPr lang="ru-RU" sz="2400" b="1" dirty="0">
                <a:latin typeface="Times New Roman" pitchFamily="18" charset="0"/>
                <a:cs typeface="Times New Roman" pitchFamily="18" charset="0"/>
              </a:rPr>
              <a:t>)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 — это язык описания </a:t>
            </a:r>
            <a:r>
              <a:rPr lang="ru-RU" sz="2400" dirty="0" err="1">
                <a:latin typeface="Times New Roman" pitchFamily="18" charset="0"/>
                <a:cs typeface="Times New Roman" pitchFamily="18" charset="0"/>
              </a:rPr>
              <a:t>веб-сервисов</a:t>
            </a:r>
            <a:r>
              <a:rPr lang="ru-RU" sz="2400" dirty="0">
                <a:latin typeface="Times New Roman" pitchFamily="18" charset="0"/>
                <a:cs typeface="Times New Roman" pitchFamily="18" charset="0"/>
              </a:rPr>
              <a:t> на основе XML. Он служит контрактом: позволяет клиентам понять, какие операции доступны, какие данные нужны и как их передавать.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2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232297"/>
            <a:ext cx="9144000" cy="5625703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0" y="0"/>
            <a:ext cx="9144000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SOAP‑сообщение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 — это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XML‑конверт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Envelope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), который содержит заголовок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Header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с метаданными (например, для безопасности или маршрутизации) и тело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Body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с вызовом операции и параметрами либо с ошибкой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Fault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 — вся структура строго типизирована и стандартизована для надёжного обмена данными между системами.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6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571480"/>
            <a:ext cx="9144000" cy="54864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Таблица 1"/>
          <p:cNvGraphicFramePr>
            <a:graphicFrameLocks noGrp="1"/>
          </p:cNvGraphicFramePr>
          <p:nvPr/>
        </p:nvGraphicFramePr>
        <p:xfrm>
          <a:off x="214282" y="285728"/>
          <a:ext cx="8715436" cy="5859780"/>
        </p:xfrm>
        <a:graphic>
          <a:graphicData uri="http://schemas.openxmlformats.org/drawingml/2006/table">
            <a:tbl>
              <a:tblPr/>
              <a:tblGrid>
                <a:gridCol w="2178859"/>
                <a:gridCol w="2178859"/>
                <a:gridCol w="2178859"/>
                <a:gridCol w="2178859"/>
              </a:tblGrid>
              <a:tr h="749010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>
                          <a:latin typeface="Times New Roman"/>
                          <a:ea typeface="Times New Roman"/>
                          <a:cs typeface="Times New Roman"/>
                        </a:rPr>
                        <a:t>Инструмент</a:t>
                      </a:r>
                      <a:endParaRPr lang="ru-RU" sz="2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>
                          <a:latin typeface="Times New Roman"/>
                          <a:ea typeface="Times New Roman"/>
                          <a:cs typeface="Times New Roman"/>
                        </a:rPr>
                        <a:t>Что делает с WSDL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>
                          <a:latin typeface="Times New Roman"/>
                          <a:ea typeface="Times New Roman"/>
                          <a:cs typeface="Times New Roman"/>
                        </a:rPr>
                        <a:t>Уровень автоматизации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>
                          <a:latin typeface="Times New Roman"/>
                          <a:ea typeface="Times New Roman"/>
                          <a:cs typeface="Times New Roman"/>
                        </a:rPr>
                        <a:t>Когда удобно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0728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>
                          <a:latin typeface="Times New Roman"/>
                          <a:ea typeface="Times New Roman"/>
                          <a:cs typeface="Times New Roman"/>
                        </a:rPr>
                        <a:t>SoapUI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Times New Roman"/>
                          <a:cs typeface="Times New Roman"/>
                        </a:rPr>
                        <a:t>Загружает WSDL, генерирует все шаблоны запросов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Times New Roman"/>
                          <a:cs typeface="Times New Roman"/>
                        </a:rPr>
                        <a:t>Высокий: кликнул → отправил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Times New Roman"/>
                          <a:cs typeface="Times New Roman"/>
                        </a:rPr>
                        <a:t>Отладка, тестирование, документирование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465568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 dirty="0" err="1">
                          <a:latin typeface="Times New Roman"/>
                          <a:ea typeface="Times New Roman"/>
                          <a:cs typeface="Times New Roman"/>
                        </a:rPr>
                        <a:t>Postman</a:t>
                      </a:r>
                      <a:endParaRPr lang="ru-RU" sz="2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latin typeface="Times New Roman"/>
                          <a:ea typeface="Times New Roman"/>
                          <a:cs typeface="Times New Roman"/>
                        </a:rPr>
                        <a:t>Можно импортировать WSDL, но чаще пишешь XML вручную</a:t>
                      </a:r>
                      <a:endParaRPr lang="ru-RU" sz="2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Times New Roman"/>
                          <a:cs typeface="Times New Roman"/>
                        </a:rPr>
                        <a:t>Средний: нужно знать формат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Times New Roman"/>
                          <a:cs typeface="Times New Roman"/>
                        </a:rPr>
                        <a:t>Быстрый разовый запрос, проверка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  <a:tr h="1107289"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b="1">
                          <a:latin typeface="Times New Roman"/>
                          <a:ea typeface="Times New Roman"/>
                          <a:cs typeface="Times New Roman"/>
                        </a:rPr>
                        <a:t>Встроенный клиент (C#, Python, 1С)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latin typeface="Times New Roman"/>
                          <a:ea typeface="Times New Roman"/>
                          <a:cs typeface="Times New Roman"/>
                        </a:rPr>
                        <a:t>Загружает WSDL, генерирует </a:t>
                      </a:r>
                      <a:r>
                        <a:rPr lang="ru-RU" sz="2200" dirty="0" err="1">
                          <a:latin typeface="Times New Roman"/>
                          <a:ea typeface="Times New Roman"/>
                          <a:cs typeface="Times New Roman"/>
                        </a:rPr>
                        <a:t>прокси-классы</a:t>
                      </a:r>
                      <a:r>
                        <a:rPr lang="ru-RU" sz="2200" dirty="0">
                          <a:latin typeface="Times New Roman"/>
                          <a:ea typeface="Times New Roman"/>
                          <a:cs typeface="Times New Roman"/>
                        </a:rPr>
                        <a:t> и методы</a:t>
                      </a:r>
                      <a:endParaRPr lang="ru-RU" sz="2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>
                          <a:latin typeface="Times New Roman"/>
                          <a:ea typeface="Times New Roman"/>
                          <a:cs typeface="Times New Roman"/>
                        </a:rPr>
                        <a:t>Высокий: работа как с обычной функцией</a:t>
                      </a:r>
                      <a:endParaRPr lang="ru-RU" sz="22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ru-RU" sz="2200" dirty="0">
                          <a:latin typeface="Times New Roman"/>
                          <a:ea typeface="Times New Roman"/>
                          <a:cs typeface="Times New Roman"/>
                        </a:rPr>
                        <a:t>В коде приложения, автоматизация</a:t>
                      </a:r>
                      <a:endParaRPr lang="ru-RU" sz="2200" dirty="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9525" marR="9525" marT="9525" marB="9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54" name="Picture 2" descr="Picture background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0"/>
            <a:ext cx="5214942" cy="3911207"/>
          </a:xfrm>
          <a:prstGeom prst="rect">
            <a:avLst/>
          </a:prstGeom>
          <a:noFill/>
        </p:spPr>
      </p:pic>
      <p:pic>
        <p:nvPicPr>
          <p:cNvPr id="23556" name="Picture 4" descr="Picture background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4429124" y="3326448"/>
            <a:ext cx="4714876" cy="3531552"/>
          </a:xfrm>
          <a:prstGeom prst="rect">
            <a:avLst/>
          </a:prstGeom>
          <a:noFill/>
        </p:spPr>
      </p:pic>
      <p:sp>
        <p:nvSpPr>
          <p:cNvPr id="4" name="Прямоугольник 3"/>
          <p:cNvSpPr/>
          <p:nvPr/>
        </p:nvSpPr>
        <p:spPr>
          <a:xfrm>
            <a:off x="5214942" y="428604"/>
            <a:ext cx="3929058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dirty="0">
                <a:latin typeface="Times New Roman" pitchFamily="18" charset="0"/>
                <a:cs typeface="Times New Roman" pitchFamily="18" charset="0"/>
              </a:rPr>
              <a:t>Интерфейс в COM — это строго типизированная таблица указателей на функции (</a:t>
            </a:r>
            <a:r>
              <a:rPr lang="ru-RU" dirty="0" err="1">
                <a:latin typeface="Times New Roman" pitchFamily="18" charset="0"/>
                <a:cs typeface="Times New Roman" pitchFamily="18" charset="0"/>
              </a:rPr>
              <a:t>vtable</a:t>
            </a:r>
            <a:r>
              <a:rPr lang="ru-RU" dirty="0">
                <a:latin typeface="Times New Roman" pitchFamily="18" charset="0"/>
                <a:cs typeface="Times New Roman" pitchFamily="18" charset="0"/>
              </a:rPr>
              <a:t>), которая определяет набор методов, которые объект обязуется реализовать. Доступ к методам объекта осуществляется исключительно через эти интерфейсы.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3718679"/>
            <a:ext cx="4572000" cy="2862322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Жизненный цикл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COM‑объекта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 управляется через подсчёт ссылок (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AddRef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Release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) в базовом интерфейсе </a:t>
            </a:r>
            <a:r>
              <a:rPr lang="ru-RU" dirty="0" err="1" smtClean="0">
                <a:latin typeface="Times New Roman" pitchFamily="18" charset="0"/>
                <a:cs typeface="Times New Roman" pitchFamily="18" charset="0"/>
              </a:rPr>
              <a:t>IUnknown</a:t>
            </a:r>
            <a:r>
              <a:rPr lang="ru-RU" dirty="0" smtClean="0">
                <a:latin typeface="Times New Roman" pitchFamily="18" charset="0"/>
                <a:cs typeface="Times New Roman" pitchFamily="18" charset="0"/>
              </a:rPr>
              <a:t>: при создании счётчик инициализируется единицей, каждое получение интерфейса увеличивает его, освобождение — уменьшает, а при достижении нуля объект автоматически уничтожает себя; при этом расположение компонента (в DLL или EXE) и его доступность прозрачны для клиента.</a:t>
            </a:r>
            <a:endParaRPr lang="ru-RU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208</Words>
  <Application>Microsoft Office PowerPoint</Application>
  <PresentationFormat>Экран (4:3)</PresentationFormat>
  <Paragraphs>66</Paragraphs>
  <Slides>11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2" baseType="lpstr">
      <vt:lpstr>Тема Office</vt:lpstr>
      <vt:lpstr>Технологии распределённых вычислений и межсистемная интеграция (SOAP, WSDL, COM) </vt:lpstr>
      <vt:lpstr>Слайд 2</vt:lpstr>
      <vt:lpstr>Слайд 3</vt:lpstr>
      <vt:lpstr>Слайд 4</vt:lpstr>
      <vt:lpstr>Слайд 5</vt:lpstr>
      <vt:lpstr>Слайд 6</vt:lpstr>
      <vt:lpstr>Слайд 7</vt:lpstr>
      <vt:lpstr>Слайд 8</vt:lpstr>
      <vt:lpstr>Слайд 9</vt:lpstr>
      <vt:lpstr>Слайд 10</vt:lpstr>
      <vt:lpstr>Слайд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</dc:title>
  <dc:creator>user</dc:creator>
  <cp:lastModifiedBy>user</cp:lastModifiedBy>
  <cp:revision>3</cp:revision>
  <dcterms:created xsi:type="dcterms:W3CDTF">2026-09-09T13:42:56Z</dcterms:created>
  <dcterms:modified xsi:type="dcterms:W3CDTF">2026-10-03T09:13:21Z</dcterms:modified>
</cp:coreProperties>
</file>