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2" r:id="rId4"/>
    <p:sldId id="257" r:id="rId5"/>
    <p:sldId id="258" r:id="rId6"/>
    <p:sldId id="260" r:id="rId7"/>
    <p:sldId id="261" r:id="rId8"/>
    <p:sldId id="264" r:id="rId9"/>
    <p:sldId id="265" r:id="rId10"/>
    <p:sldId id="266" r:id="rId11"/>
    <p:sldId id="267" r:id="rId12"/>
    <p:sldId id="275" r:id="rId13"/>
    <p:sldId id="276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ipmeter.ru/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IP-адресация, подсети, диагностика сети в локальной среде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6380" y="-1"/>
            <a:ext cx="3857620" cy="3431925"/>
          </a:xfrm>
          <a:prstGeom prst="rect">
            <a:avLst/>
          </a:prstGeom>
          <a:noFill/>
        </p:spPr>
      </p:pic>
      <p:pic>
        <p:nvPicPr>
          <p:cNvPr id="20482" name="Picture 2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3929058" cy="3340723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0" y="3429000"/>
            <a:ext cx="535781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IP-адрес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Internet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Protocol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Address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это уникальный числовой идентификатор, который присваивается каждому устройству (компьютеру, смартфону, серверу), подключённому к сети на основе протокола TCP/IP. Он позволяет другим устройствам находить и опознавать конкретное устройство в сети.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5657671"/>
            <a:ext cx="542925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Маска подсети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Subnet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Mask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это 32-битное число, которое вместе с IP-адресом позволяет определить, какая часть адреса относится к сети, а какая — к конкретному устройству (хосту) внутри этой сети.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357818" y="3429000"/>
            <a:ext cx="378618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Шлюз по умолчанию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IP-адрес устройства (чаще всего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маршрутизатора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которое служит точкой доступа к другой сети. Когда устройство хочет отправить данные на адрес, который находится за пределами его локальной сети (например, в интернете), оно пересылает пакет этому шлюзу. Шлюз по умолчанию знает, как дальше маршрутизировать пакет к нужному получателю.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7166"/>
            <a:ext cx="8639175" cy="604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357214"/>
            <a:ext cx="8229600" cy="1143000"/>
          </a:xfrm>
        </p:spPr>
        <p:txBody>
          <a:bodyPr/>
          <a:lstStyle/>
          <a:p>
            <a:r>
              <a:rPr lang="en-US" dirty="0" smtClean="0"/>
              <a:t>IP-</a:t>
            </a:r>
            <a:r>
              <a:rPr lang="ru-RU" dirty="0" smtClean="0"/>
              <a:t>адрес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500042"/>
            <a:ext cx="7163335" cy="3933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4572008"/>
            <a:ext cx="91440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Адрес сети 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 побитовое И (последний октет:</a:t>
            </a:r>
            <a:r>
              <a:rPr kumimoji="0" lang="ru-RU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219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&amp;240=208=11010000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Количество бит под нумерацию узлов 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 количество нулей в маске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Кол-во узлов 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 2</a:t>
            </a:r>
            <a:r>
              <a:rPr kumimoji="0" lang="en-US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− 2 (так</a:t>
            </a:r>
            <a:r>
              <a:rPr kumimoji="0" lang="ru-RU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как минус адрес сети и широковещательный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), где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– количество бит в маске, отвечающее за нумерацию узлов.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Широковещательный адрес 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–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либо к адресу сети прибавить кол-во узлов + 1;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либо заменить все 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нули в маске на единицы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и заменить соответствующие биты 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адресе сети на единицы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357214"/>
            <a:ext cx="8229600" cy="1143000"/>
          </a:xfrm>
        </p:spPr>
        <p:txBody>
          <a:bodyPr/>
          <a:lstStyle/>
          <a:p>
            <a:r>
              <a:rPr lang="ru-RU" dirty="0" smtClean="0"/>
              <a:t>Деление сетей на подсети</a:t>
            </a:r>
            <a:endParaRPr lang="ru-RU" dirty="0"/>
          </a:p>
        </p:txBody>
      </p:sp>
      <p:pic>
        <p:nvPicPr>
          <p:cNvPr id="15362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428736"/>
            <a:ext cx="5903079" cy="3286148"/>
          </a:xfrm>
          <a:prstGeom prst="rect">
            <a:avLst/>
          </a:prstGeom>
          <a:noFill/>
        </p:spPr>
      </p:pic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" y="642918"/>
            <a:ext cx="9144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Количество бит, выделенных под нумерацию подсетей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количество единиц в хосте.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То, сколько бит </a:t>
            </a:r>
            <a:r>
              <a:rPr lang="ru-RU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относится к хосту зависит от класса сети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5286388"/>
            <a:ext cx="9144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Количество полученных после разбиения подсетей</a:t>
            </a:r>
            <a:r>
              <a:rPr kumimoji="0" lang="ru-RU" sz="20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2 в степени "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Количество бит, выделенных под нумерацию подсетей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"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,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так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как каждый бит в хосте может быть либо 0, либо 1.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357214"/>
            <a:ext cx="8229600" cy="1143000"/>
          </a:xfrm>
        </p:spPr>
        <p:txBody>
          <a:bodyPr/>
          <a:lstStyle/>
          <a:p>
            <a:r>
              <a:rPr lang="ru-RU" dirty="0" smtClean="0"/>
              <a:t>Деление сетей на подсети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1071546"/>
            <a:ext cx="9144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Разделение сети на подсети с помощью маски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 это логическое разделение IP-сети на более мелкие сети с помощью маски подсети. Подсети позволяют эффективнее использовать адресное пространство и управлять трафиком внутри сети.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Процесс разделения сети на подсети включает увеличение длины маски подсети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что позволяет создавать большее количество мелких сетей.  В этом примере сеть компании имеет адрес 192.168.1.0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/24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Первые три октета адреса (192.168.1) представляют собой номер сети (сеть класса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), а оставшийся октет – идентификатор хоста, что позволяет использовать в сети максимум 28 – 2 = 254 хостов.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Сеть компании до ее деления на подсети показана на рисунке.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714348" y="500042"/>
            <a:ext cx="75121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32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https://ipmeter.ru/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калькулятор подсетей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0" name="Picture 2" descr="b8e43ab7-27cf-4e72-8bd6-c86fd86e280f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71736" y="4357694"/>
            <a:ext cx="3810000" cy="2286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5857892"/>
            <a:ext cx="9144000" cy="10001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357214"/>
            <a:ext cx="8229600" cy="1143000"/>
          </a:xfrm>
        </p:spPr>
        <p:txBody>
          <a:bodyPr/>
          <a:lstStyle/>
          <a:p>
            <a:r>
              <a:rPr lang="ru-RU" dirty="0" smtClean="0"/>
              <a:t>Деление сетей на подсети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500042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разделить сеть 192.168.1.0 на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две отдельные подсети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можно "позаимствовать" один бит из идентификатора хоста. В этом случае маска подсети станет 25-битной (255.255.255.128 или /25).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"Одолженный" бит идентификатора хоста может быть либо нулем, либо единицей, что дает нам две подсети: 192.168.1.0 /25 и 192.168.1.128 /25.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Сеть компании после ее деления на подсети показана на рисунке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справа. Теперь она включает в себя две подсети,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4" descr="a478a684-925c-4d15-9e01-8277a2acb7a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6050" y="2500306"/>
            <a:ext cx="3391752" cy="1857388"/>
          </a:xfrm>
          <a:prstGeom prst="rect">
            <a:avLst/>
          </a:prstGeom>
          <a:noFill/>
        </p:spPr>
      </p:pic>
      <p:sp>
        <p:nvSpPr>
          <p:cNvPr id="11" name="Прямоугольник 10"/>
          <p:cNvSpPr/>
          <p:nvPr/>
        </p:nvSpPr>
        <p:spPr>
          <a:xfrm>
            <a:off x="0" y="4286256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25-битной подсети на идентификатор хоста выделяется 7 бит, поэтому в каждой подсети может быть максимум 2</a:t>
            </a:r>
            <a:r>
              <a:rPr lang="ru-RU" baseline="30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– 2 = 126 хостов. Таким образом, наименьший IP-адрес, который может быть закреплен за действительным хостом в подсети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– это 192.168.1.1, а наибольший – 192.168.1.126.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0" y="585789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Примечание: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задании необходимо разделить сеть на 4 подсети. Число в овалах означает количество рабочих компьютеров в секторе. Например, можно разделить сеть на две подсети по 64 машины + одну  на 32 машины + одну на 16 машин.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0"/>
            <a:ext cx="6572264" cy="4448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4549676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DNS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Domain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Name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— это распределённая система, которая преобразует понятные человеку доменные имена (например,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yandex.ru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в числовые IP-адреса, необходимые компьютерам для связи в сети. Проще говоря, она работает как «телефонная книга» интернета: вы вводите имя, а система автоматически находит соответствующий адрес.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Общие сведения о взаимодействие систем</a:t>
            </a:r>
            <a:endParaRPr lang="ru-RU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1357298"/>
            <a:ext cx="5108529" cy="528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Общие сведения о взаимодействие систем</a:t>
            </a:r>
            <a:endParaRPr lang="ru-RU" dirty="0"/>
          </a:p>
        </p:txBody>
      </p:sp>
      <p:grpSp>
        <p:nvGrpSpPr>
          <p:cNvPr id="3" name="Группа 7"/>
          <p:cNvGrpSpPr/>
          <p:nvPr/>
        </p:nvGrpSpPr>
        <p:grpSpPr>
          <a:xfrm>
            <a:off x="357158" y="1500174"/>
            <a:ext cx="4429156" cy="2986091"/>
            <a:chOff x="4500562" y="1928802"/>
            <a:chExt cx="4429156" cy="2986091"/>
          </a:xfrm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500562" y="2428868"/>
              <a:ext cx="4429156" cy="2486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30" name="Picture 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215074" y="1928802"/>
              <a:ext cx="1857375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86380" y="1285860"/>
            <a:ext cx="2676525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5000628" y="4071942"/>
            <a:ext cx="3429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Пятиуровневая модель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«</a:t>
            </a:r>
            <a:r>
              <a:rPr lang="en-US" dirty="0" smtClean="0">
                <a:latin typeface="Cambria" pitchFamily="18" charset="0"/>
              </a:rPr>
              <a:t>OSI</a:t>
            </a:r>
            <a:r>
              <a:rPr lang="en-US" dirty="0" smtClean="0"/>
              <a:t> </a:t>
            </a:r>
            <a:r>
              <a:rPr lang="en-US" dirty="0" smtClean="0">
                <a:latin typeface="Cambria" pitchFamily="18" charset="0"/>
              </a:rPr>
              <a:t>+ TCP/IP</a:t>
            </a:r>
            <a:r>
              <a:rPr lang="en-US" dirty="0" smtClean="0"/>
              <a:t>»</a:t>
            </a:r>
            <a:endParaRPr lang="ru-RU" dirty="0" smtClean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4568619"/>
            <a:ext cx="85724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TCP/UDP — это «правила доставки между программами», IP — «правила доставки между сетями»,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Ethernet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«правила доставки внутри локальной сети».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5288340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TCP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нужен, чтобы данные дошли точно и целиком: он следит за порядком, сам досылает потерянное и гарантирует, что файл или страница не будут битыми — это важно для документов, расчётов, учебных материалов.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UDP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нужен, чтобы всё летело максимально быстро без задержек: он просто отправляет куски данных и не тратит время на проверки и повторы — поэтому его берут для видео, звонков 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стримов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где пара пропущенных кадров не критична.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Общие сведения о взаимодействие систем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1443841"/>
            <a:ext cx="900115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/>
              <a:t>Модель OSI:</a:t>
            </a:r>
          </a:p>
          <a:p>
            <a:pPr algn="just"/>
            <a:r>
              <a:rPr lang="ru-RU" sz="2400" dirty="0" smtClean="0"/>
              <a:t>• Хорошая теоретическая проработка</a:t>
            </a:r>
          </a:p>
          <a:p>
            <a:pPr algn="just"/>
            <a:r>
              <a:rPr lang="ru-RU" sz="2400" dirty="0" smtClean="0"/>
              <a:t>• Протоколы не используются</a:t>
            </a:r>
          </a:p>
          <a:p>
            <a:pPr algn="just"/>
            <a:r>
              <a:rPr lang="ru-RU" sz="2400" b="1" dirty="0" smtClean="0"/>
              <a:t>Модель TCP/IP</a:t>
            </a:r>
          </a:p>
          <a:p>
            <a:pPr algn="just"/>
            <a:r>
              <a:rPr lang="ru-RU" sz="2400" dirty="0" smtClean="0"/>
              <a:t>• Протоколы широко применяются</a:t>
            </a:r>
          </a:p>
          <a:p>
            <a:pPr algn="just"/>
            <a:r>
              <a:rPr lang="ru-RU" sz="2400" dirty="0" smtClean="0"/>
              <a:t>• Ограниченная модель, подходит только для описания</a:t>
            </a:r>
          </a:p>
          <a:p>
            <a:pPr algn="just"/>
            <a:r>
              <a:rPr lang="ru-RU" sz="2400" dirty="0" smtClean="0"/>
              <a:t>сетей на основе стека TCP/IP</a:t>
            </a:r>
          </a:p>
          <a:p>
            <a:pPr algn="just"/>
            <a:r>
              <a:rPr lang="ru-RU" sz="2400" b="1" dirty="0" smtClean="0"/>
              <a:t>Применение:</a:t>
            </a:r>
          </a:p>
          <a:p>
            <a:pPr algn="just"/>
            <a:r>
              <a:rPr lang="ru-RU" sz="2400" dirty="0" smtClean="0"/>
              <a:t>• OSI – модель для описания разных типов сетей (</a:t>
            </a:r>
            <a:r>
              <a:rPr lang="ru-RU" sz="2400" dirty="0" err="1" smtClean="0"/>
              <a:t>Infiniband</a:t>
            </a:r>
            <a:r>
              <a:rPr lang="en-US" sz="2400" dirty="0" smtClean="0"/>
              <a:t>, </a:t>
            </a:r>
            <a:r>
              <a:rPr lang="ru-RU" sz="2400" dirty="0" err="1" smtClean="0"/>
              <a:t>Fibre</a:t>
            </a:r>
            <a:r>
              <a:rPr lang="en-US" sz="2400" dirty="0" smtClean="0"/>
              <a:t> </a:t>
            </a:r>
            <a:r>
              <a:rPr lang="ru-RU" sz="2400" dirty="0" err="1" smtClean="0"/>
              <a:t>Channel</a:t>
            </a:r>
            <a:r>
              <a:rPr lang="ru-RU" sz="2400" dirty="0" smtClean="0"/>
              <a:t> )</a:t>
            </a:r>
          </a:p>
          <a:p>
            <a:pPr algn="just"/>
            <a:r>
              <a:rPr lang="ru-RU" sz="2400" dirty="0" smtClean="0"/>
              <a:t>• TCP/IP – протоколы, основа Интернет</a:t>
            </a:r>
            <a:endParaRPr lang="ru-RU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21" y="0"/>
            <a:ext cx="9140479" cy="4962994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0" y="521495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MAC-адрес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Media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Control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Address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это уникальный аппаратный идентификатор сетевого интерфейса (сетевой карты, Wi-Fi-модуля, Bluetooth-адаптера), который присваивается ему при производстве. Он используется на канальном уровне модели OSI для идентификации устройства и доставки данных внутри локальной сети (LAN).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Формат кадра Ethernet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57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Прямоугольник 7"/>
          <p:cNvSpPr/>
          <p:nvPr/>
        </p:nvSpPr>
        <p:spPr>
          <a:xfrm>
            <a:off x="0" y="2364462"/>
            <a:ext cx="914400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Что именно передаётся между </a:t>
            </a:r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маршрутизаторами</a:t>
            </a:r>
            <a:endParaRPr lang="ru-RU" sz="13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Когда трафик уходит за пределы локальной сети, на первый план выходит сетевой уровень (L3) — IP.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Маршрутизаторы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принимают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Ethernet‑кадр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«вынимают» из него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IP‑пакет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смотрят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IP‑адрес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назначения и решают, куда дальше его отправить. А потом упаковывают этот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IP‑пакет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в новый кадр — уже для следующего участка пути.</a:t>
            </a:r>
          </a:p>
          <a:p>
            <a:pPr algn="just"/>
            <a:endParaRPr lang="ru-RU" sz="13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То есть путь выглядит так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13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Компьютер отправляет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Ethernet‑кадр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с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IP‑пакетом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внутри → на свой шлюз (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маршрутизатор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Маршрутизатор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снимает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Ethernet‑заголовок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смотрит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IP‑адрес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Находит маршрут, выбирает выходной интерфейс.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Создаёт новый кадр (уже для следующей среды передачи) и вкладывает туда тот же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IP‑пакет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Отправляет дальше.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И так на каждом шаге, пока пакет не дойдёт до нужного места.</a:t>
            </a:r>
          </a:p>
          <a:p>
            <a:pPr algn="just"/>
            <a:endParaRPr lang="ru-RU" sz="13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Почему не используют один и тот же </a:t>
            </a:r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Ethernet‑кадр</a:t>
            </a:r>
            <a:endParaRPr lang="ru-RU" sz="13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Разные среды передачи. Между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маршрутизаторами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могут быть не только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Ethernet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но и, например, оптика, радиоканал, спутниковая линия, MPLS и т. д. У всех них свои форматы кадров.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Ethernet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там просто не подойдёт.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Адресация.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Ethernet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использует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MAC‑адреса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которые имеют смысл только в пределах одной локальной сети (L2‑домена). За её пределами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MAC‑адрес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получателя неизвестен.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IP‑адреса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(L3) как раз и нужны, чтобы строить маршруты между разными сетями.</a:t>
            </a:r>
          </a:p>
          <a:p>
            <a:pPr algn="just"/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Масштабируемость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. Интернет — это миллионы сетей. Если бы всё держалось на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MAC‑адресах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таблицы коммутации стали бы гигантскими, а поиск пути — невозможным.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Поэтому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Ethernet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— это «последний километр» внутри сети, а между сетями рулит IP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3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1500174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Ethernet-кадр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— это структурированный «конверт» (пакет данных), который используется в сетях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Ethernet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для передачи информации между устройствами. Он содержит служебную информацию (заголовок) и собственно передаваемые данные (полезную нагрузку).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ICMP-</a:t>
            </a:r>
            <a:r>
              <a:rPr lang="ru-RU" dirty="0" smtClean="0"/>
              <a:t>протокол</a:t>
            </a:r>
            <a:endParaRPr lang="ru-RU" dirty="0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643050"/>
            <a:ext cx="8534421" cy="2675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3786182" y="4286256"/>
            <a:ext cx="1967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Принцип работы</a:t>
            </a:r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0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IPCONFIG</a:t>
            </a:r>
            <a:endParaRPr lang="ru-RU" dirty="0"/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142984"/>
            <a:ext cx="4271976" cy="5322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4572000" y="1571612"/>
            <a:ext cx="4572000" cy="40934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2000" dirty="0" smtClean="0"/>
              <a:t>В данном примере команда выполнялась на ноутбуке. </a:t>
            </a:r>
            <a:endParaRPr lang="en-US" sz="2000" dirty="0" smtClean="0"/>
          </a:p>
          <a:p>
            <a:pPr algn="just"/>
            <a:r>
              <a:rPr lang="ru-RU" sz="2000" dirty="0" smtClean="0"/>
              <a:t>Связь с «внешним миром» осуществлена с помощью беспроводной сети. </a:t>
            </a:r>
            <a:endParaRPr lang="en-US" sz="2000" dirty="0" smtClean="0"/>
          </a:p>
          <a:p>
            <a:pPr algn="just"/>
            <a:r>
              <a:rPr lang="ru-RU" sz="2000" dirty="0" smtClean="0"/>
              <a:t>IP адрес интерфейса - </a:t>
            </a:r>
            <a:r>
              <a:rPr lang="ru-RU" sz="2000" b="1" dirty="0" smtClean="0"/>
              <a:t>192.168.0.206</a:t>
            </a:r>
            <a:r>
              <a:rPr lang="ru-RU" sz="2000" dirty="0" smtClean="0"/>
              <a:t>, </a:t>
            </a:r>
            <a:endParaRPr lang="en-US" sz="2000" dirty="0" smtClean="0"/>
          </a:p>
          <a:p>
            <a:pPr algn="just"/>
            <a:r>
              <a:rPr lang="ru-RU" sz="2000" dirty="0" smtClean="0"/>
              <a:t>маска - </a:t>
            </a:r>
            <a:r>
              <a:rPr lang="ru-RU" sz="2000" b="1" dirty="0" smtClean="0"/>
              <a:t>255.255.255.0</a:t>
            </a:r>
            <a:r>
              <a:rPr lang="ru-RU" sz="2000" dirty="0" smtClean="0"/>
              <a:t>, </a:t>
            </a:r>
            <a:endParaRPr lang="en-US" sz="2000" dirty="0" smtClean="0"/>
          </a:p>
          <a:p>
            <a:pPr algn="just"/>
            <a:r>
              <a:rPr lang="ru-RU" sz="2000" dirty="0" smtClean="0"/>
              <a:t>шлюз - </a:t>
            </a:r>
            <a:r>
              <a:rPr lang="ru-RU" sz="2000" b="1" dirty="0" smtClean="0"/>
              <a:t>192.168.0.10</a:t>
            </a:r>
            <a:r>
              <a:rPr lang="ru-RU" sz="2000" dirty="0" smtClean="0"/>
              <a:t>. </a:t>
            </a:r>
            <a:endParaRPr lang="en-US" sz="2000" dirty="0" smtClean="0"/>
          </a:p>
          <a:p>
            <a:pPr algn="just"/>
            <a:r>
              <a:rPr lang="ru-RU" sz="2000" dirty="0" smtClean="0"/>
              <a:t>Интерфейсы ноутбука и </a:t>
            </a:r>
            <a:r>
              <a:rPr lang="ru-RU" sz="2000" dirty="0" err="1" smtClean="0"/>
              <a:t>маршрутизатора</a:t>
            </a:r>
            <a:r>
              <a:rPr lang="ru-RU" sz="2000" dirty="0" smtClean="0"/>
              <a:t> находятся в одной сети </a:t>
            </a:r>
            <a:r>
              <a:rPr lang="ru-RU" sz="2000" b="1" dirty="0" smtClean="0"/>
              <a:t>192.168.0.0</a:t>
            </a:r>
            <a:r>
              <a:rPr lang="ru-RU" sz="2000" dirty="0" smtClean="0"/>
              <a:t>. Сетевой кабель не подключен (по </a:t>
            </a:r>
            <a:r>
              <a:rPr lang="ru-RU" sz="2000" dirty="0" err="1" smtClean="0"/>
              <a:t>Ethernet</a:t>
            </a:r>
            <a:r>
              <a:rPr lang="ru-RU" sz="2000" dirty="0" smtClean="0"/>
              <a:t> адаптеру среда передачи недоступна). </a:t>
            </a:r>
            <a:endParaRPr lang="ru-RU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7224" y="0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PING</a:t>
            </a:r>
            <a:endParaRPr lang="ru-RU" dirty="0"/>
          </a:p>
        </p:txBody>
      </p:sp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142984"/>
            <a:ext cx="5214974" cy="2402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4612" y="3571876"/>
            <a:ext cx="5872173" cy="2699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0"/>
            <a:ext cx="7772400" cy="1143000"/>
          </a:xfrm>
        </p:spPr>
        <p:txBody>
          <a:bodyPr/>
          <a:lstStyle/>
          <a:p>
            <a:pPr algn="ctr"/>
            <a:r>
              <a:rPr lang="en-US" dirty="0" smtClean="0"/>
              <a:t>TRACEROUTE</a:t>
            </a:r>
            <a:endParaRPr lang="ru-RU" dirty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142984"/>
            <a:ext cx="7786742" cy="3257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785786" y="4643446"/>
            <a:ext cx="778674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/>
              <a:t>Одна трассировка маршрута даёт представление о:</a:t>
            </a:r>
          </a:p>
          <a:p>
            <a:pPr algn="just"/>
            <a:r>
              <a:rPr lang="en-US" sz="2200" dirty="0" smtClean="0">
                <a:latin typeface="Cambria" pitchFamily="18" charset="0"/>
              </a:rPr>
              <a:t>1</a:t>
            </a:r>
            <a:r>
              <a:rPr lang="en-US" sz="2200" dirty="0" smtClean="0"/>
              <a:t>) </a:t>
            </a:r>
            <a:r>
              <a:rPr lang="ru-RU" sz="2200" dirty="0" smtClean="0"/>
              <a:t>каждом шаге, через который прошёл запрос;</a:t>
            </a:r>
          </a:p>
          <a:p>
            <a:pPr algn="just"/>
            <a:r>
              <a:rPr lang="en-US" sz="2200" dirty="0" smtClean="0">
                <a:latin typeface="Cambria" pitchFamily="18" charset="0"/>
              </a:rPr>
              <a:t>2</a:t>
            </a:r>
            <a:r>
              <a:rPr lang="en-US" sz="2200" dirty="0" smtClean="0"/>
              <a:t>) </a:t>
            </a:r>
            <a:r>
              <a:rPr lang="ru-RU" sz="2200" dirty="0" smtClean="0"/>
              <a:t>количестве времени, затраченном на каждое действие;</a:t>
            </a:r>
          </a:p>
          <a:p>
            <a:pPr algn="just"/>
            <a:r>
              <a:rPr lang="en-US" sz="2200" dirty="0" smtClean="0">
                <a:latin typeface="Cambria" pitchFamily="18" charset="0"/>
              </a:rPr>
              <a:t>3</a:t>
            </a:r>
            <a:r>
              <a:rPr lang="en-US" sz="2200" dirty="0" smtClean="0"/>
              <a:t>) </a:t>
            </a:r>
            <a:r>
              <a:rPr lang="ru-RU" sz="2200" dirty="0" smtClean="0"/>
              <a:t>общем времени, которое понадобилось на его обработку.</a:t>
            </a:r>
            <a:endParaRPr lang="ru-RU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0"/>
            <a:ext cx="7772400" cy="1143000"/>
          </a:xfrm>
        </p:spPr>
        <p:txBody>
          <a:bodyPr/>
          <a:lstStyle/>
          <a:p>
            <a:pPr algn="ctr"/>
            <a:r>
              <a:rPr lang="en-US" dirty="0" smtClean="0"/>
              <a:t>ARP</a:t>
            </a:r>
            <a:endParaRPr lang="ru-RU" dirty="0"/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071546"/>
            <a:ext cx="5531727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3929058" y="3857628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/>
              <a:t>«Тип Динамический»</a:t>
            </a:r>
            <a:r>
              <a:rPr lang="en-US" dirty="0" smtClean="0"/>
              <a:t> </a:t>
            </a:r>
            <a:r>
              <a:rPr lang="ru-RU" dirty="0" smtClean="0"/>
              <a:t>— данная запись была создана автоматически, когда локальному устройству понадобилось обратиться к устройству с адресом 192.168.0.10. </a:t>
            </a:r>
          </a:p>
          <a:p>
            <a:pPr algn="just"/>
            <a:r>
              <a:rPr lang="ru-RU" dirty="0" smtClean="0"/>
              <a:t>Если в течение 5 минут после создания записи устройства не будут взаимодействовать – запись будет удалена.</a:t>
            </a:r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0"/>
            <a:ext cx="7772400" cy="1143000"/>
          </a:xfrm>
        </p:spPr>
        <p:txBody>
          <a:bodyPr/>
          <a:lstStyle/>
          <a:p>
            <a:pPr algn="ctr"/>
            <a:r>
              <a:rPr lang="en-US" dirty="0" smtClean="0"/>
              <a:t>NETSTAT</a:t>
            </a:r>
            <a:endParaRPr lang="ru-RU" dirty="0"/>
          </a:p>
        </p:txBody>
      </p:sp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80" y="1142984"/>
            <a:ext cx="4786310" cy="5433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786314" y="1214422"/>
            <a:ext cx="4357686" cy="558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700" dirty="0" err="1" smtClean="0"/>
              <a:t>Cокеты</a:t>
            </a:r>
            <a:r>
              <a:rPr lang="ru-RU" sz="1700" dirty="0" smtClean="0"/>
              <a:t> обозначаются в виде </a:t>
            </a:r>
            <a:r>
              <a:rPr lang="ru-RU" sz="1700" b="1" dirty="0" err="1" smtClean="0"/>
              <a:t>IP_адрес:порт</a:t>
            </a:r>
            <a:r>
              <a:rPr lang="ru-RU" sz="1700" dirty="0" smtClean="0"/>
              <a:t> (с двоеточием между адресами). </a:t>
            </a:r>
          </a:p>
          <a:p>
            <a:pPr algn="just"/>
            <a:endParaRPr lang="ru-RU" sz="1700" dirty="0" smtClean="0"/>
          </a:p>
          <a:p>
            <a:pPr algn="just"/>
            <a:r>
              <a:rPr lang="ru-RU" sz="1700" dirty="0" smtClean="0"/>
              <a:t>Например,</a:t>
            </a:r>
            <a:r>
              <a:rPr lang="ru-RU" sz="1700" b="1" dirty="0" smtClean="0"/>
              <a:t>192.168.0.206:54842</a:t>
            </a:r>
            <a:r>
              <a:rPr lang="ru-RU" sz="1700" dirty="0" smtClean="0"/>
              <a:t>. Виртуальный канал связи, существующий между двумя сетевыми приложениями, обозначен парой </a:t>
            </a:r>
            <a:r>
              <a:rPr lang="ru-RU" sz="1700" dirty="0" err="1" smtClean="0"/>
              <a:t>сокетов</a:t>
            </a:r>
            <a:r>
              <a:rPr lang="ru-RU" sz="1700" dirty="0" smtClean="0"/>
              <a:t>. </a:t>
            </a:r>
          </a:p>
          <a:p>
            <a:pPr algn="just"/>
            <a:r>
              <a:rPr lang="ru-RU" sz="1700" dirty="0" smtClean="0"/>
              <a:t>Например, </a:t>
            </a:r>
            <a:r>
              <a:rPr lang="ru-RU" sz="1700" b="1" dirty="0" smtClean="0"/>
              <a:t>192.168.0.206:54842</a:t>
            </a:r>
            <a:r>
              <a:rPr lang="ru-RU" sz="1700" dirty="0" smtClean="0"/>
              <a:t> и </a:t>
            </a:r>
            <a:r>
              <a:rPr lang="ru-RU" sz="1700" b="1" dirty="0" smtClean="0"/>
              <a:t>64.4.23.171:40013</a:t>
            </a:r>
            <a:r>
              <a:rPr lang="ru-RU" sz="1700" dirty="0" smtClean="0"/>
              <a:t>. </a:t>
            </a:r>
          </a:p>
          <a:p>
            <a:pPr algn="just"/>
            <a:r>
              <a:rPr lang="ru-RU" sz="1700" dirty="0" smtClean="0"/>
              <a:t>Первый </a:t>
            </a:r>
            <a:r>
              <a:rPr lang="ru-RU" sz="1700" dirty="0" err="1" smtClean="0"/>
              <a:t>сокет</a:t>
            </a:r>
            <a:r>
              <a:rPr lang="ru-RU" sz="1700" dirty="0" smtClean="0"/>
              <a:t> открыт на компьютере, другой на удаленном узле. Адрес в виде </a:t>
            </a:r>
            <a:r>
              <a:rPr lang="ru-RU" sz="1700" b="1" dirty="0" smtClean="0"/>
              <a:t>0.0.0.0</a:t>
            </a:r>
            <a:r>
              <a:rPr lang="ru-RU" sz="1700" dirty="0" smtClean="0"/>
              <a:t> означает любые IP адреса. Если в качестве номера порта присутствует </a:t>
            </a:r>
            <a:r>
              <a:rPr lang="ru-RU" sz="1700" b="1" dirty="0" smtClean="0"/>
              <a:t>0</a:t>
            </a:r>
            <a:r>
              <a:rPr lang="ru-RU" sz="1700" dirty="0" smtClean="0"/>
              <a:t>, то это означает любые значения портов. В колонке "Состояние" отображается состояние соединения: </a:t>
            </a:r>
          </a:p>
          <a:p>
            <a:pPr algn="just"/>
            <a:r>
              <a:rPr lang="ru-RU" sz="1700" dirty="0" smtClean="0"/>
              <a:t>LISTENING – ожидание подключения; </a:t>
            </a:r>
          </a:p>
          <a:p>
            <a:pPr algn="just"/>
            <a:r>
              <a:rPr lang="ru-RU" sz="1700" dirty="0" smtClean="0"/>
              <a:t>ESTABLISHED– соединение установлено, идет обмен сообщениями; </a:t>
            </a:r>
          </a:p>
          <a:p>
            <a:pPr algn="just"/>
            <a:r>
              <a:rPr lang="ru-RU" sz="1700" dirty="0" smtClean="0"/>
              <a:t>TIME_WAIT–время ответа превышено. </a:t>
            </a:r>
            <a:endParaRPr lang="ru-RU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28662" y="0"/>
            <a:ext cx="7772400" cy="1143000"/>
          </a:xfrm>
        </p:spPr>
        <p:txBody>
          <a:bodyPr/>
          <a:lstStyle/>
          <a:p>
            <a:pPr algn="ctr"/>
            <a:r>
              <a:rPr lang="en-US" dirty="0" smtClean="0"/>
              <a:t>NSLOOKUP</a:t>
            </a:r>
            <a:endParaRPr lang="ru-RU" dirty="0"/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0562" y="4143380"/>
            <a:ext cx="4367399" cy="2386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428868"/>
            <a:ext cx="4194399" cy="267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29124" y="1000108"/>
            <a:ext cx="4572032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5679137" y="3643314"/>
            <a:ext cx="2036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Все типы записей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072066" y="6429396"/>
            <a:ext cx="29455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Обратное преобразование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42910" y="5143512"/>
            <a:ext cx="32015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Получение данных о ресурсе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871</Words>
  <PresentationFormat>Экран (4:3)</PresentationFormat>
  <Paragraphs>90</Paragraphs>
  <Slides>20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Тема Office</vt:lpstr>
      <vt:lpstr>IP-адресация, подсети, диагностика сети в локальной среде</vt:lpstr>
      <vt:lpstr>Слайд 2</vt:lpstr>
      <vt:lpstr>Слайд 3</vt:lpstr>
      <vt:lpstr>IP-адрес</vt:lpstr>
      <vt:lpstr>Деление сетей на подсети</vt:lpstr>
      <vt:lpstr>Деление сетей на подсети</vt:lpstr>
      <vt:lpstr>Деление сетей на подсети</vt:lpstr>
      <vt:lpstr>Слайд 8</vt:lpstr>
      <vt:lpstr>Общие сведения о взаимодействие систем</vt:lpstr>
      <vt:lpstr>Общие сведения о взаимодействие систем</vt:lpstr>
      <vt:lpstr>Общие сведения о взаимодействие систем</vt:lpstr>
      <vt:lpstr>Слайд 12</vt:lpstr>
      <vt:lpstr>Слайд 13</vt:lpstr>
      <vt:lpstr>ICMP-протокол</vt:lpstr>
      <vt:lpstr>IPCONFIG</vt:lpstr>
      <vt:lpstr>PING</vt:lpstr>
      <vt:lpstr>TRACEROUTE</vt:lpstr>
      <vt:lpstr>ARP</vt:lpstr>
      <vt:lpstr>NETSTAT</vt:lpstr>
      <vt:lpstr>NSLOOKUP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IP-адресация</dc:title>
  <dc:creator>user</dc:creator>
  <cp:lastModifiedBy>user</cp:lastModifiedBy>
  <cp:revision>11</cp:revision>
  <dcterms:created xsi:type="dcterms:W3CDTF">2025-04-30T20:22:45Z</dcterms:created>
  <dcterms:modified xsi:type="dcterms:W3CDTF">2026-09-13T13:48:30Z</dcterms:modified>
</cp:coreProperties>
</file>