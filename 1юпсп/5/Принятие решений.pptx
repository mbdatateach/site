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4" r:id="rId5"/>
    <p:sldId id="265" r:id="rId6"/>
    <p:sldId id="266" r:id="rId7"/>
    <p:sldId id="261" r:id="rId8"/>
    <p:sldId id="262" r:id="rId9"/>
    <p:sldId id="263" r:id="rId10"/>
    <p:sldId id="257" r:id="rId11"/>
    <p:sldId id="258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2850" y="-9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/>
              <a:t>Принятие решений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en-US" dirty="0" smtClean="0"/>
              <a:t>SMART</a:t>
            </a:r>
            <a:endParaRPr lang="ru-RU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-285784" y="500042"/>
            <a:ext cx="9429784" cy="3816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57056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SMART – это метод постановки целей и задач. Согласно ему, цели нужно формулировать так, чтобы они были конкретными, измеримыми, достижимыми, значимыми и ограниченными во времени. Технику используют везде – от проектного менеджмента до управлений собственными планами.</a:t>
            </a: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Чтобы поставить цель по SMART, нужно последовательно описать её в соответствии с названными критериями – так, чтобы её нельзя было понять неправильно; подобрать показатель, по которому можно отследить достижение цели; понять, достижима ли она и важна ли для достижения глобальной цели; установить срок, к которому нужно её достичь.</a:t>
            </a: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Рисунок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4067822"/>
            <a:ext cx="6368418" cy="2790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en-US" dirty="0" smtClean="0"/>
              <a:t>SMART: </a:t>
            </a:r>
            <a:r>
              <a:rPr lang="ru-RU" dirty="0" smtClean="0"/>
              <a:t>план работы с критерием</a:t>
            </a:r>
            <a:endParaRPr lang="ru-RU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-285784" y="662962"/>
            <a:ext cx="9429784" cy="5909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57056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1. Определите проблему или область для улучшения. Например, одна из проблем может заключаться в том, что срок обработки запросов от клиентов слишком велик.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2. Сформулируйте цели согласно критериям SMART: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Specific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(Конкретика)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Вместо расплывчатой цели вроде "улучшить работу с клиентами", укажите конкретную цель: "сократить среднее время обработки заявок до 7 рабочих часов". Здесь важно точно определить, какой именно аспект вы хотите изменить.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Measurable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(Измеримость) 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Цель должна иметь четкий количественный индикатор успеха. Например, "уменьшение среднего времени обработки заявки на 30%".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Achievable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(Достижимость) 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Убедитесь, что поставленная цель реалистична. Например, желание сократить всю работу с документацией до 10 минут будет чрезмерной задачей. Важно учитывать ресурсы и возможности команды.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Relevant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(Актуальность) 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Поставленные цели должны соответствовать приоритетам учреждения и стратегии развития. Например, снижение сроков обработки запросов напрямую связано с повышением удовлетворенности граждан услугами государственного органа.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Time-bound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(Ограничение по времени) 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Определите конкретные сроки достижения цели. Например, "снизить среднее время обработки запросов до 10 рабочих дней к концу второго квартала текущего года".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en-US" dirty="0" smtClean="0"/>
              <a:t>SWOT-</a:t>
            </a:r>
            <a:r>
              <a:rPr lang="ru-RU" dirty="0" smtClean="0"/>
              <a:t>анализ</a:t>
            </a:r>
            <a:endParaRPr lang="ru-RU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-285784" y="428604"/>
            <a:ext cx="9429784" cy="6740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57056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SWOT-анализ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это метод оценки внутренних и внешних факторов, которые влияют на объект исследования (например, компанию, проект или продукт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Некоторые этапы SWOT-анализа: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Сформулировать цель анализа — определить, что именно нужно проанализировать: компанию в целом, конкретный продукт, направление бизнеса.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Собрать команду — привлечь людей из разных отделов для получения разносторонних взглядов.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Подготовить информацию — собрать данные о рынке, конкурентах, внутренних процессах компании.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Определить сильные стороны (S) — выявить внутренние преимущества, которые выделяют объект среди конкурентов.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Выявить слабые стороны (W) — честно оценить внутренние недостатки, которые мешают развитию.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Найти возможности (O) — определить внешние факторы, которые могут помочь бизнесу расти.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Обозначить угрозы (T) — выявить внешние факторы, которые могут негативно повлиять на бизнес.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Заполнить матрицу SWOT — разместить все выявленные факторы в соответствующих квадрантах таблицы.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Проанализировать взаимосвязи — определить, как сильные стороны помогают использовать возможности и противостоять угрозам, а также как слабые стороны мешают этому.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Сформулировать стратегии — на основе анализа разработать конкретные действия.</a:t>
            </a:r>
          </a:p>
          <a:p>
            <a:pPr algn="just"/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en-US" dirty="0" smtClean="0"/>
              <a:t>SWOT-</a:t>
            </a:r>
            <a:r>
              <a:rPr lang="ru-RU" dirty="0" smtClean="0"/>
              <a:t>анализ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2786058"/>
            <a:ext cx="5853867" cy="3143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714356"/>
            <a:ext cx="9144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Первые две категории (сильные и слабые стороны) относятся к внутренним факторам, которыми компания может управлять, вторые две (возможности и угрозы) — к внешним факторам, влияющим на бизнес извне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контексте юридических услуг SWOT-анализ помогает юридическим фирмам и практикующим юристам анализировать текущую позицию на рынке, выявлять факторы, влияющие на успех, и разрабатывать эффективные стратегии для достижения поставленных целей.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Пример </a:t>
            </a:r>
            <a:r>
              <a:rPr lang="en-US" dirty="0" smtClean="0"/>
              <a:t>SWOT-</a:t>
            </a:r>
            <a:r>
              <a:rPr lang="ru-RU" dirty="0" smtClean="0"/>
              <a:t>анализа юридического агентства</a:t>
            </a:r>
            <a:endParaRPr lang="ru-RU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 l="6397"/>
          <a:stretch>
            <a:fillRect/>
          </a:stretch>
        </p:blipFill>
        <p:spPr bwMode="auto">
          <a:xfrm>
            <a:off x="0" y="1357298"/>
            <a:ext cx="5227285" cy="4500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 r="9678"/>
          <a:stretch>
            <a:fillRect/>
          </a:stretch>
        </p:blipFill>
        <p:spPr bwMode="auto">
          <a:xfrm>
            <a:off x="5143504" y="1857364"/>
            <a:ext cx="4000496" cy="126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/>
          <a:srcRect r="11677"/>
          <a:stretch>
            <a:fillRect/>
          </a:stretch>
        </p:blipFill>
        <p:spPr bwMode="auto">
          <a:xfrm>
            <a:off x="4929190" y="3929066"/>
            <a:ext cx="4214810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/>
          <p:nvPr/>
        </p:nvSpPr>
        <p:spPr>
          <a:xfrm>
            <a:off x="0" y="2500306"/>
            <a:ext cx="9144000" cy="35719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0" y="1000108"/>
            <a:ext cx="9144000" cy="121444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71462"/>
            <a:ext cx="8229600" cy="1143000"/>
          </a:xfrm>
        </p:spPr>
        <p:txBody>
          <a:bodyPr/>
          <a:lstStyle/>
          <a:p>
            <a:r>
              <a:rPr lang="ru-RU" dirty="0" smtClean="0"/>
              <a:t>Задание 3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928670"/>
            <a:ext cx="9144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Диаграмма </a:t>
            </a:r>
            <a:r>
              <a:rPr lang="ru-RU" sz="2200" b="1" dirty="0" err="1" smtClean="0">
                <a:latin typeface="Times New Roman" pitchFamily="18" charset="0"/>
                <a:cs typeface="Times New Roman" pitchFamily="18" charset="0"/>
              </a:rPr>
              <a:t>Ганта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 — это инструмент для планирования и управления проектами. Это график, на горизонтальной оси которого отмечают действия, на вертикальной оси — продолжительность их выполнения.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0" y="2500306"/>
            <a:ext cx="914400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Некоторые задачи, которые решает диаграмма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Ганта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в управлении: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Планирование проекта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Менеджер может устанавливать сроки для различных этапов проекта и декомпозировать этапы на задачи. 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Управление ресурсами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Удобно координировать работу людей в соответствии с расписанием проекта. Например, если на каком-то этапе сотрудник команды не участвует, то можно занять его в другом проекте. Либо, наоборот, при необходимости заранее начать искать дополнительные ресурсы. 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Мониторинг процесса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Руководители и менеджеры проекта видят, выполняются ли вовремя отдельные задачи, и при необходимости могут корректировать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таймлайн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Диаграммы также помогают посмотреть, какие задачи закрыты вовремя, чтобы оценивать производительность сотрудников.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/>
          <p:cNvSpPr/>
          <p:nvPr/>
        </p:nvSpPr>
        <p:spPr>
          <a:xfrm>
            <a:off x="0" y="4714884"/>
            <a:ext cx="9144000" cy="17859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0" y="3500438"/>
            <a:ext cx="9144000" cy="1143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0" y="785794"/>
            <a:ext cx="9144000" cy="264320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71462"/>
            <a:ext cx="8229600" cy="1143000"/>
          </a:xfrm>
        </p:spPr>
        <p:txBody>
          <a:bodyPr/>
          <a:lstStyle/>
          <a:p>
            <a:r>
              <a:rPr lang="ru-RU" dirty="0" smtClean="0"/>
              <a:t>Задание 3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714356"/>
            <a:ext cx="9144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В жизненном цикле информационных систем диаграмма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Ганта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используется на всех этапах работы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планирование и согласование плана; 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контроль за выполнением работ со стороны руководителя и самоконтроль подчинённых; 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формирование промежуточных и итогового отчётов; 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анализ работы после завершения проекта.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0" y="3556345"/>
            <a:ext cx="900109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В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управлении персоналом (в том числе, менеджерами и государственными служащими) помогает визуализировать задачи и этапы проекта, связанные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например, с подбором или обучением сотрудников.</a:t>
            </a: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0" y="4786322"/>
            <a:ext cx="91440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Однако стоит учитывать, что диаграмма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Ганта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отражает временные ресурсы на выполнение задач, но не количество вовлечённых сотрудников и вклад каждого из них на конкретном этапе работы.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Также диаграмму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Ганта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можно использовать для создания 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карьерного плана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чтобы наглядно видеть, какие шаги необходимо предпринять и в какие сроки.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71462"/>
            <a:ext cx="8229600" cy="1143000"/>
          </a:xfrm>
        </p:spPr>
        <p:txBody>
          <a:bodyPr/>
          <a:lstStyle/>
          <a:p>
            <a:r>
              <a:rPr lang="ru-RU" dirty="0" smtClean="0"/>
              <a:t>Задание 3</a:t>
            </a:r>
            <a:endParaRPr lang="ru-RU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85794"/>
            <a:ext cx="3795933" cy="4027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" name="Прямая со стрелкой 11"/>
          <p:cNvCxnSpPr/>
          <p:nvPr/>
        </p:nvCxnSpPr>
        <p:spPr>
          <a:xfrm rot="10800000">
            <a:off x="2000232" y="3000372"/>
            <a:ext cx="1500198" cy="121444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500430" y="3857628"/>
            <a:ext cx="21431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Горизонтальная гистограмма с накоплением</a:t>
            </a:r>
            <a:endParaRPr lang="ru-RU" sz="20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521495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Т.Е. Диаграмма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Ганта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в управлении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— 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это график, который помогает визуализировать процесс работы над любым проектом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96841" y="928670"/>
            <a:ext cx="6747159" cy="2474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2788587"/>
            <a:ext cx="5535684" cy="3783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" name="Прямая со стрелкой 4"/>
          <p:cNvCxnSpPr/>
          <p:nvPr/>
        </p:nvCxnSpPr>
        <p:spPr>
          <a:xfrm rot="10800000">
            <a:off x="2214546" y="3071810"/>
            <a:ext cx="4214842" cy="20214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428992" y="6560130"/>
            <a:ext cx="1968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Создание проекта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57859"/>
            <a:ext cx="9144000" cy="2862322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Задание 4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Программа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Expert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Decide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является программной системой поддержки принятия решений группой экспертов, реализующей метод анализа иерархий Т.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Саати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Она может быть применена для решения следующих задач: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· принятие решений о выпуске новой продукции;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· проведение исследований и выбора проектного решения;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· оценки квалификации персонала;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· выбор при найме на работу;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· оценки контрактов и портфелей ценных бумаг;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· выбора средств и метода рекламы;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142852"/>
            <a:ext cx="4929222" cy="266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Прямая со стрелкой 5"/>
          <p:cNvCxnSpPr>
            <a:stCxn id="10" idx="0"/>
          </p:cNvCxnSpPr>
          <p:nvPr/>
        </p:nvCxnSpPr>
        <p:spPr>
          <a:xfrm rot="5400000" flipH="1" flipV="1">
            <a:off x="1017977" y="803672"/>
            <a:ext cx="1928823" cy="189307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Скругленный прямоугольник 8"/>
          <p:cNvSpPr/>
          <p:nvPr/>
        </p:nvSpPr>
        <p:spPr>
          <a:xfrm>
            <a:off x="2571736" y="571480"/>
            <a:ext cx="642942" cy="21431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0" y="2714620"/>
            <a:ext cx="207170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Добавление и перемещение новых прямоугольников. Удаление в программе не работает</a:t>
            </a:r>
            <a:endParaRPr lang="ru-RU" dirty="0"/>
          </a:p>
        </p:txBody>
      </p:sp>
      <p:cxnSp>
        <p:nvCxnSpPr>
          <p:cNvPr id="12" name="Прямая со стрелкой 11"/>
          <p:cNvCxnSpPr/>
          <p:nvPr/>
        </p:nvCxnSpPr>
        <p:spPr>
          <a:xfrm rot="10800000">
            <a:off x="4429124" y="1643050"/>
            <a:ext cx="1857388" cy="150020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57818" y="3071810"/>
            <a:ext cx="29289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Щелчок правой кнопкой мыши по прямоугольнику – изменить название</a:t>
            </a:r>
            <a:endParaRPr lang="ru-RU" dirty="0"/>
          </a:p>
        </p:txBody>
      </p:sp>
      <p:cxnSp>
        <p:nvCxnSpPr>
          <p:cNvPr id="16" name="Прямая со стрелкой 15"/>
          <p:cNvCxnSpPr/>
          <p:nvPr/>
        </p:nvCxnSpPr>
        <p:spPr>
          <a:xfrm rot="5400000" flipH="1" flipV="1">
            <a:off x="2250265" y="2035959"/>
            <a:ext cx="3143272" cy="50006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285984" y="3786190"/>
            <a:ext cx="29289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Кнопка «заполнить таблицы». Нажимается после создания иерархии (размещения всех прямоугольников и связей между ними)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1857356" y="5429264"/>
            <a:ext cx="36433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/>
              <a:t>Для создания связей протяните курсор с зажатой левой кнопкой мыши от одного прямоугольника к другому</a:t>
            </a:r>
            <a:endParaRPr lang="ru-RU" b="1" dirty="0"/>
          </a:p>
        </p:txBody>
      </p:sp>
      <p:cxnSp>
        <p:nvCxnSpPr>
          <p:cNvPr id="21" name="Прямая со стрелкой 20"/>
          <p:cNvCxnSpPr/>
          <p:nvPr/>
        </p:nvCxnSpPr>
        <p:spPr>
          <a:xfrm rot="10800000" flipV="1">
            <a:off x="4071934" y="714356"/>
            <a:ext cx="2786082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858016" y="285728"/>
            <a:ext cx="19288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Результат расчетов. Кнопка нажимается после заполнения всех таблиц из вкладки «Окна»</a:t>
            </a:r>
            <a:endParaRPr lang="ru-RU" dirty="0"/>
          </a:p>
        </p:txBody>
      </p:sp>
      <p:cxnSp>
        <p:nvCxnSpPr>
          <p:cNvPr id="28" name="Прямая со стрелкой 27"/>
          <p:cNvCxnSpPr/>
          <p:nvPr/>
        </p:nvCxnSpPr>
        <p:spPr>
          <a:xfrm rot="10800000">
            <a:off x="2500298" y="428604"/>
            <a:ext cx="4357718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517</Words>
  <PresentationFormat>Экран (4:3)</PresentationFormat>
  <Paragraphs>67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Принятие решений</vt:lpstr>
      <vt:lpstr>SMART</vt:lpstr>
      <vt:lpstr>SMART: план работы с критерием</vt:lpstr>
      <vt:lpstr>SWOT-анализ</vt:lpstr>
      <vt:lpstr>SWOT-анализ</vt:lpstr>
      <vt:lpstr>Пример SWOT-анализа юридического агентства</vt:lpstr>
      <vt:lpstr>Задание 3</vt:lpstr>
      <vt:lpstr>Задание 3</vt:lpstr>
      <vt:lpstr>Задание 3</vt:lpstr>
      <vt:lpstr>Слайд 10</vt:lpstr>
      <vt:lpstr>Слайд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Методы реализации управленческих решений</dc:title>
  <dc:creator>user</dc:creator>
  <cp:lastModifiedBy>user</cp:lastModifiedBy>
  <cp:revision>17</cp:revision>
  <dcterms:created xsi:type="dcterms:W3CDTF">2025-03-09T10:19:56Z</dcterms:created>
  <dcterms:modified xsi:type="dcterms:W3CDTF">2026-02-05T10:30:52Z</dcterms:modified>
</cp:coreProperties>
</file>