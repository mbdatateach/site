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diagrams/colors1.xml" ContentType="application/vnd.openxmlformats-officedocument.drawingml.diagramColors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diagrams/quickStyle1.xml" ContentType="application/vnd.openxmlformats-officedocument.drawingml.diagramStyle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diagrams/layout1.xml" ContentType="application/vnd.openxmlformats-officedocument.drawingml.diagram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diagrams/data1.xml" ContentType="application/vnd.openxmlformats-officedocument.drawingml.diagramData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2" r:id="rId3"/>
    <p:sldId id="257" r:id="rId4"/>
    <p:sldId id="259" r:id="rId5"/>
    <p:sldId id="260" r:id="rId6"/>
    <p:sldId id="261" r:id="rId7"/>
    <p:sldId id="262" r:id="rId8"/>
    <p:sldId id="263" r:id="rId9"/>
    <p:sldId id="264" r:id="rId10"/>
    <p:sldId id="269" r:id="rId11"/>
    <p:sldId id="258" r:id="rId12"/>
    <p:sldId id="265" r:id="rId13"/>
    <p:sldId id="266" r:id="rId14"/>
    <p:sldId id="267" r:id="rId15"/>
    <p:sldId id="268" r:id="rId16"/>
    <p:sldId id="270" r:id="rId17"/>
    <p:sldId id="271" r:id="rId18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>
        <p:scale>
          <a:sx n="66" d="100"/>
          <a:sy n="66" d="100"/>
        </p:scale>
        <p:origin x="-2850" y="-9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image" Target="../media/image2.jpe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32AD970-9654-4C4A-AE81-3651158369C8}" type="doc">
      <dgm:prSet loTypeId="urn:microsoft.com/office/officeart/2005/8/layout/vList3" loCatId="list" qsTypeId="urn:microsoft.com/office/officeart/2005/8/quickstyle/simple1" qsCatId="simple" csTypeId="urn:microsoft.com/office/officeart/2005/8/colors/accent1_2" csCatId="accent1" phldr="1"/>
      <dgm:spPr/>
    </dgm:pt>
    <dgm:pt modelId="{5F86C554-9F74-422C-8C13-ECD01FF23115}">
      <dgm:prSet phldrT="[Текст]"/>
      <dgm:spPr/>
      <dgm:t>
        <a:bodyPr/>
        <a:lstStyle/>
        <a:p>
          <a:pPr algn="just"/>
          <a:r>
            <a:rPr lang="en-US" b="1" dirty="0" smtClean="0"/>
            <a:t>Google</a:t>
          </a:r>
          <a:r>
            <a:rPr lang="en-US" dirty="0" smtClean="0"/>
            <a:t>. </a:t>
          </a:r>
          <a:r>
            <a:rPr lang="ru-RU" dirty="0" smtClean="0"/>
            <a:t>Это средство полнотекстового поиска информации с учетом морфологии русского языка; поиск по сайтам, своему каталогу, новостям, товарам, географическим картам, словарям, </a:t>
          </a:r>
          <a:r>
            <a:rPr lang="ru-RU" dirty="0" err="1" smtClean="0"/>
            <a:t>блогам</a:t>
          </a:r>
          <a:r>
            <a:rPr lang="ru-RU" dirty="0" smtClean="0"/>
            <a:t>, картинкам, документам </a:t>
          </a:r>
          <a:r>
            <a:rPr lang="en-US" dirty="0" smtClean="0"/>
            <a:t>Microsoft Office </a:t>
          </a:r>
          <a:r>
            <a:rPr lang="ru-RU" dirty="0" smtClean="0"/>
            <a:t>и </a:t>
          </a:r>
          <a:r>
            <a:rPr lang="en-US" dirty="0" smtClean="0"/>
            <a:t>Adobe Acrobat PDF. </a:t>
          </a:r>
          <a:endParaRPr lang="ru-RU" dirty="0"/>
        </a:p>
      </dgm:t>
    </dgm:pt>
    <dgm:pt modelId="{88E987E9-4FBD-4D7C-A70D-0E06AE4354DB}" type="parTrans" cxnId="{20282F4F-3104-4BEE-8F83-23BC88295E6C}">
      <dgm:prSet/>
      <dgm:spPr/>
      <dgm:t>
        <a:bodyPr/>
        <a:lstStyle/>
        <a:p>
          <a:endParaRPr lang="ru-RU"/>
        </a:p>
      </dgm:t>
    </dgm:pt>
    <dgm:pt modelId="{A00C7352-04FD-4AA1-B89C-415CF5D09891}" type="sibTrans" cxnId="{20282F4F-3104-4BEE-8F83-23BC88295E6C}">
      <dgm:prSet/>
      <dgm:spPr/>
      <dgm:t>
        <a:bodyPr/>
        <a:lstStyle/>
        <a:p>
          <a:endParaRPr lang="ru-RU"/>
        </a:p>
      </dgm:t>
    </dgm:pt>
    <dgm:pt modelId="{471BB793-0ACA-4FC0-B0EF-54E0929DEA97}">
      <dgm:prSet phldrT="[Текст]"/>
      <dgm:spPr/>
      <dgm:t>
        <a:bodyPr/>
        <a:lstStyle/>
        <a:p>
          <a:pPr algn="just"/>
          <a:r>
            <a:rPr lang="ru-RU" b="1" dirty="0" err="1" smtClean="0"/>
            <a:t>Яндекс</a:t>
          </a:r>
          <a:r>
            <a:rPr lang="ru-RU" dirty="0" smtClean="0"/>
            <a:t>. Быстрый поиск в сети со сложными фильтрами, а также ряд дополнительных сервисов для удобства пользования интернетом. Включает все востребованные языки мира, а в каждом региональном сегменте есть своя база, например, </a:t>
          </a:r>
          <a:r>
            <a:rPr lang="ru-RU" dirty="0" err="1" smtClean="0"/>
            <a:t>Google</a:t>
          </a:r>
          <a:r>
            <a:rPr lang="ru-RU" dirty="0" smtClean="0"/>
            <a:t> для </a:t>
          </a:r>
          <a:r>
            <a:rPr lang="ru-RU" dirty="0" err="1" smtClean="0"/>
            <a:t>рунета</a:t>
          </a:r>
          <a:r>
            <a:rPr lang="ru-RU" dirty="0" smtClean="0"/>
            <a:t>. В индексе этой поисковой системы хранится порядка 5 миллиардов разнообразных </a:t>
          </a:r>
          <a:r>
            <a:rPr lang="ru-RU" dirty="0" err="1" smtClean="0"/>
            <a:t>веб-сайтов</a:t>
          </a:r>
          <a:r>
            <a:rPr lang="ru-RU" dirty="0" smtClean="0"/>
            <a:t>.</a:t>
          </a:r>
          <a:endParaRPr lang="ru-RU" dirty="0"/>
        </a:p>
      </dgm:t>
    </dgm:pt>
    <dgm:pt modelId="{0FBB9E81-D515-4357-81B4-9BDE0742330A}" type="parTrans" cxnId="{BBA237D7-1F28-4B25-A4FF-3AE62B490B34}">
      <dgm:prSet/>
      <dgm:spPr/>
      <dgm:t>
        <a:bodyPr/>
        <a:lstStyle/>
        <a:p>
          <a:endParaRPr lang="ru-RU"/>
        </a:p>
      </dgm:t>
    </dgm:pt>
    <dgm:pt modelId="{6992ED70-944D-4282-930C-44FB91A322C0}" type="sibTrans" cxnId="{BBA237D7-1F28-4B25-A4FF-3AE62B490B34}">
      <dgm:prSet/>
      <dgm:spPr/>
      <dgm:t>
        <a:bodyPr/>
        <a:lstStyle/>
        <a:p>
          <a:endParaRPr lang="ru-RU"/>
        </a:p>
      </dgm:t>
    </dgm:pt>
    <dgm:pt modelId="{A38F3E52-C408-4AFE-9D45-A6BAC6178D33}">
      <dgm:prSet phldrT="[Текст]"/>
      <dgm:spPr/>
      <dgm:t>
        <a:bodyPr/>
        <a:lstStyle/>
        <a:p>
          <a:pPr algn="just"/>
          <a:r>
            <a:rPr lang="en-US" b="1" dirty="0" smtClean="0"/>
            <a:t>Mail</a:t>
          </a:r>
          <a:r>
            <a:rPr lang="ru-RU" dirty="0" smtClean="0"/>
            <a:t>. На главной странице в сжатом формате можно прочитать о происшествиях во всем мире. Основной функционал включает: Поиск по видео, изображениям и текстовым документам, Тематическая фильтрация результатов текстового поиска. Возможность исправления опечаток и поиска по ключевым словам.</a:t>
          </a:r>
          <a:endParaRPr lang="ru-RU" dirty="0"/>
        </a:p>
      </dgm:t>
    </dgm:pt>
    <dgm:pt modelId="{9D274FC5-0213-4CAC-9499-A05D548A812A}" type="parTrans" cxnId="{CF3FFEC2-B8B4-49E3-ADAF-EB69F46AB3C8}">
      <dgm:prSet/>
      <dgm:spPr/>
      <dgm:t>
        <a:bodyPr/>
        <a:lstStyle/>
        <a:p>
          <a:endParaRPr lang="ru-RU"/>
        </a:p>
      </dgm:t>
    </dgm:pt>
    <dgm:pt modelId="{295913D6-6211-42D2-80FE-AE78290E49A2}" type="sibTrans" cxnId="{CF3FFEC2-B8B4-49E3-ADAF-EB69F46AB3C8}">
      <dgm:prSet/>
      <dgm:spPr/>
      <dgm:t>
        <a:bodyPr/>
        <a:lstStyle/>
        <a:p>
          <a:endParaRPr lang="ru-RU"/>
        </a:p>
      </dgm:t>
    </dgm:pt>
    <dgm:pt modelId="{019EF11B-E60B-49C5-A74A-9E67A16DB49E}" type="pres">
      <dgm:prSet presAssocID="{232AD970-9654-4C4A-AE81-3651158369C8}" presName="linearFlow" presStyleCnt="0">
        <dgm:presLayoutVars>
          <dgm:dir/>
          <dgm:resizeHandles val="exact"/>
        </dgm:presLayoutVars>
      </dgm:prSet>
      <dgm:spPr/>
    </dgm:pt>
    <dgm:pt modelId="{99E9F9E7-9FFD-4846-8782-D2386C7DD57B}" type="pres">
      <dgm:prSet presAssocID="{5F86C554-9F74-422C-8C13-ECD01FF23115}" presName="composite" presStyleCnt="0"/>
      <dgm:spPr/>
    </dgm:pt>
    <dgm:pt modelId="{A8405D16-C20E-4987-8449-8CFA176C5280}" type="pres">
      <dgm:prSet presAssocID="{5F86C554-9F74-422C-8C13-ECD01FF23115}" presName="imgShp" presStyleLbl="fgImgPlace1" presStyleIdx="0" presStyleCnt="3"/>
      <dgm:spPr>
        <a:blipFill rotWithShape="0">
          <a:blip xmlns:r="http://schemas.openxmlformats.org/officeDocument/2006/relationships" r:embed="rId1"/>
          <a:stretch>
            <a:fillRect/>
          </a:stretch>
        </a:blipFill>
        <a:ln>
          <a:solidFill>
            <a:schemeClr val="tx1"/>
          </a:solidFill>
        </a:ln>
      </dgm:spPr>
    </dgm:pt>
    <dgm:pt modelId="{3DD46F52-8CE1-4051-A856-8D8AD9CE3221}" type="pres">
      <dgm:prSet presAssocID="{5F86C554-9F74-422C-8C13-ECD01FF23115}" presName="txShp" presStyleLbl="node1" presStyleIdx="0" presStyleCnt="3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245A8E9B-65A3-4E8B-8530-07BEA025BBF2}" type="pres">
      <dgm:prSet presAssocID="{A00C7352-04FD-4AA1-B89C-415CF5D09891}" presName="spacing" presStyleCnt="0"/>
      <dgm:spPr/>
    </dgm:pt>
    <dgm:pt modelId="{346BE37D-9275-4D6A-B4C0-7A0E886CF4F7}" type="pres">
      <dgm:prSet presAssocID="{471BB793-0ACA-4FC0-B0EF-54E0929DEA97}" presName="composite" presStyleCnt="0"/>
      <dgm:spPr/>
    </dgm:pt>
    <dgm:pt modelId="{565775E1-C43A-4178-8CFC-1C7AD51E4554}" type="pres">
      <dgm:prSet presAssocID="{471BB793-0ACA-4FC0-B0EF-54E0929DEA97}" presName="imgShp" presStyleLbl="fgImgPlace1" presStyleIdx="1" presStyleCnt="3"/>
      <dgm:spPr>
        <a:blipFill rotWithShape="0">
          <a:blip xmlns:r="http://schemas.openxmlformats.org/officeDocument/2006/relationships" r:embed="rId2"/>
          <a:stretch>
            <a:fillRect/>
          </a:stretch>
        </a:blipFill>
        <a:ln>
          <a:solidFill>
            <a:schemeClr val="tx1"/>
          </a:solidFill>
        </a:ln>
      </dgm:spPr>
    </dgm:pt>
    <dgm:pt modelId="{4897B1EC-CC82-44C0-99B6-CF32C8876728}" type="pres">
      <dgm:prSet presAssocID="{471BB793-0ACA-4FC0-B0EF-54E0929DEA97}" presName="txShp" presStyleLbl="node1" presStyleIdx="1" presStyleCnt="3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32F4A56A-2A18-490D-B01F-CB2A21A11632}" type="pres">
      <dgm:prSet presAssocID="{6992ED70-944D-4282-930C-44FB91A322C0}" presName="spacing" presStyleCnt="0"/>
      <dgm:spPr/>
    </dgm:pt>
    <dgm:pt modelId="{ACA3E874-9B08-4E0C-871A-1A3165289D7A}" type="pres">
      <dgm:prSet presAssocID="{A38F3E52-C408-4AFE-9D45-A6BAC6178D33}" presName="composite" presStyleCnt="0"/>
      <dgm:spPr/>
    </dgm:pt>
    <dgm:pt modelId="{59F9888E-F484-44FE-A2C2-C5B0C928CB66}" type="pres">
      <dgm:prSet presAssocID="{A38F3E52-C408-4AFE-9D45-A6BAC6178D33}" presName="imgShp" presStyleLbl="fgImgPlace1" presStyleIdx="2" presStyleCnt="3"/>
      <dgm:spPr>
        <a:blipFill rotWithShape="0">
          <a:blip xmlns:r="http://schemas.openxmlformats.org/officeDocument/2006/relationships" r:embed="rId3"/>
          <a:stretch>
            <a:fillRect/>
          </a:stretch>
        </a:blipFill>
        <a:ln>
          <a:solidFill>
            <a:schemeClr val="tx1"/>
          </a:solidFill>
        </a:ln>
      </dgm:spPr>
    </dgm:pt>
    <dgm:pt modelId="{2D7B6E08-1403-4513-AB71-008DAA0CEF8C}" type="pres">
      <dgm:prSet presAssocID="{A38F3E52-C408-4AFE-9D45-A6BAC6178D33}" presName="txShp" presStyleLbl="node1" presStyleIdx="2" presStyleCnt="3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7078ED13-DF55-4B71-BAC6-F409A4969C7C}" type="presOf" srcId="{232AD970-9654-4C4A-AE81-3651158369C8}" destId="{019EF11B-E60B-49C5-A74A-9E67A16DB49E}" srcOrd="0" destOrd="0" presId="urn:microsoft.com/office/officeart/2005/8/layout/vList3"/>
    <dgm:cxn modelId="{CF3FFEC2-B8B4-49E3-ADAF-EB69F46AB3C8}" srcId="{232AD970-9654-4C4A-AE81-3651158369C8}" destId="{A38F3E52-C408-4AFE-9D45-A6BAC6178D33}" srcOrd="2" destOrd="0" parTransId="{9D274FC5-0213-4CAC-9499-A05D548A812A}" sibTransId="{295913D6-6211-42D2-80FE-AE78290E49A2}"/>
    <dgm:cxn modelId="{BBA237D7-1F28-4B25-A4FF-3AE62B490B34}" srcId="{232AD970-9654-4C4A-AE81-3651158369C8}" destId="{471BB793-0ACA-4FC0-B0EF-54E0929DEA97}" srcOrd="1" destOrd="0" parTransId="{0FBB9E81-D515-4357-81B4-9BDE0742330A}" sibTransId="{6992ED70-944D-4282-930C-44FB91A322C0}"/>
    <dgm:cxn modelId="{20E22627-B8C7-46B5-9085-4292942FA627}" type="presOf" srcId="{471BB793-0ACA-4FC0-B0EF-54E0929DEA97}" destId="{4897B1EC-CC82-44C0-99B6-CF32C8876728}" srcOrd="0" destOrd="0" presId="urn:microsoft.com/office/officeart/2005/8/layout/vList3"/>
    <dgm:cxn modelId="{ADCAC45B-05BD-47B9-B68D-A756AF747ED9}" type="presOf" srcId="{5F86C554-9F74-422C-8C13-ECD01FF23115}" destId="{3DD46F52-8CE1-4051-A856-8D8AD9CE3221}" srcOrd="0" destOrd="0" presId="urn:microsoft.com/office/officeart/2005/8/layout/vList3"/>
    <dgm:cxn modelId="{20282F4F-3104-4BEE-8F83-23BC88295E6C}" srcId="{232AD970-9654-4C4A-AE81-3651158369C8}" destId="{5F86C554-9F74-422C-8C13-ECD01FF23115}" srcOrd="0" destOrd="0" parTransId="{88E987E9-4FBD-4D7C-A70D-0E06AE4354DB}" sibTransId="{A00C7352-04FD-4AA1-B89C-415CF5D09891}"/>
    <dgm:cxn modelId="{14BD2527-D3FF-462D-8631-4430756306A8}" type="presOf" srcId="{A38F3E52-C408-4AFE-9D45-A6BAC6178D33}" destId="{2D7B6E08-1403-4513-AB71-008DAA0CEF8C}" srcOrd="0" destOrd="0" presId="urn:microsoft.com/office/officeart/2005/8/layout/vList3"/>
    <dgm:cxn modelId="{0AEC46BD-E74D-4597-8701-6A6966896A61}" type="presParOf" srcId="{019EF11B-E60B-49C5-A74A-9E67A16DB49E}" destId="{99E9F9E7-9FFD-4846-8782-D2386C7DD57B}" srcOrd="0" destOrd="0" presId="urn:microsoft.com/office/officeart/2005/8/layout/vList3"/>
    <dgm:cxn modelId="{604CF6B9-9CCD-474E-8A07-831F5ED52A69}" type="presParOf" srcId="{99E9F9E7-9FFD-4846-8782-D2386C7DD57B}" destId="{A8405D16-C20E-4987-8449-8CFA176C5280}" srcOrd="0" destOrd="0" presId="urn:microsoft.com/office/officeart/2005/8/layout/vList3"/>
    <dgm:cxn modelId="{DB9EED2A-78CF-4254-8E4E-44288481F3E3}" type="presParOf" srcId="{99E9F9E7-9FFD-4846-8782-D2386C7DD57B}" destId="{3DD46F52-8CE1-4051-A856-8D8AD9CE3221}" srcOrd="1" destOrd="0" presId="urn:microsoft.com/office/officeart/2005/8/layout/vList3"/>
    <dgm:cxn modelId="{8298DD9B-5CB7-41C6-9BA3-1CB834DD1207}" type="presParOf" srcId="{019EF11B-E60B-49C5-A74A-9E67A16DB49E}" destId="{245A8E9B-65A3-4E8B-8530-07BEA025BBF2}" srcOrd="1" destOrd="0" presId="urn:microsoft.com/office/officeart/2005/8/layout/vList3"/>
    <dgm:cxn modelId="{CB5F1D4F-4E59-4E5A-B183-F6534FC859B1}" type="presParOf" srcId="{019EF11B-E60B-49C5-A74A-9E67A16DB49E}" destId="{346BE37D-9275-4D6A-B4C0-7A0E886CF4F7}" srcOrd="2" destOrd="0" presId="urn:microsoft.com/office/officeart/2005/8/layout/vList3"/>
    <dgm:cxn modelId="{065062AC-1D4A-4FA4-93D0-26DCE33B28A1}" type="presParOf" srcId="{346BE37D-9275-4D6A-B4C0-7A0E886CF4F7}" destId="{565775E1-C43A-4178-8CFC-1C7AD51E4554}" srcOrd="0" destOrd="0" presId="urn:microsoft.com/office/officeart/2005/8/layout/vList3"/>
    <dgm:cxn modelId="{56EC359F-1760-4062-82ED-80CBAF5A1675}" type="presParOf" srcId="{346BE37D-9275-4D6A-B4C0-7A0E886CF4F7}" destId="{4897B1EC-CC82-44C0-99B6-CF32C8876728}" srcOrd="1" destOrd="0" presId="urn:microsoft.com/office/officeart/2005/8/layout/vList3"/>
    <dgm:cxn modelId="{7292534B-FD0A-4AF9-8CF0-217FBBD6A8D2}" type="presParOf" srcId="{019EF11B-E60B-49C5-A74A-9E67A16DB49E}" destId="{32F4A56A-2A18-490D-B01F-CB2A21A11632}" srcOrd="3" destOrd="0" presId="urn:microsoft.com/office/officeart/2005/8/layout/vList3"/>
    <dgm:cxn modelId="{05E608A7-5ECE-4078-8055-A1A11DBFFB34}" type="presParOf" srcId="{019EF11B-E60B-49C5-A74A-9E67A16DB49E}" destId="{ACA3E874-9B08-4E0C-871A-1A3165289D7A}" srcOrd="4" destOrd="0" presId="urn:microsoft.com/office/officeart/2005/8/layout/vList3"/>
    <dgm:cxn modelId="{68D1EFED-CDE4-4FD9-B84F-B00BAE702813}" type="presParOf" srcId="{ACA3E874-9B08-4E0C-871A-1A3165289D7A}" destId="{59F9888E-F484-44FE-A2C2-C5B0C928CB66}" srcOrd="0" destOrd="0" presId="urn:microsoft.com/office/officeart/2005/8/layout/vList3"/>
    <dgm:cxn modelId="{A15F470C-85B2-4FF4-AAF2-B9A1C83CD7E4}" type="presParOf" srcId="{ACA3E874-9B08-4E0C-871A-1A3165289D7A}" destId="{2D7B6E08-1403-4513-AB71-008DAA0CEF8C}" srcOrd="1" destOrd="0" presId="urn:microsoft.com/office/officeart/2005/8/layout/vList3"/>
  </dgm:cxnLst>
  <dgm:bg/>
  <dgm:whole/>
</dgm:dataModel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09.02.2026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09.02.2026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09.02.2026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09.02.2026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09.02.2026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09.02.2026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09.02.2026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09.02.2026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09.02.2026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09.02.2026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09.02.2026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106E36-FD25-4E2D-B0AA-010F637433A0}" type="datetimeFigureOut">
              <a:rPr lang="ru-RU" smtClean="0"/>
              <a:pPr/>
              <a:t>09.02.2026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lib-str.ru/putevoditel-po-saytam/pravovye-resursy-interneta/?ysclid=mku454f29n994239090" TargetMode="External"/><Relationship Id="rId2" Type="http://schemas.openxmlformats.org/officeDocument/2006/relationships/hyperlink" Target="https://pravorub.ru/" TargetMode="External"/><Relationship Id="rId1" Type="http://schemas.openxmlformats.org/officeDocument/2006/relationships/slideLayout" Target="../slideLayouts/slideLayout6.xml"/><Relationship Id="rId4" Type="http://schemas.openxmlformats.org/officeDocument/2006/relationships/hyperlink" Target="https://disk.360.yandex.ru/d/etuXt3Y3i1Gu0g" TargetMode="Externa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6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s://suip.biz/ru/?act=yandex-search" TargetMode="Externa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hyperlink" Target="https://www.consultant.ru/cons/cgi/online.cgi?req=home&amp;utm_csource=online&amp;utm_cmedium=button" TargetMode="Externa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hyperlink" Target="https://cons-plus.ru/poleznoe/stati/vse-o-pravovom-navigatore-konsultant-plyus/" TargetMode="Externa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 smtClean="0"/>
              <a:t>Информационные технологии в юридической деятельности</a:t>
            </a:r>
            <a:endParaRPr lang="ru-RU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Дополнительные материалы</a:t>
            </a:r>
            <a:endParaRPr lang="ru-RU" dirty="0"/>
          </a:p>
        </p:txBody>
      </p:sp>
      <p:sp>
        <p:nvSpPr>
          <p:cNvPr id="3" name="Прямоугольник 2"/>
          <p:cNvSpPr/>
          <p:nvPr/>
        </p:nvSpPr>
        <p:spPr>
          <a:xfrm>
            <a:off x="0" y="1357298"/>
            <a:ext cx="9144000" cy="48320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800" dirty="0" smtClean="0">
                <a:latin typeface="Times New Roman" pitchFamily="18" charset="0"/>
                <a:cs typeface="Times New Roman" pitchFamily="18" charset="0"/>
                <a:hlinkClick r:id="rId2"/>
              </a:rPr>
              <a:t>https://pravorub.ru/ </a:t>
            </a:r>
            <a:r>
              <a:rPr lang="ru-RU" sz="2800" dirty="0" smtClean="0">
                <a:latin typeface="Times New Roman" pitchFamily="18" charset="0"/>
                <a:cs typeface="Times New Roman" pitchFamily="18" charset="0"/>
              </a:rPr>
              <a:t>— сайт профессионального сообщества адвокатов и юристов. Обзоры, статьи на судебную практику и аналитику</a:t>
            </a:r>
            <a:r>
              <a:rPr lang="ru-RU" sz="28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algn="just"/>
            <a:endParaRPr lang="ru-RU" sz="28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sz="2800" dirty="0" smtClean="0">
                <a:latin typeface="Times New Roman" pitchFamily="18" charset="0"/>
                <a:cs typeface="Times New Roman" pitchFamily="18" charset="0"/>
                <a:hlinkClick r:id="rId3"/>
              </a:rPr>
              <a:t>https://lib-str.ru/putevoditel-po-saytam/pravovye-resursy-interneta/?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  <a:hlinkClick r:id="rId3"/>
              </a:rPr>
              <a:t>ysclid=mku454f29n994239090</a:t>
            </a:r>
            <a:r>
              <a:rPr lang="ru-RU" sz="2800" dirty="0" smtClean="0">
                <a:latin typeface="Times New Roman" pitchFamily="18" charset="0"/>
                <a:cs typeface="Times New Roman" pitchFamily="18" charset="0"/>
              </a:rPr>
              <a:t> – правовые ресурсы Интернета</a:t>
            </a:r>
            <a:endParaRPr lang="en-US" sz="28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en-US" sz="28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sz="2800" dirty="0" smtClean="0">
                <a:latin typeface="Times New Roman" pitchFamily="18" charset="0"/>
                <a:cs typeface="Times New Roman" pitchFamily="18" charset="0"/>
                <a:hlinkClick r:id="rId4"/>
              </a:rPr>
              <a:t>https://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  <a:hlinkClick r:id="rId4"/>
              </a:rPr>
              <a:t>disk.360.yandex.ru/d/etuXt3Y3i1Gu0g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 - </a:t>
            </a:r>
            <a:r>
              <a:rPr lang="ru-RU" sz="2800" dirty="0" smtClean="0">
                <a:latin typeface="Times New Roman" pitchFamily="18" charset="0"/>
                <a:cs typeface="Times New Roman" pitchFamily="18" charset="0"/>
              </a:rPr>
              <a:t>Общее понятие об информационных технологиях в юридической </a:t>
            </a:r>
            <a:r>
              <a:rPr lang="ru-RU" sz="2800" dirty="0" smtClean="0">
                <a:latin typeface="Times New Roman" pitchFamily="18" charset="0"/>
                <a:cs typeface="Times New Roman" pitchFamily="18" charset="0"/>
              </a:rPr>
              <a:t>деятельности</a:t>
            </a:r>
            <a:endParaRPr lang="ru-RU" sz="2800" dirty="0" smtClean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28596" y="-71462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ru-RU" dirty="0" smtClean="0"/>
              <a:t>Что такое информационные технологии (ИТ)?</a:t>
            </a:r>
            <a:endParaRPr lang="ru-RU" dirty="0"/>
          </a:p>
        </p:txBody>
      </p:sp>
      <p:sp>
        <p:nvSpPr>
          <p:cNvPr id="3" name="Прямоугольник 2"/>
          <p:cNvSpPr/>
          <p:nvPr/>
        </p:nvSpPr>
        <p:spPr>
          <a:xfrm>
            <a:off x="0" y="1084250"/>
            <a:ext cx="9144000" cy="341632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wrap="square">
            <a:spAutoFit/>
          </a:bodyPr>
          <a:lstStyle/>
          <a:p>
            <a:pPr algn="just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ИТ в юридической деятельности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— это использование компьютерных технологий и цифровых инструментов для решения профессиональных задач юристов.</a:t>
            </a: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Проще говоря, это когда вместо вороха бумаг и долгих поисков в архивах юрист работает с электронными базами данных, специальными программами и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онлайн‑сервисами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, которые помогают:</a:t>
            </a:r>
          </a:p>
          <a:p>
            <a:pPr algn="just">
              <a:buFont typeface="Arial" pitchFamily="34" charset="0"/>
              <a:buChar char="•"/>
            </a:pP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быстро находить нужную информацию (законы, судебные решения, комментарии экспертов);</a:t>
            </a:r>
          </a:p>
          <a:p>
            <a:pPr algn="just">
              <a:buFont typeface="Arial" pitchFamily="34" charset="0"/>
              <a:buChar char="•"/>
            </a:pP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готовить документы (договоры, иски, претензии) с помощью шаблонов и автоматических проверок;</a:t>
            </a:r>
          </a:p>
          <a:p>
            <a:pPr algn="just">
              <a:buFont typeface="Arial" pitchFamily="34" charset="0"/>
              <a:buChar char="•"/>
            </a:pP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вести делопроизводство в электронном виде (хранить файлы, отслеживать сроки, формировать отчёты);</a:t>
            </a:r>
          </a:p>
          <a:p>
            <a:pPr algn="just">
              <a:buFont typeface="Arial" pitchFamily="34" charset="0"/>
              <a:buChar char="•"/>
            </a:pP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обмениваться данными с клиентами, судами, госорганами через защищённые каналы;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0" y="4549700"/>
            <a:ext cx="9144000" cy="2308324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just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Примеры </a:t>
            </a:r>
            <a:r>
              <a:rPr lang="ru-RU" b="1" dirty="0" err="1" smtClean="0">
                <a:latin typeface="Times New Roman" pitchFamily="18" charset="0"/>
                <a:cs typeface="Times New Roman" pitchFamily="18" charset="0"/>
              </a:rPr>
              <a:t>ИТ‑инструментов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 в юриспруденции</a:t>
            </a:r>
          </a:p>
          <a:p>
            <a:pPr algn="just"/>
            <a:r>
              <a:rPr lang="ru-RU" b="1" dirty="0" err="1" smtClean="0">
                <a:latin typeface="Times New Roman" pitchFamily="18" charset="0"/>
                <a:cs typeface="Times New Roman" pitchFamily="18" charset="0"/>
              </a:rPr>
              <a:t>Справочно‑правовые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 системы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 (например, «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КонсультантПлюс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», «Гарант») — электронные базы законов, подзаконных актов и судебных решений с поиском по ключевым словам.</a:t>
            </a:r>
          </a:p>
          <a:p>
            <a:pPr algn="just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Офисный пакет приложений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 - в который входят программное обеспечение для работы с различными типами документов: текстами, электронными таблицами, базами данных</a:t>
            </a:r>
          </a:p>
          <a:p>
            <a:pPr algn="just"/>
            <a:r>
              <a:rPr lang="ru-RU" b="1" dirty="0" err="1" smtClean="0">
                <a:latin typeface="Times New Roman" pitchFamily="18" charset="0"/>
                <a:cs typeface="Times New Roman" pitchFamily="18" charset="0"/>
              </a:rPr>
              <a:t>Онлайн-платформы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, конструкторы, сеть Интернет и искусственный интеллект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для поиска и создания визуальной и текстовой информации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000" b="1" dirty="0" smtClean="0"/>
              <a:t>Все существующие </a:t>
            </a:r>
            <a:r>
              <a:rPr lang="ru-RU" sz="3000" b="1" dirty="0" err="1" smtClean="0"/>
              <a:t>интернет-технологии</a:t>
            </a:r>
            <a:r>
              <a:rPr lang="ru-RU" sz="3000" b="1" dirty="0" smtClean="0"/>
              <a:t> можно разделить на три класса:</a:t>
            </a:r>
            <a:endParaRPr lang="ru-RU" sz="3000" b="1" dirty="0"/>
          </a:p>
        </p:txBody>
      </p:sp>
      <p:pic>
        <p:nvPicPr>
          <p:cNvPr id="3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60726" y="1571612"/>
            <a:ext cx="8983274" cy="41434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28596" y="0"/>
            <a:ext cx="8229600" cy="1143000"/>
          </a:xfrm>
        </p:spPr>
        <p:txBody>
          <a:bodyPr/>
          <a:lstStyle/>
          <a:p>
            <a:r>
              <a:rPr lang="ru-RU" dirty="0" smtClean="0"/>
              <a:t>Виды поисковых систем</a:t>
            </a:r>
            <a:endParaRPr lang="ru-RU" dirty="0"/>
          </a:p>
        </p:txBody>
      </p:sp>
      <p:graphicFrame>
        <p:nvGraphicFramePr>
          <p:cNvPr id="3" name="Схема 2"/>
          <p:cNvGraphicFramePr/>
          <p:nvPr/>
        </p:nvGraphicFramePr>
        <p:xfrm>
          <a:off x="0" y="857232"/>
          <a:ext cx="9144000" cy="600076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smtClean="0"/>
              <a:t>Поиск информации в сети Интернет</a:t>
            </a:r>
            <a:endParaRPr lang="ru-RU" dirty="0"/>
          </a:p>
        </p:txBody>
      </p:sp>
      <p:sp>
        <p:nvSpPr>
          <p:cNvPr id="3" name="Прямоугольник 2"/>
          <p:cNvSpPr/>
          <p:nvPr/>
        </p:nvSpPr>
        <p:spPr>
          <a:xfrm>
            <a:off x="500034" y="1428736"/>
            <a:ext cx="8286808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Поиск информации – одна из самых востребованных на практике задач, которую приходится решать любому пользователю сети Интернет. </a:t>
            </a:r>
          </a:p>
          <a:p>
            <a:pPr algn="just"/>
            <a:endParaRPr lang="ru-RU" sz="24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Существуют </a:t>
            </a:r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три основных способа поиска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 информации в сети Интернет: </a:t>
            </a:r>
          </a:p>
          <a:p>
            <a:pPr marL="457200" indent="-457200" algn="just">
              <a:buAutoNum type="arabicPeriod"/>
            </a:pP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Указание адреса страницы. </a:t>
            </a:r>
          </a:p>
          <a:p>
            <a:pPr marL="457200" indent="-457200" algn="just">
              <a:buAutoNum type="arabicPeriod"/>
            </a:pP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Передвижение по гиперссылкам. </a:t>
            </a:r>
          </a:p>
          <a:p>
            <a:pPr marL="457200" indent="-457200" algn="just">
              <a:buAutoNum type="arabicPeriod"/>
            </a:pP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Обращение к поисковой системе (поисковому серверу).</a:t>
            </a:r>
            <a:endParaRPr lang="ru-RU" sz="24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28596" y="0"/>
            <a:ext cx="8229600" cy="1143000"/>
          </a:xfrm>
        </p:spPr>
        <p:txBody>
          <a:bodyPr/>
          <a:lstStyle/>
          <a:p>
            <a:r>
              <a:rPr lang="ru-RU" dirty="0" smtClean="0"/>
              <a:t>Логика поисковых запросов</a:t>
            </a:r>
            <a:endParaRPr lang="ru-RU" dirty="0"/>
          </a:p>
        </p:txBody>
      </p:sp>
      <p:sp>
        <p:nvSpPr>
          <p:cNvPr id="13" name="Прямоугольник 12"/>
          <p:cNvSpPr/>
          <p:nvPr/>
        </p:nvSpPr>
        <p:spPr>
          <a:xfrm>
            <a:off x="0" y="917912"/>
            <a:ext cx="9144000" cy="47089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buAutoNum type="arabicPeriod"/>
            </a:pP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Несколько ключевых слов, разделенных пробелом, соответствуют операции логического сложения: ИЛИ (OR). </a:t>
            </a:r>
          </a:p>
          <a:p>
            <a:pPr marL="342900" indent="-342900" algn="just">
              <a:buAutoNum type="arabicPeriod"/>
            </a:pP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Несколько слов, заключенных в кавычки, воспринимаются как единое целое. Например, </a:t>
            </a:r>
            <a:r>
              <a:rPr lang="en-US" sz="2000" dirty="0" smtClean="0">
                <a:latin typeface="+mj-lt"/>
                <a:cs typeface="Times New Roman" pitchFamily="18" charset="0"/>
              </a:rPr>
              <a:t>"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Индустрия туризма</a:t>
            </a:r>
            <a:r>
              <a:rPr lang="en-US" sz="2000" dirty="0" smtClean="0">
                <a:latin typeface="+mj-lt"/>
                <a:cs typeface="Times New Roman" pitchFamily="18" charset="0"/>
              </a:rPr>
              <a:t>"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. </a:t>
            </a:r>
          </a:p>
          <a:p>
            <a:pPr marL="342900" indent="-342900" algn="just">
              <a:buAutoNum type="arabicPeriod"/>
            </a:pP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Знак + между словами равносилен операции логического умножения: И (AND). Указав в запросе ключ Индустрия + туризма, получим все документы, в которых имеются эти два слова одновременно, но они могут быть расположены в любом порядке и вразброс. </a:t>
            </a:r>
          </a:p>
          <a:p>
            <a:pPr marL="342900" indent="-342900" algn="just">
              <a:buAutoNum type="arabicPeriod"/>
            </a:pP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Знак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"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–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"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 перед словом равносилен исключению из поиска документов, в которых содержится выделенное минусом слово. </a:t>
            </a:r>
          </a:p>
          <a:p>
            <a:pPr marL="342900" indent="-342900" algn="just">
              <a:buAutoNum type="arabicPeriod"/>
            </a:pP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Знак *, или подстановочный знак. Если в запросе указать звездочку (*), то она будет означать любое неизвестное поисковое слово, что позволяет найти самые лучшие соответствия. Например, по запросу Дума проголосовала * по * законопроекту будет ссылка на сайты с результатами о разных голосованиях по различным законопроектам.</a:t>
            </a:r>
            <a:endParaRPr lang="ru-RU" sz="20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28596" y="0"/>
            <a:ext cx="8229600" cy="1143000"/>
          </a:xfrm>
        </p:spPr>
        <p:txBody>
          <a:bodyPr>
            <a:normAutofit fontScale="90000"/>
          </a:bodyPr>
          <a:lstStyle/>
          <a:p>
            <a:pPr fontAlgn="ctr"/>
            <a:r>
              <a:rPr lang="ru-RU" dirty="0" smtClean="0"/>
              <a:t>Как эффективно искать информацию в интернете?</a:t>
            </a:r>
            <a:endParaRPr lang="ru-RU" dirty="0"/>
          </a:p>
        </p:txBody>
      </p:sp>
      <p:sp>
        <p:nvSpPr>
          <p:cNvPr id="13" name="Прямоугольник 12"/>
          <p:cNvSpPr/>
          <p:nvPr/>
        </p:nvSpPr>
        <p:spPr>
          <a:xfrm>
            <a:off x="0" y="1214422"/>
            <a:ext cx="9144000" cy="750974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Используйте как минимум две поисковые системы -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У разных поисковиков несколько разные способы индексации страниц. Поэтому, как правило, даже самые простые поисковые запросы в разных системах приносят разные результаты. Во-первых, то, что не заметила одна поисковая система, может заметить другая – и наоборот.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ru-RU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Пользуйтесь расширенным поиском -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попробуйте детальнее структурировать свой запрос с помощью расширенного поиска. (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  <a:hlinkClick r:id="rId2"/>
              </a:rPr>
              <a:t>https://suip.biz/ru/?act=yandex-search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)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ru-RU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Переформулируйте запросы с учетом уже полученных результатов -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Самый простой способ – обратить внимание на предлагаемые поисковой системой варианты запросов, когда вы только вводите их в поисковую строку. Даже если воспользоваться последовательно хотя бы пяти такими «автоматическими» вариантами, это уже позволит сделать поиск более эффективным.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ru-RU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Уточняйте предметную область и географию запросов -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Как правило, у поисковых систем есть встроенное меню, позволяющее уточнять, что ищет пользователь: картинки, видео, словарные статьи, перевод слова, новостные материалы по своему запросу и так далее. Но и пользователю не стоит лениться: слово «медицинская» к слову «шина» за него не подставит ни одна поисковая система.</a:t>
            </a:r>
            <a:endParaRPr lang="ru-RU" b="1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ru-RU" sz="2000" dirty="0" smtClean="0"/>
              <a:t/>
            </a:r>
            <a:br>
              <a:rPr lang="ru-RU" sz="2000" dirty="0" smtClean="0"/>
            </a:br>
            <a:endParaRPr lang="ru-RU" sz="2000" dirty="0" smtClean="0"/>
          </a:p>
          <a:p>
            <a:endParaRPr lang="ru-RU" sz="2000" dirty="0" smtClean="0"/>
          </a:p>
          <a:p>
            <a:endParaRPr lang="ru-RU" sz="2000" dirty="0" smtClean="0"/>
          </a:p>
          <a:p>
            <a:endParaRPr lang="ru-RU" sz="2000" b="1" dirty="0" smtClean="0"/>
          </a:p>
          <a:p>
            <a:r>
              <a:rPr lang="ru-RU" sz="2000" dirty="0" smtClean="0"/>
              <a:t/>
            </a:r>
            <a:br>
              <a:rPr lang="ru-RU" sz="2000" dirty="0" smtClean="0"/>
            </a:br>
            <a:endParaRPr lang="ru-RU" sz="2000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ru-RU" dirty="0" smtClean="0"/>
              <a:t>Информационный поиск в электронных библиотеках</a:t>
            </a:r>
            <a:endParaRPr lang="ru-RU" dirty="0"/>
          </a:p>
        </p:txBody>
      </p:sp>
      <p:sp>
        <p:nvSpPr>
          <p:cNvPr id="6" name="Прямоугольник 5"/>
          <p:cNvSpPr/>
          <p:nvPr/>
        </p:nvSpPr>
        <p:spPr>
          <a:xfrm>
            <a:off x="214282" y="2605627"/>
            <a:ext cx="8786874" cy="1323439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ru-RU" sz="2000" b="1" dirty="0" smtClean="0">
                <a:latin typeface="Times New Roman" pitchFamily="18" charset="0"/>
                <a:cs typeface="Times New Roman" pitchFamily="18" charset="0"/>
              </a:rPr>
              <a:t>Сайт «</a:t>
            </a:r>
            <a:r>
              <a:rPr lang="ru-RU" sz="2000" b="1" dirty="0" err="1" smtClean="0">
                <a:latin typeface="Times New Roman" pitchFamily="18" charset="0"/>
                <a:cs typeface="Times New Roman" pitchFamily="18" charset="0"/>
              </a:rPr>
              <a:t>КиберЛенинка</a:t>
            </a:r>
            <a:r>
              <a:rPr lang="ru-RU" sz="2000" b="1" dirty="0" smtClean="0">
                <a:latin typeface="Times New Roman" pitchFamily="18" charset="0"/>
                <a:cs typeface="Times New Roman" pitchFamily="18" charset="0"/>
              </a:rPr>
              <a:t>»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 — это научная электронная библиотека, которая предоставляет открытый доступ к научным публикациям. В базе данных содержится около 2 миллионов статей из 4000 журналов. Публикации доступны бесплатно для всех желающих. (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https://cyberleninka.ru/search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)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ru-RU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Прямоугольник 6"/>
          <p:cNvSpPr/>
          <p:nvPr/>
        </p:nvSpPr>
        <p:spPr>
          <a:xfrm>
            <a:off x="214282" y="4000504"/>
            <a:ext cx="8786874" cy="1015663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ru-RU" sz="2000" b="1" dirty="0" smtClean="0">
                <a:latin typeface="Times New Roman" pitchFamily="18" charset="0"/>
                <a:cs typeface="Times New Roman" pitchFamily="18" charset="0"/>
              </a:rPr>
              <a:t>Сайт «Молодой ученый»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—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Десятки тысяч научных статей здесь доступны бесплатно. У каждой работы есть похожие материалы, так Вам будет проще найти сразу несколько источников по вашей теме.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(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https://moluch.ru/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)</a:t>
            </a:r>
            <a:endParaRPr lang="ru-RU" sz="2000" dirty="0" smtClean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Прямоугольник 7"/>
          <p:cNvSpPr/>
          <p:nvPr/>
        </p:nvSpPr>
        <p:spPr>
          <a:xfrm>
            <a:off x="214282" y="5083932"/>
            <a:ext cx="8786874" cy="1631216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ru-RU" sz="2000" b="1" dirty="0" smtClean="0">
                <a:latin typeface="Times New Roman" pitchFamily="18" charset="0"/>
                <a:cs typeface="Times New Roman" pitchFamily="18" charset="0"/>
              </a:rPr>
              <a:t>Научная электронная библиотека eLIBRARY.RU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 — это крупнейший российский информационный портал в области науки, технологии, медицины и образования, содержащий рефераты и полные тексты более 30 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млн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.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 научных статей и публикаций. На портале представлены электронные версии более 5600 российских научно-технических журналов.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(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https://elibrary.ru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)</a:t>
            </a:r>
            <a:endParaRPr lang="ru-RU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" name="Прямоугольник 8"/>
          <p:cNvSpPr/>
          <p:nvPr/>
        </p:nvSpPr>
        <p:spPr>
          <a:xfrm>
            <a:off x="214282" y="1214422"/>
            <a:ext cx="8786874" cy="132343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ru-RU" sz="2000" b="1" dirty="0" err="1" smtClean="0">
                <a:latin typeface="Times New Roman" pitchFamily="18" charset="0"/>
                <a:cs typeface="Times New Roman" pitchFamily="18" charset="0"/>
              </a:rPr>
              <a:t>Google</a:t>
            </a:r>
            <a:r>
              <a:rPr lang="ru-RU" sz="20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000" b="1" dirty="0" err="1" smtClean="0">
                <a:latin typeface="Times New Roman" pitchFamily="18" charset="0"/>
                <a:cs typeface="Times New Roman" pitchFamily="18" charset="0"/>
              </a:rPr>
              <a:t>Scholar</a:t>
            </a:r>
            <a:r>
              <a:rPr lang="ru-RU" sz="20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— это бесплатная поисковая система по полным текстам научных публикаций всех уровней, от студенческих работ до статей, опубликованных в ведущих научных журналах. Сайт был запущен в 2004 году.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(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https://scholar.google.ru/)</a:t>
            </a:r>
            <a:endParaRPr lang="ru-RU" sz="2000" b="1" dirty="0" smtClean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/>
        </p:nvSpPr>
        <p:spPr>
          <a:xfrm>
            <a:off x="0" y="500042"/>
            <a:ext cx="9144000" cy="2585323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just"/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eLIBRARY.ru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помогает юристам оформлять источники благодаря обширной базе правовых и научных материалов (статьи, монографии, диссертации, конференции), возможности быстро искать публикации по ключевым словам и фильтрам, готовым библиографическим описаниям по ГОСТ, интеграции с РИНЦ (проверка цитируемости), разным уровням доступа к текстам (полный, аннотация, только библиография), инструментам персонального учёта (избранные публикации, отслеживание новинок), соответствию требованиям вузов и научных изданий, а также экономии времени за счёт автоматического формирования ссылок и минимизации ошибок при подборе актуальных и авторитетных источников.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Заголовок 1"/>
          <p:cNvSpPr>
            <a:spLocks noGrp="1"/>
          </p:cNvSpPr>
          <p:nvPr>
            <p:ph type="title"/>
          </p:nvPr>
        </p:nvSpPr>
        <p:spPr>
          <a:xfrm>
            <a:off x="428596" y="-357214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 dirty="0" err="1" smtClean="0"/>
              <a:t>Elibrary</a:t>
            </a:r>
            <a:r>
              <a:rPr lang="en-US" dirty="0" smtClean="0"/>
              <a:t> </a:t>
            </a:r>
            <a:r>
              <a:rPr lang="ru-RU" dirty="0" smtClean="0"/>
              <a:t>для оформления источников</a:t>
            </a:r>
            <a:endParaRPr lang="ru-RU" dirty="0"/>
          </a:p>
        </p:txBody>
      </p:sp>
      <p:pic>
        <p:nvPicPr>
          <p:cNvPr id="26627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42910" y="3857628"/>
            <a:ext cx="1704975" cy="166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0" name="Прямоугольник 9"/>
          <p:cNvSpPr/>
          <p:nvPr/>
        </p:nvSpPr>
        <p:spPr>
          <a:xfrm>
            <a:off x="0" y="5572140"/>
            <a:ext cx="3214678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сервис на платформе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eLibrary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, который позволяет искать публикации, близкие по тематике к введённому тексту.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26628" name="Pictur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773536" y="3143248"/>
            <a:ext cx="4372151" cy="37147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13" name="Прямая со стрелкой 12"/>
          <p:cNvCxnSpPr/>
          <p:nvPr/>
        </p:nvCxnSpPr>
        <p:spPr>
          <a:xfrm rot="10800000" flipV="1">
            <a:off x="6500826" y="5500702"/>
            <a:ext cx="642942" cy="571504"/>
          </a:xfrm>
          <a:prstGeom prst="straightConnector1">
            <a:avLst/>
          </a:prstGeom>
          <a:ln w="2222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Прямая со стрелкой 13"/>
          <p:cNvCxnSpPr/>
          <p:nvPr/>
        </p:nvCxnSpPr>
        <p:spPr>
          <a:xfrm rot="5400000" flipH="1" flipV="1">
            <a:off x="6679421" y="4964917"/>
            <a:ext cx="1000132" cy="71438"/>
          </a:xfrm>
          <a:prstGeom prst="straightConnector1">
            <a:avLst/>
          </a:prstGeom>
          <a:ln w="190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-24"/>
            <a:ext cx="8229600" cy="1143000"/>
          </a:xfrm>
        </p:spPr>
        <p:txBody>
          <a:bodyPr/>
          <a:lstStyle/>
          <a:p>
            <a:r>
              <a:rPr lang="ru-RU" dirty="0" smtClean="0"/>
              <a:t>Справочно-правовые системы</a:t>
            </a:r>
            <a:endParaRPr lang="ru-RU" dirty="0"/>
          </a:p>
        </p:txBody>
      </p:sp>
      <p:sp>
        <p:nvSpPr>
          <p:cNvPr id="3" name="Прямоугольник 2"/>
          <p:cNvSpPr/>
          <p:nvPr/>
        </p:nvSpPr>
        <p:spPr>
          <a:xfrm>
            <a:off x="0" y="928670"/>
            <a:ext cx="9144000" cy="2585323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КонсультантПлюс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(бесплатная версия: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  <a:hlinkClick r:id="rId2"/>
              </a:rPr>
              <a:t>https://www.consultant.ru/cons/cgi/online.cgi?req=home&amp;utm_csource=online&amp;utm_cmedium=button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) - </a:t>
            </a:r>
            <a:r>
              <a:rPr lang="ru-RU" dirty="0" smtClean="0">
                <a:solidFill>
                  <a:srgbClr val="333333"/>
                </a:solidFill>
                <a:latin typeface="Times New Roman" pitchFamily="18" charset="0"/>
                <a:cs typeface="Times New Roman" pitchFamily="18" charset="0"/>
              </a:rPr>
              <a:t>справочно-правовая система (СПС), которая содержит нормативные правовые акты, консультации по применению законодательства, материалы периодических изданий, судебную практику и другую полезную информацию. </a:t>
            </a:r>
          </a:p>
          <a:p>
            <a:endParaRPr lang="ru-RU" dirty="0" smtClean="0">
              <a:solidFill>
                <a:srgbClr val="333333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Гарант - это 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программный комплекс с постоянно обновляемой базой нормативно-правовых актов и других документов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, который даёт пользователям доступ к актуальной правовой информации и инструменты для работы с ней.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7170" name="Picture 2" descr="https://avatars.mds.yandex.net/get-entity_search/1270464/858951791/S600xU_2x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143108" y="3571876"/>
            <a:ext cx="4762500" cy="3286124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-24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ru-RU" cap="all" dirty="0" smtClean="0"/>
              <a:t>4 ПРИЁМА ПРОДВИНУТОГО ПОИСКА В КОНСУЛЬТАНТПЛЮС</a:t>
            </a:r>
            <a:endParaRPr lang="ru-RU" cap="all" dirty="0"/>
          </a:p>
        </p:txBody>
      </p:sp>
      <p:sp>
        <p:nvSpPr>
          <p:cNvPr id="3" name="Прямоугольник 2"/>
          <p:cNvSpPr/>
          <p:nvPr/>
        </p:nvSpPr>
        <p:spPr>
          <a:xfrm>
            <a:off x="0" y="1357298"/>
            <a:ext cx="9144000" cy="3139321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just"/>
            <a:r>
              <a:rPr lang="ru-RU" b="1" cap="all" dirty="0" smtClean="0">
                <a:latin typeface="Times New Roman" pitchFamily="18" charset="0"/>
                <a:cs typeface="Times New Roman" pitchFamily="18" charset="0"/>
              </a:rPr>
              <a:t>1. ОГРАНИЧЕНИЕ ОБЛАСТИ ПОИСКА С ПОМОЩЬЮ ВКЛАДОК</a:t>
            </a: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Один из самых простых способов сразу сузить поиск — использовать вкладки в окне 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Быстрого поиска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. Вы можете заранее выбрать тип документов, которые хотите найти:</a:t>
            </a:r>
          </a:p>
          <a:p>
            <a:pPr algn="just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Законодательство</a:t>
            </a:r>
            <a:endParaRPr lang="ru-RU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Судебная практика</a:t>
            </a:r>
            <a:endParaRPr lang="ru-RU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Консультации</a:t>
            </a:r>
            <a:endParaRPr lang="ru-RU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Формы документов</a:t>
            </a:r>
            <a:endParaRPr lang="ru-RU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Это удобно, если вы точно знаете, что ищете, например, только судебные решения или консультации экспертов. Такой подход позволяет исключить лишние результаты и сосредоточиться на нужных данных.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22530" name="Picture 2" descr="Вкладки интерфейса Консультант Плюс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428728" y="4595790"/>
            <a:ext cx="6144162" cy="226221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-24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ru-RU" cap="all" dirty="0" smtClean="0"/>
              <a:t>4 ПРИЁМА ПРОДВИНУТОГО ПОИСКА В КОНСУЛЬТАНТПЛЮС</a:t>
            </a:r>
            <a:endParaRPr lang="ru-RU" cap="all" dirty="0"/>
          </a:p>
        </p:txBody>
      </p:sp>
      <p:sp>
        <p:nvSpPr>
          <p:cNvPr id="3" name="Прямоугольник 2"/>
          <p:cNvSpPr/>
          <p:nvPr/>
        </p:nvSpPr>
        <p:spPr>
          <a:xfrm>
            <a:off x="0" y="1357298"/>
            <a:ext cx="9144000" cy="2308324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just"/>
            <a:r>
              <a:rPr lang="ru-RU" b="1" cap="all" dirty="0" smtClean="0">
                <a:latin typeface="Times New Roman" pitchFamily="18" charset="0"/>
                <a:cs typeface="Times New Roman" pitchFamily="18" charset="0"/>
              </a:rPr>
              <a:t>2. ПОСТРОЕНИЕ ПОЛНОГО СПИСКА ДОКУМЕНТОВ</a:t>
            </a: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Стандартный поиск в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КонсультантПлюс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сначала формирует сокращённый список самых важных документов. Если вам нужно провести более глубокий анализ и рассмотреть все найденные материалы, воспользуйтесь ссылкой 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«Все результаты поиска»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. Она откроет полный список документов из всех разделов и информационных банков.</a:t>
            </a: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Этот приём незаменим, если вы готовите комплексное заключение или хотите учесть все аспекты правового вопроса, включая законодательство, судебную практику и консультации.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2355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-90878" y="3786190"/>
            <a:ext cx="9234878" cy="27432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-24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ru-RU" cap="all" dirty="0" smtClean="0"/>
              <a:t>4 ПРИЁМА ПРОДВИНУТОГО ПОИСКА В КОНСУЛЬТАНТПЛЮС</a:t>
            </a:r>
            <a:endParaRPr lang="ru-RU" cap="all" dirty="0"/>
          </a:p>
        </p:txBody>
      </p:sp>
      <p:sp>
        <p:nvSpPr>
          <p:cNvPr id="3" name="Прямоугольник 2"/>
          <p:cNvSpPr/>
          <p:nvPr/>
        </p:nvSpPr>
        <p:spPr>
          <a:xfrm>
            <a:off x="0" y="1142984"/>
            <a:ext cx="9144000" cy="2585323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just"/>
            <a:r>
              <a:rPr lang="ru-RU" b="1" cap="all" dirty="0" smtClean="0">
                <a:latin typeface="Times New Roman" pitchFamily="18" charset="0"/>
                <a:cs typeface="Times New Roman" pitchFamily="18" charset="0"/>
              </a:rPr>
              <a:t>3. ИСПОЛЬЗОВАНИЕ ПОДСКАЗОК ПРИ ВВОДЕ ЗАПРОСА</a:t>
            </a: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Когда вы начинаете вводить запрос в строку , система предлагает популярные поисковые выражения и уточнения. Это помогает быстрее формулировать запрос и находить нужную информацию без лишних уточняющих поисков.</a:t>
            </a: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Например, при вводе слов </a:t>
            </a:r>
            <a:r>
              <a:rPr lang="ru-RU" i="1" dirty="0" smtClean="0">
                <a:latin typeface="Times New Roman" pitchFamily="18" charset="0"/>
                <a:cs typeface="Times New Roman" pitchFamily="18" charset="0"/>
              </a:rPr>
              <a:t>«налог на прибыль»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 вы сразу увидите варианты уточнений: </a:t>
            </a:r>
            <a:r>
              <a:rPr lang="ru-RU" i="1" dirty="0" smtClean="0">
                <a:latin typeface="Times New Roman" pitchFamily="18" charset="0"/>
                <a:cs typeface="Times New Roman" pitchFamily="18" charset="0"/>
              </a:rPr>
              <a:t>«авансовые платежи по налогу на прибыль», «декларация по налогу на прибыль»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Использование подсказок особенно полезно, если вы не уверены в формулировках или хотите уточнить тему.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24578" name="Picture 2" descr="Подсказки в поиске Консультант Плюс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3786190"/>
            <a:ext cx="9144000" cy="3071809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-24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ru-RU" cap="all" dirty="0" smtClean="0"/>
              <a:t>4 ПРИЁМА ПРОДВИНУТОГО ПОИСКА В КОНСУЛЬТАНТПЛЮС</a:t>
            </a:r>
            <a:endParaRPr lang="ru-RU" cap="all" dirty="0"/>
          </a:p>
        </p:txBody>
      </p:sp>
      <p:sp>
        <p:nvSpPr>
          <p:cNvPr id="3" name="Прямоугольник 2"/>
          <p:cNvSpPr/>
          <p:nvPr/>
        </p:nvSpPr>
        <p:spPr>
          <a:xfrm>
            <a:off x="0" y="1142984"/>
            <a:ext cx="9144000" cy="203132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just"/>
            <a:r>
              <a:rPr lang="ru-RU" b="1" cap="all" dirty="0" smtClean="0">
                <a:latin typeface="Times New Roman" pitchFamily="18" charset="0"/>
                <a:cs typeface="Times New Roman" pitchFamily="18" charset="0"/>
              </a:rPr>
              <a:t>4. ИСПОЛЬЗОВАНИЕ «ПРАВОВОГО НАВИГАТОРА»</a:t>
            </a: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Если вы не знаете реквизитов нужного документа или не уверены в правильной формулировке запроса, поможет </a:t>
            </a:r>
            <a:r>
              <a:rPr lang="ru-RU" u="sng" dirty="0" smtClean="0">
                <a:latin typeface="Times New Roman" pitchFamily="18" charset="0"/>
                <a:cs typeface="Times New Roman" pitchFamily="18" charset="0"/>
                <a:hlinkClick r:id="rId2"/>
              </a:rPr>
              <a:t>Правовой навигатор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Достаточно ввести 1–2 слова, которые описывают вашу ситуацию. Система предложит подходящие ключевые понятия и поможет быстро сузить область поиска.</a:t>
            </a: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Это незаменимый инструмент в ситуациях, когда вы сталкиваетесь с незнакомой правовой темой или хотите проверить полноту собранной информации.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25603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14348" y="3429000"/>
            <a:ext cx="8086725" cy="1533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/>
        </p:nvSpPr>
        <p:spPr>
          <a:xfrm>
            <a:off x="0" y="1357298"/>
            <a:ext cx="5357818" cy="92333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just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@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EssayAI_bot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(в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telegram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) - С помощью искусственного интеллекта бот позволяет за секунды переписать или расширить текст.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Заголовок 1"/>
          <p:cNvSpPr>
            <a:spLocks noGrp="1"/>
          </p:cNvSpPr>
          <p:nvPr>
            <p:ph type="title"/>
          </p:nvPr>
        </p:nvSpPr>
        <p:spPr>
          <a:xfrm>
            <a:off x="0" y="-357214"/>
            <a:ext cx="9086792" cy="1143000"/>
          </a:xfrm>
        </p:spPr>
        <p:txBody>
          <a:bodyPr>
            <a:normAutofit fontScale="90000"/>
          </a:bodyPr>
          <a:lstStyle/>
          <a:p>
            <a:r>
              <a:rPr lang="ru-RU" dirty="0" smtClean="0"/>
              <a:t>Искусственный интеллект и боты в ЮД</a:t>
            </a:r>
            <a:endParaRPr lang="ru-RU" dirty="0"/>
          </a:p>
        </p:txBody>
      </p:sp>
      <p:sp>
        <p:nvSpPr>
          <p:cNvPr id="11" name="Прямоугольник 10"/>
          <p:cNvSpPr/>
          <p:nvPr/>
        </p:nvSpPr>
        <p:spPr>
          <a:xfrm>
            <a:off x="0" y="3071810"/>
            <a:ext cx="9144000" cy="3970318"/>
          </a:xfrm>
          <a:prstGeom prst="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/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Не нужно сразу прибегать к помощи искусственного интеллекта, чтобы найти текст нормативного акта или другой юридической информации — это легко сделать и обычными способами. Достаточно зайти в интернет и воспользоваться:</a:t>
            </a:r>
          </a:p>
          <a:p>
            <a:pPr algn="just">
              <a:buFont typeface="Arial" pitchFamily="34" charset="0"/>
              <a:buChar char="•"/>
            </a:pP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официальными источниками (например, портал правовой информации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pravo.gov.ru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, сайт Госдумы, «Российская газета» — там публикуются законы в их окончательной, официальной редакции);</a:t>
            </a:r>
          </a:p>
          <a:p>
            <a:pPr algn="just">
              <a:buFont typeface="Arial" pitchFamily="34" charset="0"/>
              <a:buChar char="•"/>
            </a:pP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Другими популярными справочными системами (не только «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КонсультантПлюс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» или «Гарант») — они дают доступ к актуальным версиям законов, подзаконных актов и комментариям;</a:t>
            </a:r>
          </a:p>
          <a:p>
            <a:pPr algn="just">
              <a:buFont typeface="Arial" pitchFamily="34" charset="0"/>
              <a:buChar char="•"/>
            </a:pP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обычными поисковиками (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Яндекс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Google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) — наберите название нужного документа или ключевые слова из его содержания, и вы быстро найдёте нужную страницу.</a:t>
            </a:r>
          </a:p>
          <a:p>
            <a:pPr algn="just"/>
            <a:endParaRPr lang="ru-RU" b="1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НО искусственный интеллект хорошо умеет пересказывать документы (например, судебную практику – лучше всего просить рассказывать его по пунктам)</a:t>
            </a:r>
            <a:endParaRPr lang="ru-RU" b="1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276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572132" y="500043"/>
            <a:ext cx="3033701" cy="25394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/>
          <p:cNvSpPr/>
          <p:nvPr/>
        </p:nvSpPr>
        <p:spPr>
          <a:xfrm>
            <a:off x="0" y="5286388"/>
            <a:ext cx="9144000" cy="1571612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Прямоугольник 7"/>
          <p:cNvSpPr/>
          <p:nvPr/>
        </p:nvSpPr>
        <p:spPr>
          <a:xfrm>
            <a:off x="0" y="642918"/>
            <a:ext cx="9144000" cy="457203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Заголовок 1"/>
          <p:cNvSpPr>
            <a:spLocks noGrp="1"/>
          </p:cNvSpPr>
          <p:nvPr>
            <p:ph type="title"/>
          </p:nvPr>
        </p:nvSpPr>
        <p:spPr>
          <a:xfrm>
            <a:off x="0" y="-357214"/>
            <a:ext cx="9086792" cy="1143000"/>
          </a:xfrm>
        </p:spPr>
        <p:txBody>
          <a:bodyPr>
            <a:normAutofit fontScale="90000"/>
          </a:bodyPr>
          <a:lstStyle/>
          <a:p>
            <a:r>
              <a:rPr lang="ru-RU" dirty="0" err="1" smtClean="0"/>
              <a:t>Нейросети</a:t>
            </a:r>
            <a:r>
              <a:rPr lang="ru-RU" dirty="0" smtClean="0"/>
              <a:t> для создания презентаций</a:t>
            </a:r>
            <a:endParaRPr lang="ru-RU" dirty="0"/>
          </a:p>
        </p:txBody>
      </p:sp>
      <p:sp>
        <p:nvSpPr>
          <p:cNvPr id="28673" name="Rectangle 1"/>
          <p:cNvSpPr>
            <a:spLocks noChangeArrowheads="1"/>
          </p:cNvSpPr>
          <p:nvPr/>
        </p:nvSpPr>
        <p:spPr bwMode="auto">
          <a:xfrm>
            <a:off x="0" y="571480"/>
            <a:ext cx="9144000" cy="61863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45085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15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WonderSlides</a:t>
            </a:r>
            <a:r>
              <a:rPr kumimoji="0" lang="ru-RU" sz="15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</a:t>
            </a:r>
            <a:r>
              <a:rPr kumimoji="0" lang="ru-RU" sz="15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/>
                <a:ea typeface="Times New Roman" pitchFamily="18" charset="0"/>
                <a:cs typeface="Times New Roman" pitchFamily="18" charset="0"/>
              </a:rPr>
              <a:t>–</a:t>
            </a:r>
            <a:r>
              <a:rPr kumimoji="0" lang="ru-RU" sz="15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</a:t>
            </a:r>
            <a:r>
              <a:rPr kumimoji="0" lang="ru-RU" sz="15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вы делаете презентацию в </a:t>
            </a:r>
            <a:r>
              <a:rPr kumimoji="0" lang="ru-RU" sz="15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PowerPoint</a:t>
            </a:r>
            <a:r>
              <a:rPr kumimoji="0" lang="ru-RU" sz="15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без оформления, просто текст и блоки, далее </a:t>
            </a:r>
            <a:r>
              <a:rPr kumimoji="0" lang="ru-RU" sz="15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WonderSlides</a:t>
            </a:r>
            <a:r>
              <a:rPr kumimoji="0" lang="ru-RU" sz="15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её оформляет. Алгоритм анализирует текст, блоки</a:t>
            </a:r>
            <a:r>
              <a:rPr kumimoji="0" lang="ru-RU" sz="15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/>
                <a:ea typeface="Times New Roman" pitchFamily="18" charset="0"/>
                <a:cs typeface="Times New Roman" pitchFamily="18" charset="0"/>
              </a:rPr>
              <a:t>–</a:t>
            </a:r>
            <a:r>
              <a:rPr kumimoji="0" lang="ru-RU" sz="15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ищет релевантные шаблоны под данный текст. Презентацию можно скачать в </a:t>
            </a:r>
            <a:r>
              <a:rPr kumimoji="0" lang="ru-RU" sz="15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PowerPoint</a:t>
            </a:r>
            <a:r>
              <a:rPr kumimoji="0" lang="ru-RU" sz="15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и уже допилить напильников под ваши нужды. По факту мы получаем неплохое оформление за несколько минут. Это конечно не дизайнерские презентации, но уже намного лучше чем стандартные темы в приложениях. Для отчёта это отличный вариант. </a:t>
            </a:r>
            <a:r>
              <a:rPr lang="ru-RU" sz="1500" dirty="0" smtClean="0">
                <a:latin typeface="Arial" pitchFamily="34" charset="0"/>
                <a:ea typeface="Times New Roman" pitchFamily="18" charset="0"/>
                <a:cs typeface="Arial" pitchFamily="34" charset="0"/>
              </a:rPr>
              <a:t> </a:t>
            </a:r>
            <a:r>
              <a:rPr kumimoji="0" lang="ru-RU" sz="15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Стоимость</a:t>
            </a:r>
            <a:r>
              <a:rPr kumimoji="0" lang="ru-RU" sz="15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: 7 дней бесплатный период по регистрации по почте. Потом можно</a:t>
            </a:r>
            <a:r>
              <a:rPr kumimoji="0" lang="ru-RU" sz="15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/>
                <a:ea typeface="Times New Roman" pitchFamily="18" charset="0"/>
                <a:cs typeface="Times New Roman" pitchFamily="18" charset="0"/>
              </a:rPr>
              <a:t> </a:t>
            </a:r>
            <a:r>
              <a:rPr kumimoji="0" lang="ru-RU" sz="15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создать новую почту перейти на тариф.</a:t>
            </a:r>
            <a:endParaRPr kumimoji="0" lang="ru-RU" sz="15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4508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15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Wepik</a:t>
            </a:r>
            <a:r>
              <a:rPr kumimoji="0" lang="ru-RU" sz="15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/>
                <a:ea typeface="Times New Roman" pitchFamily="18" charset="0"/>
                <a:cs typeface="Times New Roman" pitchFamily="18" charset="0"/>
              </a:rPr>
              <a:t>–</a:t>
            </a:r>
            <a:r>
              <a:rPr kumimoji="0" lang="ru-RU" sz="15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</a:t>
            </a:r>
            <a:r>
              <a:rPr kumimoji="0" lang="ru-RU" sz="15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он же </a:t>
            </a:r>
            <a:r>
              <a:rPr kumimoji="0" lang="ru-RU" sz="15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SlidesGo</a:t>
            </a:r>
            <a:r>
              <a:rPr kumimoji="0" lang="ru-RU" sz="15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, популярный AI генератор презентаций. Кардинально нового в нём нету </a:t>
            </a:r>
            <a:r>
              <a:rPr kumimoji="0" lang="ru-RU" sz="15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/>
                <a:ea typeface="Times New Roman" pitchFamily="18" charset="0"/>
                <a:cs typeface="Times New Roman" pitchFamily="18" charset="0"/>
              </a:rPr>
              <a:t>–</a:t>
            </a:r>
            <a:r>
              <a:rPr kumimoji="0" lang="ru-RU" sz="15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подбор и адаптация шаблонов, но отличительна черта в том, что он абсолютно бесплатный. После создания мы можем изменять, форматировать, передвигать любой элемент на презентации. В целом простой генератор презентаций с подбором картинки и редактором. Старается картинки подобрать близко к тексту.</a:t>
            </a:r>
            <a:r>
              <a:rPr lang="ru-RU" sz="1500" dirty="0" smtClean="0">
                <a:latin typeface="Arial" pitchFamily="34" charset="0"/>
                <a:ea typeface="Times New Roman" pitchFamily="18" charset="0"/>
                <a:cs typeface="Arial" pitchFamily="34" charset="0"/>
              </a:rPr>
              <a:t> </a:t>
            </a:r>
            <a:r>
              <a:rPr kumimoji="0" lang="ru-RU" sz="15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Стоимость</a:t>
            </a:r>
            <a:r>
              <a:rPr kumimoji="0" lang="ru-RU" sz="15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: Полностью бесплатный сервис, даже при скачивании в самом высоком качестве не требует подписку.</a:t>
            </a:r>
            <a:endParaRPr kumimoji="0" lang="ru-RU" sz="15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4508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15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Gamma</a:t>
            </a:r>
            <a:r>
              <a:rPr kumimoji="0" lang="ru-RU" sz="15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(</a:t>
            </a:r>
            <a:r>
              <a:rPr kumimoji="0" lang="ru-RU" sz="15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https://gamma.app/signup?r=wp7mqmv20dgtg8g</a:t>
            </a:r>
            <a:r>
              <a:rPr kumimoji="0" lang="ru-RU" sz="15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) </a:t>
            </a:r>
            <a:r>
              <a:rPr kumimoji="0" lang="ru-RU" sz="15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/>
                <a:ea typeface="Times New Roman" pitchFamily="18" charset="0"/>
                <a:cs typeface="Times New Roman" pitchFamily="18" charset="0"/>
              </a:rPr>
              <a:t>–</a:t>
            </a:r>
            <a:r>
              <a:rPr kumimoji="0" lang="ru-RU" sz="15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это </a:t>
            </a:r>
            <a:r>
              <a:rPr kumimoji="0" lang="ru-RU" sz="15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нейросеть</a:t>
            </a:r>
            <a:r>
              <a:rPr kumimoji="0" lang="ru-RU" sz="15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, предназначенная для создания интерактивных презентаций, отчётов и визуальных материалов. Она позволяет генерировать презентации, документы и </a:t>
            </a:r>
            <a:r>
              <a:rPr kumimoji="0" lang="ru-RU" sz="15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веб-страницы</a:t>
            </a:r>
            <a:r>
              <a:rPr kumimoji="0" lang="ru-RU" sz="15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без знания дизайна и прочих профессиональных навыков.  Достаточно ввести текст, например, краткое описание проекта или бизнес-план, и </a:t>
            </a:r>
            <a:r>
              <a:rPr kumimoji="0" lang="ru-RU" sz="15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Gamma</a:t>
            </a:r>
            <a:r>
              <a:rPr kumimoji="0" lang="ru-RU" sz="15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сразу превратит его в готовую презентацию. Также может </a:t>
            </a:r>
            <a:r>
              <a:rPr kumimoji="0" lang="ru-RU" sz="15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добавити</a:t>
            </a:r>
            <a:r>
              <a:rPr kumimoji="0" lang="ru-RU" sz="15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графики и диаграммы. Сгенерированные презентации можно скачать в PDF, </a:t>
            </a:r>
            <a:r>
              <a:rPr kumimoji="0" lang="ru-RU" sz="15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PowerPoint</a:t>
            </a:r>
            <a:r>
              <a:rPr kumimoji="0" lang="ru-RU" sz="15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или просто отправить ссылку на готовый файл.</a:t>
            </a:r>
            <a:endParaRPr kumimoji="0" lang="ru-RU" sz="15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4508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15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Стоимость</a:t>
            </a:r>
            <a:r>
              <a:rPr kumimoji="0" lang="ru-RU" sz="15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: Бесплатный сервис, но с ограниченным набором шаблонов генерации, поэтому большинство людей (в том числе преподавателей), могут понять, что презентация сгенерирована в </a:t>
            </a:r>
            <a:r>
              <a:rPr kumimoji="0" lang="en-US" sz="15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Gamma</a:t>
            </a:r>
            <a:r>
              <a:rPr kumimoji="0" lang="ru-RU" sz="15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.</a:t>
            </a:r>
            <a:endParaRPr kumimoji="0" lang="ru-RU" sz="15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4508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sz="15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 New Roman" pitchFamily="18" charset="0"/>
              <a:cs typeface="Times New Roman" pitchFamily="18" charset="0"/>
            </a:endParaRPr>
          </a:p>
          <a:p>
            <a:pPr marL="0" marR="0" lvl="0" indent="4508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sz="16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 New Roman" pitchFamily="18" charset="0"/>
              <a:cs typeface="Times New Roman" pitchFamily="18" charset="0"/>
            </a:endParaRPr>
          </a:p>
          <a:p>
            <a:pPr marL="0" marR="0" lvl="0" indent="4508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Бесплатные сервисы для дизайна презентаций</a:t>
            </a:r>
            <a:endParaRPr kumimoji="0" lang="ru-RU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4508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https://fontjoy.com/</a:t>
            </a:r>
            <a:r>
              <a:rPr kumimoji="0" lang="ru-RU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</a:t>
            </a:r>
            <a:r>
              <a:rPr kumimoji="0" lang="ru-RU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/>
                <a:ea typeface="Times New Roman" pitchFamily="18" charset="0"/>
                <a:cs typeface="Times New Roman" pitchFamily="18" charset="0"/>
              </a:rPr>
              <a:t>–</a:t>
            </a:r>
            <a:r>
              <a:rPr kumimoji="0" lang="ru-RU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Если вы хотите использовать в своем документе два стильных шрифта, но есть трудности с подбором, </a:t>
            </a:r>
            <a:r>
              <a:rPr kumimoji="0" lang="ru-RU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/>
                <a:ea typeface="Times New Roman" pitchFamily="18" charset="0"/>
                <a:cs typeface="Times New Roman" pitchFamily="18" charset="0"/>
              </a:rPr>
              <a:t>–</a:t>
            </a:r>
            <a:r>
              <a:rPr kumimoji="0" lang="ru-RU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данный сервис поможет вам подобрать парный шрифт.</a:t>
            </a:r>
            <a:endParaRPr kumimoji="0" lang="ru-RU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4508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https://mycolor.space/</a:t>
            </a:r>
            <a:r>
              <a:rPr kumimoji="0" lang="ru-RU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</a:t>
            </a:r>
            <a:r>
              <a:rPr kumimoji="0" lang="ru-RU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/>
                <a:ea typeface="Times New Roman" pitchFamily="18" charset="0"/>
                <a:cs typeface="Times New Roman" pitchFamily="18" charset="0"/>
              </a:rPr>
              <a:t>–</a:t>
            </a:r>
            <a:r>
              <a:rPr kumimoji="0" lang="ru-RU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Выдает градиенты и палитру по нужному цвету.</a:t>
            </a:r>
            <a:endParaRPr kumimoji="0" lang="ru-RU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4508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https://picular.co/</a:t>
            </a:r>
            <a:r>
              <a:rPr kumimoji="0" lang="ru-RU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</a:t>
            </a:r>
            <a:r>
              <a:rPr kumimoji="0" lang="ru-RU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/>
                <a:ea typeface="Times New Roman" pitchFamily="18" charset="0"/>
                <a:cs typeface="Times New Roman" pitchFamily="18" charset="0"/>
              </a:rPr>
              <a:t>–</a:t>
            </a:r>
            <a:r>
              <a:rPr kumimoji="0" lang="ru-RU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Интересная разработка, позволяющая подбирать цвета по ассоциациям.</a:t>
            </a:r>
            <a:endParaRPr kumimoji="0" lang="ru-RU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65</TotalTime>
  <Words>1407</Words>
  <PresentationFormat>Экран (4:3)</PresentationFormat>
  <Paragraphs>102</Paragraphs>
  <Slides>17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17</vt:i4>
      </vt:variant>
    </vt:vector>
  </HeadingPairs>
  <TitlesOfParts>
    <vt:vector size="18" baseType="lpstr">
      <vt:lpstr>Тема Office</vt:lpstr>
      <vt:lpstr>Информационные технологии в юридической деятельности</vt:lpstr>
      <vt:lpstr>Дополнительные материалы</vt:lpstr>
      <vt:lpstr>Что такое информационные технологии (ИТ)?</vt:lpstr>
      <vt:lpstr>Все существующие интернет-технологии можно разделить на три класса:</vt:lpstr>
      <vt:lpstr>Виды поисковых систем</vt:lpstr>
      <vt:lpstr>Поиск информации в сети Интернет</vt:lpstr>
      <vt:lpstr>Логика поисковых запросов</vt:lpstr>
      <vt:lpstr>Как эффективно искать информацию в интернете?</vt:lpstr>
      <vt:lpstr>Информационный поиск в электронных библиотеках</vt:lpstr>
      <vt:lpstr>Elibrary для оформления источников</vt:lpstr>
      <vt:lpstr>Справочно-правовые системы</vt:lpstr>
      <vt:lpstr>4 ПРИЁМА ПРОДВИНУТОГО ПОИСКА В КОНСУЛЬТАНТПЛЮС</vt:lpstr>
      <vt:lpstr>4 ПРИЁМА ПРОДВИНУТОГО ПОИСКА В КОНСУЛЬТАНТПЛЮС</vt:lpstr>
      <vt:lpstr>4 ПРИЁМА ПРОДВИНУТОГО ПОИСКА В КОНСУЛЬТАНТПЛЮС</vt:lpstr>
      <vt:lpstr>4 ПРИЁМА ПРОДВИНУТОГО ПОИСКА В КОНСУЛЬТАНТПЛЮС</vt:lpstr>
      <vt:lpstr>Искусственный интеллект и боты в ЮД</vt:lpstr>
      <vt:lpstr>Нейросети для создания презентаций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Информационные технологии в юридической деятельности</dc:title>
  <dc:creator>user</dc:creator>
  <cp:lastModifiedBy>user</cp:lastModifiedBy>
  <cp:revision>11</cp:revision>
  <dcterms:created xsi:type="dcterms:W3CDTF">2026-02-03T13:52:39Z</dcterms:created>
  <dcterms:modified xsi:type="dcterms:W3CDTF">2026-02-09T09:51:08Z</dcterms:modified>
</cp:coreProperties>
</file>