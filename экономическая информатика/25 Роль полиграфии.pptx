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8CF"/>
    <a:srgbClr val="EBDECF"/>
    <a:srgbClr val="EFE4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28A634-6B70-4230-9F1B-608D55513318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04488A-637E-435D-8DE1-D9CF85DEC848}">
      <dgm:prSet phldrT="[Текст]"/>
      <dgm:spPr>
        <a:solidFill>
          <a:schemeClr val="bg2"/>
        </a:solidFill>
      </dgm:spPr>
      <dgm:t>
        <a:bodyPr/>
        <a:lstStyle/>
        <a:p>
          <a:pPr algn="just"/>
          <a:r>
            <a:rPr lang="ru-RU" b="1" dirty="0" err="1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Интернет-конструкторы</a:t>
          </a:r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 рекламной полиграфии представляют собой </a:t>
          </a:r>
          <a:r>
            <a:rPr lang="ru-RU" b="1" dirty="0" err="1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онлайн-платформы</a:t>
          </a:r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, предназначенные для создания и дизайна печатной продукции. Эти сервисы предлагают пользователям широкий спектр инструментов и шаблонов, позволяющих быстро и эффективно разрабатывать различные виды рекламной продукции. Основные функции и возможности таких конструкторов включают:</a:t>
          </a:r>
          <a:endParaRPr lang="ru-RU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5660D59-E74C-48A3-A467-A7A6A795CB93}" type="parTrans" cxnId="{83BF68DB-21E5-489E-99AC-36D84801EB4F}">
      <dgm:prSet/>
      <dgm:spPr/>
      <dgm:t>
        <a:bodyPr/>
        <a:lstStyle/>
        <a:p>
          <a:endParaRPr lang="ru-RU"/>
        </a:p>
      </dgm:t>
    </dgm:pt>
    <dgm:pt modelId="{06F5A301-5428-46A2-828E-178BF856BF4D}" type="sibTrans" cxnId="{83BF68DB-21E5-489E-99AC-36D84801EB4F}">
      <dgm:prSet/>
      <dgm:spPr/>
      <dgm:t>
        <a:bodyPr/>
        <a:lstStyle/>
        <a:p>
          <a:endParaRPr lang="ru-RU"/>
        </a:p>
      </dgm:t>
    </dgm:pt>
    <dgm:pt modelId="{6BF1529A-4CAD-49FB-A3AF-8B46F7B9E42C}">
      <dgm:prSet phldrT="[Текст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ru-RU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Создание дизайна</a:t>
          </a:r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:</a:t>
          </a:r>
          <a:endParaRPr lang="en-US" dirty="0" smtClean="0">
            <a:solidFill>
              <a:schemeClr val="tx1">
                <a:lumMod val="95000"/>
                <a:lumOff val="5000"/>
              </a:schemeClr>
            </a:solidFill>
            <a:latin typeface="Times New Roman" pitchFamily="18" charset="0"/>
            <a:cs typeface="Times New Roman" pitchFamily="18" charset="0"/>
          </a:endParaRPr>
        </a:p>
        <a:p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 Пользователи могут выбрать из множества готовых шаблонов или начать с чистого листа, используя разнообразные элементы оформления, шрифты, цветовые схемы и графические объекты.</a:t>
          </a:r>
          <a:endParaRPr lang="ru-RU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B601064-402D-49F7-B900-038E142DF5A1}" type="parTrans" cxnId="{22E72699-414C-406F-906B-0AEFE582BE8F}">
      <dgm:prSet/>
      <dgm:spPr/>
      <dgm:t>
        <a:bodyPr/>
        <a:lstStyle/>
        <a:p>
          <a:endParaRPr lang="ru-RU"/>
        </a:p>
      </dgm:t>
    </dgm:pt>
    <dgm:pt modelId="{68B33851-26A2-485A-B4DB-17EE2CC55210}" type="sibTrans" cxnId="{22E72699-414C-406F-906B-0AEFE582BE8F}">
      <dgm:prSet/>
      <dgm:spPr/>
      <dgm:t>
        <a:bodyPr/>
        <a:lstStyle/>
        <a:p>
          <a:endParaRPr lang="ru-RU"/>
        </a:p>
      </dgm:t>
    </dgm:pt>
    <dgm:pt modelId="{E1842424-6FFA-4326-A78E-75406E27BAE7}">
      <dgm:prSet phldrT="[Текст]"/>
      <dgm:spPr>
        <a:solidFill>
          <a:srgbClr val="EFE4CC"/>
        </a:solidFill>
      </dgm:spPr>
      <dgm:t>
        <a:bodyPr/>
        <a:lstStyle/>
        <a:p>
          <a:r>
            <a:rPr lang="ru-RU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Редактирование текста</a:t>
          </a:r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: </a:t>
          </a:r>
          <a:endParaRPr lang="en-US" dirty="0" smtClean="0">
            <a:solidFill>
              <a:schemeClr val="tx1">
                <a:lumMod val="95000"/>
                <a:lumOff val="5000"/>
              </a:schemeClr>
            </a:solidFill>
            <a:latin typeface="Times New Roman" pitchFamily="18" charset="0"/>
            <a:cs typeface="Times New Roman" pitchFamily="18" charset="0"/>
          </a:endParaRPr>
        </a:p>
        <a:p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Возможность добавления и изменения текста, форматирования, подбора подходящих шрифтов и корректировки размера </a:t>
          </a:r>
          <a:endParaRPr lang="ru-RU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C9EACDC3-A55C-4720-8150-B3DB96FB2343}" type="parTrans" cxnId="{5593AF6F-1A6A-42FB-9997-7F2331D1BE91}">
      <dgm:prSet/>
      <dgm:spPr/>
      <dgm:t>
        <a:bodyPr/>
        <a:lstStyle/>
        <a:p>
          <a:endParaRPr lang="ru-RU"/>
        </a:p>
      </dgm:t>
    </dgm:pt>
    <dgm:pt modelId="{309535F1-8938-4BE0-9E07-56B308506373}" type="sibTrans" cxnId="{5593AF6F-1A6A-42FB-9997-7F2331D1BE91}">
      <dgm:prSet/>
      <dgm:spPr/>
      <dgm:t>
        <a:bodyPr/>
        <a:lstStyle/>
        <a:p>
          <a:endParaRPr lang="ru-RU"/>
        </a:p>
      </dgm:t>
    </dgm:pt>
    <dgm:pt modelId="{28FAB14A-E5BA-4C8B-B227-348AC83339A6}">
      <dgm:prSet phldrT="[Текст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ru-RU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Работа с изображениями</a:t>
          </a:r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: </a:t>
          </a:r>
          <a:endParaRPr lang="en-US" dirty="0" smtClean="0">
            <a:solidFill>
              <a:schemeClr val="tx1">
                <a:lumMod val="95000"/>
                <a:lumOff val="5000"/>
              </a:schemeClr>
            </a:solidFill>
            <a:latin typeface="Times New Roman" pitchFamily="18" charset="0"/>
            <a:cs typeface="Times New Roman" pitchFamily="18" charset="0"/>
          </a:endParaRPr>
        </a:p>
        <a:p>
          <a:r>
            <a:rPr lang="ru-RU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rPr>
            <a:t>Загрузка собственных фотографий и иллюстраций, их обработка (изменение размеров, обрезка, коррекция цвета).</a:t>
          </a:r>
          <a:endParaRPr lang="ru-RU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81FEB646-0D22-4D7E-99B2-163D475110B7}" type="parTrans" cxnId="{DBB6D4E0-0991-47BA-A837-1AA4E035F5FD}">
      <dgm:prSet/>
      <dgm:spPr/>
      <dgm:t>
        <a:bodyPr/>
        <a:lstStyle/>
        <a:p>
          <a:endParaRPr lang="ru-RU"/>
        </a:p>
      </dgm:t>
    </dgm:pt>
    <dgm:pt modelId="{671AF665-087A-4D61-9807-43E3D349F08B}" type="sibTrans" cxnId="{DBB6D4E0-0991-47BA-A837-1AA4E035F5FD}">
      <dgm:prSet/>
      <dgm:spPr/>
      <dgm:t>
        <a:bodyPr/>
        <a:lstStyle/>
        <a:p>
          <a:endParaRPr lang="ru-RU"/>
        </a:p>
      </dgm:t>
    </dgm:pt>
    <dgm:pt modelId="{F5D9814D-E73E-4AF7-9076-CF64234C5FFF}" type="pres">
      <dgm:prSet presAssocID="{AF28A634-6B70-4230-9F1B-608D55513318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50B6470-62EB-461C-8637-C72172FF1156}" type="pres">
      <dgm:prSet presAssocID="{D804488A-637E-435D-8DE1-D9CF85DEC848}" presName="roof" presStyleLbl="dkBgShp" presStyleIdx="0" presStyleCnt="2"/>
      <dgm:spPr/>
      <dgm:t>
        <a:bodyPr/>
        <a:lstStyle/>
        <a:p>
          <a:endParaRPr lang="ru-RU"/>
        </a:p>
      </dgm:t>
    </dgm:pt>
    <dgm:pt modelId="{2906F9E6-6014-4569-9630-515240AC94CD}" type="pres">
      <dgm:prSet presAssocID="{D804488A-637E-435D-8DE1-D9CF85DEC848}" presName="pillars" presStyleCnt="0"/>
      <dgm:spPr/>
    </dgm:pt>
    <dgm:pt modelId="{DA050ADF-555A-4D9F-9B36-32156762AF57}" type="pres">
      <dgm:prSet presAssocID="{D804488A-637E-435D-8DE1-D9CF85DEC848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0A4E0D-4063-4E51-8D42-4F0C6A74F9AE}" type="pres">
      <dgm:prSet presAssocID="{E1842424-6FFA-4326-A78E-75406E27BAE7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23D4A73-ED6A-4AA4-9A5D-9EDE3F778FF9}" type="pres">
      <dgm:prSet presAssocID="{28FAB14A-E5BA-4C8B-B227-348AC83339A6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C4EE99-61FA-47BC-8619-8911709BC4D2}" type="pres">
      <dgm:prSet presAssocID="{D804488A-637E-435D-8DE1-D9CF85DEC848}" presName="base" presStyleLbl="dkBgShp" presStyleIdx="1" presStyleCnt="2"/>
      <dgm:spPr/>
    </dgm:pt>
  </dgm:ptLst>
  <dgm:cxnLst>
    <dgm:cxn modelId="{445A82EA-ACA3-4BB7-8D4C-E3BA835BEED5}" type="presOf" srcId="{D804488A-637E-435D-8DE1-D9CF85DEC848}" destId="{C50B6470-62EB-461C-8637-C72172FF1156}" srcOrd="0" destOrd="0" presId="urn:microsoft.com/office/officeart/2005/8/layout/hList3"/>
    <dgm:cxn modelId="{30468A24-3FBE-4E5A-AC40-4DBE32B8B20B}" type="presOf" srcId="{28FAB14A-E5BA-4C8B-B227-348AC83339A6}" destId="{823D4A73-ED6A-4AA4-9A5D-9EDE3F778FF9}" srcOrd="0" destOrd="0" presId="urn:microsoft.com/office/officeart/2005/8/layout/hList3"/>
    <dgm:cxn modelId="{83BF68DB-21E5-489E-99AC-36D84801EB4F}" srcId="{AF28A634-6B70-4230-9F1B-608D55513318}" destId="{D804488A-637E-435D-8DE1-D9CF85DEC848}" srcOrd="0" destOrd="0" parTransId="{15660D59-E74C-48A3-A467-A7A6A795CB93}" sibTransId="{06F5A301-5428-46A2-828E-178BF856BF4D}"/>
    <dgm:cxn modelId="{018D1340-838F-48E1-8CA3-1D55BB242E6B}" type="presOf" srcId="{6BF1529A-4CAD-49FB-A3AF-8B46F7B9E42C}" destId="{DA050ADF-555A-4D9F-9B36-32156762AF57}" srcOrd="0" destOrd="0" presId="urn:microsoft.com/office/officeart/2005/8/layout/hList3"/>
    <dgm:cxn modelId="{DBB6D4E0-0991-47BA-A837-1AA4E035F5FD}" srcId="{D804488A-637E-435D-8DE1-D9CF85DEC848}" destId="{28FAB14A-E5BA-4C8B-B227-348AC83339A6}" srcOrd="2" destOrd="0" parTransId="{81FEB646-0D22-4D7E-99B2-163D475110B7}" sibTransId="{671AF665-087A-4D61-9807-43E3D349F08B}"/>
    <dgm:cxn modelId="{1D223E1F-44C5-44F6-AEDF-D86E7EF5858F}" type="presOf" srcId="{E1842424-6FFA-4326-A78E-75406E27BAE7}" destId="{720A4E0D-4063-4E51-8D42-4F0C6A74F9AE}" srcOrd="0" destOrd="0" presId="urn:microsoft.com/office/officeart/2005/8/layout/hList3"/>
    <dgm:cxn modelId="{4909FEDA-7EB6-4155-8325-73145B483A92}" type="presOf" srcId="{AF28A634-6B70-4230-9F1B-608D55513318}" destId="{F5D9814D-E73E-4AF7-9076-CF64234C5FFF}" srcOrd="0" destOrd="0" presId="urn:microsoft.com/office/officeart/2005/8/layout/hList3"/>
    <dgm:cxn modelId="{22E72699-414C-406F-906B-0AEFE582BE8F}" srcId="{D804488A-637E-435D-8DE1-D9CF85DEC848}" destId="{6BF1529A-4CAD-49FB-A3AF-8B46F7B9E42C}" srcOrd="0" destOrd="0" parTransId="{1B601064-402D-49F7-B900-038E142DF5A1}" sibTransId="{68B33851-26A2-485A-B4DB-17EE2CC55210}"/>
    <dgm:cxn modelId="{5593AF6F-1A6A-42FB-9997-7F2331D1BE91}" srcId="{D804488A-637E-435D-8DE1-D9CF85DEC848}" destId="{E1842424-6FFA-4326-A78E-75406E27BAE7}" srcOrd="1" destOrd="0" parTransId="{C9EACDC3-A55C-4720-8150-B3DB96FB2343}" sibTransId="{309535F1-8938-4BE0-9E07-56B308506373}"/>
    <dgm:cxn modelId="{A15CB22D-11CA-46CD-A510-4A36331990AE}" type="presParOf" srcId="{F5D9814D-E73E-4AF7-9076-CF64234C5FFF}" destId="{C50B6470-62EB-461C-8637-C72172FF1156}" srcOrd="0" destOrd="0" presId="urn:microsoft.com/office/officeart/2005/8/layout/hList3"/>
    <dgm:cxn modelId="{3B390F48-6162-4164-BF12-1E1C3FE09C20}" type="presParOf" srcId="{F5D9814D-E73E-4AF7-9076-CF64234C5FFF}" destId="{2906F9E6-6014-4569-9630-515240AC94CD}" srcOrd="1" destOrd="0" presId="urn:microsoft.com/office/officeart/2005/8/layout/hList3"/>
    <dgm:cxn modelId="{BFA7D806-8C86-4C21-A82A-454A37C9E072}" type="presParOf" srcId="{2906F9E6-6014-4569-9630-515240AC94CD}" destId="{DA050ADF-555A-4D9F-9B36-32156762AF57}" srcOrd="0" destOrd="0" presId="urn:microsoft.com/office/officeart/2005/8/layout/hList3"/>
    <dgm:cxn modelId="{E35C1F45-EF64-4E58-A907-7E336225C888}" type="presParOf" srcId="{2906F9E6-6014-4569-9630-515240AC94CD}" destId="{720A4E0D-4063-4E51-8D42-4F0C6A74F9AE}" srcOrd="1" destOrd="0" presId="urn:microsoft.com/office/officeart/2005/8/layout/hList3"/>
    <dgm:cxn modelId="{09E48777-2C00-4883-A65C-0E5951A8A779}" type="presParOf" srcId="{2906F9E6-6014-4569-9630-515240AC94CD}" destId="{823D4A73-ED6A-4AA4-9A5D-9EDE3F778FF9}" srcOrd="2" destOrd="0" presId="urn:microsoft.com/office/officeart/2005/8/layout/hList3"/>
    <dgm:cxn modelId="{A69B90EE-EAA1-4CFC-8722-A27EF05BCF6C}" type="presParOf" srcId="{F5D9814D-E73E-4AF7-9076-CF64234C5FFF}" destId="{B5C4EE99-61FA-47BC-8619-8911709BC4D2}" srcOrd="2" destOrd="0" presId="urn:microsoft.com/office/officeart/2005/8/layout/hList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10.12.2025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c.ru/services/264162-kakoi-konstruktor-vizitok-vybrat-moi-reiting-prilozhenii-i-onlain-servisov-dlya-sozdaniya-bumazhnyh-i-elektronnyh-vizitok" TargetMode="External"/><Relationship Id="rId2" Type="http://schemas.openxmlformats.org/officeDocument/2006/relationships/hyperlink" Target="https://pechatnik.moscow/klientam/vizitki-listovki-i-buklety-zachem-nuzhny-i-dlya-kakih-czelej-luchshe-ispolzovat/?ysclid=m0zfrjfbjq23657322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Роль полиграфии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59966"/>
            <a:ext cx="9144000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Визитки, листовки и буклеты – зачем нужны и для каких целей лучше использовать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https://pechatnik.moscow/klientam/vizitki-listovki-i-buklety-zachem-nuzhny-i-dlya-kakih-czelej-luchshe-ispolzovat/?ysclid=m0zfrjfbjq23657322</a:t>
            </a: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Какой конструктор визиток выбрать?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https://vc.ru/services/264162-kakoi-konstruktor-vizitok-vybrat-moi-reiting-prilozhenii-i-onlain-servisov-dlya-sozdaniya-bumazhnyh-i-elektronnyh-vizitok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Дизайн полиграфической продукции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85926"/>
            <a:ext cx="9144000" cy="4091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300" b="1" dirty="0" smtClean="0">
                <a:latin typeface="Times New Roman" pitchFamily="18" charset="0"/>
                <a:cs typeface="Times New Roman" pitchFamily="18" charset="0"/>
              </a:rPr>
              <a:t>Дизайн полиграфической продукции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 —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разновидность графического дизайна, в задачи которого входит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разработка материалов под печатную продукцию. Чаще всего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готовым продуктом является бумажный носитель. Под разработкой дизайна в полиграфии понимается графическое оформление макета согласно пожеланиям заказчика и в соответствии техническим требованиям для реализации данной продукции. </a:t>
            </a:r>
          </a:p>
          <a:p>
            <a:pPr algn="just"/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3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3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Бурное развитие цифровых технологий в настоящее время привело к тому, что верстальщики для работы стали использовать компьютеры и работать в специальных верстальных программах.</a:t>
            </a:r>
            <a:endParaRPr lang="ru-RU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2285984" y="0"/>
            <a:ext cx="42603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 полиграфии относят:</a:t>
            </a:r>
            <a:endParaRPr lang="ru-RU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42844" y="4684675"/>
            <a:ext cx="4857784" cy="164352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Листо́вка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 — вид печатной полиграфической продукции, одностраничный лист бумаги с текстом и иллюстрациями. </a:t>
            </a:r>
            <a:endParaRPr lang="ru-RU" sz="2800" dirty="0" err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14282" y="612709"/>
            <a:ext cx="4572000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Буклет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это двухсторонняя листовка, сложенная для удобства в 2-3 раза ( 2-3 фальца).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429124" y="2898725"/>
            <a:ext cx="4572000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Флаер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- маленькая листовка формата А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или А6.</a:t>
            </a:r>
          </a:p>
        </p:txBody>
      </p:sp>
      <p:pic>
        <p:nvPicPr>
          <p:cNvPr id="12" name="Picture 5" descr="37179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500042"/>
            <a:ext cx="2714644" cy="2057056"/>
          </a:xfrm>
          <a:prstGeom prst="rect">
            <a:avLst/>
          </a:prstGeom>
          <a:noFill/>
        </p:spPr>
      </p:pic>
      <p:pic>
        <p:nvPicPr>
          <p:cNvPr id="13" name="Picture 2" descr="Флаеры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3970295"/>
            <a:ext cx="3857652" cy="2887729"/>
          </a:xfrm>
          <a:prstGeom prst="rect">
            <a:avLst/>
          </a:prstGeom>
          <a:noFill/>
        </p:spPr>
      </p:pic>
      <p:pic>
        <p:nvPicPr>
          <p:cNvPr id="14" name="Picture 4" descr="Флаер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2541535"/>
            <a:ext cx="2837856" cy="20063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71462"/>
            <a:ext cx="91440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Для удобства прочтения полиграфии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необходимо:</a:t>
            </a: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None/>
            </a:pPr>
            <a:endParaRPr lang="ru-RU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Выделение главной рекламной цели (или задачи)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Ранжирование информации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Разработка и вычленение заголовка, подзаголовка и основного текста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3000" dirty="0" err="1" smtClean="0">
                <a:latin typeface="Times New Roman" pitchFamily="18" charset="0"/>
                <a:cs typeface="Times New Roman" pitchFamily="18" charset="0"/>
              </a:rPr>
              <a:t>слогана</a:t>
            </a:r>
            <a:endParaRPr lang="ru-RU" sz="3000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Выбор и композиционно верное расположение иллюстрации</a:t>
            </a:r>
            <a:endParaRPr lang="ru-RU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http://www.azconsult.ru/wp-content/uploads/2014/04/%D0%A1%D0%BD%D0%B8%D0%BC%D0%BE%D0%BA-%D1%8D%D0%BA%D1%80%D0%B0%D0%BD%D0%B0-2014-04-29-%D0%B2-11.16.41.png"/>
          <p:cNvPicPr>
            <a:picLocks noChangeAspect="1" noChangeArrowheads="1"/>
          </p:cNvPicPr>
          <p:nvPr/>
        </p:nvPicPr>
        <p:blipFill>
          <a:blip r:embed="rId2"/>
          <a:srcRect t="3391" b="3391"/>
          <a:stretch>
            <a:fillRect/>
          </a:stretch>
        </p:blipFill>
        <p:spPr bwMode="auto">
          <a:xfrm>
            <a:off x="1850904" y="4143380"/>
            <a:ext cx="5184877" cy="2643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5357818" y="4143380"/>
            <a:ext cx="1643074" cy="14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500174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357562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214950"/>
            <a:ext cx="9144000" cy="14287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Интернет-технологии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рекламной полиграфии включают использование программ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онлайн-сервисов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и редактирования макетов буклетов, листовок, визиток и другой рекламной продукции. Вот некоторые из них: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онлайн-сервис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полиграфической продукции с возможностью использования собственных изображений и текста.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создавать различные документы, такие как коммерческие предложения, буклеты, визитки, презентации, баннеры и другие, используя готовые тематические образцы и шаблоны.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Printomat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 это современный высококлассный сервис по изготовлению и печати визиток, листовок, созданных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онлайн-конструктор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 использует библиотеку шаблонов, меняет их дизайн, содержание, размер и расположение элементов. Также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Printomat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создавать дизайн для бланков,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флаеров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пригласительных,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постеров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календарей и этикеток.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Fotor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конструктор визиток, который предлагает готовые шаблоны и дружелюбный редактор для изменения базового дизайна или создания нового.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управлять шрифтами, добавлять фирменные элементы, настраивать текст и фон.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Интернет-технологии</a:t>
            </a:r>
            <a:r>
              <a:rPr lang="ru-RU" dirty="0" smtClean="0"/>
              <a:t> для создания рекламной полиграфии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62489"/>
            <a:ext cx="4552953" cy="43669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1214422"/>
            <a:ext cx="6353191" cy="2843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35024" y="3071810"/>
            <a:ext cx="356613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graphicFrame>
        <p:nvGraphicFramePr>
          <p:cNvPr id="5" name="Схема 4"/>
          <p:cNvGraphicFramePr/>
          <p:nvPr/>
        </p:nvGraphicFramePr>
        <p:xfrm>
          <a:off x="0" y="1214422"/>
          <a:ext cx="9144000" cy="614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294</Words>
  <Application>Microsoft Office PowerPoint</Application>
  <PresentationFormat>Экран (4:3)</PresentationFormat>
  <Paragraphs>37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Роль полиграфии </vt:lpstr>
      <vt:lpstr>Дополнительные материалы</vt:lpstr>
      <vt:lpstr>Дизайн полиграфической продукции</vt:lpstr>
      <vt:lpstr>Слайд 4</vt:lpstr>
      <vt:lpstr>Слайд 5</vt:lpstr>
      <vt:lpstr>Слайд 6</vt:lpstr>
      <vt:lpstr>Интернет-технологии для создания рекламной полиграфии</vt:lpstr>
      <vt:lpstr>Заключение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полиграфии в государственном управлении</dc:title>
  <dc:creator>user</dc:creator>
  <cp:lastModifiedBy>user</cp:lastModifiedBy>
  <cp:revision>56</cp:revision>
  <dcterms:created xsi:type="dcterms:W3CDTF">2024-02-01T09:49:19Z</dcterms:created>
  <dcterms:modified xsi:type="dcterms:W3CDTF">2025-12-10T19:53:03Z</dcterms:modified>
</cp:coreProperties>
</file>