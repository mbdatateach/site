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74" r:id="rId5"/>
    <p:sldId id="275" r:id="rId6"/>
    <p:sldId id="276" r:id="rId7"/>
    <p:sldId id="269" r:id="rId8"/>
    <p:sldId id="272" r:id="rId9"/>
    <p:sldId id="270" r:id="rId10"/>
    <p:sldId id="271" r:id="rId11"/>
    <p:sldId id="273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06.12.2025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06.12.2025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06.12.2025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06.12.2025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book.ru/?ysclid=m13cflot72936777122" TargetMode="External"/><Relationship Id="rId2" Type="http://schemas.openxmlformats.org/officeDocument/2006/relationships/hyperlink" Target="https://hcdev.ru/learn/html5/headings-and-sections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uperbwebsitebuilders.com/ru/kak-sozdat-svoj-prostoj-html-sajt-v-bloknote/?ysclid=m13cihn8w2598913438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hcdev.ru/learn/html5/headings-and-sections/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Разработка одностраничного сайта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285860"/>
            <a:ext cx="9144000" cy="378565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ru-RU" sz="2400" i="1" dirty="0" smtClean="0">
                <a:latin typeface="Cambria" pitchFamily="18" charset="0"/>
              </a:rPr>
              <a:t>Заголовки и разделы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https://hcdev.ru/learn/html5/headings-and-sections/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Сайт для </a:t>
            </a:r>
            <a:r>
              <a:rPr lang="ru-RU" sz="2400" i="1" dirty="0" err="1" smtClean="0">
                <a:latin typeface="Cambria" pitchFamily="18" charset="0"/>
              </a:rPr>
              <a:t>веб-разработчика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https://htmlbook.ru/?ysclid=m13cflot72936777122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Как создать простой HTML сайт в блокноте</a:t>
            </a:r>
          </a:p>
          <a:p>
            <a:pPr algn="just"/>
            <a:r>
              <a:rPr lang="en-US" sz="2400" b="1" dirty="0" smtClean="0">
                <a:hlinkClick r:id="rId4"/>
              </a:rPr>
              <a:t>https://superbwebsitebuilders.com/ru/kak-sozdat-svoj-prostoj-html-sajt-v-bloknote/?ysclid=m13cihn8w2598913438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smtClean="0"/>
              <a:t>Сайт</a:t>
            </a:r>
            <a:endParaRPr lang="ru-RU" b="1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642918"/>
            <a:ext cx="9144000" cy="19288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571480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Сайт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набор связанных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веб-страниц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которые обычно имеют общий домен и предназначены для предоставления информации пользователям. Сайты могут быть статическими или динамическими, но их основная цель — представление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Они могут включать текст, изображения, видео и другие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мультимедийные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элементы. Сайты часто создаются с использованием HTML, CSS и базового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что делает их относительно простыми в разработке и поддержке.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Примеры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Личный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блог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новостной портал, корпоративный сайт.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2643182"/>
            <a:ext cx="9144000" cy="40934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Навык создания одностраничных сайтов полезен менеджерам по нескольким причинам: </a:t>
            </a:r>
          </a:p>
          <a:p>
            <a:pPr marL="342900" indent="-342900" algn="just">
              <a:buAutoNum type="arabicPeriod"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Эффективное продвижение продуктов и услуг. 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Одностраничные сайты позволяют сосредоточиться на одной конкретной цели, будь то продажа товара, сбор заявок или информирование о компании. Это помогает менеджерам быстро донести ключевое сообщение до целевой аудитории.</a:t>
            </a:r>
          </a:p>
          <a:p>
            <a:pPr marL="342900" indent="-342900" algn="just">
              <a:buAutoNum type="arabicPeriod"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Гибкость и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масштабируемость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. 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Одностраничные сайты легко адаптировать под разные задачи и целевые аудитории. Менеджеры могут быстро тестировать новые идеи, собирать обратную связь и вносить изменения.</a:t>
            </a:r>
          </a:p>
          <a:p>
            <a:pPr marL="342900" indent="-342900" algn="just">
              <a:buAutoNum type="arabicPeriod"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Экономия времени и ресурсов. 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Создание одностраничного сайта занимает меньше времени и требует меньших затрат по сравнению с разработкой полноценного многостраничного ресурса. Это особенно важно для менеджеров, работающих с ограниченным бюджетом.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smtClean="0"/>
              <a:t>Основные разделы сайта</a:t>
            </a:r>
            <a:endParaRPr lang="ru-RU" b="1" dirty="0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571612"/>
            <a:ext cx="4286280" cy="3220068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4929190" y="642918"/>
            <a:ext cx="4214810" cy="83099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Шапка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размещается в верхней части страницы и содержит название сайта, главное меню и поисковую форму.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643570" y="1857364"/>
            <a:ext cx="3500430" cy="83099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Навигация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главное меню сайта, ссылки для перехода к основным разделам сайта.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857752" y="5429264"/>
            <a:ext cx="3786214" cy="107721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Футер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сайта — находится внизу страницы и содержит дополнительную информацию, такую как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копирайты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контакты, ссылки на социальные сети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5643570" y="2928934"/>
            <a:ext cx="3500430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Боковая панель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часто используется для размещения вспомогательной информации, такой как навигационные ссылки, список категорий, последние новости или дополнительные ресурсы.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28596" y="5288340"/>
            <a:ext cx="3571868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Основной блок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содержит основное содержимое страницы, которое представляет главную цель и суть вашего сайта. Здесь размещаются тексты, изображения, видео, формы и другие важные элементы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cxnSp>
        <p:nvCxnSpPr>
          <p:cNvPr id="12" name="Shape 11"/>
          <p:cNvCxnSpPr>
            <a:stCxn id="5" idx="1"/>
            <a:endCxn id="1026" idx="0"/>
          </p:cNvCxnSpPr>
          <p:nvPr/>
        </p:nvCxnSpPr>
        <p:spPr>
          <a:xfrm rot="10800000" flipV="1">
            <a:off x="2928926" y="1058416"/>
            <a:ext cx="2000264" cy="513195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hape 16"/>
          <p:cNvCxnSpPr>
            <a:stCxn id="8" idx="1"/>
            <a:endCxn id="1026" idx="3"/>
          </p:cNvCxnSpPr>
          <p:nvPr/>
        </p:nvCxnSpPr>
        <p:spPr>
          <a:xfrm rot="10800000">
            <a:off x="5072066" y="3181646"/>
            <a:ext cx="571504" cy="532118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stCxn id="6" idx="1"/>
          </p:cNvCxnSpPr>
          <p:nvPr/>
        </p:nvCxnSpPr>
        <p:spPr>
          <a:xfrm rot="10800000" flipV="1">
            <a:off x="5000628" y="2272862"/>
            <a:ext cx="642942" cy="1312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hape 16"/>
          <p:cNvCxnSpPr>
            <a:stCxn id="7" idx="0"/>
            <a:endCxn id="1026" idx="2"/>
          </p:cNvCxnSpPr>
          <p:nvPr/>
        </p:nvCxnSpPr>
        <p:spPr>
          <a:xfrm rot="16200000" flipV="1">
            <a:off x="4521101" y="3199505"/>
            <a:ext cx="637584" cy="3821933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hape 16"/>
          <p:cNvCxnSpPr>
            <a:stCxn id="10" idx="0"/>
            <a:endCxn id="1026" idx="1"/>
          </p:cNvCxnSpPr>
          <p:nvPr/>
        </p:nvCxnSpPr>
        <p:spPr>
          <a:xfrm rot="16200000" flipV="1">
            <a:off x="446811" y="3520621"/>
            <a:ext cx="2106694" cy="1428744"/>
          </a:xfrm>
          <a:prstGeom prst="bentConnector4">
            <a:avLst>
              <a:gd name="adj1" fmla="val 11788"/>
              <a:gd name="adj2" fmla="val 141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en-US" b="1" dirty="0" smtClean="0"/>
              <a:t>Usability-</a:t>
            </a:r>
            <a:r>
              <a:rPr lang="ru-RU" b="1" dirty="0" smtClean="0"/>
              <a:t>тестирование сайта</a:t>
            </a:r>
            <a:endParaRPr lang="ru-RU" b="1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857232"/>
            <a:ext cx="91440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Юзабилити-тестирование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метод оценки интерфейса со стороны удобства и эффективности его использования. Чаще всего оно проводится, когда у страницы, сайта, приложения низкая посещаемость или есть жалобы на проблемы в работе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интернет-ресурса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 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0" y="2285992"/>
            <a:ext cx="9144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Чтобы проверить удобство использования сайта, рядовой пользователь может выполнить следующие шаги: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Оценить навигацию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убедиться, что структура сайта понятна и удобна для поиска нужной информации.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Проверить доступность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убедиться, что сайт работает корректно и доступен для всех категорий пользователей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включая людей с ограниченными возможностями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Проанализировать функциональность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убедиться, что сайт предлагает необходимый функционал для выполнения задач пользователей.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Оценить скорость загрузки страниц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быстрая загрузка страниц важна для удобства пользователей.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Проверить адаптивность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убедиться, что сайт корректно отображается и работает на разных устройствах и при разном масштабе страницы.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en-US" b="1" dirty="0" smtClean="0"/>
              <a:t>Usability-</a:t>
            </a:r>
            <a:r>
              <a:rPr lang="ru-RU" b="1" dirty="0" smtClean="0"/>
              <a:t>тестирование сайта</a:t>
            </a:r>
            <a:endParaRPr lang="ru-RU" b="1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071546"/>
            <a:ext cx="8372840" cy="4238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Разработка одностраничного сайта</a:t>
            </a:r>
            <a:endParaRPr lang="ru-RU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571480"/>
            <a:ext cx="9144000" cy="11430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500034" y="-28577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Разработка одностраничного сайта</a:t>
            </a:r>
            <a:endParaRPr kumimoji="0" lang="ru-RU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" name="Picture 8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875" y="1857364"/>
            <a:ext cx="4385694" cy="3831033"/>
          </a:xfrm>
          <a:prstGeom prst="rect">
            <a:avLst/>
          </a:prstGeom>
          <a:noFill/>
        </p:spPr>
      </p:pic>
      <p:sp>
        <p:nvSpPr>
          <p:cNvPr id="11" name="Прямоугольник 10"/>
          <p:cNvSpPr/>
          <p:nvPr/>
        </p:nvSpPr>
        <p:spPr>
          <a:xfrm>
            <a:off x="0" y="5529220"/>
            <a:ext cx="91200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язык разметки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который определяет структуру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веб-страницы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её содержание.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2214554"/>
            <a:ext cx="22859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язык стилей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который описывает внешний вид HTML-документов. 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6643702" y="2000240"/>
            <a:ext cx="25002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язык программирования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который делает сайты интерактивными.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-71470" y="500042"/>
            <a:ext cx="92868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Хотя существуют инструменты и подходы, позволяющие разрабатывать сайты без углубленного знания HTML и CSS, понимание базовых принципов этих технологий остаётся крайне полезным. Оно обеспечивает лучшее представление о структуре сайтов, способствует повышению качества и доступности ваших продуктов.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0" y="6068817"/>
            <a:ext cx="91440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Кроме того, на сайте могут быть интерактивные элементы, предназначенные для выполнения конкретных задач.  Они требует взаимодействия с пользователем.</a:t>
            </a:r>
            <a:endParaRPr lang="ru-RU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Разработка одностраничного сайта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931208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1) Откройте Блокнот и сохраните файл под именем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index.html </a:t>
            </a:r>
            <a:r>
              <a:rPr lang="en-US" sz="1600" u="sng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600" u="sng" dirty="0" smtClean="0">
                <a:latin typeface="Times New Roman" pitchFamily="18" charset="0"/>
                <a:cs typeface="Times New Roman" pitchFamily="18" charset="0"/>
              </a:rPr>
              <a:t>тип файла: все файлы</a:t>
            </a:r>
            <a:r>
              <a:rPr lang="en-US" sz="1600" u="sng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Чтобы его запустить как страницу сайта, необходимо открыть файл с помощью любого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браузера (щелчок правой кнопкой→Открыть с помощью);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2)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Добавьте языковой тег.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Первый тег, который нужно добавить в Блокнот, указывает всему документу, что будет использоваться язык HTML. В Блокноте введите следующее: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>
              <a:buAutoNum type="arabicParenR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3)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Добавьте теги «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».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Этот раздел HTML-документа содержит метаданные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веб-страницы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веб-браузере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они не отображаются. Здесь может содержаться такая информация, как имя страницы, таблицы стилей (CSS),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так далее.</a:t>
            </a:r>
          </a:p>
          <a:p>
            <a:pPr indent="-342900" algn="just">
              <a:buAutoNum type="arabicParenR"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>
              <a:buAutoNum type="arabicParenR"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>
              <a:buAutoNum type="arabicParenR"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>
              <a:buAutoNum type="arabicParenR"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4)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Введите имя страницы.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Оно должно находиться внутри раздела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», так что его нужно ввести между открывающим тегом «&lt;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&gt;» и закрывающим «&lt;/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&gt;». Чтобы добавить имя, наберите открывающий тег 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&gt;, затем введите текст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собствнно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имя) и сразу за ним добавьте закрывающий тег &lt;/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&gt;. Например, если именем вашей страницы будет «Мой сайт», введите следующее: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3812449"/>
            <a:ext cx="9144000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Примечание: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Каждый HTML-элемент должен находиться между двумя тегами. Когда мы добавляем новый элемент, например тег «&lt;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&gt;», открывающий соответствующий раздел, нам нужно добавить и закрывающий тег. В данном случае это «&lt;/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&gt;».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6310017"/>
            <a:ext cx="3307418" cy="476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2433632"/>
            <a:ext cx="1359288" cy="423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4000496" y="6215082"/>
            <a:ext cx="514350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342900" algn="ctr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Ориентируйтесь на изображения со следующего слайда</a:t>
            </a:r>
            <a:endParaRPr lang="ru-RU" b="1" i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Разработка одностраничного сайта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928670"/>
            <a:ext cx="614363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5)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Добавьте теги «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 Все, что будет отображаться на вашей странице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веб-браузере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должно находиться между этими тегами.</a:t>
            </a: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6)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Закройте тег языка HTML.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Последним тегом документа будет закрывающий тег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html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», чтобы обозначить конец страницы. Введите &lt;/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html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 под тегом &lt;/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&gt;, чтобы закрыть тег HTML.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Запустите сайт в браузере.</a:t>
            </a:r>
          </a:p>
        </p:txBody>
      </p:sp>
      <p:cxnSp>
        <p:nvCxnSpPr>
          <p:cNvPr id="12" name="Shape 11"/>
          <p:cNvCxnSpPr>
            <a:stCxn id="6" idx="2"/>
            <a:endCxn id="19462" idx="1"/>
          </p:cNvCxnSpPr>
          <p:nvPr/>
        </p:nvCxnSpPr>
        <p:spPr>
          <a:xfrm rot="5400000" flipH="1" flipV="1">
            <a:off x="4321689" y="780859"/>
            <a:ext cx="929265" cy="3429008"/>
          </a:xfrm>
          <a:prstGeom prst="bentConnector4">
            <a:avLst>
              <a:gd name="adj1" fmla="val -10933"/>
              <a:gd name="adj2" fmla="val 94792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0" y="3143248"/>
            <a:ext cx="6072198" cy="10772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Запомните, что все элементы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веб-страницы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должны находиться между тегами «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».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Любой элемент — будь то заголовок или абзац — нужно вводить после тега &lt;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 и перед тегом &lt;/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43702" y="3357562"/>
            <a:ext cx="2071670" cy="331912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9" name="Прямоугольник 28"/>
          <p:cNvSpPr/>
          <p:nvPr/>
        </p:nvSpPr>
        <p:spPr>
          <a:xfrm>
            <a:off x="0" y="4500570"/>
            <a:ext cx="607219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7)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Добавьте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ключевые разделы между тегами «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 Добавьте меню навигации, основной блок, боковую панель и подвал сайта. Добавьте характеризующую информацию между этими тегами. Запустите сайт в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браузере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0" name="Shape 29"/>
          <p:cNvCxnSpPr>
            <a:stCxn id="29" idx="2"/>
            <a:endCxn id="19461" idx="1"/>
          </p:cNvCxnSpPr>
          <p:nvPr/>
        </p:nvCxnSpPr>
        <p:spPr>
          <a:xfrm rot="5400000" flipH="1" flipV="1">
            <a:off x="4359514" y="3693710"/>
            <a:ext cx="960772" cy="3607603"/>
          </a:xfrm>
          <a:prstGeom prst="bentConnector4">
            <a:avLst>
              <a:gd name="adj1" fmla="val -11896"/>
              <a:gd name="adj2" fmla="val 92079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00826" y="857232"/>
            <a:ext cx="2233615" cy="23469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6211669"/>
            <a:ext cx="6072198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342900"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Примечание: изображение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должно храниться в той же папке, что и файл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index.html</a:t>
            </a:r>
            <a:endParaRPr lang="ru-RU" b="1" i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/>
          <p:cNvGrpSpPr/>
          <p:nvPr/>
        </p:nvGrpSpPr>
        <p:grpSpPr>
          <a:xfrm>
            <a:off x="5929322" y="590550"/>
            <a:ext cx="2076450" cy="6267450"/>
            <a:chOff x="5929322" y="590550"/>
            <a:chExt cx="2076450" cy="626745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929322" y="590550"/>
              <a:ext cx="2076450" cy="6267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7" name="Прямоугольник 16"/>
            <p:cNvSpPr/>
            <p:nvPr/>
          </p:nvSpPr>
          <p:spPr>
            <a:xfrm>
              <a:off x="5929322" y="714356"/>
              <a:ext cx="2000264" cy="14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Разработка одностраничного сайта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500042"/>
            <a:ext cx="5929322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8)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блоке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&lt;head&gt;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задайте стили сайта.</a:t>
            </a: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8.1) Задайте цвет сайта, прописав его в теге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indent="-342900"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8.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Уберите отступы от границ сайта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8.3) Создайте стиль для общего содержимого, установив ширину и высоту суммарного блока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8.4) Настройте стили всех блоков, задав ширину (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width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в %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высоту (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min-height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в %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позиционирование (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float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left 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или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right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цвет (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background: red, yellow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 внешний отступ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между блоками 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margin:1%;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9) После тега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&lt;body&gt;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укажите стилизованный блок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wrapper (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&lt;div class="wrapper"&gt;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После блока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&lt;/footer&gt;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закройте его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&lt;/div&gt;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00050" y="1142984"/>
            <a:ext cx="2286000" cy="83099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body {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background:…;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500034" y="2285992"/>
            <a:ext cx="2286000" cy="107721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* {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margin: 0;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padding:0;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00034" y="3923418"/>
            <a:ext cx="2286000" cy="107721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.wrapper {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width:100%;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height:100%;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1600" b="1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2" name="Прямая со стрелкой 11"/>
          <p:cNvCxnSpPr>
            <a:stCxn id="15" idx="2"/>
          </p:cNvCxnSpPr>
          <p:nvPr/>
        </p:nvCxnSpPr>
        <p:spPr>
          <a:xfrm rot="5400000">
            <a:off x="7294765" y="2758476"/>
            <a:ext cx="162359" cy="175019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7358082" y="1428736"/>
            <a:ext cx="1785918" cy="212365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200" b="1" dirty="0" smtClean="0">
                <a:latin typeface="Courier New" pitchFamily="49" charset="0"/>
                <a:cs typeface="Courier New" pitchFamily="49" charset="0"/>
              </a:rPr>
              <a:t>После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200" b="1" dirty="0" smtClean="0">
                <a:latin typeface="Courier New" pitchFamily="49" charset="0"/>
                <a:cs typeface="Courier New" pitchFamily="49" charset="0"/>
              </a:rPr>
              <a:t>всех двоеточий необходимо написать свои значения</a:t>
            </a:r>
          </a:p>
          <a:p>
            <a:pPr algn="ctr"/>
            <a:endParaRPr lang="ru-RU" sz="1200" b="1" dirty="0" smtClean="0">
              <a:latin typeface="Courier New" pitchFamily="49" charset="0"/>
              <a:cs typeface="Courier New" pitchFamily="49" charset="0"/>
            </a:endParaRPr>
          </a:p>
          <a:p>
            <a:pPr algn="ctr"/>
            <a:r>
              <a:rPr lang="ru-RU" sz="1200" b="1" dirty="0" smtClean="0">
                <a:latin typeface="Courier New" pitchFamily="49" charset="0"/>
                <a:cs typeface="Courier New" pitchFamily="49" charset="0"/>
              </a:rPr>
              <a:t>Суммарный 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width </a:t>
            </a:r>
            <a:r>
              <a:rPr lang="ru-RU" sz="1200" b="1" dirty="0" smtClean="0">
                <a:latin typeface="Courier New" pitchFamily="49" charset="0"/>
                <a:cs typeface="Courier New" pitchFamily="49" charset="0"/>
              </a:rPr>
              <a:t>блоков </a:t>
            </a:r>
            <a:r>
              <a:rPr lang="en-US" sz="1200" b="1" dirty="0" err="1" smtClean="0">
                <a:latin typeface="Courier New" pitchFamily="49" charset="0"/>
                <a:cs typeface="Courier New" pitchFamily="49" charset="0"/>
              </a:rPr>
              <a:t>nav</a:t>
            </a:r>
            <a:r>
              <a:rPr lang="ru-RU" sz="1200" b="1" dirty="0" smtClean="0">
                <a:latin typeface="Courier New" pitchFamily="49" charset="0"/>
                <a:cs typeface="Courier New" pitchFamily="49" charset="0"/>
              </a:rPr>
              <a:t>+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ru-RU" sz="1200" b="1" dirty="0" smtClean="0">
                <a:latin typeface="Courier New" pitchFamily="49" charset="0"/>
                <a:cs typeface="Courier New" pitchFamily="49" charset="0"/>
              </a:rPr>
              <a:t>+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aside</a:t>
            </a:r>
            <a:r>
              <a:rPr lang="ru-RU" sz="1200" b="1" dirty="0" smtClean="0">
                <a:latin typeface="Courier New" pitchFamily="49" charset="0"/>
                <a:cs typeface="Courier New" pitchFamily="49" charset="0"/>
              </a:rPr>
              <a:t>+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200" b="1" dirty="0" smtClean="0">
                <a:latin typeface="Courier New" pitchFamily="49" charset="0"/>
                <a:cs typeface="Courier New" pitchFamily="49" charset="0"/>
              </a:rPr>
              <a:t>(все 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margin</a:t>
            </a:r>
            <a:r>
              <a:rPr lang="ru-RU" sz="1200" b="1" dirty="0" smtClean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 = 100%</a:t>
            </a:r>
            <a:endParaRPr lang="ru-RU" sz="1200" b="1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6" name="Прямая со стрелкой 15"/>
          <p:cNvCxnSpPr>
            <a:stCxn id="15" idx="2"/>
          </p:cNvCxnSpPr>
          <p:nvPr/>
        </p:nvCxnSpPr>
        <p:spPr>
          <a:xfrm rot="5400000">
            <a:off x="6723256" y="3329975"/>
            <a:ext cx="1305366" cy="175020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3000364" y="2357430"/>
            <a:ext cx="26431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argin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создаёт </a:t>
            </a:r>
            <a:r>
              <a:rPr lang="ru-RU" sz="1200" b="1" dirty="0" smtClean="0">
                <a:latin typeface="Times New Roman" pitchFamily="18" charset="0"/>
                <a:cs typeface="Times New Roman" pitchFamily="18" charset="0"/>
              </a:rPr>
              <a:t>внешние отступы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 от границ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элемента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adding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формирует </a:t>
            </a:r>
            <a:r>
              <a:rPr lang="ru-RU" sz="1200" b="1" dirty="0" smtClean="0">
                <a:latin typeface="Times New Roman" pitchFamily="18" charset="0"/>
                <a:cs typeface="Times New Roman" pitchFamily="18" charset="0"/>
              </a:rPr>
              <a:t>внутренний отступ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 между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контентом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и границей.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Разработка одностраничного сайта</a:t>
            </a:r>
            <a:endParaRPr lang="ru-RU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857232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10) Сохраните результат и запустите его в браузере или воспользуйтесь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онлайн-средами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которые можно найти на сайтах для тестирования своего макета (например,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https://hcdev.ru/learn/html5/headings-and-sections/#headings-lessh1greater-lessh6greater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2214578"/>
            <a:ext cx="6764330" cy="4500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839</Words>
  <Application>Microsoft Office PowerPoint</Application>
  <PresentationFormat>Экран (4:3)</PresentationFormat>
  <Paragraphs>93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Разработка одностраничного сайта </vt:lpstr>
      <vt:lpstr>Дополнительные материалы</vt:lpstr>
      <vt:lpstr>Сайт</vt:lpstr>
      <vt:lpstr>Основные разделы сайта</vt:lpstr>
      <vt:lpstr>Usability-тестирование сайта</vt:lpstr>
      <vt:lpstr>Usability-тестирование сайта</vt:lpstr>
      <vt:lpstr>Разработка одностраничного сайта</vt:lpstr>
      <vt:lpstr>Разработка одностраничного сайта</vt:lpstr>
      <vt:lpstr>Разработка одностраничного сайта</vt:lpstr>
      <vt:lpstr>Разработка одностраничного сайта</vt:lpstr>
      <vt:lpstr>Разработка одностраничного сайта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Создание сайта</dc:title>
  <dc:creator>user</dc:creator>
  <cp:lastModifiedBy>user</cp:lastModifiedBy>
  <cp:revision>73</cp:revision>
  <dcterms:created xsi:type="dcterms:W3CDTF">2024-02-01T09:49:19Z</dcterms:created>
  <dcterms:modified xsi:type="dcterms:W3CDTF">2025-12-06T18:32:53Z</dcterms:modified>
</cp:coreProperties>
</file>