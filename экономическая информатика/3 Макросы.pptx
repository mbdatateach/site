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68" r:id="rId5"/>
    <p:sldId id="270" r:id="rId6"/>
    <p:sldId id="272" r:id="rId7"/>
    <p:sldId id="266" r:id="rId8"/>
    <p:sldId id="271" r:id="rId9"/>
    <p:sldId id="273" r:id="rId10"/>
    <p:sldId id="274" r:id="rId11"/>
    <p:sldId id="269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B55BDE-7E86-43B1-A4C9-0507AFCBAF08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93AF4AE-4FCF-4289-B57F-EEAB44AD4284}">
      <dgm:prSet phldrT="[Текст]"/>
      <dgm:spPr/>
      <dgm:t>
        <a:bodyPr/>
        <a:lstStyle/>
        <a:p>
          <a:r>
            <a:rPr lang="ru-RU" dirty="0" smtClean="0"/>
            <a:t>В режиме программирования</a:t>
          </a:r>
          <a:endParaRPr lang="ru-RU" dirty="0"/>
        </a:p>
      </dgm:t>
    </dgm:pt>
    <dgm:pt modelId="{8D79C3BA-0F51-4B64-B7BE-02B11FD39D15}" type="parTrans" cxnId="{D4839DB9-2C7D-469F-9328-FDC2BCCC4253}">
      <dgm:prSet/>
      <dgm:spPr/>
      <dgm:t>
        <a:bodyPr/>
        <a:lstStyle/>
        <a:p>
          <a:endParaRPr lang="ru-RU"/>
        </a:p>
      </dgm:t>
    </dgm:pt>
    <dgm:pt modelId="{F21A46AA-9FC8-4B74-B815-B30F9BC3B67D}" type="sibTrans" cxnId="{D4839DB9-2C7D-469F-9328-FDC2BCCC4253}">
      <dgm:prSet/>
      <dgm:spPr/>
      <dgm:t>
        <a:bodyPr/>
        <a:lstStyle/>
        <a:p>
          <a:endParaRPr lang="ru-RU"/>
        </a:p>
      </dgm:t>
    </dgm:pt>
    <dgm:pt modelId="{C6D77ED8-3574-4ED9-9BE7-58501D2040FD}">
      <dgm:prSet phldrT="[Текст]"/>
      <dgm:spPr/>
      <dgm:t>
        <a:bodyPr/>
        <a:lstStyle/>
        <a:p>
          <a:pPr algn="just"/>
          <a:r>
            <a:rPr lang="ru-RU" dirty="0" smtClean="0"/>
            <a:t>Вводится код на языке </a:t>
          </a:r>
          <a:r>
            <a:rPr lang="en-US" dirty="0" smtClean="0"/>
            <a:t>Visual Basic </a:t>
          </a:r>
          <a:r>
            <a:rPr lang="ru-RU" dirty="0" smtClean="0"/>
            <a:t>для приложений </a:t>
          </a:r>
          <a:r>
            <a:rPr lang="en-US" dirty="0" smtClean="0"/>
            <a:t>VBA (Visual Basic for Applications)</a:t>
          </a:r>
          <a:endParaRPr lang="ru-RU" dirty="0"/>
        </a:p>
      </dgm:t>
    </dgm:pt>
    <dgm:pt modelId="{B6392C7E-AD07-45E8-B637-C273160D341F}" type="parTrans" cxnId="{3B0E4B3A-5042-4E0F-99F8-95E53D3A6638}">
      <dgm:prSet/>
      <dgm:spPr/>
      <dgm:t>
        <a:bodyPr/>
        <a:lstStyle/>
        <a:p>
          <a:endParaRPr lang="ru-RU"/>
        </a:p>
      </dgm:t>
    </dgm:pt>
    <dgm:pt modelId="{4A82ACA7-909A-4F6B-BD04-47294599D5E5}" type="sibTrans" cxnId="{3B0E4B3A-5042-4E0F-99F8-95E53D3A6638}">
      <dgm:prSet/>
      <dgm:spPr/>
      <dgm:t>
        <a:bodyPr/>
        <a:lstStyle/>
        <a:p>
          <a:endParaRPr lang="ru-RU"/>
        </a:p>
      </dgm:t>
    </dgm:pt>
    <dgm:pt modelId="{3A06C698-6A97-4DFD-8CF1-6FF88B3A999C}">
      <dgm:prSet phldrT="[Текст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ru-RU" b="1" dirty="0" smtClean="0">
              <a:solidFill>
                <a:schemeClr val="tx1"/>
              </a:solidFill>
            </a:rPr>
            <a:t>В режиме «обучения» редактора</a:t>
          </a:r>
          <a:endParaRPr lang="ru-RU" b="1" dirty="0">
            <a:solidFill>
              <a:schemeClr val="tx1"/>
            </a:solidFill>
          </a:endParaRPr>
        </a:p>
      </dgm:t>
    </dgm:pt>
    <dgm:pt modelId="{88233F48-EFC3-4C6E-9A41-0BEA5D5D4910}" type="parTrans" cxnId="{E5CC9652-3C9C-4A7E-A35E-0967932C143A}">
      <dgm:prSet/>
      <dgm:spPr/>
      <dgm:t>
        <a:bodyPr/>
        <a:lstStyle/>
        <a:p>
          <a:endParaRPr lang="ru-RU"/>
        </a:p>
      </dgm:t>
    </dgm:pt>
    <dgm:pt modelId="{17222EFE-93E0-44B1-9F1E-421CFD147462}" type="sibTrans" cxnId="{E5CC9652-3C9C-4A7E-A35E-0967932C143A}">
      <dgm:prSet/>
      <dgm:spPr/>
      <dgm:t>
        <a:bodyPr/>
        <a:lstStyle/>
        <a:p>
          <a:endParaRPr lang="ru-RU"/>
        </a:p>
      </dgm:t>
    </dgm:pt>
    <dgm:pt modelId="{819133D5-4ECF-4CEC-895C-00D2B5A98408}">
      <dgm:prSet phldrT="[Текст]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 algn="just"/>
          <a:r>
            <a:rPr lang="ru-RU" dirty="0" smtClean="0"/>
            <a:t>Используются средства для записи макросов в виде последовательности действий</a:t>
          </a:r>
          <a:endParaRPr lang="ru-RU" dirty="0"/>
        </a:p>
      </dgm:t>
    </dgm:pt>
    <dgm:pt modelId="{ED62D1C4-C8C8-4153-A096-B0AF033E8F35}" type="parTrans" cxnId="{DD5A8FCA-C123-48BB-A29D-535A0D65505E}">
      <dgm:prSet/>
      <dgm:spPr/>
      <dgm:t>
        <a:bodyPr/>
        <a:lstStyle/>
        <a:p>
          <a:endParaRPr lang="ru-RU"/>
        </a:p>
      </dgm:t>
    </dgm:pt>
    <dgm:pt modelId="{FD625B32-83E6-4AED-A17D-280FF9820565}" type="sibTrans" cxnId="{DD5A8FCA-C123-48BB-A29D-535A0D65505E}">
      <dgm:prSet/>
      <dgm:spPr/>
      <dgm:t>
        <a:bodyPr/>
        <a:lstStyle/>
        <a:p>
          <a:endParaRPr lang="ru-RU"/>
        </a:p>
      </dgm:t>
    </dgm:pt>
    <dgm:pt modelId="{85151C5D-5F51-4AA8-B62C-ECD6A995831D}" type="pres">
      <dgm:prSet presAssocID="{EDB55BDE-7E86-43B1-A4C9-0507AFCBAF08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3834135B-ABDB-4E90-A2CE-196B46D13DB3}" type="pres">
      <dgm:prSet presAssocID="{C93AF4AE-4FCF-4289-B57F-EEAB44AD4284}" presName="linNode" presStyleCnt="0"/>
      <dgm:spPr/>
    </dgm:pt>
    <dgm:pt modelId="{D99040EC-7B05-4371-8D78-B7FAA1E23F64}" type="pres">
      <dgm:prSet presAssocID="{C93AF4AE-4FCF-4289-B57F-EEAB44AD4284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51CCA4-0EA8-4A44-94E5-B2111176E000}" type="pres">
      <dgm:prSet presAssocID="{C93AF4AE-4FCF-4289-B57F-EEAB44AD4284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827AB5-8CDE-4C64-A211-D64FEC8ED21A}" type="pres">
      <dgm:prSet presAssocID="{F21A46AA-9FC8-4B74-B815-B30F9BC3B67D}" presName="spacing" presStyleCnt="0"/>
      <dgm:spPr/>
    </dgm:pt>
    <dgm:pt modelId="{16154DDB-4584-4DED-8EE3-0839E5A3704E}" type="pres">
      <dgm:prSet presAssocID="{3A06C698-6A97-4DFD-8CF1-6FF88B3A999C}" presName="linNode" presStyleCnt="0"/>
      <dgm:spPr/>
    </dgm:pt>
    <dgm:pt modelId="{F8DE2FAD-6829-4F55-B54F-9BAC23662B3B}" type="pres">
      <dgm:prSet presAssocID="{3A06C698-6A97-4DFD-8CF1-6FF88B3A999C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04C160D-E589-4CCE-8DEF-FE368CDEE566}" type="pres">
      <dgm:prSet presAssocID="{3A06C698-6A97-4DFD-8CF1-6FF88B3A999C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B0E4B3A-5042-4E0F-99F8-95E53D3A6638}" srcId="{C93AF4AE-4FCF-4289-B57F-EEAB44AD4284}" destId="{C6D77ED8-3574-4ED9-9BE7-58501D2040FD}" srcOrd="0" destOrd="0" parTransId="{B6392C7E-AD07-45E8-B637-C273160D341F}" sibTransId="{4A82ACA7-909A-4F6B-BD04-47294599D5E5}"/>
    <dgm:cxn modelId="{DD5A8FCA-C123-48BB-A29D-535A0D65505E}" srcId="{3A06C698-6A97-4DFD-8CF1-6FF88B3A999C}" destId="{819133D5-4ECF-4CEC-895C-00D2B5A98408}" srcOrd="0" destOrd="0" parTransId="{ED62D1C4-C8C8-4153-A096-B0AF033E8F35}" sibTransId="{FD625B32-83E6-4AED-A17D-280FF9820565}"/>
    <dgm:cxn modelId="{47D8F1E2-70C1-46CA-A919-231954171ACB}" type="presOf" srcId="{EDB55BDE-7E86-43B1-A4C9-0507AFCBAF08}" destId="{85151C5D-5F51-4AA8-B62C-ECD6A995831D}" srcOrd="0" destOrd="0" presId="urn:microsoft.com/office/officeart/2005/8/layout/vList6"/>
    <dgm:cxn modelId="{8EC43D31-1759-45FE-8F67-D38E5DBCBAA1}" type="presOf" srcId="{C6D77ED8-3574-4ED9-9BE7-58501D2040FD}" destId="{9D51CCA4-0EA8-4A44-94E5-B2111176E000}" srcOrd="0" destOrd="0" presId="urn:microsoft.com/office/officeart/2005/8/layout/vList6"/>
    <dgm:cxn modelId="{3DB3BE48-C09F-4F99-9F54-22B6D9F54F09}" type="presOf" srcId="{819133D5-4ECF-4CEC-895C-00D2B5A98408}" destId="{B04C160D-E589-4CCE-8DEF-FE368CDEE566}" srcOrd="0" destOrd="0" presId="urn:microsoft.com/office/officeart/2005/8/layout/vList6"/>
    <dgm:cxn modelId="{D4839DB9-2C7D-469F-9328-FDC2BCCC4253}" srcId="{EDB55BDE-7E86-43B1-A4C9-0507AFCBAF08}" destId="{C93AF4AE-4FCF-4289-B57F-EEAB44AD4284}" srcOrd="0" destOrd="0" parTransId="{8D79C3BA-0F51-4B64-B7BE-02B11FD39D15}" sibTransId="{F21A46AA-9FC8-4B74-B815-B30F9BC3B67D}"/>
    <dgm:cxn modelId="{340E3605-B54F-4F87-819C-D2E386185644}" type="presOf" srcId="{3A06C698-6A97-4DFD-8CF1-6FF88B3A999C}" destId="{F8DE2FAD-6829-4F55-B54F-9BAC23662B3B}" srcOrd="0" destOrd="0" presId="urn:microsoft.com/office/officeart/2005/8/layout/vList6"/>
    <dgm:cxn modelId="{E5CC9652-3C9C-4A7E-A35E-0967932C143A}" srcId="{EDB55BDE-7E86-43B1-A4C9-0507AFCBAF08}" destId="{3A06C698-6A97-4DFD-8CF1-6FF88B3A999C}" srcOrd="1" destOrd="0" parTransId="{88233F48-EFC3-4C6E-9A41-0BEA5D5D4910}" sibTransId="{17222EFE-93E0-44B1-9F1E-421CFD147462}"/>
    <dgm:cxn modelId="{16521DEC-CFFE-43BA-999E-1897986B7C99}" type="presOf" srcId="{C93AF4AE-4FCF-4289-B57F-EEAB44AD4284}" destId="{D99040EC-7B05-4371-8D78-B7FAA1E23F64}" srcOrd="0" destOrd="0" presId="urn:microsoft.com/office/officeart/2005/8/layout/vList6"/>
    <dgm:cxn modelId="{972BD06D-3ADB-4C0E-B0FF-4F61E0C1F826}" type="presParOf" srcId="{85151C5D-5F51-4AA8-B62C-ECD6A995831D}" destId="{3834135B-ABDB-4E90-A2CE-196B46D13DB3}" srcOrd="0" destOrd="0" presId="urn:microsoft.com/office/officeart/2005/8/layout/vList6"/>
    <dgm:cxn modelId="{5AE81CB6-C1EB-4C48-8DF6-7B1B626B4D6F}" type="presParOf" srcId="{3834135B-ABDB-4E90-A2CE-196B46D13DB3}" destId="{D99040EC-7B05-4371-8D78-B7FAA1E23F64}" srcOrd="0" destOrd="0" presId="urn:microsoft.com/office/officeart/2005/8/layout/vList6"/>
    <dgm:cxn modelId="{FF00AD82-060A-4854-ABC9-9C519A274AFF}" type="presParOf" srcId="{3834135B-ABDB-4E90-A2CE-196B46D13DB3}" destId="{9D51CCA4-0EA8-4A44-94E5-B2111176E000}" srcOrd="1" destOrd="0" presId="urn:microsoft.com/office/officeart/2005/8/layout/vList6"/>
    <dgm:cxn modelId="{25506F0D-9DDE-4B6F-9BB4-A276D0818834}" type="presParOf" srcId="{85151C5D-5F51-4AA8-B62C-ECD6A995831D}" destId="{4D827AB5-8CDE-4C64-A211-D64FEC8ED21A}" srcOrd="1" destOrd="0" presId="urn:microsoft.com/office/officeart/2005/8/layout/vList6"/>
    <dgm:cxn modelId="{F9DAE27F-66AB-404A-8594-C6C5A3DD78F4}" type="presParOf" srcId="{85151C5D-5F51-4AA8-B62C-ECD6A995831D}" destId="{16154DDB-4584-4DED-8EE3-0839E5A3704E}" srcOrd="2" destOrd="0" presId="urn:microsoft.com/office/officeart/2005/8/layout/vList6"/>
    <dgm:cxn modelId="{90EA6F21-F3FC-4FF1-AA4B-129C01C2285F}" type="presParOf" srcId="{16154DDB-4584-4DED-8EE3-0839E5A3704E}" destId="{F8DE2FAD-6829-4F55-B54F-9BAC23662B3B}" srcOrd="0" destOrd="0" presId="urn:microsoft.com/office/officeart/2005/8/layout/vList6"/>
    <dgm:cxn modelId="{E0316DCB-3986-421D-9702-7129DC9B00C8}" type="presParOf" srcId="{16154DDB-4584-4DED-8EE3-0839E5A3704E}" destId="{B04C160D-E589-4CCE-8DEF-FE368CDEE566}" srcOrd="1" destOrd="0" presId="urn:microsoft.com/office/officeart/2005/8/layout/vList6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20.09.2025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20.09.2025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20.09.2025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20.09.2025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20.09.2025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20.09.2025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20.09.2025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20.09.2025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20.09.2025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20.09.2025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20.09.2025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20.09.2025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pt-online.org/442311" TargetMode="External"/><Relationship Id="rId2" Type="http://schemas.openxmlformats.org/officeDocument/2006/relationships/hyperlink" Target="https://lumpics.ru/how-to-create-a-macro-in-word/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Макросы в </a:t>
            </a:r>
            <a:r>
              <a:rPr lang="en-US" b="1" dirty="0" smtClean="0"/>
              <a:t>MS Word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142984"/>
            <a:ext cx="9144000" cy="267765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i="1" dirty="0" smtClean="0">
                <a:latin typeface="Cambria" pitchFamily="18" charset="0"/>
              </a:rPr>
              <a:t>Создание макросов для упрощения работы с </a:t>
            </a:r>
            <a:r>
              <a:rPr lang="ru-RU" sz="2400" i="1" dirty="0" err="1" smtClean="0">
                <a:latin typeface="Cambria" pitchFamily="18" charset="0"/>
              </a:rPr>
              <a:t>Microsoft</a:t>
            </a:r>
            <a:r>
              <a:rPr lang="ru-RU" sz="2400" i="1" dirty="0" smtClean="0">
                <a:latin typeface="Cambria" pitchFamily="18" charset="0"/>
              </a:rPr>
              <a:t> </a:t>
            </a:r>
            <a:r>
              <a:rPr lang="ru-RU" sz="2400" i="1" dirty="0" err="1" smtClean="0">
                <a:latin typeface="Cambria" pitchFamily="18" charset="0"/>
              </a:rPr>
              <a:t>Word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https://lumpics.ru/how-to-create-a-macro-in-word/</a:t>
            </a:r>
            <a:endParaRPr lang="en-US" sz="2400" b="1" dirty="0" smtClean="0">
              <a:latin typeface="Cambria" pitchFamily="18" charset="0"/>
              <a:hlinkClick r:id="rId3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Макросы в </a:t>
            </a:r>
            <a:r>
              <a:rPr lang="en-US" sz="2400" i="1" dirty="0" smtClean="0">
                <a:latin typeface="Cambria" pitchFamily="18" charset="0"/>
              </a:rPr>
              <a:t>Microsoft Office Word 2007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https://ppt-online.org/442311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2714620"/>
            <a:ext cx="9144000" cy="22860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Понятие «Макрос»</a:t>
            </a:r>
            <a:endParaRPr lang="ru-RU" sz="3200" b="1" dirty="0">
              <a:latin typeface="Cambria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214422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Макрос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это набор определённых действий, команд и/или инструкций, которые сгруппированы в одну целостную команду, обеспечивающую автоматическое выполнение той или иной задачи.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Макросы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используются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для: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ускорения часто выполняемых операций, таких как форматирование и редактирование;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объединения нескольких команд в целостное действие;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упрощения доступа к некоторым параметрам и инструментам, расположенным в различных диалоговых окнах программы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Методы создания макросов</a:t>
            </a:r>
            <a:endParaRPr lang="ru-RU" sz="3200" b="1" dirty="0">
              <a:latin typeface="Cambria" pitchFamily="18" charset="0"/>
            </a:endParaRPr>
          </a:p>
        </p:txBody>
      </p:sp>
      <p:graphicFrame>
        <p:nvGraphicFramePr>
          <p:cNvPr id="8" name="Схема 7"/>
          <p:cNvGraphicFramePr/>
          <p:nvPr/>
        </p:nvGraphicFramePr>
        <p:xfrm>
          <a:off x="1714480" y="1428736"/>
          <a:ext cx="704852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8" name="Picture 4" descr="Picture background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2844" y="3714752"/>
            <a:ext cx="1485719" cy="16430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Режим «обучения» редактора</a:t>
            </a:r>
            <a:endParaRPr lang="ru-RU" sz="3200" b="1" dirty="0">
              <a:latin typeface="Cambria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78579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Открываем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Microsoft Word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 вкладке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Разработчик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группе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Код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выберите команду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Запись макроса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81534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/>
          <p:nvPr/>
        </p:nvCxnSpPr>
        <p:spPr>
          <a:xfrm>
            <a:off x="5000628" y="1571612"/>
            <a:ext cx="1285884" cy="64294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rot="10800000" flipV="1">
            <a:off x="1643042" y="1571612"/>
            <a:ext cx="2500330" cy="92869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0" y="3286124"/>
            <a:ext cx="457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Введите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название макроса в поле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Имя макроса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списке Макрос доступен для щелкните документ, в котором нужно сохранить макрос.</a:t>
            </a:r>
          </a:p>
          <a:p>
            <a:pPr marL="342900" indent="-3429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Чтобы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связать макрос с панелью быстрого доступа нажмите по кнопке</a:t>
            </a:r>
          </a:p>
          <a:p>
            <a:pPr marL="342900" indent="-342900"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" name="Рисунок 21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3500438"/>
            <a:ext cx="4357686" cy="335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Прямая со стрелкой 22"/>
          <p:cNvCxnSpPr/>
          <p:nvPr/>
        </p:nvCxnSpPr>
        <p:spPr>
          <a:xfrm>
            <a:off x="3286116" y="3857628"/>
            <a:ext cx="1643074" cy="35719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>
            <a:off x="3857620" y="5000636"/>
            <a:ext cx="1000132" cy="28575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 rot="5400000" flipH="1" flipV="1">
            <a:off x="5929322" y="5429264"/>
            <a:ext cx="1143008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3214678" y="6000768"/>
            <a:ext cx="3286148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5143504" y="4572008"/>
            <a:ext cx="2428892" cy="500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Если назначить макрос «клавишам» </a:t>
            </a:r>
            <a:endParaRPr lang="ru-RU" sz="3200" b="1" dirty="0">
              <a:latin typeface="Cambria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8"/>
            <a:ext cx="3810000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0075" y="857232"/>
            <a:ext cx="4733925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1" name="Прямая со стрелкой 20"/>
          <p:cNvCxnSpPr/>
          <p:nvPr/>
        </p:nvCxnSpPr>
        <p:spPr>
          <a:xfrm rot="5400000" flipH="1" flipV="1">
            <a:off x="1464447" y="2321711"/>
            <a:ext cx="857256" cy="64294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1026" idx="3"/>
            <a:endCxn id="1027" idx="1"/>
          </p:cNvCxnSpPr>
          <p:nvPr/>
        </p:nvCxnSpPr>
        <p:spPr>
          <a:xfrm>
            <a:off x="3810000" y="2414571"/>
            <a:ext cx="600075" cy="60483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 rot="16200000" flipV="1">
            <a:off x="6357950" y="3357562"/>
            <a:ext cx="928694" cy="50006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 33"/>
          <p:cNvSpPr/>
          <p:nvPr/>
        </p:nvSpPr>
        <p:spPr>
          <a:xfrm>
            <a:off x="7000892" y="3571876"/>
            <a:ext cx="21431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Нажать сочетание трех клавиш на клавиатуре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0" y="5286388"/>
            <a:ext cx="9144000" cy="15716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/>
          <p:cNvSpPr/>
          <p:nvPr/>
        </p:nvSpPr>
        <p:spPr>
          <a:xfrm>
            <a:off x="0" y="5286388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Примечание: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нажатия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назначить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закрыть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начнется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запись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Во время режима записи нельзя пользоваться мышью. Все действия осуществляются либо с помощью верхней панели, либо с помощью клавиатуры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/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Выполните 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действия, которые следует включить в макрос.</a:t>
            </a:r>
          </a:p>
          <a:p>
            <a:pPr marL="342900" indent="-342900" algn="just"/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Чтобы 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остановить запись действий, выберите команду </a:t>
            </a:r>
            <a:r>
              <a:rPr lang="ru-RU" sz="2600" b="1" dirty="0" smtClean="0">
                <a:latin typeface="Times New Roman" pitchFamily="18" charset="0"/>
                <a:cs typeface="Times New Roman" pitchFamily="18" charset="0"/>
              </a:rPr>
              <a:t>Остановить запись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в группе </a:t>
            </a:r>
            <a:r>
              <a:rPr lang="ru-RU" sz="2600" b="1" dirty="0" smtClean="0">
                <a:latin typeface="Times New Roman" pitchFamily="18" charset="0"/>
                <a:cs typeface="Times New Roman" pitchFamily="18" charset="0"/>
              </a:rPr>
              <a:t>Код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670" y="4929198"/>
            <a:ext cx="8816330" cy="1457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/>
          <p:nvPr/>
        </p:nvCxnSpPr>
        <p:spPr>
          <a:xfrm rot="5400000">
            <a:off x="1571604" y="4857760"/>
            <a:ext cx="1143008" cy="14287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71480"/>
            <a:ext cx="9144000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0800000">
            <a:off x="1142976" y="1000108"/>
            <a:ext cx="928694" cy="42862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0" y="500042"/>
            <a:ext cx="2428892" cy="500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857232"/>
            <a:ext cx="3786182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 группе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Настройка панели быстрого доступа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выберите документ.</a:t>
            </a:r>
          </a:p>
          <a:p>
            <a:pPr marL="342900" indent="-3429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 диалоговом окне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Выбрать команды из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выберите макрос, который требуется записать, и нажмите кнопку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Добавить</a:t>
            </a:r>
          </a:p>
          <a:p>
            <a:pPr marL="342900" indent="-3429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Измените иконку и название при необходимости</a:t>
            </a:r>
          </a:p>
          <a:p>
            <a:pPr marL="342900" indent="-342900"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Чтобы начать запись макроса, нажмите кнопку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ОК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44865" y="928670"/>
            <a:ext cx="5199135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/>
          <p:nvPr/>
        </p:nvCxnSpPr>
        <p:spPr>
          <a:xfrm>
            <a:off x="2928926" y="1785926"/>
            <a:ext cx="4500594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V="1">
            <a:off x="3357554" y="2214554"/>
            <a:ext cx="2928958" cy="14287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V="1">
            <a:off x="3714744" y="3214686"/>
            <a:ext cx="3429024" cy="14287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000364" y="4000504"/>
            <a:ext cx="5072098" cy="64294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3071802" y="4714884"/>
            <a:ext cx="5000660" cy="78581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Если назначить макрос «кнопке» </a:t>
            </a:r>
            <a:endParaRPr lang="ru-RU" sz="3200" b="1" dirty="0">
              <a:latin typeface="Cambria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500166" y="5750004"/>
            <a:ext cx="378618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Также на быструю панель можно добавить кнопку с готовым макросом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982792"/>
            <a:ext cx="1500166" cy="1875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 35"/>
          <p:cNvSpPr/>
          <p:nvPr/>
        </p:nvSpPr>
        <p:spPr>
          <a:xfrm>
            <a:off x="0" y="1071546"/>
            <a:ext cx="3857620" cy="57864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/>
          <p:cNvSpPr/>
          <p:nvPr/>
        </p:nvSpPr>
        <p:spPr>
          <a:xfrm rot="5400000">
            <a:off x="5536405" y="3250405"/>
            <a:ext cx="1500174" cy="57150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/>
          <p:cNvSpPr/>
          <p:nvPr/>
        </p:nvSpPr>
        <p:spPr>
          <a:xfrm>
            <a:off x="4000496" y="1071546"/>
            <a:ext cx="5143504" cy="4143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20491" y="1328736"/>
            <a:ext cx="5023509" cy="26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000240"/>
            <a:ext cx="3677814" cy="34909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Дополнительные возможности при работе с таблицей</a:t>
            </a:r>
            <a:endParaRPr lang="ru-RU" sz="3200" b="1" dirty="0">
              <a:latin typeface="Cambria" pitchFamily="18" charset="0"/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 rot="5400000">
            <a:off x="-214346" y="1857364"/>
            <a:ext cx="1143008" cy="14287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0" y="1071546"/>
            <a:ext cx="19799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Изменение стиля</a:t>
            </a:r>
            <a:endParaRPr lang="ru-RU" dirty="0"/>
          </a:p>
        </p:txBody>
      </p:sp>
      <p:cxnSp>
        <p:nvCxnSpPr>
          <p:cNvPr id="13" name="Прямая со стрелкой 12"/>
          <p:cNvCxnSpPr/>
          <p:nvPr/>
        </p:nvCxnSpPr>
        <p:spPr>
          <a:xfrm rot="16200000" flipV="1">
            <a:off x="-35751" y="4893479"/>
            <a:ext cx="1285884" cy="21431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0" y="5572140"/>
            <a:ext cx="50720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Перемещаться по ячейкам можно с помощью стрелок или клавиши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Tab.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Если выделять с клавишей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Shift,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можно выделить несколько ячеек и объединить их на вкладке Макет</a:t>
            </a:r>
            <a:endParaRPr lang="ru-RU" dirty="0"/>
          </a:p>
        </p:txBody>
      </p:sp>
      <p:cxnSp>
        <p:nvCxnSpPr>
          <p:cNvPr id="19" name="Прямая со стрелкой 18"/>
          <p:cNvCxnSpPr/>
          <p:nvPr/>
        </p:nvCxnSpPr>
        <p:spPr>
          <a:xfrm rot="5400000" flipH="1" flipV="1">
            <a:off x="7929586" y="2000240"/>
            <a:ext cx="857256" cy="57150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rot="10800000" flipV="1">
            <a:off x="6786578" y="2714620"/>
            <a:ext cx="1285884" cy="85725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7715304" y="2786058"/>
            <a:ext cx="157160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Формула в ячейке таблицы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Word</a:t>
            </a:r>
            <a:endParaRPr lang="ru-RU" sz="1400" dirty="0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29322" y="5415614"/>
            <a:ext cx="3214678" cy="1442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8" name="Прямая со стрелкой 27"/>
          <p:cNvCxnSpPr/>
          <p:nvPr/>
        </p:nvCxnSpPr>
        <p:spPr>
          <a:xfrm>
            <a:off x="4357686" y="6572272"/>
            <a:ext cx="1643074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91300" y="4000504"/>
            <a:ext cx="25527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Прямоугольник 32"/>
          <p:cNvSpPr/>
          <p:nvPr/>
        </p:nvSpPr>
        <p:spPr>
          <a:xfrm>
            <a:off x="4000496" y="3929066"/>
            <a:ext cx="264320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Ячейку с формулой можно обновить. В данном случае она будет считать произведение всех элементов в ячейке слева</a:t>
            </a:r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>
            <a:off x="0" y="857232"/>
            <a:ext cx="9144000" cy="200026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Макрос в режиме программирования</a:t>
            </a:r>
            <a:endParaRPr lang="ru-RU" sz="3200" b="1" dirty="0">
              <a:latin typeface="Cambria" pitchFamily="18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0" y="85723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Написание кода с нуля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пользователь открывает редактор VBA (сочетание клавиш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Alt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+ F11) и самостоятельно пишет последовательность действий в виде кода.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Встроенный в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язык позволяет работать с такими объектами программы как абзацы, таблицы, стили форматирования, шрифты документа.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71786"/>
            <a:ext cx="9144000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 descr="https://avatars.mds.yandex.net/i?id=8dc997950341709c67e538fa842def18_l-5330809-images-thumbs&amp;n=13"/>
          <p:cNvPicPr>
            <a:picLocks noChangeAspect="1" noChangeArrowheads="1"/>
          </p:cNvPicPr>
          <p:nvPr/>
        </p:nvPicPr>
        <p:blipFill>
          <a:blip r:embed="rId3"/>
          <a:srcRect l="36858" t="35881" r="36336" b="56663"/>
          <a:stretch>
            <a:fillRect/>
          </a:stretch>
        </p:blipFill>
        <p:spPr bwMode="auto">
          <a:xfrm>
            <a:off x="6867471" y="4643422"/>
            <a:ext cx="2276529" cy="50890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1000108"/>
            <a:ext cx="9144000" cy="58578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Советы по записи и использованию макросов</a:t>
            </a:r>
            <a:endParaRPr lang="ru-RU" sz="32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948690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Перед записью макроса запланируйте заранее шаги и команды,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которые он должен выполнить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Имя макроса должно начинаться с буквы, в нем нельзя использовать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пробелы и символы пунктуации.</a:t>
            </a:r>
          </a:p>
          <a:p>
            <a:pPr algn="just">
              <a:buFont typeface="Arial" pitchFamily="34" charset="0"/>
              <a:buChar char="•"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Действия и параметры можно выбирать с помощью мыши, однако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движения мыши не протоколируются. Например, мышь нельзя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использовать для выделения, копирования, вставки и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перетаскивания элементов. Для записи этих действий следует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пользоваться клавиатурой.</a:t>
            </a:r>
          </a:p>
          <a:p>
            <a:pPr algn="just">
              <a:buFont typeface="Arial" pitchFamily="34" charset="0"/>
              <a:buChar char="•"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Вводимый при создании макроса текст записывается в нем. Это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позволяет, например, с помощью макроса получать таблицы, в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первой строке которых (в так называемой "шапке таблицы") будут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представлены необходимые заголовки столбцов.</a:t>
            </a:r>
          </a:p>
          <a:p>
            <a:pPr algn="just">
              <a:buFont typeface="Arial" pitchFamily="34" charset="0"/>
              <a:buChar char="•"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во время записи макроса вы будете исправлять допущенные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ошибки, то они также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будут записываться. В таком случае придется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переписать макрос сначала (предварительно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удалив его).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511</Words>
  <Application>Microsoft Office PowerPoint</Application>
  <PresentationFormat>Экран (4:3)</PresentationFormat>
  <Paragraphs>62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Макросы в MS Word </vt:lpstr>
      <vt:lpstr>Дополнительные материалы</vt:lpstr>
      <vt:lpstr>Понятие «Макрос»</vt:lpstr>
      <vt:lpstr>Методы создания макросов</vt:lpstr>
      <vt:lpstr>Режим «обучения» редактора</vt:lpstr>
      <vt:lpstr>Если назначить макрос «клавишам» </vt:lpstr>
      <vt:lpstr>Слайд 7</vt:lpstr>
      <vt:lpstr>Если назначить макрос «кнопке» </vt:lpstr>
      <vt:lpstr>Дополнительные возможности при работе с таблицей</vt:lpstr>
      <vt:lpstr>Макрос в режиме программирования</vt:lpstr>
      <vt:lpstr>Советы по записи и использованию макросов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Макросы</dc:title>
  <dc:creator>user</dc:creator>
  <cp:lastModifiedBy>user</cp:lastModifiedBy>
  <cp:revision>71</cp:revision>
  <dcterms:created xsi:type="dcterms:W3CDTF">2024-02-01T09:49:19Z</dcterms:created>
  <dcterms:modified xsi:type="dcterms:W3CDTF">2025-09-20T13:05:56Z</dcterms:modified>
</cp:coreProperties>
</file>