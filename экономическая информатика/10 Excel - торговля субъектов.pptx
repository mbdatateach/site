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5" r:id="rId11"/>
    <p:sldId id="267" r:id="rId12"/>
    <p:sldId id="270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EEE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944" y="-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11.10.2025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11.10.2025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11.10.2025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11.10.2025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11.10.2025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11.10.2025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11.10.2025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11.10.2025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11.10.2025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11.10.2025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11.10.2025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DBB08-F6AD-4B9E-A2D8-7F4CDC30666D}" type="datetimeFigureOut">
              <a:rPr lang="ru-RU" smtClean="0"/>
              <a:pPr/>
              <a:t>11.10.2025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Практическая работа </a:t>
            </a:r>
            <a:br>
              <a:rPr lang="ru-RU" dirty="0" smtClean="0"/>
            </a:br>
            <a:r>
              <a:rPr lang="ru-RU" dirty="0" smtClean="0"/>
              <a:t>Таблица «Торговля субъектов»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0232" y="2571744"/>
            <a:ext cx="7143768" cy="3419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4" name="Прямая со стрелкой 3"/>
          <p:cNvCxnSpPr>
            <a:stCxn id="6" idx="2"/>
          </p:cNvCxnSpPr>
          <p:nvPr/>
        </p:nvCxnSpPr>
        <p:spPr>
          <a:xfrm rot="5400000">
            <a:off x="2396741" y="932272"/>
            <a:ext cx="1528718" cy="232173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2428860" y="642918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1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57488" y="928670"/>
            <a:ext cx="29289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Выделение всего листа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" name="Прямая со стрелкой 8"/>
          <p:cNvCxnSpPr>
            <a:stCxn id="11" idx="2"/>
          </p:cNvCxnSpPr>
          <p:nvPr/>
        </p:nvCxnSpPr>
        <p:spPr>
          <a:xfrm rot="5400000">
            <a:off x="6725941" y="1975323"/>
            <a:ext cx="442747" cy="132160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5857884" y="1357298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2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86512" y="1214422"/>
            <a:ext cx="26432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Дважды щелкнуть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между любыми столбцами (на белую разделительную линию)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" name="Прямая со стрелкой 12"/>
          <p:cNvCxnSpPr/>
          <p:nvPr/>
        </p:nvCxnSpPr>
        <p:spPr>
          <a:xfrm>
            <a:off x="642911" y="3143250"/>
            <a:ext cx="1357323" cy="92869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/>
          <p:cNvSpPr/>
          <p:nvPr/>
        </p:nvSpPr>
        <p:spPr>
          <a:xfrm>
            <a:off x="35748" y="2071678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3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0034" y="1714488"/>
            <a:ext cx="14287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Дважды щелкнуть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между любыми строками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Настройка видимости</a:t>
            </a:r>
            <a:r>
              <a:rPr kumimoji="0" lang="ru-RU" sz="32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 таблицы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85794"/>
            <a:ext cx="4914900" cy="565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5" name="Прямая со стрелкой 14"/>
          <p:cNvCxnSpPr>
            <a:stCxn id="18" idx="2"/>
          </p:cNvCxnSpPr>
          <p:nvPr/>
        </p:nvCxnSpPr>
        <p:spPr>
          <a:xfrm rot="5400000">
            <a:off x="5691219" y="583412"/>
            <a:ext cx="154736" cy="339330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000760" y="571480"/>
            <a:ext cx="2928958" cy="163121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После того, как выделили один столбец, зажмите клавишу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Ctrl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чтобы выделить ячейку из другого столбца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500694" y="3571876"/>
            <a:ext cx="3643306" cy="193899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Чтобы протянуть второй столбец, и не сбросить выделение первого, зажмите клавишу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Shift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 выделите последнюю нужную ячейку во втором столбце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3" name="Прямая со стрелкой 22"/>
          <p:cNvCxnSpPr>
            <a:stCxn id="22" idx="2"/>
          </p:cNvCxnSpPr>
          <p:nvPr/>
        </p:nvCxnSpPr>
        <p:spPr>
          <a:xfrm rot="5400000">
            <a:off x="5273598" y="4309209"/>
            <a:ext cx="847091" cy="325040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Прямоугольник 27"/>
          <p:cNvSpPr/>
          <p:nvPr/>
        </p:nvSpPr>
        <p:spPr>
          <a:xfrm>
            <a:off x="5429256" y="928670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1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29" name="Прямоугольник 28"/>
          <p:cNvSpPr/>
          <p:nvPr/>
        </p:nvSpPr>
        <p:spPr>
          <a:xfrm>
            <a:off x="4929190" y="4071942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2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00275"/>
            <a:ext cx="5705475" cy="465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19775" y="357166"/>
            <a:ext cx="3324225" cy="237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Прямая со стрелкой 11"/>
          <p:cNvCxnSpPr>
            <a:stCxn id="13" idx="3"/>
          </p:cNvCxnSpPr>
          <p:nvPr/>
        </p:nvCxnSpPr>
        <p:spPr>
          <a:xfrm>
            <a:off x="5143504" y="1304638"/>
            <a:ext cx="1000132" cy="40985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14282" y="642918"/>
            <a:ext cx="4929222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Чтобы отсортировать таблицу с несколькими столбцами, выделите таблицу и выберите пункт «Настраиваемая сортировка»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1" name="Прямая со стрелкой 20"/>
          <p:cNvCxnSpPr>
            <a:stCxn id="24" idx="2"/>
          </p:cNvCxnSpPr>
          <p:nvPr/>
        </p:nvCxnSpPr>
        <p:spPr>
          <a:xfrm rot="5400000">
            <a:off x="6122514" y="2514935"/>
            <a:ext cx="363684" cy="275033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15042" y="3000372"/>
            <a:ext cx="2928958" cy="70788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Выберите столбец сортировки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1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928802"/>
            <a:ext cx="3609975" cy="197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0" name="Прямая со стрелкой 9"/>
          <p:cNvCxnSpPr>
            <a:stCxn id="11" idx="2"/>
          </p:cNvCxnSpPr>
          <p:nvPr/>
        </p:nvCxnSpPr>
        <p:spPr>
          <a:xfrm rot="5400000">
            <a:off x="5215861" y="893869"/>
            <a:ext cx="176759" cy="289323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286380" y="928670"/>
            <a:ext cx="2928958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Для протягивания чисел по порядку протяните ячейку за ее угол «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» и зажатой клавишей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Ctrl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4071942"/>
            <a:ext cx="3829050" cy="150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6" name="Прямая со стрелкой 15"/>
          <p:cNvCxnSpPr>
            <a:stCxn id="11" idx="2"/>
            <a:endCxn id="4099" idx="3"/>
          </p:cNvCxnSpPr>
          <p:nvPr/>
        </p:nvCxnSpPr>
        <p:spPr>
          <a:xfrm rot="5400000">
            <a:off x="4146661" y="2220219"/>
            <a:ext cx="2572308" cy="263608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1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785794"/>
            <a:ext cx="6172200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2928926" y="1500174"/>
            <a:ext cx="29289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Деление в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Excel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28926" y="5286388"/>
            <a:ext cx="1973442" cy="13930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Прямая со стрелкой 11"/>
          <p:cNvCxnSpPr>
            <a:stCxn id="13" idx="1"/>
          </p:cNvCxnSpPr>
          <p:nvPr/>
        </p:nvCxnSpPr>
        <p:spPr>
          <a:xfrm rot="10800000" flipV="1">
            <a:off x="4429124" y="5926082"/>
            <a:ext cx="2000264" cy="7468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29388" y="5572140"/>
            <a:ext cx="2278501" cy="70788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Количество знаков после запятой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928794" y="6529352"/>
            <a:ext cx="41434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Преобразование в нужный формат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1857364"/>
            <a:ext cx="9144000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Чтобы иметь возможность адекватно копировать формулу, необходимо закрепить ячейку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F1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так, чтобы при копировании она не менялась. Для этого в 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Excel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существует абсолютная адресация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(</a:t>
            </a:r>
            <a:r>
              <a:rPr kumimoji="0" lang="ru-RU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клавиша </a:t>
            </a:r>
            <a:r>
              <a:rPr kumimoji="0" lang="en-US" sz="20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F4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)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Абсолютная адресация в </a:t>
            </a:r>
            <a:r>
              <a:rPr kumimoji="0" lang="ru-RU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Excel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– это ссылка на определённую (фиксированную) ячейку, которая не изменяется при копировании формулы.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В абсолютной ссылке перед каждой буквой и цифрой помещается знак $ (например, $А$1). При изменении позиции ячейки, содержащей формулу, абсолютная ссылка не изменяется.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Абсолютные ссылки в формулах используются в случаях: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необходимости применения в формулах констант;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необходимости фиксации диапазона для проведения расчётов.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0" y="4500570"/>
            <a:ext cx="9144000" cy="185738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0" y="2428868"/>
            <a:ext cx="9144000" cy="1857388"/>
          </a:xfrm>
          <a:prstGeom prst="rect">
            <a:avLst/>
          </a:prstGeom>
          <a:solidFill>
            <a:srgbClr val="E2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0" y="500042"/>
            <a:ext cx="9144000" cy="185738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1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0" y="500042"/>
            <a:ext cx="91440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Функция «ЕСЛИ» в </a:t>
            </a:r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проверяет, соответствуют ли значения в выбранных ячейках заданному условию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 Когда условие выполняется, в ячейке выводится один результат, когда нет — другой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Синтаксис функции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ЕСЛИ(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лог_выражение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значение_если_истина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значение_если_ложь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Аргументы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Лог_выражение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 (обязательно) — условие, которое нужно проверить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Значение_если_истина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 (обязательно) — значение, которое должно возвращаться, если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лог_выражение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имеет значение ИСТИНА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Значение_если_ложь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 (необязательно) — значение, которое должно возвращаться, если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лог_выражение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имеет значение ЛОЖЬ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Примеры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использования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ЕСЛИ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(А1&gt;=3 ; «Зачёт сдал» ; «Зачёт не сдал»)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 Если в ячейке А1 оценка больше или равна 3, то зачёт сдан, в противном случае — нет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=ЕСЛИ (А1=«оплачено»; В1; 0)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 Эта формула возвращает значение из ячейки В1, если ячейка А1 содержит слово «оплачено», и 0, если в ней находится любое другое значение.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857232"/>
            <a:ext cx="9144000" cy="928694"/>
          </a:xfrm>
          <a:prstGeom prst="rect">
            <a:avLst/>
          </a:prstGeom>
          <a:solidFill>
            <a:schemeClr val="bg2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2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0" y="500042"/>
            <a:ext cx="9144000" cy="63401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БИЗВЛЕЧЬ(</a:t>
            </a:r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база_данных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; поле;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критерий)</a:t>
            </a: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Функция «БИЗВЛЕЧЬ» в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предназначена для удобства поиска информации в больших массивах данных. Она позволяет извлечь из столбца списка или базы данных одно значение, удовлетворяющее заданным условиям.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База_данных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—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обязательный аргумент. Диапазон ячеек, образующих список или базу данных. База данных представляет собой список связанных данных, в котором строки данных являются записями, а столбцы — полями. Первая строка списка содержит заголовки всех столбцов.</a:t>
            </a:r>
          </a:p>
          <a:p>
            <a:pPr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Поле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—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обязательный аргумент. Столбец, используемый функцией. Введите текст с заголовком столбца в двойных кавычках, например "Возраст" или "Урожай", или число (без кавычек), задающее положение столбца в списке: 1 — для первого столбца, 2 — для второго и т. д.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Критерий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 — обязательный аргумент. Диапазон ячеек, который содержит задаваемые условия. В качестве аргумента "условия" можно использовать любой диапазон, который содержит хотя бы один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заголовок столбца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 хотя бы одну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ячейку с условием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расположенную под заголовком столбца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Примечание: заголовок таблицы и строка с условием в поле «Критерий» должны быть заданы в том же регистре, как они представлены в таблице</a:t>
            </a:r>
            <a:endParaRPr lang="ru-RU" sz="2200" b="1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2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14356"/>
            <a:ext cx="9144000" cy="18326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2285984" y="2571744"/>
            <a:ext cx="43577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Применение формулы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БИЗВЛЕЧЬ</a:t>
            </a: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3000372"/>
            <a:ext cx="9144000" cy="830997"/>
          </a:xfrm>
          <a:prstGeom prst="rect">
            <a:avLst/>
          </a:prstGeom>
          <a:solidFill>
            <a:srgbClr val="E2EEEE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Спарклайны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— это небольшие диаграммы внутри отдельных ячеек на листе.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30" name="Picture 6" descr="Вставка -&gt; Спарклайны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5786" y="3984632"/>
            <a:ext cx="7573510" cy="287336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3 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а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571480"/>
            <a:ext cx="4966310" cy="290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09875" y="4000504"/>
            <a:ext cx="6334125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714348" y="3500438"/>
            <a:ext cx="43577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Вставка круговой диаграммы на лист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000496" y="5842337"/>
            <a:ext cx="43577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Настройка внешнего вида диаграммы может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осуществляться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 вкладке «Конструктор»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3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 б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428736"/>
            <a:ext cx="8715404" cy="39900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>
            <a:stCxn id="9" idx="2"/>
          </p:cNvCxnSpPr>
          <p:nvPr/>
        </p:nvCxnSpPr>
        <p:spPr>
          <a:xfrm rot="5400000">
            <a:off x="4078566" y="292377"/>
            <a:ext cx="1344052" cy="350043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3428992" y="571480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1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57620" y="785794"/>
            <a:ext cx="52863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Для вставки столбца в готовую диаграмму необходимо: выделить нужный столбец и нажать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Ctrl+C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" name="Прямая со стрелкой 10"/>
          <p:cNvCxnSpPr/>
          <p:nvPr/>
        </p:nvCxnSpPr>
        <p:spPr>
          <a:xfrm rot="5400000" flipH="1" flipV="1">
            <a:off x="7724801" y="5419735"/>
            <a:ext cx="1276358" cy="15240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15008" y="6130349"/>
            <a:ext cx="34289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Нажать на нужную диаграмму и нажать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Ctrl+V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5286380" y="5934694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2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1607384" y="5934670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3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71670" y="6130349"/>
            <a:ext cx="2786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Провести необходимое редактирование форматов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4348" y="3929066"/>
            <a:ext cx="2588898" cy="200026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cxnSp>
        <p:nvCxnSpPr>
          <p:cNvPr id="18" name="Прямая со стрелкой 17"/>
          <p:cNvCxnSpPr>
            <a:endCxn id="3075" idx="3"/>
          </p:cNvCxnSpPr>
          <p:nvPr/>
        </p:nvCxnSpPr>
        <p:spPr>
          <a:xfrm rot="16200000" flipV="1">
            <a:off x="3080367" y="5152077"/>
            <a:ext cx="1285884" cy="84012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3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 в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571481"/>
            <a:ext cx="4030722" cy="3286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0" y="3857628"/>
            <a:ext cx="4000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Условное форматирование в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Excel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95952" y="857232"/>
            <a:ext cx="4548048" cy="2813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/>
          <p:nvPr/>
        </p:nvCxnSpPr>
        <p:spPr>
          <a:xfrm rot="5400000">
            <a:off x="5900240" y="743442"/>
            <a:ext cx="1915557" cy="157163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72264" y="214290"/>
            <a:ext cx="25717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Область создания правил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" name="Прямая со стрелкой 9"/>
          <p:cNvCxnSpPr/>
          <p:nvPr/>
        </p:nvCxnSpPr>
        <p:spPr>
          <a:xfrm flipV="1">
            <a:off x="5715008" y="3214687"/>
            <a:ext cx="1357322" cy="64294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14810" y="3857628"/>
            <a:ext cx="32861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Стиль выделения ячеек, если ячейка соответствует правилу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0" y="4549676"/>
            <a:ext cx="714376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Функция «СЧЁТ»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нужна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для подсчёта количества ячеек, в которых находятся числа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(например, целые, дробные или ноль). Текстовые значения при этом игнорируются.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Это именно подсчет ячеек с числовыми значениями. Если вместо 1 вы внесете, например число 100 то результат "на сто" больше не станет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2" descr="Функция СЧЁТ в excel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15207" y="4162511"/>
            <a:ext cx="1928794" cy="2695489"/>
          </a:xfrm>
          <a:prstGeom prst="rect">
            <a:avLst/>
          </a:prstGeom>
          <a:noFill/>
        </p:spPr>
      </p:pic>
      <p:cxnSp>
        <p:nvCxnSpPr>
          <p:cNvPr id="12" name="Прямая со стрелкой 11"/>
          <p:cNvCxnSpPr/>
          <p:nvPr/>
        </p:nvCxnSpPr>
        <p:spPr>
          <a:xfrm>
            <a:off x="6715140" y="6143644"/>
            <a:ext cx="785818" cy="21431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368</Words>
  <Application>Microsoft Office PowerPoint</Application>
  <PresentationFormat>Экран (4:3)</PresentationFormat>
  <Paragraphs>69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Практическая работа  Таблица «Торговля субъектов»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Практическая работа Excel</dc:title>
  <dc:creator>user</dc:creator>
  <cp:lastModifiedBy>user</cp:lastModifiedBy>
  <cp:revision>32</cp:revision>
  <dcterms:created xsi:type="dcterms:W3CDTF">2025-01-01T12:55:25Z</dcterms:created>
  <dcterms:modified xsi:type="dcterms:W3CDTF">2025-10-11T17:50:22Z</dcterms:modified>
</cp:coreProperties>
</file>