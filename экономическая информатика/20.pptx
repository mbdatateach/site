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2" r:id="rId9"/>
    <p:sldId id="263" r:id="rId10"/>
    <p:sldId id="265" r:id="rId11"/>
    <p:sldId id="266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664" y="-8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23.11.2025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23.11.2025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23.11.2025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23.11.2025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23.11.2025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23.11.2025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23.11.2025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23.11.2025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23.11.2025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23.11.2025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CF7684-AF35-4CB9-86B4-0EE510FBBFBE}" type="datetimeFigureOut">
              <a:rPr lang="ru-RU" smtClean="0"/>
              <a:pPr/>
              <a:t>23.11.2025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CF7684-AF35-4CB9-86B4-0EE510FBBFBE}" type="datetimeFigureOut">
              <a:rPr lang="ru-RU" smtClean="0"/>
              <a:pPr/>
              <a:t>23.11.2025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C67F9-B7A0-484A-BFAF-218CADAB3EE4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СУБД MS Access (1 </a:t>
            </a:r>
            <a:r>
              <a:rPr lang="en-US" dirty="0" err="1" smtClean="0"/>
              <a:t>часть</a:t>
            </a:r>
            <a:r>
              <a:rPr lang="en-US" dirty="0" smtClean="0"/>
              <a:t>)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Базы данных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2559578"/>
            <a:ext cx="7358050" cy="39191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5" name="Прямая со стрелкой 4"/>
          <p:cNvCxnSpPr/>
          <p:nvPr/>
        </p:nvCxnSpPr>
        <p:spPr>
          <a:xfrm rot="10800000">
            <a:off x="2428860" y="4131214"/>
            <a:ext cx="1857388" cy="121444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Прямая со стрелкой 6"/>
          <p:cNvCxnSpPr/>
          <p:nvPr/>
        </p:nvCxnSpPr>
        <p:spPr>
          <a:xfrm>
            <a:off x="4286248" y="5345660"/>
            <a:ext cx="2500330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571736" y="6488668"/>
            <a:ext cx="4026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Программа </a:t>
            </a:r>
            <a:r>
              <a:rPr lang="en-US" dirty="0" smtClean="0"/>
              <a:t>Access </a:t>
            </a:r>
            <a:r>
              <a:rPr lang="ru-RU" dirty="0" smtClean="0"/>
              <a:t>из папки </a:t>
            </a:r>
            <a:r>
              <a:rPr lang="en-US" dirty="0" smtClean="0"/>
              <a:t>Office2007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0" y="857232"/>
            <a:ext cx="9144000" cy="163121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— 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это средство для создания баз данных, для хранения, обработки и быстрого доступа к нужной информации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Проще говоря, это программа, которая позволяет хранить данные в виде таблиц, связанных между собой с помощью ключевых полей, и на её основе создавать отчёты, формировать выборки и получать к ним доступ.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рямоугольник 12"/>
          <p:cNvSpPr/>
          <p:nvPr/>
        </p:nvSpPr>
        <p:spPr>
          <a:xfrm>
            <a:off x="4572000" y="857232"/>
            <a:ext cx="4572000" cy="307183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Создание таблицы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857232"/>
            <a:ext cx="4238625" cy="2276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9" name="Прямоугольник 8"/>
          <p:cNvSpPr/>
          <p:nvPr/>
        </p:nvSpPr>
        <p:spPr>
          <a:xfrm>
            <a:off x="0" y="3071810"/>
            <a:ext cx="421481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>
                <a:latin typeface="Times New Roman" pitchFamily="18" charset="0"/>
                <a:cs typeface="Times New Roman" pitchFamily="18" charset="0"/>
              </a:rPr>
              <a:t>Режим конструктора таблиц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в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позволяет создавать таблицы путём задания имён полей, их типов и свойств.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00425" y="4772025"/>
            <a:ext cx="5743575" cy="2085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" name="Прямоугольник 9"/>
          <p:cNvSpPr/>
          <p:nvPr/>
        </p:nvSpPr>
        <p:spPr>
          <a:xfrm>
            <a:off x="0" y="4786322"/>
            <a:ext cx="335755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Ключевое поле в 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—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 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это поле, которое содержит уникальные (неповторяющиеся) для каждой записи данные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cxnSp>
        <p:nvCxnSpPr>
          <p:cNvPr id="11" name="Прямая со стрелкой 10"/>
          <p:cNvCxnSpPr>
            <a:stCxn id="10" idx="3"/>
          </p:cNvCxnSpPr>
          <p:nvPr/>
        </p:nvCxnSpPr>
        <p:spPr>
          <a:xfrm>
            <a:off x="3357554" y="5524986"/>
            <a:ext cx="2143140" cy="11859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Прямоугольник 7"/>
          <p:cNvSpPr/>
          <p:nvPr/>
        </p:nvSpPr>
        <p:spPr>
          <a:xfrm>
            <a:off x="4572000" y="857232"/>
            <a:ext cx="4572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Таблица состоит из строк и столбцов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. Каждый столбец имеет имя, не повторяющееся в этой таблице. Строки следуют в произвольном порядке и не имеют номеров. Поиск строк производится не по номерам, а по идентификаторам (ключам).</a:t>
            </a:r>
            <a:endParaRPr lang="ru-RU" sz="2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Заполнение таблицы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0" y="3214686"/>
            <a:ext cx="914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Для заполнения таблицы своими данными переключитесь в режим «Таблицы» </a:t>
            </a:r>
            <a:r>
              <a:rPr lang="ru-RU" b="1" dirty="0">
                <a:latin typeface="Times New Roman" pitchFamily="18" charset="0"/>
                <a:cs typeface="Times New Roman" pitchFamily="18" charset="0"/>
              </a:rPr>
              <a:t>(Главная→Режим→Конструктор)</a:t>
            </a:r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928670"/>
            <a:ext cx="6619875" cy="235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85984" y="4014809"/>
            <a:ext cx="4619625" cy="248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Прямоугольник 11"/>
          <p:cNvSpPr/>
          <p:nvPr/>
        </p:nvSpPr>
        <p:spPr>
          <a:xfrm>
            <a:off x="0" y="6488692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Создание еще одной таблицы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357214"/>
            <a:ext cx="8229600" cy="1143000"/>
          </a:xfrm>
        </p:spPr>
        <p:txBody>
          <a:bodyPr/>
          <a:lstStyle/>
          <a:p>
            <a:r>
              <a:rPr lang="ru-RU" dirty="0" smtClean="0"/>
              <a:t>Схема данных</a:t>
            </a:r>
            <a:endParaRPr lang="ru-RU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" y="1571612"/>
            <a:ext cx="9144000" cy="431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Прямая со стрелкой 9"/>
          <p:cNvCxnSpPr/>
          <p:nvPr/>
        </p:nvCxnSpPr>
        <p:spPr>
          <a:xfrm flipV="1">
            <a:off x="4857752" y="5514974"/>
            <a:ext cx="2643206" cy="92869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endCxn id="8" idx="2"/>
          </p:cNvCxnSpPr>
          <p:nvPr/>
        </p:nvCxnSpPr>
        <p:spPr>
          <a:xfrm rot="16200000" flipV="1">
            <a:off x="1868080" y="3453995"/>
            <a:ext cx="3586172" cy="239317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/>
          <p:cNvSpPr/>
          <p:nvPr/>
        </p:nvSpPr>
        <p:spPr>
          <a:xfrm>
            <a:off x="0" y="6372230"/>
            <a:ext cx="9144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Добавление таблиц для просмотра осуществляется вручную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0" y="571480"/>
            <a:ext cx="91440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Схема данных графически отображается в отдельном окне и показывает логическую структуру базы данных. Таблицы представлены списками полей, а связи 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(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при их наличии</a:t>
            </a:r>
            <a:r>
              <a:rPr lang="en-US" sz="2000" b="1" dirty="0" smtClean="0">
                <a:latin typeface="Times New Roman" pitchFamily="18" charset="0"/>
                <a:cs typeface="Times New Roman" pitchFamily="18" charset="0"/>
              </a:rPr>
              <a:t>) </a:t>
            </a:r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линиями между полями разных таблиц.</a:t>
            </a:r>
            <a:endParaRPr lang="ru-RU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2143108" y="2143116"/>
            <a:ext cx="642942" cy="71438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Запросы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857232"/>
            <a:ext cx="9144000" cy="2862322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Запросы в </a:t>
            </a: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b="1" dirty="0" err="1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 — это средство выбора необходимой информации из базы данных. Они используются для просмотра, анализа и изменения данных в одной или нескольких таблицах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ru-RU" sz="2000" b="1" dirty="0">
                <a:latin typeface="Times New Roman" pitchFamily="18" charset="0"/>
                <a:cs typeface="Times New Roman" pitchFamily="18" charset="0"/>
              </a:rPr>
              <a:t>Некоторые функции запросов: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фильтровать и сортировать данные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производить расчёты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группировать записи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вносить изменения сразу в несколько записей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sz="2000" dirty="0">
                <a:latin typeface="Times New Roman" pitchFamily="18" charset="0"/>
                <a:cs typeface="Times New Roman" pitchFamily="18" charset="0"/>
              </a:rPr>
              <a:t>создавать таблицы как результат запроса.</a:t>
            </a: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029095"/>
            <a:ext cx="9144000" cy="2257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Запросы</a:t>
            </a:r>
            <a:endParaRPr lang="ru-RU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0" y="857232"/>
            <a:ext cx="9144000" cy="369331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существуют следующие виды запросов: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Запрос на выборку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Задает вопросы о данных, хранящихся в таблицах, и представляет полученный динамический набор в режиме формы или таблицы без изменения данных.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Запрос с параметрами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При запуске такого запроса открывается диалоговое окно, в которое должны быть внесены определённые сведения, критерии отбора данных.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Перекрёстный запрос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Позволяет отобразить в таблице некоторые статистические расчёты. Это способ упорядочить информацию из базы данных по двум или более параметрам и сделать таблицу более компактной и наглядной.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Запрос на изменение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Используется для внесения изменений в несколько записей таблицы. Возможны запросы на изменение таблицы, на удаление записей, на добавление или обновление записей.</a:t>
            </a:r>
          </a:p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Запрос SQL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. Запросы, которые могут быть созданы только с помощью специального языка (инструкций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SQL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714884"/>
            <a:ext cx="914400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Запросы: алгоритм создания</a:t>
            </a:r>
            <a:endParaRPr lang="ru-RU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643050"/>
            <a:ext cx="3857625" cy="4619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6" name="Прямая со стрелкой 5"/>
          <p:cNvCxnSpPr/>
          <p:nvPr/>
        </p:nvCxnSpPr>
        <p:spPr>
          <a:xfrm rot="10800000" flipV="1">
            <a:off x="3357554" y="2500306"/>
            <a:ext cx="1214446" cy="21431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Прямоугольник 9"/>
          <p:cNvSpPr/>
          <p:nvPr/>
        </p:nvSpPr>
        <p:spPr>
          <a:xfrm>
            <a:off x="4572000" y="2285992"/>
            <a:ext cx="400052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Выбрать необходимые для вывода поля таблицы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1" name="Прямая со стрелкой 10"/>
          <p:cNvCxnSpPr/>
          <p:nvPr/>
        </p:nvCxnSpPr>
        <p:spPr>
          <a:xfrm rot="10800000" flipV="1">
            <a:off x="2214546" y="4286256"/>
            <a:ext cx="2571768" cy="150019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Прямоугольник 12"/>
          <p:cNvSpPr/>
          <p:nvPr/>
        </p:nvSpPr>
        <p:spPr>
          <a:xfrm>
            <a:off x="4572000" y="3929066"/>
            <a:ext cx="31432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Заполнить условия отбора (например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,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="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Иванов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"</a:t>
            </a:r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924175" y="5476875"/>
            <a:ext cx="6219825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Прямая со стрелкой 14"/>
          <p:cNvCxnSpPr/>
          <p:nvPr/>
        </p:nvCxnSpPr>
        <p:spPr>
          <a:xfrm rot="5400000">
            <a:off x="3357554" y="4929198"/>
            <a:ext cx="1214446" cy="121444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4214810" y="4714884"/>
            <a:ext cx="40005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Нажать кнопку «Выполнить»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Прямая со стрелкой 13"/>
          <p:cNvCxnSpPr>
            <a:stCxn id="23" idx="1"/>
          </p:cNvCxnSpPr>
          <p:nvPr/>
        </p:nvCxnSpPr>
        <p:spPr>
          <a:xfrm rot="10800000" flipV="1">
            <a:off x="1643042" y="3390598"/>
            <a:ext cx="3071834" cy="182435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>
            <a:stCxn id="23" idx="1"/>
          </p:cNvCxnSpPr>
          <p:nvPr/>
        </p:nvCxnSpPr>
        <p:spPr>
          <a:xfrm rot="10800000" flipV="1">
            <a:off x="1857356" y="3390598"/>
            <a:ext cx="2857520" cy="225297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 22"/>
          <p:cNvSpPr/>
          <p:nvPr/>
        </p:nvSpPr>
        <p:spPr>
          <a:xfrm>
            <a:off x="4714876" y="2928934"/>
            <a:ext cx="40005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При необходимости можно стереть случайно добавленные столбцы или отключить их отображение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Прямоугольник 25"/>
          <p:cNvSpPr/>
          <p:nvPr/>
        </p:nvSpPr>
        <p:spPr>
          <a:xfrm>
            <a:off x="2428860" y="2285992"/>
            <a:ext cx="1000132" cy="114300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Запросы: алгоритм создания</a:t>
            </a:r>
            <a:endParaRPr lang="ru-RU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2047875"/>
            <a:ext cx="6219825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5" name="Прямая со стрелкой 14"/>
          <p:cNvCxnSpPr/>
          <p:nvPr/>
        </p:nvCxnSpPr>
        <p:spPr>
          <a:xfrm rot="5400000">
            <a:off x="3964777" y="1726404"/>
            <a:ext cx="714380" cy="64294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Скругленный прямоугольник 11"/>
          <p:cNvSpPr/>
          <p:nvPr/>
        </p:nvSpPr>
        <p:spPr>
          <a:xfrm>
            <a:off x="2071670" y="2405065"/>
            <a:ext cx="3786214" cy="71438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/>
          <p:cNvSpPr/>
          <p:nvPr/>
        </p:nvSpPr>
        <p:spPr>
          <a:xfrm>
            <a:off x="3786182" y="1000108"/>
            <a:ext cx="53578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Кроме запросов на сортировку и фильтрацию данных можно создать и другие запросы, изменяющие содержание таблиц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57224" y="4071942"/>
            <a:ext cx="7439025" cy="1438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7" name="Прямоугольник 16"/>
          <p:cNvSpPr/>
          <p:nvPr/>
        </p:nvSpPr>
        <p:spPr>
          <a:xfrm>
            <a:off x="1857356" y="5572140"/>
            <a:ext cx="53578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После того, как были заданы условия на обновление/удаление, необходимо нажать на кнопку Выполнить и подтвердить результат</a:t>
            </a:r>
            <a:endParaRPr lang="ru-RU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857232"/>
            <a:ext cx="9144000" cy="2714644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Запросы: группировка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0" y="785794"/>
            <a:ext cx="91440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Запросы с группировкой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в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Access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позволяют обрабатывать сразу несколько строк, например, считать сумму баллов или находить количество строк с одинаковым значением заданного поля.</a:t>
            </a:r>
          </a:p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Некоторые функции, которые можно использовать в запросах с группировкой: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Sum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вычисление суммы всех значений заданного поля для каждой группы. Функция используется только для числовых и денежных полей.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Avg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вычисление среднего значения в каждой из групп заданного поля. Функция используется только для числовых и денежных полей.</a:t>
            </a:r>
          </a:p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Count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возвращение числа записей, значение которых отличны от нуля, в каждой группе заданного поля.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71712" y="3571876"/>
            <a:ext cx="5862535" cy="32861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Прямоугольник 12"/>
          <p:cNvSpPr/>
          <p:nvPr/>
        </p:nvSpPr>
        <p:spPr>
          <a:xfrm>
            <a:off x="6286512" y="3571876"/>
            <a:ext cx="357190" cy="5000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 13"/>
          <p:cNvSpPr/>
          <p:nvPr/>
        </p:nvSpPr>
        <p:spPr>
          <a:xfrm>
            <a:off x="2857488" y="6072206"/>
            <a:ext cx="1928826" cy="50006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-24"/>
            <a:ext cx="8229600" cy="1143000"/>
          </a:xfrm>
        </p:spPr>
        <p:txBody>
          <a:bodyPr/>
          <a:lstStyle/>
          <a:p>
            <a:r>
              <a:rPr lang="ru-RU" dirty="0" smtClean="0"/>
              <a:t>Графики в </a:t>
            </a:r>
            <a:r>
              <a:rPr lang="en-US" dirty="0" smtClean="0"/>
              <a:t>Access</a:t>
            </a: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43300" y="3071810"/>
            <a:ext cx="5600700" cy="355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142984"/>
            <a:ext cx="5848350" cy="137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0" name="Прямая со стрелкой 9"/>
          <p:cNvCxnSpPr/>
          <p:nvPr/>
        </p:nvCxnSpPr>
        <p:spPr>
          <a:xfrm rot="10800000">
            <a:off x="5072066" y="1714488"/>
            <a:ext cx="1857388" cy="142876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Прямоугольник 16"/>
          <p:cNvSpPr/>
          <p:nvPr/>
        </p:nvSpPr>
        <p:spPr>
          <a:xfrm>
            <a:off x="6858016" y="1643050"/>
            <a:ext cx="207170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 smtClean="0">
                <a:latin typeface="Times New Roman" pitchFamily="18" charset="0"/>
                <a:cs typeface="Times New Roman" pitchFamily="18" charset="0"/>
              </a:rPr>
              <a:t>Добавление диаграммы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415</Words>
  <Application>Microsoft Office PowerPoint</Application>
  <PresentationFormat>Экран (4:3)</PresentationFormat>
  <Paragraphs>46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СУБД MS Access (1 часть)</vt:lpstr>
      <vt:lpstr>Базы данных</vt:lpstr>
      <vt:lpstr>Создание таблицы</vt:lpstr>
      <vt:lpstr>Заполнение таблицы</vt:lpstr>
      <vt:lpstr>Схема данных</vt:lpstr>
      <vt:lpstr>Запросы</vt:lpstr>
      <vt:lpstr>Запросы</vt:lpstr>
      <vt:lpstr>Запросы: алгоритм создания</vt:lpstr>
      <vt:lpstr>Запросы: алгоритм создания</vt:lpstr>
      <vt:lpstr>Запросы: группировка</vt:lpstr>
      <vt:lpstr>Графики в Access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СУБД MS Access (1 часть)</dc:title>
  <dc:creator>user</dc:creator>
  <cp:lastModifiedBy>user</cp:lastModifiedBy>
  <cp:revision>20</cp:revision>
  <dcterms:created xsi:type="dcterms:W3CDTF">2025-04-18T08:16:15Z</dcterms:created>
  <dcterms:modified xsi:type="dcterms:W3CDTF">2025-11-23T09:04:05Z</dcterms:modified>
</cp:coreProperties>
</file>