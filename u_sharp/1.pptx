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86" r:id="rId4"/>
    <p:sldId id="287" r:id="rId5"/>
    <p:sldId id="278" r:id="rId6"/>
    <p:sldId id="279" r:id="rId7"/>
    <p:sldId id="280" r:id="rId8"/>
    <p:sldId id="281" r:id="rId9"/>
    <p:sldId id="288" r:id="rId10"/>
    <p:sldId id="282" r:id="rId11"/>
    <p:sldId id="285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75" d="100"/>
          <a:sy n="75" d="100"/>
        </p:scale>
        <p:origin x="-2580" y="-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C9B77-AA25-4C4C-9D5F-EEB1395BF952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sharp/windowsforms/4.1.php" TargetMode="External"/><Relationship Id="rId2" Type="http://schemas.openxmlformats.org/officeDocument/2006/relationships/hyperlink" Target="https://metanit.com/sharp/tutorial/20.2.php?ysclid=m1c4t75sz6218180615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translated.turbopages.org/proxy_u/en-ru.ru.81bb7be9-66e5634f-8c5806ad-74722d776562/https/www.geeksforgeeks.org/use-pandas-to-calculate-statistics-in-python/" TargetMode="External"/><Relationship Id="rId4" Type="http://schemas.openxmlformats.org/officeDocument/2006/relationships/hyperlink" Target="https://metanit.com/sharp/windowsforms/3.1.php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Вспоминаем </a:t>
            </a:r>
            <a:r>
              <a:rPr lang="en-US" b="1" dirty="0" smtClean="0"/>
              <a:t>Windows Forms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710963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Конструкция </a:t>
            </a:r>
            <a:r>
              <a:rPr lang="en-US" sz="2400" i="1" dirty="0" smtClean="0">
                <a:latin typeface="Cambria" pitchFamily="18" charset="0"/>
              </a:rPr>
              <a:t>switch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https://metanit.com/sharp/tutorial/3.45.php?ysclid=m1c9ph7l2q615233938</a:t>
            </a:r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Элементы управления (Глава 4)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https://metanit.com/sharp/windowsforms/4.1.php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4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Контейнеры в </a:t>
            </a:r>
            <a:r>
              <a:rPr lang="en-US" sz="2400" i="1" dirty="0" smtClean="0">
                <a:latin typeface="Cambria" pitchFamily="18" charset="0"/>
              </a:rPr>
              <a:t>Windows Forms</a:t>
            </a:r>
            <a:r>
              <a:rPr lang="ru-RU" sz="2400" i="1" dirty="0" smtClean="0">
                <a:latin typeface="Cambria" pitchFamily="18" charset="0"/>
              </a:rPr>
              <a:t> (Глава 3)</a:t>
            </a:r>
            <a:endParaRPr lang="ru-RU" sz="2400" b="1" dirty="0" smtClean="0">
              <a:latin typeface="Cambria" pitchFamily="18" charset="0"/>
              <a:hlinkClick r:id="rId4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4"/>
              </a:rPr>
              <a:t>https://metanit.com/sharp/windowsforms/3.1.php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5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2928934"/>
            <a:ext cx="9144000" cy="1928826"/>
          </a:xfrm>
          <a:prstGeom prst="rect">
            <a:avLst/>
          </a:prstGeom>
          <a:solidFill>
            <a:srgbClr val="DDE3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5072074"/>
            <a:ext cx="9144000" cy="17859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Среда разработки</a:t>
            </a:r>
            <a:endParaRPr lang="ru-RU" b="1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2214546" y="1071546"/>
            <a:ext cx="692945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SharpDevelop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свободная среда разработки для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C#, Visual Basic .NET, Boo, IronPython, IronRuby, F#, C++.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Обычно используется как альтернатива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Visual Studio .NET.</a:t>
            </a:r>
            <a:endParaRPr kumimoji="0" lang="ru-RU" sz="2200" b="0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338" name="Picture 2" descr="Логотип программы SharpDevelo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14356"/>
            <a:ext cx="1857375" cy="2124075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>
          <a:xfrm>
            <a:off x="0" y="5072896"/>
            <a:ext cx="9144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Возможности и особенности</a:t>
            </a:r>
            <a:r>
              <a:rPr lang="en-US" sz="22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Подсветка синтаксиса для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C#, IronPython, HTML, ASP, ASP.NET, VBScript, VB.NET, XML, XAML.</a:t>
            </a:r>
          </a:p>
          <a:p>
            <a:pPr algn="just">
              <a:buFont typeface="Arial" pitchFamily="34" charset="0"/>
              <a:buChar char="•"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Визуальный редактор для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WPF 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 форм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Windows Forms (COM-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компоненты не поддерживаются).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2857496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.NET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Framework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это программная платформа, разработанная компанией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Она предоставляет среду выполнения для приложений на языках программирования C#,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Visual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Basic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.NET и других языках, совместимых с платформой .NET.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Платформа предоставляет разработчикам мощные инструменты и библиотеки для создания разнообразных приложений, включая настольные программы,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веб-сайты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мобильные приложения и службы в облаке.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910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Начало работы</a:t>
            </a:r>
            <a:endParaRPr lang="ru-RU" b="1" dirty="0"/>
          </a:p>
        </p:txBody>
      </p:sp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52" y="1571612"/>
            <a:ext cx="6476992" cy="3992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8" name="Прямая со стрелкой 27"/>
          <p:cNvCxnSpPr/>
          <p:nvPr/>
        </p:nvCxnSpPr>
        <p:spPr>
          <a:xfrm rot="16200000" flipH="1">
            <a:off x="535785" y="1393017"/>
            <a:ext cx="2143140" cy="135732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 rot="10800000">
            <a:off x="0" y="1000108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 30"/>
          <p:cNvSpPr/>
          <p:nvPr/>
        </p:nvSpPr>
        <p:spPr>
          <a:xfrm>
            <a:off x="142876" y="214290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57686" y="2928934"/>
            <a:ext cx="4786314" cy="3675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2" name="Прямая со стрелкой 31"/>
          <p:cNvCxnSpPr>
            <a:endCxn id="33" idx="0"/>
          </p:cNvCxnSpPr>
          <p:nvPr/>
        </p:nvCxnSpPr>
        <p:spPr>
          <a:xfrm rot="5400000">
            <a:off x="6733002" y="2160976"/>
            <a:ext cx="1928824" cy="46434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Скругленный прямоугольник 32"/>
          <p:cNvSpPr/>
          <p:nvPr/>
        </p:nvSpPr>
        <p:spPr>
          <a:xfrm>
            <a:off x="6072198" y="3357562"/>
            <a:ext cx="2786082" cy="13573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единительная линия 37"/>
          <p:cNvCxnSpPr/>
          <p:nvPr/>
        </p:nvCxnSpPr>
        <p:spPr>
          <a:xfrm rot="10800000">
            <a:off x="7929586" y="1428736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/>
        </p:nvSpPr>
        <p:spPr>
          <a:xfrm>
            <a:off x="8072462" y="64291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0" name="Скругленный прямоугольник 39"/>
          <p:cNvSpPr/>
          <p:nvPr/>
        </p:nvSpPr>
        <p:spPr>
          <a:xfrm>
            <a:off x="4714876" y="5429264"/>
            <a:ext cx="4000528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2" name="Прямая со стрелкой 41"/>
          <p:cNvCxnSpPr>
            <a:endCxn id="40" idx="1"/>
          </p:cNvCxnSpPr>
          <p:nvPr/>
        </p:nvCxnSpPr>
        <p:spPr>
          <a:xfrm flipV="1">
            <a:off x="2500298" y="5643578"/>
            <a:ext cx="2214578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/>
          <p:nvPr/>
        </p:nvCxnSpPr>
        <p:spPr>
          <a:xfrm rot="10800000">
            <a:off x="2143108" y="6215082"/>
            <a:ext cx="35719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Прямоугольник 45"/>
          <p:cNvSpPr/>
          <p:nvPr/>
        </p:nvSpPr>
        <p:spPr>
          <a:xfrm>
            <a:off x="2071670" y="5429264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7" name="Прямоугольник 46"/>
          <p:cNvSpPr/>
          <p:nvPr/>
        </p:nvSpPr>
        <p:spPr>
          <a:xfrm>
            <a:off x="571472" y="415333"/>
            <a:ext cx="32147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Создать новый проект можно непосредственно в Главном меню</a:t>
            </a:r>
            <a:endParaRPr lang="ru-RU" sz="1600" dirty="0"/>
          </a:p>
        </p:txBody>
      </p:sp>
      <p:sp>
        <p:nvSpPr>
          <p:cNvPr id="48" name="Прямоугольник 47"/>
          <p:cNvSpPr/>
          <p:nvPr/>
        </p:nvSpPr>
        <p:spPr>
          <a:xfrm>
            <a:off x="5500694" y="422956"/>
            <a:ext cx="271461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Для дисциплины нам понадобятся «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Консольное приложение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 и «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Windows-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приложение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1600" dirty="0"/>
          </a:p>
        </p:txBody>
      </p:sp>
      <p:sp>
        <p:nvSpPr>
          <p:cNvPr id="50" name="Прямоугольник 49"/>
          <p:cNvSpPr/>
          <p:nvPr/>
        </p:nvSpPr>
        <p:spPr>
          <a:xfrm>
            <a:off x="0" y="5637930"/>
            <a:ext cx="21431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Необходимо задать только имя и расположение (лучше создать новую папку)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5786446" y="1571612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500694" y="928670"/>
            <a:ext cx="33575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Смена вкладок для переключения между работой с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WinForms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 кодом</a:t>
            </a:r>
            <a:endParaRPr lang="ru-RU" sz="1600" dirty="0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58926"/>
            <a:ext cx="4097253" cy="6099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Скругленный прямоугольник 6"/>
          <p:cNvSpPr/>
          <p:nvPr/>
        </p:nvSpPr>
        <p:spPr>
          <a:xfrm>
            <a:off x="1857356" y="6357958"/>
            <a:ext cx="1285884" cy="5000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>
            <a:endCxn id="7" idx="3"/>
          </p:cNvCxnSpPr>
          <p:nvPr/>
        </p:nvCxnSpPr>
        <p:spPr>
          <a:xfrm rot="5400000">
            <a:off x="1946662" y="2768192"/>
            <a:ext cx="5036365" cy="26432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/>
          <p:cNvSpPr/>
          <p:nvPr/>
        </p:nvSpPr>
        <p:spPr>
          <a:xfrm>
            <a:off x="357158" y="1428736"/>
            <a:ext cx="1428760" cy="10001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733925"/>
            <a:ext cx="183832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1" name="Прямая со стрелкой 20"/>
          <p:cNvCxnSpPr>
            <a:endCxn id="18" idx="3"/>
          </p:cNvCxnSpPr>
          <p:nvPr/>
        </p:nvCxnSpPr>
        <p:spPr>
          <a:xfrm rot="10800000">
            <a:off x="1785918" y="1928802"/>
            <a:ext cx="4572032" cy="10001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6429388" y="2571744"/>
            <a:ext cx="19288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Все файлы проекта</a:t>
            </a:r>
            <a:endParaRPr lang="ru-RU" sz="1600" dirty="0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 rot="10800000">
            <a:off x="6429388" y="2928934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5857884" y="1281585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857884" y="642918"/>
            <a:ext cx="27860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Форма для создания графического интерфейса</a:t>
            </a:r>
            <a:endParaRPr lang="ru-RU" sz="1600" dirty="0"/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642918"/>
            <a:ext cx="3513437" cy="6215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Скругленный прямоугольник 6"/>
          <p:cNvSpPr/>
          <p:nvPr/>
        </p:nvSpPr>
        <p:spPr>
          <a:xfrm>
            <a:off x="1500166" y="857232"/>
            <a:ext cx="2286016" cy="22145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>
            <a:endCxn id="7" idx="3"/>
          </p:cNvCxnSpPr>
          <p:nvPr/>
        </p:nvCxnSpPr>
        <p:spPr>
          <a:xfrm rot="10800000" flipV="1">
            <a:off x="3786182" y="1285859"/>
            <a:ext cx="2071702" cy="67866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Скругленный прямоугольник 12"/>
          <p:cNvSpPr/>
          <p:nvPr/>
        </p:nvSpPr>
        <p:spPr>
          <a:xfrm>
            <a:off x="71438" y="642918"/>
            <a:ext cx="1357290" cy="57150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 стрелкой 14"/>
          <p:cNvCxnSpPr/>
          <p:nvPr/>
        </p:nvCxnSpPr>
        <p:spPr>
          <a:xfrm rot="10800000" flipV="1">
            <a:off x="1428728" y="2071677"/>
            <a:ext cx="4143404" cy="307183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5500694" y="1500174"/>
            <a:ext cx="27860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Возможные для размещения на форме элементы</a:t>
            </a:r>
            <a:endParaRPr lang="ru-RU" sz="1600" dirty="0"/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 rot="10800000">
            <a:off x="5572132" y="2071678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7950" y="2364065"/>
            <a:ext cx="1507312" cy="4493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2" name="Прямая со стрелкой 21"/>
          <p:cNvCxnSpPr>
            <a:endCxn id="35842" idx="1"/>
          </p:cNvCxnSpPr>
          <p:nvPr/>
        </p:nvCxnSpPr>
        <p:spPr>
          <a:xfrm rot="16200000" flipH="1">
            <a:off x="5409744" y="3662826"/>
            <a:ext cx="967719" cy="92869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 rot="10800000">
            <a:off x="4286248" y="3643314"/>
            <a:ext cx="1152532" cy="138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/>
          <p:cNvSpPr/>
          <p:nvPr/>
        </p:nvSpPr>
        <p:spPr>
          <a:xfrm>
            <a:off x="4357686" y="3643314"/>
            <a:ext cx="15716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Свойства добавляемых элементов (правая панель) –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клавиша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F4</a:t>
            </a:r>
            <a:endParaRPr lang="ru-RU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000240"/>
            <a:ext cx="2924175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785794"/>
            <a:ext cx="4064185" cy="5715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Скругленный прямоугольник 15"/>
          <p:cNvSpPr/>
          <p:nvPr/>
        </p:nvSpPr>
        <p:spPr>
          <a:xfrm>
            <a:off x="857224" y="2428868"/>
            <a:ext cx="2071702" cy="17859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endCxn id="16" idx="0"/>
          </p:cNvCxnSpPr>
          <p:nvPr/>
        </p:nvCxnSpPr>
        <p:spPr>
          <a:xfrm rot="16200000" flipH="1">
            <a:off x="875083" y="1410876"/>
            <a:ext cx="1071570" cy="96441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rot="10800000">
            <a:off x="928662" y="1357298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1071538" y="1000108"/>
            <a:ext cx="1714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Двойной щелчок</a:t>
            </a:r>
            <a:endParaRPr lang="ru-RU" sz="1600" dirty="0"/>
          </a:p>
        </p:txBody>
      </p:sp>
      <p:cxnSp>
        <p:nvCxnSpPr>
          <p:cNvPr id="24" name="Прямая со стрелкой 23"/>
          <p:cNvCxnSpPr>
            <a:stCxn id="16" idx="3"/>
            <a:endCxn id="26" idx="1"/>
          </p:cNvCxnSpPr>
          <p:nvPr/>
        </p:nvCxnSpPr>
        <p:spPr>
          <a:xfrm>
            <a:off x="2928926" y="3321843"/>
            <a:ext cx="2571768" cy="235745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Скругленный прямоугольник 25"/>
          <p:cNvSpPr/>
          <p:nvPr/>
        </p:nvSpPr>
        <p:spPr>
          <a:xfrm>
            <a:off x="5500694" y="5357826"/>
            <a:ext cx="3000396" cy="6429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4929190" y="785794"/>
            <a:ext cx="3143272" cy="10001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1857364"/>
            <a:ext cx="5575902" cy="2490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Скругленный прямоугольник 11"/>
          <p:cNvSpPr/>
          <p:nvPr/>
        </p:nvSpPr>
        <p:spPr>
          <a:xfrm>
            <a:off x="2357422" y="2143116"/>
            <a:ext cx="1643074" cy="3571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>
            <a:endCxn id="12" idx="0"/>
          </p:cNvCxnSpPr>
          <p:nvPr/>
        </p:nvCxnSpPr>
        <p:spPr>
          <a:xfrm rot="16200000" flipH="1">
            <a:off x="2375281" y="1339438"/>
            <a:ext cx="857256" cy="75009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rot="10800000">
            <a:off x="2428860" y="1285860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4929190" y="857232"/>
            <a:ext cx="30003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Изменить содержание текстового поля по его идентификатору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Design (Name)</a:t>
            </a:r>
            <a:endParaRPr lang="ru-RU" sz="1600" b="1" dirty="0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2214546" y="2928934"/>
            <a:ext cx="3071834" cy="12144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 стрелкой 20"/>
          <p:cNvCxnSpPr/>
          <p:nvPr/>
        </p:nvCxnSpPr>
        <p:spPr>
          <a:xfrm rot="10800000">
            <a:off x="2857488" y="4143383"/>
            <a:ext cx="1428761" cy="140242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4286248" y="4929198"/>
            <a:ext cx="3214678" cy="138499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При выборе соответствующего пункта необходимо изменять содержание текстового поля по его идентификатору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Design (Name)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Примечание: после каждого </a:t>
            </a:r>
            <a:r>
              <a:rPr lang="en-US" sz="1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en-US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должен идти свой </a:t>
            </a:r>
            <a:r>
              <a:rPr lang="en-US" sz="1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en-US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endParaRPr lang="ru-RU" sz="1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>
            <a:stCxn id="15" idx="2"/>
          </p:cNvCxnSpPr>
          <p:nvPr/>
        </p:nvCxnSpPr>
        <p:spPr>
          <a:xfrm rot="16200000" flipH="1">
            <a:off x="1136128" y="1814798"/>
            <a:ext cx="906670" cy="8929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-32" y="1500174"/>
            <a:ext cx="2286016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Двойной щелчок по списку</a:t>
            </a:r>
            <a:endParaRPr lang="ru-RU" sz="1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14356"/>
            <a:ext cx="4630532" cy="34290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5429256" y="571480"/>
            <a:ext cx="3286148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Load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событие, которое срабатывает перед первым отображением формы.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добавляется в код двойным щелчком по форме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Прямая со стрелкой 16"/>
          <p:cNvCxnSpPr>
            <a:stCxn id="14" idx="1"/>
          </p:cNvCxnSpPr>
          <p:nvPr/>
        </p:nvCxnSpPr>
        <p:spPr>
          <a:xfrm rot="10800000">
            <a:off x="1857356" y="1214422"/>
            <a:ext cx="3571900" cy="95722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7620" y="4500570"/>
            <a:ext cx="4548190" cy="909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5857892"/>
            <a:ext cx="3371850" cy="695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23" name="Прямая со стрелкой 22"/>
          <p:cNvCxnSpPr/>
          <p:nvPr/>
        </p:nvCxnSpPr>
        <p:spPr>
          <a:xfrm>
            <a:off x="3357554" y="3929066"/>
            <a:ext cx="1643074" cy="571504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stCxn id="1029" idx="3"/>
          </p:cNvCxnSpPr>
          <p:nvPr/>
        </p:nvCxnSpPr>
        <p:spPr>
          <a:xfrm flipV="1">
            <a:off x="3800446" y="5072074"/>
            <a:ext cx="1557372" cy="1133481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29322" y="2571744"/>
            <a:ext cx="2105025" cy="7784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4857752" y="3357562"/>
            <a:ext cx="428624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Добавление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GroupBox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 его содержимого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(rb1, rb2 –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=new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RadioButton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Присваивание функции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rb1.CheckedChanged +=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RadioButton_CheckedChanged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6116" y="1714488"/>
            <a:ext cx="4357718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Прямоугольник 23"/>
          <p:cNvSpPr/>
          <p:nvPr/>
        </p:nvSpPr>
        <p:spPr>
          <a:xfrm>
            <a:off x="3357554" y="6000768"/>
            <a:ext cx="43577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 и вывода информации</a:t>
            </a:r>
            <a:endParaRPr lang="ru-RU" sz="2000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0" y="4214818"/>
            <a:ext cx="3214678" cy="203132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Panel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объединяет элементы в группы. Она представляет собой прямоугольное окно без надписи, внутри которого можно помещать произвольные объекты. Если панель имеет много элементов, которые выходят за её границы, её можно сделать прокручиваемой, установив свойство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AutoScroll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14422"/>
            <a:ext cx="427672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1" name="Прямая со стрелкой 30"/>
          <p:cNvCxnSpPr>
            <a:endCxn id="1028" idx="2"/>
          </p:cNvCxnSpPr>
          <p:nvPr/>
        </p:nvCxnSpPr>
        <p:spPr>
          <a:xfrm rot="10800000">
            <a:off x="2138364" y="1433498"/>
            <a:ext cx="3505207" cy="12096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Скругленный прямоугольник 33"/>
          <p:cNvSpPr/>
          <p:nvPr/>
        </p:nvSpPr>
        <p:spPr>
          <a:xfrm>
            <a:off x="5715008" y="3500438"/>
            <a:ext cx="1285884" cy="7143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428868"/>
            <a:ext cx="3071802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5" name="Прямая со стрелкой 34"/>
          <p:cNvCxnSpPr>
            <a:endCxn id="1029" idx="2"/>
          </p:cNvCxnSpPr>
          <p:nvPr/>
        </p:nvCxnSpPr>
        <p:spPr>
          <a:xfrm rot="10800000">
            <a:off x="1535902" y="3219444"/>
            <a:ext cx="2250281" cy="49530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Скругленный прямоугольник 12"/>
          <p:cNvSpPr/>
          <p:nvPr/>
        </p:nvSpPr>
        <p:spPr>
          <a:xfrm>
            <a:off x="5572132" y="2643182"/>
            <a:ext cx="1857388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29124" y="1214422"/>
            <a:ext cx="4714876" cy="2777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/>
          <p:nvPr/>
        </p:nvCxnSpPr>
        <p:spPr>
          <a:xfrm rot="5400000" flipH="1" flipV="1">
            <a:off x="6858016" y="1643050"/>
            <a:ext cx="2000264" cy="171451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Скругленный прямоугольник 19"/>
          <p:cNvSpPr/>
          <p:nvPr/>
        </p:nvSpPr>
        <p:spPr>
          <a:xfrm>
            <a:off x="3428992" y="3357562"/>
            <a:ext cx="2214578" cy="107157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 стрелкой 24"/>
          <p:cNvCxnSpPr>
            <a:stCxn id="20" idx="1"/>
          </p:cNvCxnSpPr>
          <p:nvPr/>
        </p:nvCxnSpPr>
        <p:spPr>
          <a:xfrm rot="10800000" flipV="1">
            <a:off x="1428728" y="3893347"/>
            <a:ext cx="2000264" cy="3214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15008" y="5072074"/>
            <a:ext cx="3428992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36" name="Прямая со стрелкой 35"/>
          <p:cNvCxnSpPr/>
          <p:nvPr/>
        </p:nvCxnSpPr>
        <p:spPr>
          <a:xfrm rot="10800000" flipV="1">
            <a:off x="5072066" y="5214950"/>
            <a:ext cx="642942" cy="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Основные элементы </a:t>
            </a:r>
            <a:r>
              <a:rPr lang="en-US" b="1" dirty="0" err="1" smtClean="0"/>
              <a:t>WinForms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2928934"/>
            <a:ext cx="9144000" cy="39290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</a:t>
            </a:r>
            <a:endParaRPr lang="ru-RU" dirty="0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928670"/>
            <a:ext cx="9144000" cy="1631216"/>
          </a:xfrm>
          <a:prstGeom prst="rect">
            <a:avLst/>
          </a:prstGeom>
          <a:solidFill>
            <a:srgbClr val="F7F7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Можете разместить на форме несколько кнопок и у каждой прописать обработчик, который скрывает или показывает определенные кнопки. Тогда у игры 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будет одно верное решение.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Можете добавить генератор случайных чисел или прописать общий обработчик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000628" y="4868741"/>
            <a:ext cx="41433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Решение у головоломки было такое: запомнить, какие переключатели стоят вертикально в начале уровня. Нажать все по очереди на те, которые были вертикально в самом начале.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97237"/>
            <a:ext cx="4539534" cy="256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>
            <a:stCxn id="5" idx="1"/>
            <a:endCxn id="12" idx="3"/>
          </p:cNvCxnSpPr>
          <p:nvPr/>
        </p:nvCxnSpPr>
        <p:spPr>
          <a:xfrm rot="10800000" flipV="1">
            <a:off x="3571868" y="5607404"/>
            <a:ext cx="1428760" cy="14880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кругленный прямоугольник 11"/>
          <p:cNvSpPr/>
          <p:nvPr/>
        </p:nvSpPr>
        <p:spPr>
          <a:xfrm>
            <a:off x="3000364" y="5440221"/>
            <a:ext cx="571504" cy="63198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3297105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Одним из аналогов этой задачи является </a:t>
            </a:r>
            <a:r>
              <a:rPr lang="ru-RU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головоломка на холодильнике 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из </a:t>
            </a:r>
            <a:r>
              <a:rPr lang="ru-RU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игры-квеста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«Братья Пилоты» (1997). Головоломка заключается в том, чтобы выставить все вентили-кнопки в горизонтальное положение.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286116" y="2857496"/>
            <a:ext cx="27051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Интересный факт</a:t>
            </a:r>
            <a:endParaRPr lang="ru-RU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323</Words>
  <Application>Microsoft Office PowerPoint</Application>
  <PresentationFormat>Экран (4:3)</PresentationFormat>
  <Paragraphs>61</Paragraphs>
  <Slides>11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Вспоминаем Windows Forms</vt:lpstr>
      <vt:lpstr>Дополнительные материалы</vt:lpstr>
      <vt:lpstr>Среда разработки</vt:lpstr>
      <vt:lpstr>Начало работы</vt:lpstr>
      <vt:lpstr>Задание 1 </vt:lpstr>
      <vt:lpstr>Задание 1 </vt:lpstr>
      <vt:lpstr>Задание 1 </vt:lpstr>
      <vt:lpstr>Задание 1 </vt:lpstr>
      <vt:lpstr>Задание 2 </vt:lpstr>
      <vt:lpstr>Основные элементы WinForms</vt:lpstr>
      <vt:lpstr>Задание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Знакомство с Windows Forms</dc:title>
  <dc:creator>user</dc:creator>
  <cp:lastModifiedBy>user</cp:lastModifiedBy>
  <cp:revision>69</cp:revision>
  <dcterms:created xsi:type="dcterms:W3CDTF">2024-02-01T09:49:19Z</dcterms:created>
  <dcterms:modified xsi:type="dcterms:W3CDTF">2026-03-01T12:11:43Z</dcterms:modified>
</cp:coreProperties>
</file>