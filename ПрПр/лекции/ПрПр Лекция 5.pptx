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60" r:id="rId6"/>
    <p:sldId id="261" r:id="rId7"/>
    <p:sldId id="262" r:id="rId8"/>
    <p:sldId id="265" r:id="rId9"/>
    <p:sldId id="264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33" d="100"/>
          <a:sy n="33" d="100"/>
        </p:scale>
        <p:origin x="2606" y="1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ACC35-5142-4F4F-972B-A70AEDB9EA6D}" type="datetimeFigureOut">
              <a:rPr lang="ru-RU" smtClean="0"/>
              <a:t>09.10.2026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EB330-236C-4F12-BB92-3181423DBC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0653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ACC35-5142-4F4F-972B-A70AEDB9EA6D}" type="datetimeFigureOut">
              <a:rPr lang="ru-RU" smtClean="0"/>
              <a:t>09.10.2026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EB330-236C-4F12-BB92-3181423DBC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3514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ACC35-5142-4F4F-972B-A70AEDB9EA6D}" type="datetimeFigureOut">
              <a:rPr lang="ru-RU" smtClean="0"/>
              <a:t>09.10.2026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EB330-236C-4F12-BB92-3181423DBC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1388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ACC35-5142-4F4F-972B-A70AEDB9EA6D}" type="datetimeFigureOut">
              <a:rPr lang="ru-RU" smtClean="0"/>
              <a:t>09.10.2026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EB330-236C-4F12-BB92-3181423DBC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3753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ACC35-5142-4F4F-972B-A70AEDB9EA6D}" type="datetimeFigureOut">
              <a:rPr lang="ru-RU" smtClean="0"/>
              <a:t>09.10.2026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EB330-236C-4F12-BB92-3181423DBC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9876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ACC35-5142-4F4F-972B-A70AEDB9EA6D}" type="datetimeFigureOut">
              <a:rPr lang="ru-RU" smtClean="0"/>
              <a:t>09.10.2026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EB330-236C-4F12-BB92-3181423DBC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806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ACC35-5142-4F4F-972B-A70AEDB9EA6D}" type="datetimeFigureOut">
              <a:rPr lang="ru-RU" smtClean="0"/>
              <a:t>09.10.2026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EB330-236C-4F12-BB92-3181423DBC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0919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ACC35-5142-4F4F-972B-A70AEDB9EA6D}" type="datetimeFigureOut">
              <a:rPr lang="ru-RU" smtClean="0"/>
              <a:t>09.10.2026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EB330-236C-4F12-BB92-3181423DBC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5241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ACC35-5142-4F4F-972B-A70AEDB9EA6D}" type="datetimeFigureOut">
              <a:rPr lang="ru-RU" smtClean="0"/>
              <a:t>09.10.2026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EB330-236C-4F12-BB92-3181423DBC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7549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ACC35-5142-4F4F-972B-A70AEDB9EA6D}" type="datetimeFigureOut">
              <a:rPr lang="ru-RU" smtClean="0"/>
              <a:t>09.10.2026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EB330-236C-4F12-BB92-3181423DBC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1576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ACC35-5142-4F4F-972B-A70AEDB9EA6D}" type="datetimeFigureOut">
              <a:rPr lang="ru-RU" smtClean="0"/>
              <a:t>09.10.2026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EB330-236C-4F12-BB92-3181423DBC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7618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FACC35-5142-4F4F-972B-A70AEDB9EA6D}" type="datetimeFigureOut">
              <a:rPr lang="ru-RU" smtClean="0"/>
              <a:t>09.10.2026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4EB330-236C-4F12-BB92-3181423DBC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1677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Архитектура и нефункциональные требования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86672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8642" y="193430"/>
            <a:ext cx="8886094" cy="6664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9932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3500" y="423362"/>
            <a:ext cx="7251700" cy="649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3200" b="0" i="0" dirty="0" smtClean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Выбор архитектурного стиля разработки ПО — это стратегическое решение, которое напрямую влияет на масштабируемость, производительность, </a:t>
            </a:r>
            <a:r>
              <a:rPr lang="ru-RU" sz="3200" b="0" i="0" dirty="0" err="1" smtClean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поддерживаемость</a:t>
            </a:r>
            <a:r>
              <a:rPr lang="ru-RU" sz="3200" b="0" i="0" dirty="0" smtClean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 скорость вывода продукта на рынок. Не существует универсального «лучшего» стиля: каждый имеет свои сильные и слабые стороны, и оптимальный выбор зависит от конкретных требований проекта, его масштаба, нагрузки, квалификации команды и других факторов.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AutoShape 2" descr="https://static.tildacdn.com/tild3833-6461-4966-a637-313932383833/__2023-07-27__121434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0"/>
            <a:ext cx="4876800" cy="6917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818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0160" y="0"/>
            <a:ext cx="914399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6407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0989466"/>
              </p:ext>
            </p:extLst>
          </p:nvPr>
        </p:nvGraphicFramePr>
        <p:xfrm>
          <a:off x="0" y="0"/>
          <a:ext cx="12192000" cy="709619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  <a:gridCol w="2438400"/>
                <a:gridCol w="2438400"/>
              </a:tblGrid>
              <a:tr h="38540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Стиль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Ключевые особенности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Преимущества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Недостатки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Когда подходит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</a:tr>
              <a:tr h="108472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Монолитная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Все компоненты в единой кодовой базе.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Простота разработки, быстрая отладка, минимальные накладные расходы на коммуникацию.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Сложность масштабирования, высокая связанность компонентов, риск единой точки отказа.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Стартапы, MVP, небольшие проекты с предсказуемой нагрузкой и небольшой командой.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</a:tr>
              <a:tr h="108472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Многослойная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Компоненты разделены на слои (представление, бизнес-логика, доступ к данным).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Чёткое разделение ответственности, простота тестирования каждого слоя.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Жёсткая связность между слоями, возможное снижение производительности из-за прохождения запросов через все уровни.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Корпоративные приложения, ERP, CRM-системы.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</a:tr>
              <a:tr h="143438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Микросервисная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Система разбита на независимые сервисы, каждый из которых реализует отдельную бизнес-функцию.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Независимое развёртывание, масштабирование по частям, гибкость технологий (разные сервисы могут использовать разные языки и БД).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Сложность управления, сетевые задержки, трудности с согласованностью данных, повышенные требования к инфраструктуре и команде.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Крупные компании, высоконагруженные сервисы (финтех, e-commerce, стриминговые платформы).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</a:tr>
              <a:tr h="143438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Сервис-ориентированная (SOA)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Приложение собирается из независимых сервисов с чёткими интерфейсами, которые взаимодействуют через стандартные протоколы.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Переиспользование сервисов, слабая связанность, возможность интеграции разнородных систем.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Сложность управления множеством API, необходимость сильной экспертизы в интеграционном слое, сложность мониторинга распределённой системы.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Крупные корпоративные ландшафты с множеством существующих систем, где нужно их связать.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</a:tr>
              <a:tr h="143438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Событийно-ориентированная (EDA)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Компоненты взаимодействуют через обмен событиями (а не прямыми вызовами).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Слабая связанность, асинхронность, высокая масштабируемость и отказоустойчивость.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Сложность реализации, отладки и мониторинга, проблемы с согласованностью данных, необходимость проектирования идемпотентности обработчиков.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Системы реального времени, </a:t>
                      </a:r>
                      <a:r>
                        <a:rPr lang="ru-RU" sz="1400" dirty="0" err="1">
                          <a:effectLst/>
                        </a:rPr>
                        <a:t>IoT</a:t>
                      </a:r>
                      <a:r>
                        <a:rPr lang="ru-RU" sz="1400" dirty="0">
                          <a:effectLst/>
                        </a:rPr>
                        <a:t>, электронная коммерция, обработка больших потоков данных.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3012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4" b="1615"/>
          <a:stretch/>
        </p:blipFill>
        <p:spPr bwMode="auto">
          <a:xfrm>
            <a:off x="0" y="314626"/>
            <a:ext cx="5787342" cy="654337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903" y="314626"/>
            <a:ext cx="5935097" cy="6340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930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083" y="0"/>
            <a:ext cx="97536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18447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868" y="0"/>
            <a:ext cx="97536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47550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38414" y="4175046"/>
            <a:ext cx="6819938" cy="26829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81290" y="642918"/>
            <a:ext cx="6572296" cy="342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1524000" y="0"/>
            <a:ext cx="9144000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28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Нефункциональные требования</a:t>
            </a:r>
            <a:endParaRPr lang="ru-RU" sz="28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051335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314" y="0"/>
            <a:ext cx="97536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20244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28868"/>
            <a:ext cx="12192000" cy="68634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Ограничения среды и совместимость — учёт в архитектуре</a:t>
            </a:r>
          </a:p>
          <a:p>
            <a:pPr algn="just"/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Инфраструктура организации</a:t>
            </a:r>
          </a:p>
          <a:p>
            <a:pPr algn="just"/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→ диктует допустимые подходы: если нет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Kubernetes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микросервисы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на нём нереализуемы; при жёсткой локализации данных — все компоненты внутри периметра.</a:t>
            </a:r>
          </a:p>
          <a:p>
            <a:pPr algn="just"/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Пример: слоистый монолит + горизонтальное масштабирование вместо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оркестрации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контейнеров.</a:t>
            </a:r>
          </a:p>
          <a:p>
            <a:pPr algn="just"/>
            <a:endParaRPr lang="ru-RU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Версии ОС/СУБД/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рантайма</a:t>
            </a:r>
            <a:endParaRPr lang="ru-RU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→ определяют стек и запрещают «самые свежие» функции.</a:t>
            </a:r>
          </a:p>
          <a:p>
            <a:pPr algn="just"/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Пример: MS SQL 2017 → отказ от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‑специфичных возможностей; выбор .NET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вместо .NET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Core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ru-RU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Сетевые ограничения</a:t>
            </a:r>
          </a:p>
          <a:p>
            <a:pPr algn="just"/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→ задают протоколы и топологию взаимодействия.</a:t>
            </a:r>
          </a:p>
          <a:p>
            <a:pPr algn="just"/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Пример: разрешён только порт 443 → все вызовы через API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Gateway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прямые связи между сервисами исключены.</a:t>
            </a:r>
          </a:p>
          <a:p>
            <a:pPr algn="just"/>
            <a:endParaRPr lang="ru-RU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Совместимость с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legacy</a:t>
            </a:r>
            <a:endParaRPr lang="ru-RU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→ требует адаптеров и продуманных форматов обмена.</a:t>
            </a:r>
          </a:p>
          <a:p>
            <a:pPr algn="just"/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Пример: слой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Adapter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для конвертации JSON ↔ SOAP; сервис файлового обмена с контрольными суммами.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2511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299841"/>
            <a:ext cx="12192000" cy="5847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Экономическое обоснование архитектурных решений строится на прямой связи между техническими приёмами и измеримыми бизнес‑эффектами: сокращением времени обработки, снижением ошибок и уменьшением трудозатрат. Чтобы эта связь выглядела убедительно, каждое архитектурное решение нужно формулировать по шаблону «приём → эффект → метрика → способ проверки»: например, кэширование снижает время отклика, асинхронная обработка убирает блокировки, а строгие контракты между сервисами уменьшают долю некорректных запросов. Такой подход позволяет перевести архитектуру из плоскости «красивых диаграмм» в плоскость реальных показателей, понятных заказчику и комиссии.</a:t>
            </a:r>
          </a:p>
          <a:p>
            <a:pPr algn="just"/>
            <a:endParaRPr lang="ru-RU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Сокращение времени обработки достигается за счёт архитектурных паттернов, которые убирают узкие места: кэширования (в том числе на уровне HTTP и БД), горизонтального масштабирования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stateless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‑сервисов, балансировки нагрузки и выноса тяжёлых операций в фоновые очереди. Экономический эффект здесь считают через стоимость простоя и ценность времени пользователей: если кэш уменьшает среднее время ответа с 800 до 120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мс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а в день выполняется 5000 запросов, это высвобождает сотни минут работы и сокращает очереди заявок. В дипломном проекте такой расчёт подкрепляют конкретными цифрами и указывают способ проверки — например, результаты нагрузочного тестирования.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87574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299841"/>
            <a:ext cx="12192000" cy="5847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Снижение ошибок обеспечивается архитектурными «предохранителями»: строгой типизацией и контрактами (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OpenAPI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gRPC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паттернами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Circuit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Breaker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и таймаутами, идемпотентностью операций,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транзакционностью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валидацией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на нескольких уровнях. Эффект оценивают в количестве предотвращённых инцидентов и стоимости их устранения: если доля ошибочных запросов падает с 12% до 2%, а ручная проверка одной заявки стоит определённую сумму, экономия становится легко подсчитываемой. Важно также учитывать косвенные выгоды — снижение эскалаций в поддержку, уменьшение переделок и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репутационных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рисков.</a:t>
            </a:r>
          </a:p>
          <a:p>
            <a:pPr algn="just"/>
            <a:endParaRPr lang="ru-RU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Уменьшение трудозатрат дают решения, повышающие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воспроизводимость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и предсказуемость: контейнеризация и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IaC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Terraform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микросервисы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с чёткими границами ответственности, автоматизированное тестирование и CI/CD, централизованный мониторинг и стандартизация компонентов. Например, если развертывание окружения сокращается с 3 дней до 4 часов, это напрямую экономит десятки часов работы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DevOps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‑инженера на каждом релизе. В экономическом обосновании такие эффекты переводят в рубли через стоимость часа работы специалистов и количество операций в месяц, а также указывают срок окупаемости вложений в инфраструктуру и компенсирующие меры — например, дополнительные затраты на мониторинг при переходе на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микросервисы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66660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855</Words>
  <Application>Microsoft Office PowerPoint</Application>
  <PresentationFormat>Широкоэкранный</PresentationFormat>
  <Paragraphs>55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Тема Office</vt:lpstr>
      <vt:lpstr>Архитектура и нефункциональные требования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2</cp:revision>
  <dcterms:created xsi:type="dcterms:W3CDTF">2026-10-09T12:37:43Z</dcterms:created>
  <dcterms:modified xsi:type="dcterms:W3CDTF">2026-10-09T12:46:23Z</dcterms:modified>
</cp:coreProperties>
</file>