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mail.ru/public/MREJ/sXw2VeC3H" TargetMode="External"/><Relationship Id="rId2" Type="http://schemas.openxmlformats.org/officeDocument/2006/relationships/hyperlink" Target="https://ppt-online.org/238861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loud.mail.ru/public/8fH8/ymzWHPNm7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writ.ru/doc/gost34/34.602-2020.pdf?ysclid=mtljhmwugq898477199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Стандарты в проектировании информационных систем: назначение, применение и формирование профиля ИС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Дополнительная литература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857364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Жизненный цикл ПО. Процесс разработки</a:t>
            </a:r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https://ppt-online.org/238861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Модели жизненного цикла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https://cloud.mail.ru/public/MREJ/sXw2VeC3H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Профили ИС </a:t>
            </a:r>
          </a:p>
          <a:p>
            <a:r>
              <a:rPr lang="en-US" sz="32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https://cloud.mail.ru/public/8fH8/ymzWHPNm7</a:t>
            </a:r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sz="3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-1" y="-1"/>
          <a:ext cx="9144000" cy="685800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  <a:gridCol w="3048000"/>
              </a:tblGrid>
              <a:tr h="300054">
                <a:tc>
                  <a:txBody>
                    <a:bodyPr/>
                    <a:lstStyle/>
                    <a:p>
                      <a:r>
                        <a:rPr lang="en-US" sz="1200" dirty="0"/>
                        <a:t>ISO/IEC 12207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Процессы жизненного цикла ПО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Жизненный цикл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4930">
                <a:tc>
                  <a:txBody>
                    <a:bodyPr/>
                    <a:lstStyle/>
                    <a:p>
                      <a:r>
                        <a:rPr lang="ru-RU" sz="1200"/>
                        <a:t>ГОСТ 34.601-90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Автоматизированные системы. Стадии создания (отечественная адаптация)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Жизненный цикл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73221">
                <a:tc>
                  <a:txBody>
                    <a:bodyPr/>
                    <a:lstStyle/>
                    <a:p>
                      <a:r>
                        <a:rPr lang="en-US" sz="1200"/>
                        <a:t>ISO/IEC 25010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Модель качества ПО (функциональная пригодность, производительность, надёжность и т. д.)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Качество продукта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0054">
                <a:tc>
                  <a:txBody>
                    <a:bodyPr/>
                    <a:lstStyle/>
                    <a:p>
                      <a:r>
                        <a:rPr lang="ru-RU" sz="1200"/>
                        <a:t>ГОСТ 34.602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Техническое задание на АС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Требования и документация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8346">
                <a:tc>
                  <a:txBody>
                    <a:bodyPr/>
                    <a:lstStyle/>
                    <a:p>
                      <a:r>
                        <a:rPr lang="ru-RU" sz="1200"/>
                        <a:t>ГОСТ 34.201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Виды и комплектность документов при создании АС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Требования и документация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638">
                <a:tc>
                  <a:txBody>
                    <a:bodyPr/>
                    <a:lstStyle/>
                    <a:p>
                      <a:r>
                        <a:rPr lang="en-US" sz="1200"/>
                        <a:t>ISO/IEC 15288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Системная инженерия. Процессы жизненного цикла систем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Жизненный цикл (гибридные системы)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8346">
                <a:tc>
                  <a:txBody>
                    <a:bodyPr/>
                    <a:lstStyle/>
                    <a:p>
                      <a:r>
                        <a:rPr lang="ru-RU" sz="1200"/>
                        <a:t>ГОСТ Р 59793-2021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Автоматизированные системы. Стадии создания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Жизненный цикл (отечественная практика)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638">
                <a:tc>
                  <a:txBody>
                    <a:bodyPr/>
                    <a:lstStyle/>
                    <a:p>
                      <a:r>
                        <a:rPr lang="ru-RU" sz="1200"/>
                        <a:t>ГОСТ Р 57100-2016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Описание архитектуры (адаптация ISO/IEC/IEEE 42010:2011)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Архитектура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4930">
                <a:tc>
                  <a:txBody>
                    <a:bodyPr/>
                    <a:lstStyle/>
                    <a:p>
                      <a:r>
                        <a:rPr lang="ru-RU" sz="1200"/>
                        <a:t>ГОСТ Р 59330-2021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Защита информации в процессе управления жизненным циклом системы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Безопасность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6638">
                <a:tc>
                  <a:txBody>
                    <a:bodyPr/>
                    <a:lstStyle/>
                    <a:p>
                      <a:r>
                        <a:rPr lang="ru-RU" sz="1200"/>
                        <a:t>ГОСТ Р 56920-2016 / </a:t>
                      </a:r>
                      <a:r>
                        <a:rPr lang="en-US" sz="1200"/>
                        <a:t>ISO/IEC/IEEE 29119-1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Тестирование ПО. Словарь терминов (заменён на ГОСТ Р 56920-2024)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Тестирование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8346">
                <a:tc>
                  <a:txBody>
                    <a:bodyPr/>
                    <a:lstStyle/>
                    <a:p>
                      <a:r>
                        <a:rPr lang="ru-RU" sz="1200"/>
                        <a:t>ГОСТ Р 56921-2016 / </a:t>
                      </a:r>
                      <a:r>
                        <a:rPr lang="en-US" sz="1200"/>
                        <a:t>ISO/IEC/IEEE 29119-2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Тестирование ПО. Процессы тестирования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Тестирование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8346">
                <a:tc>
                  <a:txBody>
                    <a:bodyPr/>
                    <a:lstStyle/>
                    <a:p>
                      <a:r>
                        <a:rPr lang="en-US" sz="1200"/>
                        <a:t>ISO/IEC 26514:2008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Требования к пользовательской документации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Документация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91513">
                <a:tc>
                  <a:txBody>
                    <a:bodyPr/>
                    <a:lstStyle/>
                    <a:p>
                      <a:r>
                        <a:rPr lang="ru-RU" sz="1200"/>
                        <a:t>ГОСТ 19 (ЕСПД)</a:t>
                      </a:r>
                    </a:p>
                  </a:txBody>
                  <a:tcPr marL="24531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/>
                        <a:t>Единая система программной документации (ТЗ, программа и методика испытаний, описание программы и др.)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Документация</a:t>
                      </a:r>
                    </a:p>
                  </a:txBody>
                  <a:tcPr marL="61328" marR="61328" marT="20443" marB="204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55922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5363"/>
            <a:ext cx="9210675" cy="486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54154"/>
            <a:ext cx="8643966" cy="6203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90010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https://www.swrit.ru/doc/gost34/34.602-2020.pdf?ysclid=mtljhmwugq898477199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Простыми словами,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профиль информационной системы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своего рода «инструкция» или «карта», которая чётко описывает, из чего система состоит, как её части взаимодействуют между собой и какие правила при этом соблюдаются.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Архитектура (что делает система и как устроена внутри)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Сюда входят диаграммы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Use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кто что делает;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Sequence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как шаги идут друг за другом;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из каких классов/модулей состоит код) и описание представлений для разных участников (пользователь, администратор, разработчик).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Технологии (на чём всё сделано)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стек: язык (например,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Python),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фреймворки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FastAPI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базы данных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PostgreSQL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очереди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Redis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контейнеризация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Docker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протоколы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gRPC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/REST).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Качество и безопасность (как мы понимаем, что система хорошая и защищённая)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метрики (время отклика, доступность, точность данных) и меры защиты (шифрование, разграничение прав,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логирование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80</Words>
  <PresentationFormat>Экран (4:3)</PresentationFormat>
  <Paragraphs>55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Стандарты в проектировании информационных систем: назначение, применение и формирование профиля ИС</vt:lpstr>
      <vt:lpstr>Дополнительная литература</vt:lpstr>
      <vt:lpstr>Слайд 3</vt:lpstr>
      <vt:lpstr>Слайд 4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5</cp:revision>
  <dcterms:created xsi:type="dcterms:W3CDTF">2026-09-03T12:53:08Z</dcterms:created>
  <dcterms:modified xsi:type="dcterms:W3CDTF">2026-09-03T13:34:32Z</dcterms:modified>
</cp:coreProperties>
</file>