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580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02.10.2026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Моделирование в UML: минимальный набор для диплома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285860"/>
            <a:ext cx="4786314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Use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case‑диаграмма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становится полезной, когда чётко выделены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акторы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(роли, взаимодействующие с системой), прецеденты (конкретные функции, дающие измеримый результат) и связи между ними (ассоциации,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include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для обязательной вложенной функциональности 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extend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для опциональных расширений), а исключения и альтернативные сценарии фиксируются отдельно — так диаграмма задаёт границы системы, помогает согласовать требования между бизнесом и разработкой и служит основой для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тест‑кейсов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не перегружаясь деталями реализации.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Рисунок 6" descr="C:\Users\user\Downloads\ДВИ1.drawio (2)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14876" y="1214422"/>
            <a:ext cx="4429124" cy="5286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8" name="Прямоугольник 7"/>
          <p:cNvSpPr/>
          <p:nvPr/>
        </p:nvSpPr>
        <p:spPr>
          <a:xfrm>
            <a:off x="3071802" y="0"/>
            <a:ext cx="27229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Use-case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4643446"/>
            <a:ext cx="9144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Логическая модель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— это уже «язык аналитика и архитектора»: она уточняет структуру так, чтобы её можно было реализовать в системе, но всё ещё не привязана к конкретной СУБД или языку программирования. Здесь появляются типы данных, правила целостности, ключи и более строгие связи.</a:t>
            </a:r>
            <a:br>
              <a:rPr lang="ru-RU" sz="1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Пример: у Клиента появляются ID: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integer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Email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string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Телефон: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string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; у Заказа — ID заказа: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integer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(PK), ID клиента: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integer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(FK); явно обозначаются кратности связей («1 ко многим»), ограничения (например, «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email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обязателен»), возможно — перечисления (статус заказа: Новый, В работе, Выполнен).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Физическая модель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— это «язык разработчика и DBA»: она полностью привязана к выбранной технологии (СУБД,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фреймворк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язык). Здесь фиксируют имена таблиц и колонок, типы данных конкретной СУБД, индексы, внешние ключи, триггеры,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партиционирование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и т. д. В терминах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diagram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это может выглядеть как дополнительные стереотипы и теги, либо вообще переходить в схему БД.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500298" y="0"/>
            <a:ext cx="417377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Class-diagram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5" name="Рисунок 4" descr="C:\Users\user\Downloads\диграмма классов.drawio.p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8992" y="857232"/>
            <a:ext cx="5715008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Прямоугольник 5"/>
          <p:cNvSpPr/>
          <p:nvPr/>
        </p:nvSpPr>
        <p:spPr>
          <a:xfrm>
            <a:off x="0" y="1142984"/>
            <a:ext cx="3428992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500" b="1" dirty="0" smtClean="0">
                <a:latin typeface="Times New Roman" pitchFamily="18" charset="0"/>
                <a:cs typeface="Times New Roman" pitchFamily="18" charset="0"/>
              </a:rPr>
              <a:t>Концептуальная модель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 — это «язык бизнеса»: она описывает предметную область простыми, понятными заказчику терминами без оглядки на технологии. Здесь важны смысловые сущности и их связи, а не технические ограничения.</a:t>
            </a: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Пример: классы Клиент, Заказ, Товар; связи «Клиент делает Заказ», «Заказ содержит Товары». Атрибуты — только ключевые: Имя клиента, Дата заказа, Цена товара. Никаких типов данных, индексов или названий колонок БД.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071546"/>
            <a:ext cx="5500694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Activity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diagram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— это удобный способ наглядно показать, как устроен процесс: от старта до завершения, с учётом ролей, вариантов развития и параллельных действий.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Дорожки ответственности (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swimlanes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 помогают сразу увидеть, кто за какой шаг отвечает: действия группируются по ролям или подразделениям, и становится понятно, где передача задачи, а где зона ответственности конкретного участника. Ветвления отражают точки выбора — например, «одобрено/отклонено» или разные сценарии в зависимости от статуса, — и задают альтернативные пути выполнения. Циклы позволяют отобразить повторяющиеся операции: их оформляют через условия выхода либо с помощью стереотипа &lt;&lt;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loop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&gt;&gt;, чтобы не загромождать диаграмму дублирующимися шагами. Точки синхронизации (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fork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join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 управляют параллелизмом: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fork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запускает несколько потоков одновременно, а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join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собирает их обратно, чтобы дальше процесс шёл единым потоком — так удаётся корректно моделировать одновременные действия без потери логики.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Чтобы диаграмма была полезной и для бизнеса, и для разработки, процесс описывают по чёткому шаблону: начинают со стартовой точки, далее последовательно фиксируют основные шаги, выделяют места принятия решений и возможные варианты развития, добавляют параллельные ветки и их синхронизацию, обозначают условия повторов, а в конце ставят финальную точку.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500298" y="0"/>
            <a:ext cx="493038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Activity-diagram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89547" y="785794"/>
            <a:ext cx="3654453" cy="592935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2500298" y="0"/>
            <a:ext cx="493038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Activity-diagram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2">
            <a:extLst>
              <a:ext uri="{28A0092B-C50C-407E-A947-70E740481C1C}">
                <a14:useLocalDpi xmlns:lc="http://schemas.openxmlformats.org/drawingml/2006/lockedCanvas" xmlns:pic="http://schemas.openxmlformats.org/drawingml/2006/picture" xmlns="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mc="http://schemas.openxmlformats.org/markup-compatibility/2006" xmlns:aink="http://schemas.microsoft.com/office/drawing/2016/ink" xmlns:am3d="http://schemas.microsoft.com/office/drawing/2017/model3d" xmlns:o="urn:schemas-microsoft-com:office:office" xmlns:v="urn:schemas-microsoft-com:vml" xmlns:wp14="http://schemas.microsoft.com/office/word/2010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xmlns:wne="http://schemas.microsoft.com/office/word/2006/wordml" xmlns:wp="http://schemas.openxmlformats.org/drawingml/2006/wordprocessingDrawing" xmlns:m="http://schemas.openxmlformats.org/officeDocument/2006/math" xmlns:ve="http://schemas.openxmlformats.org/markup-compatibility/2006" val="0"/>
              </a:ext>
            </a:extLst>
          </a:blip>
          <a:srcRect/>
          <a:stretch>
            <a:fillRect/>
          </a:stretch>
        </p:blipFill>
        <p:spPr bwMode="auto">
          <a:xfrm>
            <a:off x="4500562" y="857232"/>
            <a:ext cx="4643438" cy="578645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Прямоугольник 5"/>
          <p:cNvSpPr/>
          <p:nvPr/>
        </p:nvSpPr>
        <p:spPr>
          <a:xfrm>
            <a:off x="0" y="714356"/>
            <a:ext cx="4572000" cy="590931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Отсутствие дорожек (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swimlanes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 в диаграмме деятельности часто связано с тем, что на данном этапе моделирования приоритетом выступает описание самой логики процесса, а не распределение ответственности между исполнителями. Такой подход уместен, когда схему используют как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верхнеуровневое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описание для согласования ключевых решений с руководством либо как основу для дальнейшей детализации: позже в неё можно добавить дорожки с ролями, подразделениями или информационными системами. Кроме того, схема без дорожек становится универсальной — её легче адаптировать под разные организационные структуры, не перерисовывая базовую логику.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Сама диаграмма деятельности нужна, чтобы сделать неявные правила работы явными и снизить зависимость процессов от отдельных сотрудников. Она наглядно фиксирует последовательность действий, точки принятия решений и возможные ветвления, помогая выявлять избыточные шаги или «узкие места». Параллельные потоки и узлы слияния (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merge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 позволяют корректно отображать ситуации, когда разные части процесса идут одновременно и должны быть синхронизированы. Такая схема служит базой для регламентации, обучения новых сотрудников, а также для автоматизации в ERP‑ или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BPM‑системах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: из неё напрямую выводятся правила маршрутизации задач, условия переходов и обязательные документы на каждом этапе. 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1785918" y="-214338"/>
            <a:ext cx="571028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err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Statechart</a:t>
            </a:r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-diagram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500042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Применяйте для сущностей со сложным жизненным циклом (заказ, заявка, платёж), чтобы зафиксировать допустимые состояния,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события‑триггеры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и условия переходов — это убирает неоднозначность требований и даёт готовые сценарии для тестов.</a:t>
            </a:r>
          </a:p>
          <a:p>
            <a:pPr algn="just"/>
            <a:r>
              <a:rPr lang="ru-RU" sz="1200" b="1" dirty="0" smtClean="0">
                <a:latin typeface="Times New Roman" pitchFamily="18" charset="0"/>
                <a:cs typeface="Times New Roman" pitchFamily="18" charset="0"/>
              </a:rPr>
              <a:t>Ключевые элементы:</a:t>
            </a:r>
            <a:endParaRPr lang="ru-RU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200" b="1" dirty="0" smtClean="0">
                <a:latin typeface="Times New Roman" pitchFamily="18" charset="0"/>
                <a:cs typeface="Times New Roman" pitchFamily="18" charset="0"/>
              </a:rPr>
              <a:t>Состояния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(«Создан», «В работе», «Отменён») — устойчивые режимы объекта.</a:t>
            </a:r>
          </a:p>
          <a:p>
            <a:pPr algn="just"/>
            <a:r>
              <a:rPr lang="ru-RU" sz="1200" b="1" dirty="0" smtClean="0">
                <a:latin typeface="Times New Roman" pitchFamily="18" charset="0"/>
                <a:cs typeface="Times New Roman" pitchFamily="18" charset="0"/>
              </a:rPr>
              <a:t>Переходы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 — событие + условие [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guard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] + действие /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action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200" b="1" dirty="0" smtClean="0">
                <a:latin typeface="Times New Roman" pitchFamily="18" charset="0"/>
                <a:cs typeface="Times New Roman" pitchFamily="18" charset="0"/>
              </a:rPr>
              <a:t>Начальное/финальное состояния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 — границы жизненного цикла.</a:t>
            </a:r>
          </a:p>
          <a:p>
            <a:pPr algn="just"/>
            <a:r>
              <a:rPr lang="ru-RU" sz="1200" b="1" dirty="0" smtClean="0">
                <a:latin typeface="Times New Roman" pitchFamily="18" charset="0"/>
                <a:cs typeface="Times New Roman" pitchFamily="18" charset="0"/>
              </a:rPr>
              <a:t>Составные состояния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 — группируют похожие состояния, сокращая дублирование стрелок.</a:t>
            </a:r>
          </a:p>
          <a:p>
            <a:pPr algn="just"/>
            <a:r>
              <a:rPr lang="ru-RU" sz="1200" b="1" dirty="0" smtClean="0">
                <a:latin typeface="Times New Roman" pitchFamily="18" charset="0"/>
                <a:cs typeface="Times New Roman" pitchFamily="18" charset="0"/>
              </a:rPr>
              <a:t>Действия </a:t>
            </a:r>
            <a:r>
              <a:rPr lang="ru-RU" sz="1200" b="1" dirty="0" err="1" smtClean="0">
                <a:latin typeface="Times New Roman" pitchFamily="18" charset="0"/>
                <a:cs typeface="Times New Roman" pitchFamily="18" charset="0"/>
              </a:rPr>
              <a:t>entry</a:t>
            </a:r>
            <a:r>
              <a:rPr lang="ru-RU" sz="1200" b="1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1200" b="1" dirty="0" err="1" smtClean="0">
                <a:latin typeface="Times New Roman" pitchFamily="18" charset="0"/>
                <a:cs typeface="Times New Roman" pitchFamily="18" charset="0"/>
              </a:rPr>
              <a:t>exit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 — 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логирование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, уведомления при входе/выходе.</a:t>
            </a:r>
          </a:p>
          <a:p>
            <a:pPr algn="just"/>
            <a:r>
              <a:rPr lang="ru-RU" sz="1200" b="1" dirty="0" smtClean="0">
                <a:latin typeface="Times New Roman" pitchFamily="18" charset="0"/>
                <a:cs typeface="Times New Roman" pitchFamily="18" charset="0"/>
              </a:rPr>
              <a:t>Шаблон моделирования: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определить сущность → выписать все состояния (включая ошибочные) → задать старт/финиш → описать события и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guard‑условия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→ сгруппировать состояния → проверить полноту сценариев.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500306"/>
            <a:ext cx="6575290" cy="4357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1371732" y="-208974"/>
            <a:ext cx="627210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Component-diagram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500042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Component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diagram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помогает показать, из каких крупных частей состоит система и как они связаны между собой, не уходя в детали кода. На ней отражают реальные компоненты (например,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веб‑приложение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модуль авторизации, сервис отчётов, библиотека интеграции), их предоставляемые и требуемые интерфейсы, а также зависимости между ними — чтобы было видно, какой компонент от чего зависит и через какие контракты взаимодействует. Это особенно полезно, когда нужно разделить систему на модули, договориться о границах сервисов или спланировать поэтапную разработку: диаграмма сразу подсвечивает узкие места и точки, где изменения затронут много частей системы.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2714596"/>
            <a:ext cx="6591460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1275688" y="-208974"/>
            <a:ext cx="64395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Deployment-diagram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500042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Deployment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diagram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отвечает на вопрос, где и как всё это будет работать: она отображает среду развёртывания — серверы, контейнеры, базы данных, клиентские устройства — и то, как компоненты размещаются на этих узлах. На ней показывают узлы (например, «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веб‑сервер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», «сервер приложений», «БД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PostgreSQL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»), артефакты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WAR‑файлы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контейнеры, исполняемые модули), связи между узлами (сети, протоколы) и распределение компонентов по инфраструктуре. Её стоит строить, когда важно согласовать архитектуру с инфраструктурой, оценить нагрузку и отказоустойчивость, подготовить требования к окружению или объяснить команде и заказчику, как система будет жить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продакшене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Вместе эти диаграммы дают чёткую картину «что есть в системе» и «где и как это работает», без лишней детализации кода.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43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2933690"/>
            <a:ext cx="6255666" cy="39243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-208974"/>
            <a:ext cx="9144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Диаграмма кооперации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500042"/>
            <a:ext cx="914400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Диаграмма кооперации (она же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communication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diagram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 показывает, как объекты взаимодействуют друг с другом для выполнения задачи: на ней видны и участники взаимодействия, и структура их связей, и сами сообщения между ними. Главные элементы — объекты (в виде прямоугольников с указанием имени и класса), связи между ними (линии ассоциаций) и сообщения (стрелки с порядковыми номерами, именем вызова и, при необходимости, аргументами). Порядковые номера задают последовательность: так диаграмма одновременно отражает и структуру системы, и динамику взаимодействия — но без отдельной временной оси, в отличие от диаграммы последовательности.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Её стоит применять, когда важно сразу видеть и «кто с кем связан», и «как они обмениваются данными»: например, чтобы прояснить роли объектов в сценарии, выявить скрытые зависимости или объяснить архитектуру команде, которой привычнее структурное представление. Диаграмму кооперации удобно использовать параллельно с диаграммой последовательности: первая даёт структурный контекст и связи, вторая — чёткую хронологию; вместе они закрывают разные стороны одного сценария и помогают избежать неоднозначности в требованиях и проектировании.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6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3837180"/>
            <a:ext cx="5643602" cy="30208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402</Words>
  <PresentationFormat>Экран (4:3)</PresentationFormat>
  <Paragraphs>30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Моделирование в UML: минимальный набор для диплома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6</cp:revision>
  <dcterms:created xsi:type="dcterms:W3CDTF">2026-09-24T20:31:04Z</dcterms:created>
  <dcterms:modified xsi:type="dcterms:W3CDTF">2026-10-01T21:17:02Z</dcterms:modified>
</cp:coreProperties>
</file>