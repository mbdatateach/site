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096-A461-4DD7-924E-A019AB149A79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01C05-06B8-4799-A026-7D7752B76EF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096-A461-4DD7-924E-A019AB149A79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01C05-06B8-4799-A026-7D7752B76EF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096-A461-4DD7-924E-A019AB149A79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01C05-06B8-4799-A026-7D7752B76EF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096-A461-4DD7-924E-A019AB149A79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01C05-06B8-4799-A026-7D7752B76EF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096-A461-4DD7-924E-A019AB149A79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01C05-06B8-4799-A026-7D7752B76EF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096-A461-4DD7-924E-A019AB149A79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01C05-06B8-4799-A026-7D7752B76EF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096-A461-4DD7-924E-A019AB149A79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01C05-06B8-4799-A026-7D7752B76EF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096-A461-4DD7-924E-A019AB149A79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01C05-06B8-4799-A026-7D7752B76EF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096-A461-4DD7-924E-A019AB149A79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01C05-06B8-4799-A026-7D7752B76EF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096-A461-4DD7-924E-A019AB149A79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01C05-06B8-4799-A026-7D7752B76EF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40096-A461-4DD7-924E-A019AB149A79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01C05-06B8-4799-A026-7D7752B76EF5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40096-A461-4DD7-924E-A019AB149A79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01C05-06B8-4799-A026-7D7752B76EF5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Обследование предметной области: как написать первую главу диплома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 rotWithShape="1">
          <a:blip r:embed="rId2">
            <a:extLst>
              <a:ext uri="{28A0092B-C50C-407E-A947-70E740481C1C}">
                <a14:useLocalDpi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 l="1170" r="4209"/>
          <a:stretch/>
        </p:blipFill>
        <p:spPr bwMode="auto">
          <a:xfrm>
            <a:off x="857224" y="1391494"/>
            <a:ext cx="7359787" cy="546650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/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Организационная структура — это, по сути, 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схема, которая показывает, как устроена работа в компании: кто за что отвечает, кому подчиняется и как отделы и сотрудники взаимодействуют между собой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 Проще говоря, это каркас, который держит все процессы компании и помогает им слаженно работать.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14290"/>
            <a:ext cx="6898032" cy="562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1071538" y="5715016"/>
            <a:ext cx="702083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Методы сбора данных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"/>
            <a:ext cx="4286247" cy="3312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22126" y="1142984"/>
            <a:ext cx="5021874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3214686"/>
            <a:ext cx="421481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Оценка </a:t>
            </a:r>
            <a:r>
              <a:rPr lang="ru-RU" sz="1500" dirty="0" err="1">
                <a:latin typeface="Times New Roman" pitchFamily="18" charset="0"/>
                <a:cs typeface="Times New Roman" pitchFamily="18" charset="0"/>
              </a:rPr>
              <a:t>ИТ‑инфраструктуры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 и уровня информационной безопасности нужна, чтобы:</a:t>
            </a:r>
          </a:p>
          <a:p>
            <a:pPr algn="just"/>
            <a:r>
              <a:rPr lang="ru-RU" sz="1500" b="1" dirty="0">
                <a:latin typeface="Times New Roman" pitchFamily="18" charset="0"/>
                <a:cs typeface="Times New Roman" pitchFamily="18" charset="0"/>
              </a:rPr>
              <a:t>выявить слабые места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 — уязвимости, устаревшее ПО, несогласованные настройки;</a:t>
            </a:r>
          </a:p>
          <a:p>
            <a:pPr algn="just"/>
            <a:r>
              <a:rPr lang="ru-RU" sz="1500" b="1" dirty="0">
                <a:latin typeface="Times New Roman" pitchFamily="18" charset="0"/>
                <a:cs typeface="Times New Roman" pitchFamily="18" charset="0"/>
              </a:rPr>
              <a:t>понять риски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 — какие угрозы реальны и к каким последствиям (утечка, простой, штрафы) могут привести;</a:t>
            </a:r>
          </a:p>
          <a:p>
            <a:pPr algn="just"/>
            <a:r>
              <a:rPr lang="ru-RU" sz="1500" b="1" dirty="0">
                <a:latin typeface="Times New Roman" pitchFamily="18" charset="0"/>
                <a:cs typeface="Times New Roman" pitchFamily="18" charset="0"/>
              </a:rPr>
              <a:t>обосновать доработки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 — показать, что именно стоит внедрить или исправить и зачем;</a:t>
            </a:r>
          </a:p>
          <a:p>
            <a:pPr algn="just"/>
            <a:r>
              <a:rPr lang="ru-RU" sz="1500" b="1" dirty="0">
                <a:latin typeface="Times New Roman" pitchFamily="18" charset="0"/>
                <a:cs typeface="Times New Roman" pitchFamily="18" charset="0"/>
              </a:rPr>
              <a:t>обеспечить соответствие требованиям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 — нормативным, отраслевым, внутренним политикам;</a:t>
            </a:r>
          </a:p>
          <a:p>
            <a:pPr algn="just"/>
            <a:r>
              <a:rPr lang="ru-RU" sz="1500" b="1" dirty="0">
                <a:latin typeface="Times New Roman" pitchFamily="18" charset="0"/>
                <a:cs typeface="Times New Roman" pitchFamily="18" charset="0"/>
              </a:rPr>
              <a:t>сбалансировать безопасность и работоспособность</a:t>
            </a:r>
            <a:r>
              <a:rPr lang="ru-RU" sz="1500" dirty="0">
                <a:latin typeface="Times New Roman" pitchFamily="18" charset="0"/>
                <a:cs typeface="Times New Roman" pitchFamily="18" charset="0"/>
              </a:rPr>
              <a:t> — не ломать процессы избыточными мерами, а закрывать реальные риски.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643438" y="357166"/>
            <a:ext cx="4322145" cy="5078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27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Используемые </a:t>
            </a:r>
            <a:r>
              <a:rPr lang="ru-RU" sz="2700" b="1" cap="none" spc="0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ИТ-средства</a:t>
            </a:r>
            <a:endParaRPr lang="ru-RU" sz="27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5286380" cy="3910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61298" y="3071810"/>
            <a:ext cx="4882702" cy="378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5143504" y="571480"/>
            <a:ext cx="40004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IDEF0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Integration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Modeling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это нотация для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функционального моделирования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она показывает,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какие функции (действия) есть в системе и при каких условиях они выполняются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а не последовательность шагов.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3929066"/>
            <a:ext cx="4572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Блок (прямоугольник) — функция/действие (например, «Обработать заявку»).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Стрелки с чёткой семантикой: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Слева (входы) — что преобразуется (данные, документы, материалы).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Справа (выходы) — результат работы (отчёт, договор, обновлённая запись).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Сверху (управление) — правила, регламенты, законы, политики (то, что диктует, как делать).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Снизу (механизмы) — кто и чем выполняет (сотрудник, программа, станок).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5721981" cy="300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3108" y="3071810"/>
            <a:ext cx="7000891" cy="378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5715008" y="285728"/>
            <a:ext cx="34289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DFD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Flow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Diagram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диаграмма потоков данных: показывает, откуда данные приходят, как обрабатываются, где хранятся и куда передаются. Фокус — на данных, а не на порядке действий или исполнителях.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85720" y="4429132"/>
            <a:ext cx="1374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DFD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4071934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Суть: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расчёт стоимости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бизнес‑процесса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через затраты на отдельные операции — чтобы показать, сколько реально стоит «рутинная» работа.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Как считают: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время шага × стоимость часа сотрудника = стоимость операции.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Суммируют по всем шагам — получают стоимость одного цикла процесса.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Зачем в дипломе: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выявить самые «дорогие» ручные операции;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обосновать автоматизацию цифрами (экономия времени и денег);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дать базу для расчёта экономического эффекта в третьей главе.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Ключевой вывод для слайда: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ABC превращает общие фразы «процесс неэффективен» в конкретные цифры: «ручной ввод данных стоит X руб. в месяц — автоматизация сократит затраты на Y %».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0496" y="1571612"/>
            <a:ext cx="5143504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5000628" y="214290"/>
            <a:ext cx="3489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Метод 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ABC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028343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ходе анализа выявлены следующие недостатки существующей организации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…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Проведенный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анализ показал, что существующие системы не отвечают в полной мере потребностям очного учебного процесса. Их интерфейс перегружен, для выполнения базовых операций требуется избыточное количество действий, отсутствует учет посещаемости аудиторных занятий, а аналитика ограничена выгрузками в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Следовательно, возникает необходимость разработки специализированного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веб-приложения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«Электронный журнал», ориентированного именно на очные занятия. На основе проведенного анализа в следующей главе будут сформулированы требования к системе, обоснован выбор технологического стека и спроектирована архитектура.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714480" y="0"/>
            <a:ext cx="57812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Итог первой главы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159</Words>
  <Application>Microsoft Office PowerPoint</Application>
  <PresentationFormat>Экран (4:3)</PresentationFormat>
  <Paragraphs>31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Обследование предметной области: как написать первую главу диплома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7</cp:revision>
  <dcterms:created xsi:type="dcterms:W3CDTF">2026-09-04T15:34:22Z</dcterms:created>
  <dcterms:modified xsi:type="dcterms:W3CDTF">2026-09-04T17:26:41Z</dcterms:modified>
</cp:coreProperties>
</file>