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8" r:id="rId4"/>
    <p:sldId id="266" r:id="rId5"/>
    <p:sldId id="265" r:id="rId6"/>
    <p:sldId id="271" r:id="rId7"/>
    <p:sldId id="270" r:id="rId8"/>
    <p:sldId id="269" r:id="rId9"/>
    <p:sldId id="267" r:id="rId10"/>
    <p:sldId id="268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867" autoAdjust="0"/>
    <p:restoredTop sz="94660"/>
  </p:normalViewPr>
  <p:slideViewPr>
    <p:cSldViewPr>
      <p:cViewPr>
        <p:scale>
          <a:sx n="100" d="100"/>
          <a:sy n="100" d="100"/>
        </p:scale>
        <p:origin x="-2190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3275-2E4D-4BC0-AF44-27B9C8BA63B5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2190A-BE6A-4689-952C-883A7D0B3AC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2190A-BE6A-4689-952C-883A7D0B3AC0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Фильтры и таблицы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71536"/>
            <a:ext cx="9144000" cy="871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928926" y="4610409"/>
            <a:ext cx="3041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«Доля года»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5500702"/>
            <a:ext cx="9143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перед тем, как протягивать формулу, не забудьте закрепить ячейку с сегодняшней датой (абсолютная адресация).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642918"/>
            <a:ext cx="64484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857356" y="2857496"/>
            <a:ext cx="5253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Закрепление области видимости строк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6200000" flipH="1">
            <a:off x="7715272" y="3714752"/>
            <a:ext cx="1000132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43768" y="3071810"/>
            <a:ext cx="1971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СЕГОДНЯ()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714356"/>
            <a:ext cx="9144000" cy="928694"/>
          </a:xfrm>
          <a:prstGeom prst="rect">
            <a:avLst/>
          </a:prstGeom>
          <a:solidFill>
            <a:srgbClr val="E2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42067"/>
            <a:ext cx="9143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Функция ВПР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помогает быстро найти в таблице нужные значения и перенести их с одного листа на другой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Принцип работы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функция анализирует выбранную область и столбец, а когда находит нужное значение, копирует его в другую таблицу, из которой поступил запрос.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Формула ВПР состоит из четырёх аргументов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Искомое значение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столбец с искомыми данными в той таблице, куда нужно перенести данные.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диапазон, в котором ВПР будет искать данные, которые нужно перенести.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Номер столбца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порядковый номер столбца, из которого нужно забрать данные.</a:t>
            </a:r>
          </a:p>
          <a:p>
            <a:pPr algn="just"/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286124"/>
            <a:ext cx="4930676" cy="3071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714356"/>
            <a:ext cx="9144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обеих таблицах присутствует столбец «Код», по которому можно связать данные.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функции необходимо передать ячейку с кодом из первой таблицы, и указать диапазон поисков – вся вторая таблица с заголовками.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Столбец оклад присутствует во второй таблице (4 столбец), но необходимо, чтобы такое же значение отображалось и в первой таблице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2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4000" cy="97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>
            <a:off x="7143768" y="214290"/>
            <a:ext cx="1571636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43604" y="1643050"/>
            <a:ext cx="3000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Фильтр по конкретному столбцу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6200000" flipV="1">
            <a:off x="6429388" y="1500174"/>
            <a:ext cx="50006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737545"/>
            <a:ext cx="3395684" cy="244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3746410"/>
            <a:ext cx="3071802" cy="250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0" y="6143644"/>
            <a:ext cx="9286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Дополнительные возможности для фильтрации можно найти, если выбрать числовые или текстовые фильтры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2571744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фильтра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позволяет оставить видимыми только те данные, которые посчитаны нужными, а остальные скрыть. При необходимости скрытые данные всегда можно будет вернуть в видимый режим.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2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71480"/>
            <a:ext cx="4966310" cy="290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9875" y="4000504"/>
            <a:ext cx="63341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48" y="3500438"/>
            <a:ext cx="4357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Вставка круговой диаграммы на лист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00496" y="5842337"/>
            <a:ext cx="43577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Настройка внешнего вида диаграммы может осуществляться на вкладке «Конструктор»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4500570"/>
            <a:ext cx="9144000" cy="18573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2428868"/>
            <a:ext cx="9144000" cy="1857388"/>
          </a:xfrm>
          <a:prstGeom prst="rect">
            <a:avLst/>
          </a:prstGeom>
          <a:solidFill>
            <a:srgbClr val="E2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00042"/>
            <a:ext cx="9144000" cy="18573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2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Функция «ЕСЛИ» в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проверяет, соответствуют ли значения в выбранных ячейках заданному условию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Когда условие выполняется, в ячейке выводится один результат, когда нет — другой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Синтаксис функции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значение_если_истина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значение_если_ложь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(обязательно) — условие, которое нужно проверить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Значение_если_истина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(обязательно) — значение, которое должно возвращаться, если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имеет значение ИСТИНА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Значение_если_ложь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(необязательно) — значение, которое должно возвращаться, если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имеет значение ЛОЖЬ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Примеры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использования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(А1&gt;=3 ; «Зачёт сдал» ; «Зачёт не сдал»)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Если в ячейке А1 оценка больше или равна 3, то зачёт сдан, в противном случае — нет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=ЕСЛИ (А1=«оплачено»; В1; 0)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Эта формула возвращает значение из ячейки В1, если ячейка А1 содержит слово «оплачено», и 0, если в ней находится любое другое значение.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357430"/>
            <a:ext cx="749617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0" y="514351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выборе настраиваемой сортировки можно выбрать очередность столбцов, по которым будут сортироваться (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таблицу необходимо выделить с заголовками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>
            <a:stCxn id="15" idx="0"/>
          </p:cNvCxnSpPr>
          <p:nvPr/>
        </p:nvCxnSpPr>
        <p:spPr>
          <a:xfrm rot="16200000" flipV="1">
            <a:off x="2928926" y="3500438"/>
            <a:ext cx="1928826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0" y="785794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Сортировка является одним из самых удобных инструментов при работе в программе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С помощью неё, можно расположить строчки таблицы в нужном порядке, согласно данным, которые находятся в ячейках столбцов.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14414" y="3357562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Расширенная сортировка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572140"/>
            <a:ext cx="9144000" cy="1150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3" idx="2"/>
          </p:cNvCxnSpPr>
          <p:nvPr/>
        </p:nvCxnSpPr>
        <p:spPr>
          <a:xfrm rot="5400000">
            <a:off x="704286" y="4911905"/>
            <a:ext cx="913165" cy="23217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28596" y="464344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7255" y="4600526"/>
            <a:ext cx="2928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строку, над которой необходимо вставить пустую строку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7715272" y="5072074"/>
            <a:ext cx="114300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4714876" y="45005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504" y="4429132"/>
            <a:ext cx="3786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Нажать кнопку «Вставить» (при нажатии галочки появятся другие способы вставки)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8728" y="4071942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Для добавления строк и столбцов на лист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49" y="571480"/>
            <a:ext cx="7505661" cy="2790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62643" y="785794"/>
            <a:ext cx="326707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>
            <a:off x="1733553" y="1643050"/>
            <a:ext cx="5857916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161949" y="1285860"/>
            <a:ext cx="1571604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/>
          <p:nvPr/>
        </p:nvCxnSpPr>
        <p:spPr>
          <a:xfrm rot="5400000" flipH="1" flipV="1">
            <a:off x="2305059" y="1000110"/>
            <a:ext cx="428627" cy="2857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14686"/>
            <a:ext cx="9144000" cy="213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7" name="Прямая со стрелкой 26"/>
          <p:cNvCxnSpPr/>
          <p:nvPr/>
        </p:nvCxnSpPr>
        <p:spPr>
          <a:xfrm rot="10800000" flipV="1">
            <a:off x="285720" y="2996073"/>
            <a:ext cx="107157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57290" y="2781759"/>
            <a:ext cx="6929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Варианты представлений промежуточных итогов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Прямая со стрелкой 31"/>
          <p:cNvCxnSpPr>
            <a:stCxn id="31" idx="1"/>
          </p:cNvCxnSpPr>
          <p:nvPr/>
        </p:nvCxnSpPr>
        <p:spPr>
          <a:xfrm rot="10800000" flipV="1">
            <a:off x="142844" y="2981813"/>
            <a:ext cx="1214446" cy="21573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/>
          <p:cNvSpPr/>
          <p:nvPr/>
        </p:nvSpPr>
        <p:spPr>
          <a:xfrm>
            <a:off x="0" y="1071546"/>
            <a:ext cx="9144000" cy="144655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Промежуточные итоги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это подведение итогов для части записей при анализе большого объёма данных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Они позволяют вычислить нужную функцию без вставки дополнительных формул.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272</Words>
  <Application>Microsoft Office PowerPoint</Application>
  <PresentationFormat>Экран (4:3)</PresentationFormat>
  <Paragraphs>56</Paragraphs>
  <Slides>10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Практическая работа  Фильтры и таблицы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33</cp:revision>
  <dcterms:created xsi:type="dcterms:W3CDTF">2025-01-01T12:55:25Z</dcterms:created>
  <dcterms:modified xsi:type="dcterms:W3CDTF">2026-01-01T12:47:13Z</dcterms:modified>
</cp:coreProperties>
</file>