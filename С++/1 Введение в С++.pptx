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8" r:id="rId4"/>
    <p:sldId id="269" r:id="rId5"/>
    <p:sldId id="270" r:id="rId6"/>
    <p:sldId id="257" r:id="rId7"/>
    <p:sldId id="258" r:id="rId8"/>
    <p:sldId id="259" r:id="rId9"/>
    <p:sldId id="267" r:id="rId10"/>
    <p:sldId id="260" r:id="rId11"/>
    <p:sldId id="271" r:id="rId12"/>
    <p:sldId id="261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5682" autoAdjust="0"/>
  </p:normalViewPr>
  <p:slideViewPr>
    <p:cSldViewPr>
      <p:cViewPr varScale="1">
        <p:scale>
          <a:sx n="113" d="100"/>
          <a:sy n="113" d="100"/>
        </p:scale>
        <p:origin x="-15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hat-are-the-differences-between-bitwise-and-logical-and-operators-in-cc/" TargetMode="External"/><Relationship Id="rId2" Type="http://schemas.openxmlformats.org/officeDocument/2006/relationships/hyperlink" Target="https://ejudge.179.ru/tasks/cpp/total/132.html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Язык С++: </a:t>
            </a:r>
            <a:r>
              <a:rPr lang="ru-RU" b="1" dirty="0" smtClean="0"/>
              <a:t>введение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1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Математическая библиотека </a:t>
            </a:r>
            <a:r>
              <a:rPr lang="en-US" sz="2400" i="1" dirty="0" err="1" smtClean="0">
                <a:latin typeface="Cambria" pitchFamily="18" charset="0"/>
              </a:rPr>
              <a:t>math.h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https://ejudge.179.ru/tasks/cpp/total/132.html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В чем разница между побитовыми и логическими операторами И в C/C++?</a:t>
            </a:r>
          </a:p>
          <a:p>
            <a:pPr algn="just"/>
            <a:r>
              <a:rPr lang="en-US" sz="2400" b="1" u="sng" dirty="0" smtClean="0">
                <a:latin typeface="Cambria" pitchFamily="18" charset="0"/>
                <a:hlinkClick r:id="rId3"/>
              </a:rPr>
              <a:t>https://www.geeksforgeeks.org/what-are-the-differences-between-bitwise-and-logical-and-operators-in-cc</a:t>
            </a:r>
            <a:r>
              <a:rPr lang="en-US" sz="2400" b="1" u="sng" dirty="0" smtClean="0">
                <a:latin typeface="Cambria" pitchFamily="18" charset="0"/>
                <a:hlinkClick r:id="rId3"/>
              </a:rPr>
              <a:t>/</a:t>
            </a:r>
            <a:endParaRPr lang="en-US" sz="2400" b="1" u="sng" dirty="0" smtClean="0">
              <a:latin typeface="Cambria" pitchFamily="18" charset="0"/>
            </a:endParaRPr>
          </a:p>
          <a:p>
            <a:pPr algn="just"/>
            <a:endParaRPr lang="ru-RU" sz="2400" b="1" u="sng" dirty="0" smtClean="0">
              <a:latin typeface="Cambria" pitchFamily="18" charset="0"/>
            </a:endParaRPr>
          </a:p>
          <a:p>
            <a:pPr algn="just"/>
            <a:endParaRPr lang="ru-RU" sz="24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0" y="2928934"/>
            <a:ext cx="4143372" cy="30003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1928802"/>
            <a:ext cx="9144000" cy="9286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000232" y="928670"/>
            <a:ext cx="7143768" cy="7858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err="1" smtClean="0"/>
              <a:t>CodeBlocks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00232" y="857232"/>
            <a:ext cx="7143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Code::Blocks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свободная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кроссплатформенная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среда разработки на языке C++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Имеет открытую архитектуру и может масштабироваться за счёт подключаемых модулей.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92880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Некоторые особенности среды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Поддержка языков программирования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С, C++,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Fortran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Готовые шаблоны проектов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быстрого создания минимального приложения.</a:t>
            </a:r>
          </a:p>
        </p:txBody>
      </p:sp>
      <p:pic>
        <p:nvPicPr>
          <p:cNvPr id="3" name="Picture 2" descr="Логотип программы Code::Bloc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57166"/>
            <a:ext cx="1503347" cy="1503347"/>
          </a:xfrm>
          <a:prstGeom prst="rect">
            <a:avLst/>
          </a:prstGeom>
          <a:noFill/>
        </p:spPr>
      </p:pic>
      <p:pic>
        <p:nvPicPr>
          <p:cNvPr id="1030" name="Picture 6" descr="Скриншот программы Code::Block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2876563"/>
            <a:ext cx="4929190" cy="3981437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0" y="2857496"/>
            <a:ext cx="407193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Редактор кода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 возможностями для комфортной работы программиста: выделение синтаксиса, интерфейс с вкладками,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автозавершение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кода и другие.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Отладчик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 умолчанию использует GDB — самый популярный отладчик для языка Си. Он позволяет установить точки останова и затем пошагово выполнять код с одновременным мониторингом переменных и массивов.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4572000" y="5072074"/>
            <a:ext cx="4572000" cy="17859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err="1" smtClean="0"/>
              <a:t>CodeBlocks</a:t>
            </a:r>
            <a:r>
              <a:rPr lang="en-US" dirty="0" smtClean="0"/>
              <a:t>: </a:t>
            </a:r>
            <a:r>
              <a:rPr lang="ru-RU" dirty="0" smtClean="0"/>
              <a:t>создание проекта</a:t>
            </a:r>
            <a:endParaRPr lang="ru-RU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9"/>
            <a:ext cx="3908825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285720" y="2357430"/>
            <a:ext cx="1214446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30990" y="928670"/>
            <a:ext cx="4213010" cy="3152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14" idx="3"/>
          </p:cNvCxnSpPr>
          <p:nvPr/>
        </p:nvCxnSpPr>
        <p:spPr>
          <a:xfrm flipV="1">
            <a:off x="1500166" y="2071678"/>
            <a:ext cx="428628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4429132"/>
            <a:ext cx="26860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endCxn id="23556" idx="0"/>
          </p:cNvCxnSpPr>
          <p:nvPr/>
        </p:nvCxnSpPr>
        <p:spPr>
          <a:xfrm rot="10800000" flipV="1">
            <a:off x="2128812" y="2214554"/>
            <a:ext cx="3657637" cy="221457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4572000" y="510367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последнем шаге предлагается выбрать компилятор (GNU GCC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Compiler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подключить две конфигурации сборки (их и нужно две —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Debug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отладки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Release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публикации), поэтому здесь оставляем как есть (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Finish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>
            <a:stCxn id="26" idx="3"/>
            <a:endCxn id="22" idx="1"/>
          </p:cNvCxnSpPr>
          <p:nvPr/>
        </p:nvCxnSpPr>
        <p:spPr>
          <a:xfrm>
            <a:off x="3428992" y="5357826"/>
            <a:ext cx="1143008" cy="60721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714348" y="5143512"/>
            <a:ext cx="2714644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9144000" cy="3377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en-US" dirty="0" err="1" smtClean="0"/>
              <a:t>CodeBlocks</a:t>
            </a:r>
            <a:r>
              <a:rPr lang="en-US" dirty="0" smtClean="0"/>
              <a:t>: </a:t>
            </a:r>
            <a:r>
              <a:rPr lang="ru-RU" dirty="0" smtClean="0"/>
              <a:t>рабочее поле</a:t>
            </a:r>
            <a:endParaRPr lang="ru-RU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4213951"/>
            <a:ext cx="5233979" cy="2644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16200000" flipH="1">
            <a:off x="1107257" y="2536025"/>
            <a:ext cx="300039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Скругленный прямоугольник 16"/>
          <p:cNvSpPr/>
          <p:nvPr/>
        </p:nvSpPr>
        <p:spPr>
          <a:xfrm>
            <a:off x="2143108" y="1000108"/>
            <a:ext cx="571504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3929058" y="1571612"/>
            <a:ext cx="5214942" cy="25717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 стрелкой 19"/>
          <p:cNvCxnSpPr/>
          <p:nvPr/>
        </p:nvCxnSpPr>
        <p:spPr>
          <a:xfrm rot="16200000" flipV="1">
            <a:off x="8393933" y="4464851"/>
            <a:ext cx="928694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rot="10800000">
            <a:off x="8072462" y="5072074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7286644" y="5000636"/>
            <a:ext cx="18573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Область ввода кода</a:t>
            </a:r>
            <a:endParaRPr lang="ru-RU" sz="16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1428760" y="500042"/>
            <a:ext cx="2000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Запуск программы</a:t>
            </a:r>
            <a:endParaRPr lang="ru-RU"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программы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85860"/>
            <a:ext cx="6919256" cy="5177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Определение пространства имен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785926"/>
            <a:ext cx="51435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 smtClean="0">
                <a:latin typeface="Cambria" pitchFamily="18" charset="0"/>
              </a:rPr>
              <a:t>std</a:t>
            </a:r>
            <a:r>
              <a:rPr lang="ru-RU" sz="2000" dirty="0" smtClean="0">
                <a:latin typeface="Cambria" pitchFamily="18" charset="0"/>
              </a:rPr>
              <a:t> - пространство имён для функций, классов и</a:t>
            </a:r>
          </a:p>
          <a:p>
            <a:pPr algn="ctr"/>
            <a:r>
              <a:rPr lang="ru-RU" sz="2000" dirty="0" smtClean="0">
                <a:latin typeface="Cambria" pitchFamily="18" charset="0"/>
              </a:rPr>
              <a:t>объектов из стандартной библиотеки</a:t>
            </a:r>
            <a:r>
              <a:rPr lang="en-US" sz="2000" dirty="0" smtClean="0">
                <a:latin typeface="Cambria" pitchFamily="18" charset="0"/>
              </a:rPr>
              <a:t> </a:t>
            </a:r>
          </a:p>
          <a:p>
            <a:pPr algn="ctr"/>
            <a:r>
              <a:rPr lang="ru-RU" sz="2000" dirty="0" smtClean="0">
                <a:latin typeface="Cambria" pitchFamily="18" charset="0"/>
              </a:rPr>
              <a:t>В пространстве имён </a:t>
            </a:r>
            <a:r>
              <a:rPr lang="ru-RU" sz="2000" dirty="0" err="1" smtClean="0">
                <a:latin typeface="Cambria" pitchFamily="18" charset="0"/>
              </a:rPr>
              <a:t>std</a:t>
            </a:r>
            <a:r>
              <a:rPr lang="ru-RU" sz="2000" dirty="0" smtClean="0">
                <a:latin typeface="Cambria" pitchFamily="18" charset="0"/>
              </a:rPr>
              <a:t> определены, например:</a:t>
            </a:r>
          </a:p>
          <a:p>
            <a:pPr algn="ctr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операции ввода-вывода;</a:t>
            </a:r>
          </a:p>
          <a:p>
            <a:pPr algn="ctr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классы строк;</a:t>
            </a:r>
          </a:p>
          <a:p>
            <a:pPr algn="ctr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классы контейнеров, которые могут содержать другие элементы;</a:t>
            </a:r>
          </a:p>
          <a:p>
            <a:pPr algn="ctr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инструменты создания многопоточной программы.</a:t>
            </a:r>
          </a:p>
          <a:p>
            <a:pPr algn="ctr"/>
            <a:endParaRPr lang="ru-RU" sz="2000" dirty="0">
              <a:latin typeface="Cambria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19695" y="1714488"/>
            <a:ext cx="3824305" cy="3824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Базовые типа данных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42844" y="1285860"/>
            <a:ext cx="4913396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ru-RU" sz="2200" dirty="0" smtClean="0">
                <a:latin typeface="Cambria" pitchFamily="18" charset="0"/>
              </a:rPr>
              <a:t>1) Логический </a:t>
            </a:r>
            <a:r>
              <a:rPr lang="ru-RU" sz="2200" dirty="0">
                <a:latin typeface="Cambria" pitchFamily="18" charset="0"/>
              </a:rPr>
              <a:t>тип : </a:t>
            </a:r>
            <a:r>
              <a:rPr lang="en-US" sz="2200" dirty="0" err="1" smtClean="0">
                <a:latin typeface="Cambria" pitchFamily="18" charset="0"/>
              </a:rPr>
              <a:t>bool</a:t>
            </a:r>
            <a:endParaRPr lang="ru-RU" sz="2200" dirty="0" smtClean="0">
              <a:latin typeface="Cambria" pitchFamily="18" charset="0"/>
            </a:endParaRPr>
          </a:p>
          <a:p>
            <a:pPr marL="342900" indent="-342900"/>
            <a:endParaRPr lang="ru-RU" sz="2200" dirty="0" smtClean="0">
              <a:latin typeface="Cambria" pitchFamily="18" charset="0"/>
            </a:endParaRPr>
          </a:p>
          <a:p>
            <a:pPr marL="342900" indent="-342900"/>
            <a:endParaRPr lang="ru-RU" sz="2200" dirty="0">
              <a:latin typeface="Cambria" pitchFamily="18" charset="0"/>
            </a:endParaRPr>
          </a:p>
          <a:p>
            <a:pPr marL="342900" indent="-342900"/>
            <a:endParaRPr lang="ru-RU" sz="2200" dirty="0" smtClean="0">
              <a:latin typeface="Cambria" pitchFamily="18" charset="0"/>
            </a:endParaRPr>
          </a:p>
          <a:p>
            <a:pPr marL="342900" indent="-342900"/>
            <a:endParaRPr lang="ru-RU" sz="2200" dirty="0">
              <a:latin typeface="Cambria" pitchFamily="18" charset="0"/>
            </a:endParaRPr>
          </a:p>
          <a:p>
            <a:pPr marL="342900" indent="-342900"/>
            <a:endParaRPr lang="ru-RU" sz="2200" dirty="0" smtClean="0">
              <a:latin typeface="Cambria" pitchFamily="18" charset="0"/>
            </a:endParaRPr>
          </a:p>
          <a:p>
            <a:pPr marL="342900" indent="-342900"/>
            <a:r>
              <a:rPr lang="ru-RU" sz="2200" dirty="0" smtClean="0">
                <a:latin typeface="Cambria" pitchFamily="18" charset="0"/>
              </a:rPr>
              <a:t>2) Целочисленный </a:t>
            </a:r>
            <a:r>
              <a:rPr lang="ru-RU" sz="2200" dirty="0">
                <a:latin typeface="Cambria" pitchFamily="18" charset="0"/>
              </a:rPr>
              <a:t>тип : </a:t>
            </a:r>
            <a:r>
              <a:rPr lang="en-US" sz="2200" dirty="0">
                <a:latin typeface="Cambria" pitchFamily="18" charset="0"/>
              </a:rPr>
              <a:t>char</a:t>
            </a:r>
            <a:endParaRPr lang="ru-RU" sz="2200" dirty="0">
              <a:latin typeface="Cambria" pitchFamily="18" charset="0"/>
            </a:endParaRPr>
          </a:p>
          <a:p>
            <a:pPr marL="342900" indent="-342900"/>
            <a:r>
              <a:rPr lang="ru-RU" sz="2200" dirty="0" smtClean="0">
                <a:latin typeface="Cambria" pitchFamily="18" charset="0"/>
              </a:rPr>
              <a:t>3) Вещественный </a:t>
            </a:r>
            <a:r>
              <a:rPr lang="ru-RU" sz="2200" dirty="0">
                <a:latin typeface="Cambria" pitchFamily="18" charset="0"/>
              </a:rPr>
              <a:t>тип : </a:t>
            </a:r>
            <a:r>
              <a:rPr lang="en-US" sz="2200" dirty="0">
                <a:latin typeface="Cambria" pitchFamily="18" charset="0"/>
              </a:rPr>
              <a:t>float, double</a:t>
            </a:r>
            <a:endParaRPr lang="ru-RU" sz="2200" dirty="0">
              <a:latin typeface="Cambria" pitchFamily="18" charset="0"/>
            </a:endParaRPr>
          </a:p>
          <a:p>
            <a:pPr marL="342900" indent="-342900"/>
            <a:r>
              <a:rPr lang="ru-RU" sz="2200" dirty="0" smtClean="0">
                <a:latin typeface="Cambria" pitchFamily="18" charset="0"/>
              </a:rPr>
              <a:t>4) Пустой </a:t>
            </a:r>
            <a:r>
              <a:rPr lang="ru-RU" sz="2200" dirty="0">
                <a:latin typeface="Cambria" pitchFamily="18" charset="0"/>
              </a:rPr>
              <a:t>тип : </a:t>
            </a:r>
            <a:r>
              <a:rPr lang="en-US" sz="2200" dirty="0">
                <a:latin typeface="Cambria" pitchFamily="18" charset="0"/>
              </a:rPr>
              <a:t>void</a:t>
            </a:r>
            <a:endParaRPr lang="ru-RU" sz="2200" dirty="0">
              <a:latin typeface="Cambria" pitchFamily="18" charset="0"/>
            </a:endParaRPr>
          </a:p>
          <a:p>
            <a:pPr marL="342900" indent="-342900"/>
            <a:r>
              <a:rPr lang="ru-RU" sz="2200" dirty="0" smtClean="0">
                <a:latin typeface="Cambria" pitchFamily="18" charset="0"/>
              </a:rPr>
              <a:t>5) Символьный </a:t>
            </a:r>
            <a:r>
              <a:rPr lang="ru-RU" sz="2200" dirty="0">
                <a:latin typeface="Cambria" pitchFamily="18" charset="0"/>
              </a:rPr>
              <a:t>тип :</a:t>
            </a:r>
          </a:p>
          <a:p>
            <a:pPr marL="342900" indent="-342900"/>
            <a:r>
              <a:rPr lang="ru-RU" sz="2200" dirty="0" err="1">
                <a:latin typeface="Cambria" pitchFamily="18" charset="0"/>
              </a:rPr>
              <a:t>char</a:t>
            </a:r>
            <a:r>
              <a:rPr lang="ru-RU" sz="2200" dirty="0">
                <a:latin typeface="Cambria" pitchFamily="18" charset="0"/>
              </a:rPr>
              <a:t> - один символ в кодировке ASCII</a:t>
            </a:r>
          </a:p>
          <a:p>
            <a:pPr marL="342900" indent="-342900"/>
            <a:r>
              <a:rPr lang="ru-RU" sz="2200" dirty="0" err="1">
                <a:latin typeface="Cambria" pitchFamily="18" charset="0"/>
              </a:rPr>
              <a:t>wchar_t</a:t>
            </a:r>
            <a:r>
              <a:rPr lang="ru-RU" sz="2200" dirty="0">
                <a:latin typeface="Cambria" pitchFamily="18" charset="0"/>
              </a:rPr>
              <a:t> - расширенный символ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5572132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1357298"/>
            <a:ext cx="1181210" cy="204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Стрелка вправо 9"/>
          <p:cNvSpPr/>
          <p:nvPr/>
        </p:nvSpPr>
        <p:spPr>
          <a:xfrm>
            <a:off x="5715008" y="2500306"/>
            <a:ext cx="64294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5318548"/>
            <a:ext cx="5715040" cy="1539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Ввод/вывод данных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928670"/>
            <a:ext cx="7177061" cy="3286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4061558"/>
            <a:ext cx="5500694" cy="2796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10800000">
            <a:off x="1571604" y="1142984"/>
            <a:ext cx="2143140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10800000" flipV="1">
            <a:off x="1643042" y="1357298"/>
            <a:ext cx="2071702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3643338" y="100010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Строки нужно для того, чтобы адекватно отображался русский язык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4282" y="1000108"/>
            <a:ext cx="4645311" cy="101566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marL="342900" indent="-342900" algn="ctr"/>
            <a:r>
              <a:rPr lang="ru-RU" sz="2000" b="1" dirty="0" smtClean="0">
                <a:latin typeface="Cambria" pitchFamily="18" charset="0"/>
              </a:rPr>
              <a:t>Инкремент</a:t>
            </a:r>
          </a:p>
          <a:p>
            <a:pPr marL="342900" indent="-342900"/>
            <a:r>
              <a:rPr lang="ru-RU" sz="2000" dirty="0" smtClean="0">
                <a:latin typeface="Cambria" pitchFamily="18" charset="0"/>
              </a:rPr>
              <a:t>++</a:t>
            </a:r>
            <a:r>
              <a:rPr lang="en-US" sz="2000" dirty="0" smtClean="0">
                <a:latin typeface="Cambria" pitchFamily="18" charset="0"/>
              </a:rPr>
              <a:t>value (</a:t>
            </a:r>
            <a:r>
              <a:rPr lang="ru-RU" sz="2000" dirty="0" smtClean="0">
                <a:latin typeface="Cambria" pitchFamily="18" charset="0"/>
              </a:rPr>
              <a:t>возвращает новое значение</a:t>
            </a:r>
            <a:r>
              <a:rPr lang="en-US" sz="2000" dirty="0" smtClean="0">
                <a:latin typeface="Cambria" pitchFamily="18" charset="0"/>
              </a:rPr>
              <a:t>)</a:t>
            </a:r>
            <a:endParaRPr lang="ru-RU" sz="2000" dirty="0" smtClean="0">
              <a:latin typeface="Cambria" pitchFamily="18" charset="0"/>
            </a:endParaRPr>
          </a:p>
          <a:p>
            <a:pPr marL="342900" indent="-342900"/>
            <a:r>
              <a:rPr lang="en-US" sz="2000" dirty="0" smtClean="0">
                <a:latin typeface="Cambria" pitchFamily="18" charset="0"/>
              </a:rPr>
              <a:t>value</a:t>
            </a:r>
            <a:r>
              <a:rPr lang="ru-RU" sz="2000" dirty="0" smtClean="0">
                <a:latin typeface="Cambria" pitchFamily="18" charset="0"/>
              </a:rPr>
              <a:t>++ (возвращает старое значение)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857232"/>
            <a:ext cx="3429024" cy="127591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3" idx="3"/>
            <a:endCxn id="4098" idx="1"/>
          </p:cNvCxnSpPr>
          <p:nvPr/>
        </p:nvCxnSpPr>
        <p:spPr>
          <a:xfrm flipV="1">
            <a:off x="4859593" y="1495190"/>
            <a:ext cx="426787" cy="1275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1118" y="2214554"/>
            <a:ext cx="7668534" cy="3787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6027003"/>
            <a:ext cx="4357686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&amp;&amp; (AND)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Возвращает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если все условия истинны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Если хотя бы одно из условий ложно, оператор возвращает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857752" y="5996226"/>
            <a:ext cx="4286248" cy="86177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|| (OR)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Возвращает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если хотя бы одно из условий истинно.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Если оба операнда ложны, оператор возвращает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endParaRPr lang="ru-RU" b="1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0" y="2285992"/>
          <a:ext cx="9144000" cy="1371600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latin typeface="Times New Roman" pitchFamily="18" charset="0"/>
                          <a:cs typeface="Times New Roman" pitchFamily="18" charset="0"/>
                        </a:rPr>
                        <a:t>++ (инкремент), -- (декремент)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latin typeface="Times New Roman" pitchFamily="18" charset="0"/>
                          <a:cs typeface="Times New Roman" pitchFamily="18" charset="0"/>
                        </a:rPr>
                        <a:t>* (умножение), / (деление), % (остаток от деления)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latin typeface="Times New Roman" pitchFamily="18" charset="0"/>
                          <a:cs typeface="Times New Roman" pitchFamily="18" charset="0"/>
                        </a:rPr>
                        <a:t>+ (сложение), - (вычитание)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92867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Кроме того, одни операции имеют больший приоритет, чем другие и поэтому выполняются вначале. Операции в порядке уменьшения приоритета: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Приоритет операций следует учитывать при выполнении набора арифметических выражений: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29132"/>
            <a:ext cx="4357686" cy="1466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572000" y="3857628"/>
            <a:ext cx="4572000" cy="286232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Хотя операции выполняются слева направо, но вначале будет выполняться операция инкремента 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++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, которая увеличит значение переменной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b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 и возвратит его в качестве результата, так как эта операция имеет больший приоритет. Затем выполняется умножение 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5 * ++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  <a:cs typeface="Arial" pitchFamily="34" charset="0"/>
              </a:rPr>
              <a:t>, и только в последнюю очередь выполняется сложение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a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+ 5 * ++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>-</a:t>
            </a:r>
            <a:r>
              <a:rPr lang="en-US" b="1" dirty="0" smtClean="0"/>
              <a:t>3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14348" y="857232"/>
            <a:ext cx="784060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 smtClean="0">
                <a:latin typeface="Cambria" pitchFamily="18" charset="0"/>
              </a:rPr>
              <a:t>Математическая библиотека </a:t>
            </a:r>
            <a:r>
              <a:rPr lang="en-US" sz="2200" b="1" dirty="0" err="1" smtClean="0">
                <a:latin typeface="Cambria" pitchFamily="18" charset="0"/>
              </a:rPr>
              <a:t>math.h</a:t>
            </a:r>
            <a:r>
              <a:rPr lang="ru-RU" sz="2200" b="1" dirty="0">
                <a:latin typeface="Cambria" pitchFamily="18" charset="0"/>
              </a:rPr>
              <a:t> - </a:t>
            </a:r>
            <a:r>
              <a:rPr lang="en-US" sz="2200" b="1" dirty="0">
                <a:latin typeface="Cambria" pitchFamily="18" charset="0"/>
              </a:rPr>
              <a:t>#include &lt;</a:t>
            </a:r>
            <a:r>
              <a:rPr lang="en-US" sz="2200" b="1" dirty="0" err="1">
                <a:latin typeface="Cambria" pitchFamily="18" charset="0"/>
              </a:rPr>
              <a:t>math.h</a:t>
            </a:r>
            <a:r>
              <a:rPr lang="en-US" sz="2200" b="1" dirty="0">
                <a:latin typeface="Cambria" pitchFamily="18" charset="0"/>
              </a:rPr>
              <a:t>&gt;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0" y="1397000"/>
          <a:ext cx="9144000" cy="4112328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185757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Times New Roman" pitchFamily="18" charset="0"/>
                          <a:cs typeface="Times New Roman" pitchFamily="18" charset="0"/>
                        </a:rPr>
                        <a:t>fabs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Модуль (абсолютная величина)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5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b="1" u="none" dirty="0">
                          <a:latin typeface="Times New Roman" pitchFamily="18" charset="0"/>
                          <a:cs typeface="Times New Roman" pitchFamily="18" charset="0"/>
                        </a:rPr>
                        <a:t>Корни, степени, логарифмы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sqrt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Квадратный корень. Использование: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sqrt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(x)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cbrt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Кубический корень. Использование: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cbrt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(x)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309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Times New Roman" pitchFamily="18" charset="0"/>
                          <a:cs typeface="Times New Roman" pitchFamily="18" charset="0"/>
                        </a:rPr>
                        <a:t>pow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Возведение в степень, возвращает a</a:t>
                      </a:r>
                      <a:r>
                        <a:rPr lang="ru-RU" sz="1800" baseline="3000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. Использование: pow(a,b)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exp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Экспонента, возвращает e</a:t>
                      </a:r>
                      <a:r>
                        <a:rPr lang="ru-RU" sz="1800" baseline="3000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. Использование: exp(x)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5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Натуральный логарифм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5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log10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Десятичный логарифм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5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b="1" u="none" dirty="0">
                          <a:latin typeface="Times New Roman" pitchFamily="18" charset="0"/>
                          <a:cs typeface="Times New Roman" pitchFamily="18" charset="0"/>
                        </a:rPr>
                        <a:t>Тригонометрия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sin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Синус угла, задаваемого в радианах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cos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Косинус угла, задаваемого в радианах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75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tan</a:t>
                      </a:r>
                      <a:endParaRPr lang="en-US"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Тангенс угла, задаваемого в радианах</a:t>
                      </a:r>
                    </a:p>
                  </a:txBody>
                  <a:tcPr marL="11327" marR="11327" marT="11327" marB="113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572140"/>
            <a:ext cx="2474385" cy="85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6396335"/>
            <a:ext cx="37861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latin typeface="Cambria" pitchFamily="18" charset="0"/>
              </a:rPr>
              <a:t>Возможный интерфейс задания №</a:t>
            </a:r>
            <a:r>
              <a:rPr lang="en-US" sz="1600" b="1" dirty="0" smtClean="0">
                <a:latin typeface="Cambria" pitchFamily="18" charset="0"/>
              </a:rPr>
              <a:t>2</a:t>
            </a:r>
            <a:endParaRPr lang="en-US" sz="1600" b="1" dirty="0">
              <a:latin typeface="Cambria" pitchFamily="18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5572140"/>
            <a:ext cx="4857752" cy="980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4429124" y="6488668"/>
            <a:ext cx="4183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Cambria" pitchFamily="18" charset="0"/>
              </a:rPr>
              <a:t>Возможный интерфейс задания №</a:t>
            </a:r>
            <a:r>
              <a:rPr lang="en-US" b="1" dirty="0" smtClean="0">
                <a:latin typeface="Cambria" pitchFamily="18" charset="0"/>
              </a:rPr>
              <a:t>3</a:t>
            </a:r>
            <a:endParaRPr lang="en-US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444</Words>
  <Application>Microsoft Office PowerPoint</Application>
  <PresentationFormat>Экран (4:3)</PresentationFormat>
  <Paragraphs>83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Язык С++: введение </vt:lpstr>
      <vt:lpstr>Дополнительные материалы</vt:lpstr>
      <vt:lpstr>CodeBlocks</vt:lpstr>
      <vt:lpstr>CodeBlocks: создание проекта</vt:lpstr>
      <vt:lpstr>CodeBlocks: рабочее поле</vt:lpstr>
      <vt:lpstr>Структура программы</vt:lpstr>
      <vt:lpstr>Определение пространства имен</vt:lpstr>
      <vt:lpstr>Базовые типа данных</vt:lpstr>
      <vt:lpstr>Ввод/вывод данных</vt:lpstr>
      <vt:lpstr>Задание 1</vt:lpstr>
      <vt:lpstr>Задание 1</vt:lpstr>
      <vt:lpstr>Задание 2-3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Введение в С++</dc:title>
  <dc:creator>user</dc:creator>
  <cp:lastModifiedBy>user</cp:lastModifiedBy>
  <cp:revision>41</cp:revision>
  <dcterms:created xsi:type="dcterms:W3CDTF">2024-02-01T09:49:19Z</dcterms:created>
  <dcterms:modified xsi:type="dcterms:W3CDTF">2025-09-14T11:10:30Z</dcterms:modified>
</cp:coreProperties>
</file>