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72" r:id="rId4"/>
    <p:sldId id="276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5682" autoAdjust="0"/>
  </p:normalViewPr>
  <p:slideViewPr>
    <p:cSldViewPr>
      <p:cViewPr>
        <p:scale>
          <a:sx n="75" d="100"/>
          <a:sy n="75" d="100"/>
        </p:scale>
        <p:origin x="-2664" y="-9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14.09.2025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zfar.org/publ/algorithms_programming/programming_languages/urok_programmirovanie_linejnykh_algoritmov_v_s/42-1-0-269?ysclid=mfjf6xlqho980786510" TargetMode="External"/><Relationship Id="rId2" Type="http://schemas.openxmlformats.org/officeDocument/2006/relationships/hyperlink" Target="https://alexgyver.ru/lessons/preprocessor/?ysclid=mfjf5c0u85260042134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Язык С++: </a:t>
            </a:r>
            <a:r>
              <a:rPr lang="ru-RU" b="1" dirty="0" smtClean="0"/>
              <a:t>линейные алгоритмы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2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Директивы препроцессора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https://alexgyver.ru/lessons/preprocessor/?</a:t>
            </a:r>
            <a:r>
              <a:rPr lang="en-US" sz="2400" b="1" dirty="0" smtClean="0">
                <a:latin typeface="Cambria" pitchFamily="18" charset="0"/>
                <a:hlinkClick r:id="rId2"/>
              </a:rPr>
              <a:t>ysclid=mfjf5c0u85260042134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Программирование линейных алгоритмов в С</a:t>
            </a:r>
            <a:r>
              <a:rPr lang="ru-RU" sz="2400" i="1" dirty="0" smtClean="0">
                <a:latin typeface="Cambria" pitchFamily="18" charset="0"/>
              </a:rPr>
              <a:t>++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u="sng" dirty="0" smtClean="0">
                <a:latin typeface="Cambria" pitchFamily="18" charset="0"/>
                <a:hlinkClick r:id="rId3"/>
              </a:rPr>
              <a:t>https://</a:t>
            </a:r>
            <a:r>
              <a:rPr lang="en-US" sz="2400" b="1" u="sng" dirty="0" smtClean="0">
                <a:latin typeface="Cambria" pitchFamily="18" charset="0"/>
                <a:hlinkClick r:id="rId3"/>
              </a:rPr>
              <a:t>www.bzfar.org/publ/algorithms_programming/programming_languages/urok_programmirovanie_linejnykh_algoritmov_v_s/42-1-0-269?ysclid=mfjf6xlqho980786510</a:t>
            </a:r>
            <a:endParaRPr lang="en-US" sz="2400" b="1" u="sng" dirty="0" smtClean="0">
              <a:latin typeface="Cambria" pitchFamily="18" charset="0"/>
            </a:endParaRPr>
          </a:p>
          <a:p>
            <a:pPr algn="just"/>
            <a:endParaRPr lang="ru-RU" sz="24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1-3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500042"/>
            <a:ext cx="9144000" cy="33239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Диалоговая программа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– </a:t>
            </a:r>
            <a:r>
              <a:rPr kumimoji="0" lang="ru-RU" sz="1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программа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которая взаимодействует с пользователем с помощью текстового или графического интерфейса. Она задаёт вопросы, принимает вводимые данные (ответы) и выдаёт результаты, основываясь на этих данных.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Особенности диалоговой программы:</a:t>
            </a:r>
            <a:endParaRPr kumimoji="0" lang="ru-RU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900" b="1" i="1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Интерактивность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 – программа реагирует на действия пользователя.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900" b="1" i="1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Ввод и вывод данных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 – пользователь вводит данные (например, текст, числа), а программа их обрабатывает и показывает результат.</a:t>
            </a:r>
            <a:endParaRPr kumimoji="0" lang="en-US" sz="1900" b="0" i="0" u="none" strike="noStrike" cap="none" normalizeH="0" baseline="0" dirty="0" smtClean="0">
              <a:ln>
                <a:noFill/>
              </a:ln>
              <a:solidFill>
                <a:srgbClr val="3C3C3C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ru-RU" sz="1900" b="1" dirty="0" smtClean="0">
                <a:solidFill>
                  <a:srgbClr val="3C3C3C"/>
                </a:solidFill>
                <a:latin typeface="Times New Roman" pitchFamily="18" charset="0"/>
                <a:cs typeface="Times New Roman" pitchFamily="18" charset="0"/>
              </a:rPr>
              <a:t>Дружественный интерфейс (или </a:t>
            </a:r>
            <a:r>
              <a:rPr lang="ru-RU" sz="1900" b="1" dirty="0" err="1" smtClean="0">
                <a:solidFill>
                  <a:srgbClr val="3C3C3C"/>
                </a:solidFill>
                <a:latin typeface="Times New Roman" pitchFamily="18" charset="0"/>
                <a:cs typeface="Times New Roman" pitchFamily="18" charset="0"/>
              </a:rPr>
              <a:t>юзабилити</a:t>
            </a:r>
            <a:r>
              <a:rPr lang="ru-RU" sz="1900" b="1" dirty="0" smtClean="0">
                <a:solidFill>
                  <a:srgbClr val="3C3C3C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1900" dirty="0" smtClean="0">
                <a:solidFill>
                  <a:srgbClr val="3C3C3C"/>
                </a:solidFill>
                <a:latin typeface="Times New Roman" pitchFamily="18" charset="0"/>
                <a:cs typeface="Times New Roman" pitchFamily="18" charset="0"/>
              </a:rPr>
              <a:t>— это интерфейс, который максимально упрощает для пользователя процесс взаимодействия с продуктом.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900" b="1" i="1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Пошаговое выполнение</a:t>
            </a:r>
            <a:r>
              <a:rPr kumimoji="0" lang="ru-RU" sz="1900" b="0" i="0" u="none" strike="noStrike" cap="none" normalizeH="0" baseline="0" dirty="0" smtClean="0">
                <a:ln>
                  <a:noFill/>
                </a:ln>
                <a:solidFill>
                  <a:srgbClr val="3C3C3C"/>
                </a:solidFill>
                <a:effectLst/>
                <a:latin typeface="Times New Roman" pitchFamily="18" charset="0"/>
                <a:cs typeface="Times New Roman" pitchFamily="18" charset="0"/>
              </a:rPr>
              <a:t> – программа выполняет команды в зависимости от полученных ответов.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738155"/>
            <a:ext cx="5881675" cy="3119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5928143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4704" y="2071678"/>
            <a:ext cx="5999295" cy="478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3143248"/>
            <a:ext cx="3071802" cy="286232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42F33"/>
                </a:solidFill>
                <a:effectLst/>
                <a:latin typeface="Times New Roman" pitchFamily="18" charset="0"/>
                <a:cs typeface="Times New Roman" pitchFamily="18" charset="0"/>
              </a:rPr>
              <a:t>Если же делимое или делитель (или они оба) имеют тип, используемый для представления дробного числа, то оператор / выполнит операцию обычного деления (не целочисленного).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Директивы в С++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000108"/>
            <a:ext cx="9144000" cy="37856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того, чтобы ваш код превратился посредством компиляции в рабочую программу, он должен пройти несколько важных преобразований. Они называются этапами трансляции.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одну из фаз трансляции в работу включается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препроцессор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Когда начинается его работа, он просматривает файл кода в поисках директив, оставленных программистом для него. После чего, препроцессор исполняет все директивы.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Все директивы препроцессора начинаются с новой строки и символа #, а заканчиваются переходом на следующую строку (а не точкой с запятой, как инструкции).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4929198"/>
            <a:ext cx="91440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Например, в каждой программе с вводом и выводом данных вы используете директиву #</a:t>
            </a:r>
            <a:r>
              <a:rPr lang="ru-RU" sz="2400" i="1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ru-RU" sz="2400" i="1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6000768"/>
            <a:ext cx="8480875" cy="68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0" y="4143356"/>
            <a:ext cx="9144000" cy="27146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928670"/>
            <a:ext cx="9144000" cy="27146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Директивы в С++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883491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языке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C++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довольно распространенной практикой является объявление глобальных констант с помощью директивы 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ru-RU" sz="2000" i="1" dirty="0" err="1" smtClean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414338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этапе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препроцессинга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все использования PI будут заменены указанным в объявлении макроса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токеном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1643050"/>
            <a:ext cx="2571751" cy="716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4857760"/>
            <a:ext cx="4784181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941048"/>
            <a:ext cx="1657357" cy="94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1714480" y="6098465"/>
            <a:ext cx="7429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После этой строчки обращаться к PI будет уже нельзя.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-32" y="2285992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Это связано с тем, что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#define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 создаёт объектный код и не резервирует память для констант.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Имеет глобальную область видимости — препроцессор заменяет указанный набор символов во всём исходном файле программы.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3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642918"/>
            <a:ext cx="9144000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 директиве #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в C++ не нужно указывать тип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Она позволяет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заменять один кусок текста на другой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на этапе работы препроцессора.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может использоваться для: 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Определение константы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препроцессор заменяет все упоминания указанного идентификатора на указанное значение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как на предыдущем слайде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Создание макроса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макрос заменяется на выражение, которое вставляется в код. При этом типы параметров макроса не указываются — они просто вставляются в код.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SQUARE(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 ((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 *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макрос SQUARE заменяется на выражение ((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*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)).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3312099"/>
            <a:ext cx="3343278" cy="3545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74" y="3714752"/>
            <a:ext cx="2268942" cy="1852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246</Words>
  <Application>Microsoft Office PowerPoint</Application>
  <PresentationFormat>Экран 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Язык С++: линейные алгоритмы </vt:lpstr>
      <vt:lpstr>Дополнительные материалы</vt:lpstr>
      <vt:lpstr>Задание 1-3</vt:lpstr>
      <vt:lpstr>Задание 2</vt:lpstr>
      <vt:lpstr>Директивы в С++</vt:lpstr>
      <vt:lpstr>Директивы в С++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Линейные алгоритмы</dc:title>
  <dc:creator>user</dc:creator>
  <cp:lastModifiedBy>user</cp:lastModifiedBy>
  <cp:revision>59</cp:revision>
  <dcterms:created xsi:type="dcterms:W3CDTF">2024-02-01T09:49:19Z</dcterms:created>
  <dcterms:modified xsi:type="dcterms:W3CDTF">2025-09-14T08:15:50Z</dcterms:modified>
</cp:coreProperties>
</file>