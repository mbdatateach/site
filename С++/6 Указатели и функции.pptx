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7" r:id="rId4"/>
    <p:sldId id="268" r:id="rId5"/>
    <p:sldId id="263" r:id="rId6"/>
    <p:sldId id="259" r:id="rId7"/>
    <p:sldId id="257" r:id="rId8"/>
    <p:sldId id="266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15.10.2025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cpp/tutorial/4.6.php?ysclid=lsz1608awg681344146" TargetMode="External"/><Relationship Id="rId2" Type="http://schemas.openxmlformats.org/officeDocument/2006/relationships/hyperlink" Target="https://pvoid.pro/index.php/articles/11-cplusplus/49-cpp-tutorial-pointer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Указатели и Функции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5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Статья по указателям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2"/>
              </a:rPr>
              <a:t>https://pvoid.pro/index.php/articles/11-cplusplus/49-cpp-tutorial-pointers#article-header-9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Указатели в параметрах функции</a:t>
            </a:r>
          </a:p>
          <a:p>
            <a:pPr algn="just"/>
            <a:r>
              <a:rPr lang="en-US" sz="2600" b="1" dirty="0" smtClean="0">
                <a:latin typeface="Cambria" pitchFamily="18" charset="0"/>
                <a:hlinkClick r:id="rId3"/>
              </a:rPr>
              <a:t>https://metanit.com/cpp/tutorial/4.6.php?ysclid=lsz1608awg681344146</a:t>
            </a:r>
            <a:endParaRPr lang="ru-RU" sz="26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1928802"/>
            <a:ext cx="9144000" cy="5715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Адрес переменной можно получить, поставив перед именем переменной знак амперсанда (</a:t>
            </a:r>
            <a:r>
              <a:rPr lang="ru-RU" sz="2000" b="1" dirty="0" smtClean="0">
                <a:latin typeface="Cambria" pitchFamily="18" charset="0"/>
              </a:rPr>
              <a:t>&amp;</a:t>
            </a:r>
            <a:r>
              <a:rPr lang="ru-RU" sz="2000" dirty="0" smtClean="0">
                <a:latin typeface="Cambria" pitchFamily="18" charset="0"/>
              </a:rPr>
              <a:t>), известный как </a:t>
            </a:r>
            <a:r>
              <a:rPr lang="ru-RU" sz="2000" b="1" dirty="0" smtClean="0">
                <a:latin typeface="Cambria" pitchFamily="18" charset="0"/>
              </a:rPr>
              <a:t>оператор взятия адреса</a:t>
            </a:r>
            <a:r>
              <a:rPr lang="ru-RU" sz="2000" dirty="0" smtClean="0">
                <a:latin typeface="Cambria" pitchFamily="18" charset="0"/>
              </a:rPr>
              <a:t>. Например: </a:t>
            </a:r>
            <a:r>
              <a:rPr lang="en-US" sz="2000" b="1" dirty="0" err="1" smtClean="0">
                <a:latin typeface="Cambria" pitchFamily="18" charset="0"/>
              </a:rPr>
              <a:t>foo</a:t>
            </a:r>
            <a:r>
              <a:rPr lang="en-US" sz="2000" b="1" dirty="0" smtClean="0">
                <a:latin typeface="Cambria" pitchFamily="18" charset="0"/>
              </a:rPr>
              <a:t> = &amp;</a:t>
            </a:r>
            <a:r>
              <a:rPr lang="en-US" sz="2000" b="1" dirty="0" err="1" smtClean="0">
                <a:latin typeface="Cambria" pitchFamily="18" charset="0"/>
              </a:rPr>
              <a:t>myvar</a:t>
            </a:r>
            <a:r>
              <a:rPr lang="en-US" sz="2000" dirty="0" smtClean="0">
                <a:latin typeface="Cambria" pitchFamily="18" charset="0"/>
              </a:rPr>
              <a:t>;</a:t>
            </a:r>
            <a:endParaRPr lang="ru-RU" sz="2000" dirty="0" smtClean="0">
              <a:latin typeface="Cambria" pitchFamily="18" charset="0"/>
            </a:endParaRPr>
          </a:p>
          <a:p>
            <a:pPr algn="just"/>
            <a:r>
              <a:rPr lang="ru-RU" sz="2000" dirty="0" smtClean="0">
                <a:latin typeface="Cambria" pitchFamily="18" charset="0"/>
              </a:rPr>
              <a:t>Переменная, хранящая адрес другой переменной (как </a:t>
            </a:r>
            <a:r>
              <a:rPr lang="ru-RU" sz="2000" b="1" dirty="0" err="1" smtClean="0">
                <a:latin typeface="Cambria" pitchFamily="18" charset="0"/>
              </a:rPr>
              <a:t>foo</a:t>
            </a:r>
            <a:r>
              <a:rPr lang="ru-RU" sz="2000" dirty="0" smtClean="0">
                <a:latin typeface="Cambria" pitchFamily="18" charset="0"/>
              </a:rPr>
              <a:t>), </a:t>
            </a:r>
            <a:r>
              <a:rPr lang="ru-RU" sz="2000" dirty="0" smtClean="0">
                <a:latin typeface="Cambria" pitchFamily="18" charset="0"/>
              </a:rPr>
              <a:t>это то, что в C++ называется </a:t>
            </a:r>
            <a:r>
              <a:rPr lang="ru-RU" sz="2000" i="1" dirty="0" smtClean="0">
                <a:latin typeface="Cambria" pitchFamily="18" charset="0"/>
              </a:rPr>
              <a:t>указателем</a:t>
            </a:r>
            <a:r>
              <a:rPr lang="ru-RU" sz="2000" dirty="0" smtClean="0">
                <a:latin typeface="Cambria" pitchFamily="18" charset="0"/>
              </a:rPr>
              <a:t>.</a:t>
            </a:r>
          </a:p>
          <a:p>
            <a:pPr algn="just"/>
            <a:endParaRPr 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2500306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Cambria" pitchFamily="18" charset="0"/>
              </a:rPr>
              <a:t>Интересным свойством указателей является то, что они могут быть использованы для доступа к переменной, на которую они указывают, напрямую. Это делается путём добавления перед именем указателя </a:t>
            </a:r>
            <a:r>
              <a:rPr lang="ru-RU" sz="2000" b="1" i="1" dirty="0" smtClean="0">
                <a:latin typeface="Cambria" pitchFamily="18" charset="0"/>
              </a:rPr>
              <a:t>оператора разыменования</a:t>
            </a:r>
            <a:r>
              <a:rPr lang="ru-RU" sz="2000" b="1" dirty="0" smtClean="0">
                <a:latin typeface="Cambria" pitchFamily="18" charset="0"/>
              </a:rPr>
              <a:t> (*)</a:t>
            </a:r>
            <a:r>
              <a:rPr lang="ru-RU" sz="2000" dirty="0" smtClean="0">
                <a:latin typeface="Cambria" pitchFamily="18" charset="0"/>
              </a:rPr>
              <a:t>. Сам оператор может быть прочтен как «значение, на которое указывает».</a:t>
            </a:r>
            <a:r>
              <a:rPr lang="en-US" sz="2000" dirty="0" smtClean="0">
                <a:latin typeface="Cambria" pitchFamily="18" charset="0"/>
              </a:rPr>
              <a:t> </a:t>
            </a:r>
            <a:endParaRPr lang="ru-RU" sz="2000" dirty="0">
              <a:latin typeface="Cambr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67175"/>
            <a:ext cx="6486525" cy="279082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6643702" y="5286388"/>
            <a:ext cx="2311851" cy="707886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firstvalue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10 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secondvalue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</a:t>
            </a:r>
            <a:r>
              <a:rPr kumimoji="0" lang="ru-RU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is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cs typeface="Arial" pitchFamily="34" charset="0"/>
              </a:rPr>
              <a:t> 20 </a:t>
            </a:r>
          </a:p>
        </p:txBody>
      </p:sp>
      <p:cxnSp>
        <p:nvCxnSpPr>
          <p:cNvPr id="8" name="Shape 7"/>
          <p:cNvCxnSpPr>
            <a:endCxn id="1027" idx="0"/>
          </p:cNvCxnSpPr>
          <p:nvPr/>
        </p:nvCxnSpPr>
        <p:spPr>
          <a:xfrm>
            <a:off x="6500826" y="4357694"/>
            <a:ext cx="1298802" cy="928694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86259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C++ позволяет использовать указатели, которые указывают на указатели, которые, в свою очередь, указывают на данные (или даже на другие указатели). Синтаксис просто требует звездочки (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для каждого уровня косвенности в объявлении указателя: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789636"/>
            <a:ext cx="5886461" cy="5068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143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86314" y="605363"/>
            <a:ext cx="4286280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Cambria" pitchFamily="18" charset="0"/>
              </a:rPr>
              <a:t>Передача аргумента по значению </a:t>
            </a:r>
            <a:r>
              <a:rPr lang="ru-RU" sz="1600" dirty="0" smtClean="0">
                <a:latin typeface="Cambria" pitchFamily="18" charset="0"/>
              </a:rPr>
              <a:t>означает, что при вызове функции</a:t>
            </a:r>
            <a:r>
              <a:rPr lang="en-US" sz="1600" dirty="0" smtClean="0">
                <a:latin typeface="Cambria" pitchFamily="18" charset="0"/>
              </a:rPr>
              <a:t> </a:t>
            </a:r>
            <a:r>
              <a:rPr lang="ru-RU" sz="1600" dirty="0" smtClean="0">
                <a:latin typeface="Cambria" pitchFamily="18" charset="0"/>
              </a:rPr>
              <a:t>изменения, которые происходят с аргументом внутри функции, не влияют на исходные значения аргументов.</a:t>
            </a:r>
            <a:endParaRPr lang="ru-RU" sz="1600" dirty="0">
              <a:latin typeface="Cambria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786314" y="2000240"/>
            <a:ext cx="4286248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Cambria" pitchFamily="18" charset="0"/>
              </a:rPr>
              <a:t>Передача с использованием указателя </a:t>
            </a:r>
            <a:r>
              <a:rPr lang="ru-RU" sz="1600" dirty="0" smtClean="0">
                <a:latin typeface="Cambria" pitchFamily="18" charset="0"/>
              </a:rPr>
              <a:t>позволяет функции работать непосредственно с оригиналом аргумента, а не с его копией. Это может быть полезно, когда необходимо изменить значение аргумента внутри функции или когда аргумент является очень большим и создание его копии может занимать много времени и памяти.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86314" y="4357695"/>
            <a:ext cx="4286248" cy="25545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Cambria" pitchFamily="18" charset="0"/>
              </a:rPr>
              <a:t>Передача аргумента по ссылке </a:t>
            </a:r>
            <a:r>
              <a:rPr lang="ru-RU" sz="1600" dirty="0" smtClean="0">
                <a:latin typeface="Cambria" pitchFamily="18" charset="0"/>
              </a:rPr>
              <a:t>позволяет функции работать с оригиналом аргумента, а не с его копией, но в отличие от передачи через указатель, создается ссылка на аргумент</a:t>
            </a:r>
            <a:r>
              <a:rPr lang="en-US" sz="1600" dirty="0" smtClean="0">
                <a:latin typeface="Cambria" pitchFamily="18" charset="0"/>
              </a:rPr>
              <a:t> (</a:t>
            </a:r>
            <a:r>
              <a:rPr lang="ru-RU" sz="1600" dirty="0" smtClean="0">
                <a:latin typeface="Cambria" pitchFamily="18" charset="0"/>
              </a:rPr>
              <a:t>ссылка имеет тот же адрес в памяти, что и элемент, на который она ссылается</a:t>
            </a:r>
            <a:r>
              <a:rPr lang="en-US" sz="1600" dirty="0" smtClean="0">
                <a:latin typeface="Cambria" pitchFamily="18" charset="0"/>
              </a:rPr>
              <a:t>)</a:t>
            </a:r>
            <a:r>
              <a:rPr lang="ru-RU" sz="1600" dirty="0" smtClean="0">
                <a:latin typeface="Cambria" pitchFamily="18" charset="0"/>
              </a:rPr>
              <a:t>. Любые изменения, которые произойдут с аргументом внутри функции, будут отражаться на оригинальном аргументе в вызывающем коде.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36673"/>
            <a:ext cx="4786314" cy="622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Скругленная соединительная линия 12"/>
          <p:cNvCxnSpPr/>
          <p:nvPr/>
        </p:nvCxnSpPr>
        <p:spPr>
          <a:xfrm rot="10800000">
            <a:off x="2500298" y="1357298"/>
            <a:ext cx="2286016" cy="1588"/>
          </a:xfrm>
          <a:prstGeom prst="curved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Скругленная соединительная линия 13"/>
          <p:cNvCxnSpPr/>
          <p:nvPr/>
        </p:nvCxnSpPr>
        <p:spPr>
          <a:xfrm rot="10800000">
            <a:off x="2714612" y="2285992"/>
            <a:ext cx="2071702" cy="1588"/>
          </a:xfrm>
          <a:prstGeom prst="curvedConnector3">
            <a:avLst>
              <a:gd name="adj1" fmla="val 50000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кругленная соединительная линия 17"/>
          <p:cNvCxnSpPr/>
          <p:nvPr/>
        </p:nvCxnSpPr>
        <p:spPr>
          <a:xfrm rot="16200000" flipV="1">
            <a:off x="2536017" y="3464719"/>
            <a:ext cx="2571768" cy="1928826"/>
          </a:xfrm>
          <a:prstGeom prst="curvedConnector3">
            <a:avLst>
              <a:gd name="adj1" fmla="val 98395"/>
            </a:avLst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5072074"/>
            <a:ext cx="221981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2357422" y="4988494"/>
            <a:ext cx="2423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latin typeface="Cambria" pitchFamily="18" charset="0"/>
              </a:rPr>
              <a:t>;</a:t>
            </a:r>
            <a:endParaRPr lang="ru-RU" sz="16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357422" y="5519338"/>
            <a:ext cx="2423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 smtClean="0">
                <a:latin typeface="Cambria" pitchFamily="18" charset="0"/>
              </a:rPr>
              <a:t>;</a:t>
            </a:r>
            <a:endParaRPr lang="ru-RU" sz="16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2357422" y="6090842"/>
            <a:ext cx="2143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latin typeface="Cambria" pitchFamily="18" charset="0"/>
              </a:rPr>
              <a:t>;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93899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Перегрузка функций в C++ позволяет определить несколько функций с одинаковым именем, но с разными списками аргументов. Это полезно, когда вы хотите, чтобы одна и та же функция выполняла разные действия в зависимости от типа или количества аргументов, которые она получает. </a:t>
            </a:r>
            <a:endParaRPr lang="en-US" sz="2400" dirty="0" smtClean="0">
              <a:latin typeface="Cambria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000372"/>
            <a:ext cx="5256301" cy="385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hape 5"/>
          <p:cNvCxnSpPr>
            <a:endCxn id="2050" idx="3"/>
          </p:cNvCxnSpPr>
          <p:nvPr/>
        </p:nvCxnSpPr>
        <p:spPr>
          <a:xfrm rot="5400000">
            <a:off x="6807248" y="3163906"/>
            <a:ext cx="2000252" cy="1530309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hape 6"/>
          <p:cNvCxnSpPr>
            <a:endCxn id="2050" idx="1"/>
          </p:cNvCxnSpPr>
          <p:nvPr/>
        </p:nvCxnSpPr>
        <p:spPr>
          <a:xfrm rot="16200000" flipH="1">
            <a:off x="71412" y="3214680"/>
            <a:ext cx="2071690" cy="1357322"/>
          </a:xfrm>
          <a:prstGeom prst="curvedConnector2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1595021"/>
            <a:ext cx="2714612" cy="449353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Cambria" pitchFamily="18" charset="0"/>
              </a:rPr>
              <a:t>Встраиваемая (или </a:t>
            </a:r>
            <a:r>
              <a:rPr lang="ru-RU" sz="2200" b="1" dirty="0" err="1" smtClean="0">
                <a:latin typeface="Cambria" pitchFamily="18" charset="0"/>
              </a:rPr>
              <a:t>inline</a:t>
            </a:r>
            <a:r>
              <a:rPr lang="ru-RU" sz="2200" b="1" dirty="0" smtClean="0">
                <a:latin typeface="Cambria" pitchFamily="18" charset="0"/>
              </a:rPr>
              <a:t>) функция</a:t>
            </a:r>
            <a:r>
              <a:rPr lang="ru-RU" sz="2200" dirty="0" smtClean="0">
                <a:latin typeface="Cambria" pitchFamily="18" charset="0"/>
              </a:rPr>
              <a:t> - это функция, которая может быть встроена в код места, где она вызывается. Это позволяет избежать издержек на вызов функции, но увеличивает размер кода.</a:t>
            </a:r>
            <a:endParaRPr lang="ru-RU" sz="2200" dirty="0">
              <a:latin typeface="Cambria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285860"/>
            <a:ext cx="6357950" cy="51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b="1" dirty="0"/>
          </a:p>
        </p:txBody>
      </p:sp>
      <p:pic>
        <p:nvPicPr>
          <p:cNvPr id="2050" name="Picture 2" descr="тернарный оператор ?: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169762"/>
            <a:ext cx="7126936" cy="1060882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2000240"/>
            <a:ext cx="7464606" cy="419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857224" y="6072206"/>
            <a:ext cx="707233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Cambria" pitchFamily="18" charset="0"/>
              </a:rPr>
              <a:t>Тернарный оператор</a:t>
            </a:r>
            <a:endParaRPr lang="ru-RU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314</Words>
  <Application>Microsoft Office PowerPoint</Application>
  <PresentationFormat>Экран (4:3)</PresentationFormat>
  <Paragraphs>29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Указатели и Функции</vt:lpstr>
      <vt:lpstr>Дополнительные материалы</vt:lpstr>
      <vt:lpstr>Задание 1</vt:lpstr>
      <vt:lpstr>Задание 1</vt:lpstr>
      <vt:lpstr>Слайд 5</vt:lpstr>
      <vt:lpstr>Слайд 6</vt:lpstr>
      <vt:lpstr>Задание 3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50</cp:revision>
  <dcterms:created xsi:type="dcterms:W3CDTF">2024-02-01T11:07:17Z</dcterms:created>
  <dcterms:modified xsi:type="dcterms:W3CDTF">2025-10-15T12:40:44Z</dcterms:modified>
</cp:coreProperties>
</file>