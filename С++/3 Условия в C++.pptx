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7" r:id="rId3"/>
    <p:sldId id="269" r:id="rId4"/>
    <p:sldId id="270" r:id="rId5"/>
    <p:sldId id="271" r:id="rId6"/>
    <p:sldId id="266" r:id="rId7"/>
    <p:sldId id="272" r:id="rId8"/>
    <p:sldId id="273" r:id="rId9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BF1D9"/>
    <a:srgbClr val="D9E2F1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2017" autoAdjust="0"/>
    <p:restoredTop sz="94660"/>
  </p:normalViewPr>
  <p:slideViewPr>
    <p:cSldViewPr>
      <p:cViewPr varScale="1">
        <p:scale>
          <a:sx n="111" d="100"/>
          <a:sy n="111" d="100"/>
        </p:scale>
        <p:origin x="-1794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23.09.2025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23.09.2025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23.09.2025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23.09.2025</a:t>
            </a:fld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23.09.2025</a:t>
            </a:fld>
            <a:endParaRPr lang="ru-RU" dirty="0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23.09.2025</a:t>
            </a:fld>
            <a:endParaRPr lang="ru-RU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23.09.2025</a:t>
            </a:fld>
            <a:endParaRPr lang="ru-RU" dirty="0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23.09.2025</a:t>
            </a:fld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23.09.2025</a:t>
            </a:fld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23.09.2025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23.09.2025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F7147C-2AAC-473E-AD87-1A0FFEE67DAA}" type="datetimeFigureOut">
              <a:rPr lang="ru-RU" smtClean="0"/>
              <a:pPr/>
              <a:t>23.09.2025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 smtClean="0"/>
              <a:t>Язык С++: Условные алгоритмы</a:t>
            </a:r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 smtClean="0"/>
              <a:t>Практика 3</a:t>
            </a:r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1143000"/>
          </a:xfrm>
        </p:spPr>
        <p:txBody>
          <a:bodyPr/>
          <a:lstStyle/>
          <a:p>
            <a:r>
              <a:rPr lang="ru-RU" b="1" dirty="0" smtClean="0"/>
              <a:t>Условные операторы </a:t>
            </a:r>
            <a:endParaRPr lang="ru-RU" b="1" dirty="0"/>
          </a:p>
        </p:txBody>
      </p:sp>
      <p:sp>
        <p:nvSpPr>
          <p:cNvPr id="3073" name="Rectangle 1"/>
          <p:cNvSpPr>
            <a:spLocks noChangeArrowheads="1"/>
          </p:cNvSpPr>
          <p:nvPr/>
        </p:nvSpPr>
        <p:spPr bwMode="auto">
          <a:xfrm>
            <a:off x="0" y="1000108"/>
            <a:ext cx="9144000" cy="1569660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400" b="1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Times New Roman" pitchFamily="18" charset="0"/>
                <a:cs typeface="Times New Roman" pitchFamily="18" charset="0"/>
              </a:rPr>
              <a:t>В языке программирования C++ для работы с условиями (ветвления) используются условные конструкции</a:t>
            </a:r>
            <a:r>
              <a:rPr kumimoji="0" lang="ru-RU" sz="24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Times New Roman" pitchFamily="18" charset="0"/>
                <a:cs typeface="Times New Roman" pitchFamily="18" charset="0"/>
              </a:rPr>
              <a:t> — операторы </a:t>
            </a:r>
            <a:r>
              <a:rPr kumimoji="0" lang="ru-RU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if</a:t>
            </a:r>
            <a:r>
              <a:rPr kumimoji="0" lang="ru-RU" sz="24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Times New Roman" pitchFamily="18" charset="0"/>
                <a:cs typeface="Times New Roman" pitchFamily="18" charset="0"/>
              </a:rPr>
              <a:t>, </a:t>
            </a:r>
            <a:r>
              <a:rPr kumimoji="0" lang="ru-RU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else</a:t>
            </a:r>
            <a:r>
              <a:rPr kumimoji="0" lang="ru-RU" sz="24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Times New Roman" pitchFamily="18" charset="0"/>
                <a:cs typeface="Times New Roman" pitchFamily="18" charset="0"/>
              </a:rPr>
              <a:t> и </a:t>
            </a:r>
            <a:r>
              <a:rPr kumimoji="0" lang="ru-RU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switch-case</a:t>
            </a:r>
            <a:r>
              <a:rPr kumimoji="0" lang="ru-RU" sz="24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Times New Roman" pitchFamily="18" charset="0"/>
                <a:cs typeface="Times New Roman" pitchFamily="18" charset="0"/>
              </a:rPr>
              <a:t>. Они позволяют выполнять разный код в зависимости от исхода проверки условия.</a:t>
            </a:r>
            <a:r>
              <a:rPr kumimoji="0" lang="ru-RU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 </a:t>
            </a:r>
          </a:p>
        </p:txBody>
      </p:sp>
      <p:pic>
        <p:nvPicPr>
          <p:cNvPr id="6" name="Picture 2" descr="https://248006.selcdn.ru/main/upload/setka_images/14510802062020_cc9fc8e6480ae902b98b6d5847371c9f0b916420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2928934"/>
            <a:ext cx="5895942" cy="3218894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934075" y="3429000"/>
            <a:ext cx="3209925" cy="1952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1143000"/>
          </a:xfrm>
        </p:spPr>
        <p:txBody>
          <a:bodyPr/>
          <a:lstStyle/>
          <a:p>
            <a:r>
              <a:rPr lang="ru-RU" b="1" dirty="0" smtClean="0"/>
              <a:t>Задание 1</a:t>
            </a:r>
            <a:endParaRPr lang="ru-RU" b="1" dirty="0"/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311801" y="3429000"/>
            <a:ext cx="5832199" cy="3143248"/>
          </a:xfrm>
          <a:prstGeom prst="rect">
            <a:avLst/>
          </a:prstGeom>
          <a:noFill/>
          <a:ln w="9525">
            <a:solidFill>
              <a:srgbClr val="C00000"/>
            </a:solidFill>
            <a:miter lim="800000"/>
            <a:headEnd/>
            <a:tailEnd/>
          </a:ln>
          <a:effectLst/>
        </p:spPr>
      </p:pic>
      <p:sp>
        <p:nvSpPr>
          <p:cNvPr id="5" name="Прямоугольник 4"/>
          <p:cNvSpPr/>
          <p:nvPr/>
        </p:nvSpPr>
        <p:spPr>
          <a:xfrm>
            <a:off x="0" y="857232"/>
            <a:ext cx="9144000" cy="224676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В качестве </a:t>
            </a:r>
            <a:r>
              <a:rPr lang="ru-RU" sz="2000" i="1" dirty="0" smtClean="0">
                <a:latin typeface="Times New Roman" pitchFamily="18" charset="0"/>
                <a:cs typeface="Times New Roman" pitchFamily="18" charset="0"/>
              </a:rPr>
              <a:t>условия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 использоваться условное выражение, которое возвращает </a:t>
            </a:r>
            <a:r>
              <a:rPr lang="ru-RU" sz="2000" b="1" dirty="0" err="1" smtClean="0">
                <a:latin typeface="Times New Roman" pitchFamily="18" charset="0"/>
                <a:cs typeface="Times New Roman" pitchFamily="18" charset="0"/>
              </a:rPr>
              <a:t>true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 или </a:t>
            </a:r>
            <a:r>
              <a:rPr lang="ru-RU" sz="2000" b="1" dirty="0" err="1" smtClean="0">
                <a:latin typeface="Times New Roman" pitchFamily="18" charset="0"/>
                <a:cs typeface="Times New Roman" pitchFamily="18" charset="0"/>
              </a:rPr>
              <a:t>false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. Если условие возвращает </a:t>
            </a:r>
            <a:r>
              <a:rPr lang="ru-RU" sz="2000" b="1" dirty="0" err="1" smtClean="0">
                <a:latin typeface="Times New Roman" pitchFamily="18" charset="0"/>
                <a:cs typeface="Times New Roman" pitchFamily="18" charset="0"/>
              </a:rPr>
              <a:t>true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, то выполняются последующие инструкции, которые входят в блок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if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. Если условие возвращает </a:t>
            </a:r>
            <a:r>
              <a:rPr lang="ru-RU" sz="2000" b="1" dirty="0" err="1" smtClean="0">
                <a:latin typeface="Times New Roman" pitchFamily="18" charset="0"/>
                <a:cs typeface="Times New Roman" pitchFamily="18" charset="0"/>
              </a:rPr>
              <a:t>false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, то последующие инструкции не выполняются. Блок инструкций заключается в фигурные скобки.</a:t>
            </a:r>
          </a:p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Условия можно комбинировать с помощью логических операторов &amp;&amp; (и), || (или) и ! (не).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0" y="3429000"/>
            <a:ext cx="3214678" cy="3139321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Операторы &amp;&amp; и || ведут себя лениво: если первого аргумента уже достаточно для ответа, то второй аргумент вычисляться не будет. Например, в выражении condition1 &amp;&amp; condition2 второе условие не вычисляется, если первое ложно. Это часто используют для проверок корректности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1143000"/>
          </a:xfrm>
        </p:spPr>
        <p:txBody>
          <a:bodyPr/>
          <a:lstStyle/>
          <a:p>
            <a:r>
              <a:rPr lang="ru-RU" b="1" dirty="0" smtClean="0"/>
              <a:t>Задание 2</a:t>
            </a:r>
            <a:endParaRPr lang="ru-RU" b="1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0" y="1071547"/>
            <a:ext cx="9144000" cy="397031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Конструкция 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switch-case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 в C++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— это 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оператор множественного выбора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, который позволяет сравнивать значение переменной с набором возможных значений (блоками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case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) и выполнять код в зависимости от совпадения. Это замена длинной конструкции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if-else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, которая сравнивает переменную с несколькими константными значениями.</a:t>
            </a: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Есть несколько преимуществ 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switch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 перед 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if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/ 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else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algn="just">
              <a:buFont typeface="Arial" pitchFamily="34" charset="0"/>
              <a:buChar char="•"/>
            </a:pP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Более чистый код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 Код с несколькими цепочками 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if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/ 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else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if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...выглядит запутанным и сложным в поддержке – 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switchобеспечивает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более чистую структуру.</a:t>
            </a:r>
          </a:p>
          <a:p>
            <a:pPr algn="just">
              <a:buFont typeface="Arial" pitchFamily="34" charset="0"/>
              <a:buChar char="•"/>
            </a:pP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Производительность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 Для плотных 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caseзначений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компилятор генерирует таблицу переходов, для разреженных — двоичный поиск или серию 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if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/ 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else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, поэтому в худшем случае 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switchскорость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такая же, как и 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if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/ 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else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, но обычно выше. Хотя некоторые компиляторы могут аналогичным образом оптимизировать 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if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/ 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else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>
              <a:buFont typeface="Arial" pitchFamily="34" charset="0"/>
              <a:buChar char="•"/>
            </a:pP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Порядок тестов не имеет значения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 Чтобы ускорить серию тестов с использованием 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if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/, 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elseнужно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сначала поставить наиболее вероятные случаи. С использованием 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switch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/ 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case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программисту не нужно об этом думать.</a:t>
            </a:r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0" y="5357826"/>
            <a:ext cx="9144000" cy="1323439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Стоит отметить, что сравниваемое выражение в </a:t>
            </a:r>
            <a:r>
              <a:rPr kumimoji="0" lang="ru-RU" sz="20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switch</a:t>
            </a: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 должно представлять один из </a:t>
            </a:r>
            <a:r>
              <a:rPr kumimoji="0" lang="ru-RU" sz="20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целочисленных или символьных типов</a:t>
            </a: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.</a:t>
            </a:r>
            <a:r>
              <a:rPr lang="ru-RU" sz="2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Стоит отметить важность использования оператора </a:t>
            </a:r>
            <a:r>
              <a:rPr lang="ru-RU" sz="2000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break</a:t>
            </a:r>
            <a:r>
              <a:rPr lang="ru-RU" sz="2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. Если мы его не укажем в блоке </a:t>
            </a:r>
            <a:r>
              <a:rPr lang="ru-RU" sz="2000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case</a:t>
            </a:r>
            <a:r>
              <a:rPr lang="ru-RU" sz="2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, то после этого блока выполнение перейдет к следующему блоку </a:t>
            </a:r>
            <a:r>
              <a:rPr lang="ru-RU" sz="2000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case</a:t>
            </a:r>
            <a:r>
              <a:rPr lang="ru-RU" sz="2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endParaRPr kumimoji="0" lang="ru-RU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1143000"/>
          </a:xfrm>
        </p:spPr>
        <p:txBody>
          <a:bodyPr/>
          <a:lstStyle/>
          <a:p>
            <a:r>
              <a:rPr lang="ru-RU" b="1" dirty="0" smtClean="0"/>
              <a:t>Задание 2</a:t>
            </a:r>
            <a:endParaRPr lang="ru-RU" b="1" dirty="0"/>
          </a:p>
        </p:txBody>
      </p:sp>
      <p:sp>
        <p:nvSpPr>
          <p:cNvPr id="18435" name="Rectangle 3"/>
          <p:cNvSpPr>
            <a:spLocks noChangeArrowheads="1"/>
          </p:cNvSpPr>
          <p:nvPr/>
        </p:nvSpPr>
        <p:spPr bwMode="auto">
          <a:xfrm>
            <a:off x="0" y="1000108"/>
            <a:ext cx="5643570" cy="193899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В этом случае опять же будет выполняться оператор </a:t>
            </a:r>
            <a:r>
              <a:rPr kumimoji="0" lang="ru-RU" sz="20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case</a:t>
            </a: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 2:, так как переменная x=2. Однако так как этот блок </a:t>
            </a:r>
            <a:r>
              <a:rPr kumimoji="0" lang="ru-RU" sz="20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case</a:t>
            </a: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 не завершается оператором </a:t>
            </a:r>
            <a:r>
              <a:rPr kumimoji="0" lang="ru-RU" sz="20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break</a:t>
            </a: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, то после его завершения будет выполняться набор инструкций после </a:t>
            </a:r>
            <a:r>
              <a:rPr kumimoji="0" lang="ru-RU" sz="20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case</a:t>
            </a: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 3: даже несмотря на то, что переменная </a:t>
            </a:r>
            <a:r>
              <a:rPr kumimoji="0" lang="ru-RU" sz="20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x</a:t>
            </a: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 по прежнему равна 2.</a:t>
            </a: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 </a:t>
            </a:r>
          </a:p>
        </p:txBody>
      </p:sp>
      <p:grpSp>
        <p:nvGrpSpPr>
          <p:cNvPr id="8" name="Группа 7"/>
          <p:cNvGrpSpPr/>
          <p:nvPr/>
        </p:nvGrpSpPr>
        <p:grpSpPr>
          <a:xfrm>
            <a:off x="5715008" y="857232"/>
            <a:ext cx="3428992" cy="3000396"/>
            <a:chOff x="4848225" y="857232"/>
            <a:chExt cx="4295775" cy="3733800"/>
          </a:xfrm>
        </p:grpSpPr>
        <p:pic>
          <p:nvPicPr>
            <p:cNvPr id="18434" name="Picture 2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4848225" y="857232"/>
              <a:ext cx="4295775" cy="37338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18436" name="Picture 4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7686675" y="857232"/>
              <a:ext cx="1457325" cy="9810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0" y="3145441"/>
            <a:ext cx="3286116" cy="37125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Rectangle 1"/>
          <p:cNvSpPr>
            <a:spLocks noChangeArrowheads="1"/>
          </p:cNvSpPr>
          <p:nvPr/>
        </p:nvSpPr>
        <p:spPr bwMode="auto">
          <a:xfrm>
            <a:off x="3428992" y="4214818"/>
            <a:ext cx="5715008" cy="193899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Можно определять для нескольких меток </a:t>
            </a:r>
            <a:r>
              <a:rPr kumimoji="0" lang="ru-RU" sz="20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case</a:t>
            </a: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 один набор </a:t>
            </a:r>
            <a:r>
              <a:rPr lang="ru-RU" sz="2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инструкций. Здесь если x=1 или x=2, то выполняется одна и та же инструкция </a:t>
            </a:r>
            <a:r>
              <a:rPr lang="ru-RU" sz="2000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std::cout</a:t>
            </a:r>
            <a:r>
              <a:rPr lang="ru-RU" sz="2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&lt;&lt; "</a:t>
            </a:r>
            <a:r>
              <a:rPr lang="ru-RU" sz="2000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x</a:t>
            </a:r>
            <a:r>
              <a:rPr lang="ru-RU" sz="2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= 1 </a:t>
            </a:r>
            <a:r>
              <a:rPr lang="ru-RU" sz="2000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or</a:t>
            </a:r>
            <a:r>
              <a:rPr lang="ru-RU" sz="2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2" &lt;&lt; "\</a:t>
            </a:r>
            <a:r>
              <a:rPr lang="ru-RU" sz="2000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n</a:t>
            </a:r>
            <a:r>
              <a:rPr lang="ru-RU" sz="2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". Аналогично для вариантов x=3 и x=4 также определена общая инструкция.</a:t>
            </a:r>
            <a:endParaRPr kumimoji="0" lang="ru-RU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1143000"/>
          </a:xfrm>
        </p:spPr>
        <p:txBody>
          <a:bodyPr/>
          <a:lstStyle/>
          <a:p>
            <a:r>
              <a:rPr lang="ru-RU" b="1" dirty="0" smtClean="0"/>
              <a:t>Задание </a:t>
            </a:r>
            <a:r>
              <a:rPr lang="en-US" b="1" dirty="0" smtClean="0"/>
              <a:t>3</a:t>
            </a:r>
            <a:endParaRPr lang="ru-RU" b="1" dirty="0"/>
          </a:p>
        </p:txBody>
      </p:sp>
      <p:sp>
        <p:nvSpPr>
          <p:cNvPr id="4097" name="Rectangle 1"/>
          <p:cNvSpPr>
            <a:spLocks noChangeArrowheads="1"/>
          </p:cNvSpPr>
          <p:nvPr/>
        </p:nvSpPr>
        <p:spPr bwMode="auto">
          <a:xfrm>
            <a:off x="0" y="841701"/>
            <a:ext cx="9144000" cy="147732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fontAlgn="ctr">
              <a:spcBef>
                <a:spcPct val="0"/>
              </a:spcBef>
              <a:spcAft>
                <a:spcPct val="0"/>
              </a:spcAft>
            </a:pPr>
            <a:r>
              <a:rPr kumimoji="0" lang="ru-RU" b="1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Times New Roman" pitchFamily="18" charset="0"/>
                <a:cs typeface="Times New Roman" pitchFamily="18" charset="0"/>
              </a:rPr>
              <a:t>Тернарный оператор (? : ) в C++</a:t>
            </a:r>
            <a:r>
              <a:rPr kumimoji="0" lang="ru-RU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Times New Roman" pitchFamily="18" charset="0"/>
                <a:cs typeface="Times New Roman" pitchFamily="18" charset="0"/>
              </a:rPr>
              <a:t> — это сокращённый способ выполнения условных операций, альтернатива конструкции </a:t>
            </a:r>
            <a:r>
              <a:rPr kumimoji="0" lang="ru-RU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if-else</a:t>
            </a:r>
            <a:r>
              <a:rPr kumimoji="0" lang="ru-RU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Times New Roman" pitchFamily="18" charset="0"/>
                <a:cs typeface="Times New Roman" pitchFamily="18" charset="0"/>
              </a:rPr>
              <a:t>. Он оценивает условие и выполняет одно из двух выражений на основе результата. 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Может использоваться для простых условных присваиваний, где читаемость кода не важна.</a:t>
            </a:r>
          </a:p>
          <a:p>
            <a:pPr algn="just" fontAlgn="ctr">
              <a:spcBef>
                <a:spcPct val="0"/>
              </a:spcBef>
              <a:spcAft>
                <a:spcPct val="0"/>
              </a:spcAft>
            </a:pPr>
            <a:endParaRPr kumimoji="0" lang="ru-RU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2571744"/>
            <a:ext cx="5414969" cy="2517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Прямоугольник 8"/>
          <p:cNvSpPr/>
          <p:nvPr/>
        </p:nvSpPr>
        <p:spPr>
          <a:xfrm>
            <a:off x="0" y="5214950"/>
            <a:ext cx="9144000" cy="1200329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Тернарные операторы можно 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вкладывать друг в друга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для создания более разветвлённой логики. Например: если два числа равны - вернуть 0, если первое больше второго - вернуть 1, если второе больше первого - вернуть 2. Да, код хуже читается, но он сильно компактнее и умещается в одну строчку.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050" name="Picture 2" descr="тернарный оператор ?: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714876" y="1714488"/>
            <a:ext cx="2786082" cy="538917"/>
          </a:xfrm>
          <a:prstGeom prst="rect">
            <a:avLst/>
          </a:prstGeom>
          <a:noFill/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140015" y="2643182"/>
            <a:ext cx="4003985" cy="1785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/>
          <p:cNvSpPr/>
          <p:nvPr/>
        </p:nvSpPr>
        <p:spPr>
          <a:xfrm>
            <a:off x="0" y="1000108"/>
            <a:ext cx="9144000" cy="2308324"/>
          </a:xfrm>
          <a:prstGeom prst="rect">
            <a:avLst/>
          </a:prstGeom>
          <a:solidFill>
            <a:srgbClr val="EBF1D9"/>
          </a:solidFill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Во многих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средах (работающих с различными языками программирования) можно создавать графические приложения из готовых элементов. Работа с большим количеством таких элементов значительно упростится 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при знании условий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Например, 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операторы 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условий можно использовать для обработки 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ComboBox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 (выпадающего списка)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при программировании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графического пользовательского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интерфейса. 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В </a:t>
            </a: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Codeblocks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для визуализации можно использовать библиотеку </a:t>
            </a: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wxWidgets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 (можно скачать по ссылке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https://disk.yandex.ru/d/tMpUmN4iZtnjVQ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).</a:t>
            </a:r>
            <a:endParaRPr lang="ru-RU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3357562"/>
            <a:ext cx="3493165" cy="24241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1" name="Прямоугольник 10"/>
          <p:cNvSpPr/>
          <p:nvPr/>
        </p:nvSpPr>
        <p:spPr>
          <a:xfrm>
            <a:off x="1928794" y="4929198"/>
            <a:ext cx="428628" cy="35719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928926" y="4000504"/>
            <a:ext cx="2295525" cy="657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14" name="Прямая со стрелкой 13"/>
          <p:cNvCxnSpPr>
            <a:stCxn id="11" idx="3"/>
            <a:endCxn id="1027" idx="1"/>
          </p:cNvCxnSpPr>
          <p:nvPr/>
        </p:nvCxnSpPr>
        <p:spPr>
          <a:xfrm flipV="1">
            <a:off x="2357422" y="4329117"/>
            <a:ext cx="571504" cy="778676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929322" y="3719523"/>
            <a:ext cx="2905125" cy="1209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16" name="Прямая со стрелкой 15"/>
          <p:cNvCxnSpPr>
            <a:stCxn id="1027" idx="3"/>
            <a:endCxn id="1028" idx="1"/>
          </p:cNvCxnSpPr>
          <p:nvPr/>
        </p:nvCxnSpPr>
        <p:spPr>
          <a:xfrm flipV="1">
            <a:off x="5224451" y="4324361"/>
            <a:ext cx="704871" cy="4756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Прямоугольник 18"/>
          <p:cNvSpPr/>
          <p:nvPr/>
        </p:nvSpPr>
        <p:spPr>
          <a:xfrm>
            <a:off x="0" y="5857892"/>
            <a:ext cx="9144000" cy="369332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pPr algn="ctr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Остальные окна можно оставить без изменений</a:t>
            </a:r>
            <a:endParaRPr lang="ru-RU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" name="Заголовок 1"/>
          <p:cNvSpPr>
            <a:spLocks noGrp="1"/>
          </p:cNvSpPr>
          <p:nvPr>
            <p:ph type="title"/>
          </p:nvPr>
        </p:nvSpPr>
        <p:spPr>
          <a:xfrm>
            <a:off x="0" y="-142892"/>
            <a:ext cx="9086792" cy="1143000"/>
          </a:xfrm>
        </p:spPr>
        <p:txBody>
          <a:bodyPr>
            <a:normAutofit fontScale="90000"/>
          </a:bodyPr>
          <a:lstStyle/>
          <a:p>
            <a:r>
              <a:rPr lang="ru-RU" sz="3600" b="1" i="1" dirty="0" smtClean="0"/>
              <a:t>Полезно знать:</a:t>
            </a:r>
            <a:r>
              <a:rPr lang="ru-RU" sz="3600" b="1" dirty="0" smtClean="0"/>
              <a:t/>
            </a:r>
            <a:br>
              <a:rPr lang="ru-RU" sz="3600" b="1" dirty="0" smtClean="0"/>
            </a:br>
            <a:r>
              <a:rPr lang="ru-RU" sz="3600" b="1" dirty="0" smtClean="0"/>
              <a:t>проектирование пользовательских интерфейсов</a:t>
            </a:r>
            <a:endParaRPr lang="ru-RU" sz="36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Заголовок 1"/>
          <p:cNvSpPr>
            <a:spLocks noGrp="1"/>
          </p:cNvSpPr>
          <p:nvPr>
            <p:ph type="title"/>
          </p:nvPr>
        </p:nvSpPr>
        <p:spPr>
          <a:xfrm>
            <a:off x="0" y="-214338"/>
            <a:ext cx="9086792" cy="1143000"/>
          </a:xfrm>
        </p:spPr>
        <p:txBody>
          <a:bodyPr>
            <a:normAutofit/>
          </a:bodyPr>
          <a:lstStyle/>
          <a:p>
            <a:r>
              <a:rPr lang="ru-RU" sz="2800" b="1" i="1" dirty="0" smtClean="0"/>
              <a:t>Полезно знать: </a:t>
            </a:r>
            <a:r>
              <a:rPr lang="ru-RU" sz="2800" b="1" dirty="0" smtClean="0"/>
              <a:t/>
            </a:r>
            <a:br>
              <a:rPr lang="ru-RU" sz="2800" b="1" dirty="0" smtClean="0"/>
            </a:br>
            <a:r>
              <a:rPr lang="ru-RU" sz="2800" b="1" dirty="0" smtClean="0"/>
              <a:t>Условия </a:t>
            </a:r>
            <a:r>
              <a:rPr lang="ru-RU" sz="2800" b="1" dirty="0" smtClean="0"/>
              <a:t>при проектировании </a:t>
            </a:r>
            <a:r>
              <a:rPr lang="ru-RU" sz="2800" b="1" dirty="0" smtClean="0"/>
              <a:t>интерфейса </a:t>
            </a:r>
            <a:r>
              <a:rPr lang="ru-RU" sz="2800" b="1" dirty="0" smtClean="0"/>
              <a:t>в </a:t>
            </a:r>
            <a:r>
              <a:rPr lang="en-US" sz="2800" b="1" dirty="0" err="1" smtClean="0"/>
              <a:t>Codeblocks</a:t>
            </a:r>
            <a:r>
              <a:rPr lang="en-US" sz="2800" b="1" dirty="0" smtClean="0"/>
              <a:t> </a:t>
            </a:r>
            <a:endParaRPr lang="ru-RU" sz="2800" b="1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428860" y="785794"/>
            <a:ext cx="3924300" cy="11668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143108" y="2143116"/>
            <a:ext cx="4752975" cy="790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13" name="Прямая со стрелкой 12"/>
          <p:cNvCxnSpPr/>
          <p:nvPr/>
        </p:nvCxnSpPr>
        <p:spPr>
          <a:xfrm rot="16200000" flipV="1">
            <a:off x="5214942" y="1785926"/>
            <a:ext cx="1428760" cy="571504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 стрелкой 17"/>
          <p:cNvCxnSpPr/>
          <p:nvPr/>
        </p:nvCxnSpPr>
        <p:spPr>
          <a:xfrm rot="5400000" flipH="1" flipV="1">
            <a:off x="2964645" y="1535893"/>
            <a:ext cx="1285884" cy="1214446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Прямая со стрелкой 22"/>
          <p:cNvCxnSpPr/>
          <p:nvPr/>
        </p:nvCxnSpPr>
        <p:spPr>
          <a:xfrm rot="5400000" flipH="1" flipV="1">
            <a:off x="3821901" y="1607331"/>
            <a:ext cx="1571636" cy="785818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Прямоугольник 28"/>
          <p:cNvSpPr/>
          <p:nvPr/>
        </p:nvSpPr>
        <p:spPr>
          <a:xfrm>
            <a:off x="0" y="2928934"/>
            <a:ext cx="9144000" cy="1077218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pPr algn="ctr"/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1) 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Необходимо добавить в рабочую область панель для размещения элементов (ее добавить обязательно первой),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ComboBox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и кнопку. </a:t>
            </a:r>
          </a:p>
          <a:p>
            <a:pPr algn="ctr"/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2) 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Затем необходимо в свойствах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ComboBox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задать возможные значения.</a:t>
            </a:r>
          </a:p>
          <a:p>
            <a:pPr algn="ctr"/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3) 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Затем необходимо два раза щелкнуть по кнопке и ввести следующий код в открывшееся окно</a:t>
            </a:r>
            <a:endParaRPr lang="ru-RU" sz="1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0" name="Прямоугольник 29"/>
          <p:cNvSpPr/>
          <p:nvPr/>
        </p:nvSpPr>
        <p:spPr>
          <a:xfrm>
            <a:off x="5929322" y="1857364"/>
            <a:ext cx="30649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1</a:t>
            </a:r>
            <a:endParaRPr lang="ru-RU" dirty="0"/>
          </a:p>
        </p:txBody>
      </p:sp>
      <p:sp>
        <p:nvSpPr>
          <p:cNvPr id="31" name="Прямоугольник 30"/>
          <p:cNvSpPr/>
          <p:nvPr/>
        </p:nvSpPr>
        <p:spPr>
          <a:xfrm>
            <a:off x="4214810" y="1928802"/>
            <a:ext cx="30649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2</a:t>
            </a:r>
            <a:endParaRPr lang="ru-RU" dirty="0"/>
          </a:p>
        </p:txBody>
      </p:sp>
      <p:sp>
        <p:nvSpPr>
          <p:cNvPr id="32" name="Прямоугольник 31"/>
          <p:cNvSpPr/>
          <p:nvPr/>
        </p:nvSpPr>
        <p:spPr>
          <a:xfrm>
            <a:off x="3214678" y="1857364"/>
            <a:ext cx="30649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3</a:t>
            </a:r>
            <a:endParaRPr lang="ru-RU" dirty="0"/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0" y="4000504"/>
            <a:ext cx="4448175" cy="172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4" name="Прямоугольник 33"/>
          <p:cNvSpPr/>
          <p:nvPr/>
        </p:nvSpPr>
        <p:spPr>
          <a:xfrm>
            <a:off x="3857620" y="4919008"/>
            <a:ext cx="5286380" cy="1938992"/>
          </a:xfrm>
          <a:prstGeom prst="rect">
            <a:avLst/>
          </a:prstGeom>
          <a:solidFill>
            <a:srgbClr val="EBF1D9"/>
          </a:solidFill>
        </p:spPr>
        <p:txBody>
          <a:bodyPr wrap="square">
            <a:spAutoFit/>
          </a:bodyPr>
          <a:lstStyle/>
          <a:p>
            <a:r>
              <a:rPr lang="en-US" sz="1200" dirty="0" smtClean="0">
                <a:latin typeface="Courier New" pitchFamily="49" charset="0"/>
                <a:cs typeface="Courier New" pitchFamily="49" charset="0"/>
              </a:rPr>
              <a:t>switch (ComboBox1-&gt;</a:t>
            </a:r>
            <a:r>
              <a:rPr lang="en-US" sz="1200" dirty="0" err="1" smtClean="0">
                <a:latin typeface="Courier New" pitchFamily="49" charset="0"/>
                <a:cs typeface="Courier New" pitchFamily="49" charset="0"/>
              </a:rPr>
              <a:t>GetCurrentSelection</a:t>
            </a:r>
            <a:r>
              <a:rPr lang="en-US" sz="1200" dirty="0" smtClean="0">
                <a:latin typeface="Courier New" pitchFamily="49" charset="0"/>
                <a:cs typeface="Courier New" pitchFamily="49" charset="0"/>
              </a:rPr>
              <a:t>())</a:t>
            </a:r>
          </a:p>
          <a:p>
            <a:r>
              <a:rPr lang="en-US" sz="1200" dirty="0" smtClean="0">
                <a:latin typeface="Courier New" pitchFamily="49" charset="0"/>
                <a:cs typeface="Courier New" pitchFamily="49" charset="0"/>
              </a:rPr>
              <a:t>{</a:t>
            </a:r>
          </a:p>
          <a:p>
            <a:r>
              <a:rPr lang="en-US" sz="1200" dirty="0" smtClean="0">
                <a:latin typeface="Courier New" pitchFamily="49" charset="0"/>
                <a:cs typeface="Courier New" pitchFamily="49" charset="0"/>
              </a:rPr>
              <a:t>case 0:</a:t>
            </a:r>
          </a:p>
          <a:p>
            <a:r>
              <a:rPr lang="ru-RU" sz="1200" dirty="0" smtClean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1200" dirty="0" err="1" smtClean="0">
                <a:latin typeface="Courier New" pitchFamily="49" charset="0"/>
                <a:cs typeface="Courier New" pitchFamily="49" charset="0"/>
              </a:rPr>
              <a:t>wxMessageBox</a:t>
            </a:r>
            <a:r>
              <a:rPr lang="en-US" sz="1200" dirty="0" smtClean="0">
                <a:latin typeface="Courier New" pitchFamily="49" charset="0"/>
                <a:cs typeface="Courier New" pitchFamily="49" charset="0"/>
              </a:rPr>
              <a:t>("</a:t>
            </a:r>
            <a:r>
              <a:rPr lang="ru-RU" sz="1200" dirty="0" smtClean="0">
                <a:latin typeface="Courier New" pitchFamily="49" charset="0"/>
                <a:cs typeface="Courier New" pitchFamily="49" charset="0"/>
              </a:rPr>
              <a:t>Вы любите </a:t>
            </a:r>
            <a:r>
              <a:rPr lang="ru-RU" sz="1200" dirty="0" err="1" smtClean="0">
                <a:latin typeface="Courier New" pitchFamily="49" charset="0"/>
                <a:cs typeface="Courier New" pitchFamily="49" charset="0"/>
              </a:rPr>
              <a:t>Эспрессо</a:t>
            </a:r>
            <a:r>
              <a:rPr lang="ru-RU" sz="1200" dirty="0" smtClean="0">
                <a:latin typeface="Courier New" pitchFamily="49" charset="0"/>
                <a:cs typeface="Courier New" pitchFamily="49" charset="0"/>
              </a:rPr>
              <a:t>",_("Сообщение"));</a:t>
            </a:r>
          </a:p>
          <a:p>
            <a:r>
              <a:rPr lang="ru-RU" sz="1200" dirty="0" smtClean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1200" dirty="0" smtClean="0">
                <a:latin typeface="Courier New" pitchFamily="49" charset="0"/>
                <a:cs typeface="Courier New" pitchFamily="49" charset="0"/>
              </a:rPr>
              <a:t>break;</a:t>
            </a:r>
          </a:p>
          <a:p>
            <a:r>
              <a:rPr lang="en-US" sz="1200" dirty="0" smtClean="0">
                <a:latin typeface="Courier New" pitchFamily="49" charset="0"/>
                <a:cs typeface="Courier New" pitchFamily="49" charset="0"/>
              </a:rPr>
              <a:t>case 1:</a:t>
            </a:r>
          </a:p>
          <a:p>
            <a:r>
              <a:rPr lang="ru-RU" sz="1200" dirty="0" smtClean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1200" dirty="0" err="1" smtClean="0">
                <a:latin typeface="Courier New" pitchFamily="49" charset="0"/>
                <a:cs typeface="Courier New" pitchFamily="49" charset="0"/>
              </a:rPr>
              <a:t>wxMessageBox</a:t>
            </a:r>
            <a:r>
              <a:rPr lang="en-US" sz="1200" dirty="0" smtClean="0">
                <a:latin typeface="Courier New" pitchFamily="49" charset="0"/>
                <a:cs typeface="Courier New" pitchFamily="49" charset="0"/>
              </a:rPr>
              <a:t>("</a:t>
            </a:r>
            <a:r>
              <a:rPr lang="ru-RU" sz="1200" dirty="0" smtClean="0">
                <a:latin typeface="Courier New" pitchFamily="49" charset="0"/>
                <a:cs typeface="Courier New" pitchFamily="49" charset="0"/>
              </a:rPr>
              <a:t>Вы любите </a:t>
            </a:r>
            <a:r>
              <a:rPr lang="ru-RU" sz="1200" dirty="0" err="1" smtClean="0">
                <a:latin typeface="Courier New" pitchFamily="49" charset="0"/>
                <a:cs typeface="Courier New" pitchFamily="49" charset="0"/>
              </a:rPr>
              <a:t>Латте</a:t>
            </a:r>
            <a:r>
              <a:rPr lang="ru-RU" sz="1200" dirty="0" smtClean="0">
                <a:latin typeface="Courier New" pitchFamily="49" charset="0"/>
                <a:cs typeface="Courier New" pitchFamily="49" charset="0"/>
              </a:rPr>
              <a:t>",_("Сообщение"));</a:t>
            </a:r>
          </a:p>
          <a:p>
            <a:r>
              <a:rPr lang="ru-RU" sz="1200" dirty="0" smtClean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1200" dirty="0" smtClean="0">
                <a:latin typeface="Courier New" pitchFamily="49" charset="0"/>
                <a:cs typeface="Courier New" pitchFamily="49" charset="0"/>
              </a:rPr>
              <a:t>break;</a:t>
            </a:r>
          </a:p>
          <a:p>
            <a:r>
              <a:rPr lang="en-US" sz="1200" dirty="0" smtClean="0">
                <a:latin typeface="Courier New" pitchFamily="49" charset="0"/>
                <a:cs typeface="Courier New" pitchFamily="49" charset="0"/>
              </a:rPr>
              <a:t>//……</a:t>
            </a:r>
          </a:p>
          <a:p>
            <a:r>
              <a:rPr lang="en-US" sz="1200" dirty="0" smtClean="0">
                <a:latin typeface="Courier New" pitchFamily="49" charset="0"/>
                <a:cs typeface="Courier New" pitchFamily="49" charset="0"/>
              </a:rPr>
              <a:t>}</a:t>
            </a:r>
            <a:endParaRPr lang="ru-RU" sz="1200" dirty="0"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255</TotalTime>
  <Words>216</Words>
  <Application>Microsoft Office PowerPoint</Application>
  <PresentationFormat>Экран (4:3)</PresentationFormat>
  <Paragraphs>43</Paragraphs>
  <Slides>8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9" baseType="lpstr">
      <vt:lpstr>Тема Office</vt:lpstr>
      <vt:lpstr>Язык С++: Условные алгоритмы </vt:lpstr>
      <vt:lpstr>Условные операторы </vt:lpstr>
      <vt:lpstr>Задание 1</vt:lpstr>
      <vt:lpstr>Задание 2</vt:lpstr>
      <vt:lpstr>Задание 2</vt:lpstr>
      <vt:lpstr>Задание 3</vt:lpstr>
      <vt:lpstr>Полезно знать: проектирование пользовательских интерфейсов</vt:lpstr>
      <vt:lpstr>Полезно знать:  Условия при проектировании интерфейса в Codeblocks 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Язык С++: основные операции, ветвления и циклы</dc:title>
  <dc:creator>user</dc:creator>
  <cp:lastModifiedBy>user</cp:lastModifiedBy>
  <cp:revision>41</cp:revision>
  <dcterms:created xsi:type="dcterms:W3CDTF">2024-02-01T09:49:19Z</dcterms:created>
  <dcterms:modified xsi:type="dcterms:W3CDTF">2025-09-23T14:54:52Z</dcterms:modified>
</cp:coreProperties>
</file>