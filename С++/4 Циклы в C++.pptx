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3" r:id="rId4"/>
    <p:sldId id="275" r:id="rId5"/>
    <p:sldId id="276" r:id="rId6"/>
    <p:sldId id="277" r:id="rId7"/>
    <p:sldId id="278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1D9"/>
    <a:srgbClr val="D9E2F1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017" autoAdjust="0"/>
    <p:restoredTop sz="94660"/>
  </p:normalViewPr>
  <p:slideViewPr>
    <p:cSldViewPr>
      <p:cViewPr>
        <p:scale>
          <a:sx n="100" d="100"/>
          <a:sy n="100" d="100"/>
        </p:scale>
        <p:origin x="-212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Язык С++: Циклы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Практика 4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Циклы</a:t>
            </a:r>
            <a:endParaRPr lang="ru-RU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500042"/>
            <a:ext cx="9144000" cy="707886"/>
          </a:xfrm>
          <a:prstGeom prst="rect">
            <a:avLst/>
          </a:prstGeom>
          <a:solidFill>
            <a:srgbClr val="EBF1D9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Циклы позволяют выполняет некоторый набор инструкций множество раз, пока соблюдается определенное условие.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C++ существует несколько видов циклов. 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4572000" y="1285860"/>
            <a:ext cx="4572000" cy="1200329"/>
          </a:xfrm>
          <a:prstGeom prst="rect">
            <a:avLst/>
          </a:prstGeom>
          <a:solidFill>
            <a:schemeClr val="bg2"/>
          </a:solidFill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Цикл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while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цикл с предусловием. Перед очередной итерацией проверяется условие, и если оно истинно, то цикл продолжается.</a:t>
            </a:r>
            <a:endParaRPr lang="ru-RU" dirty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3357562"/>
            <a:ext cx="4857752" cy="1754326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dirty="0" smtClean="0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Цикл</a:t>
            </a:r>
            <a:r>
              <a:rPr lang="ru-RU" b="1" dirty="0" smtClean="0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Do … While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en-US" dirty="0" smtClean="0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Это цикл с постусловием. Отличие от цикла 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while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 заключается в том, что первая итерация всегда выполняется безусловно. Только после её завершения проверяется условие цикла. Если оно истинно, то цикл продолжается.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5143504" y="5500702"/>
            <a:ext cx="4000496" cy="92333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Если мы знаем точное количество действий (итераций) цикла, то можем использовать 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цикл </a:t>
            </a:r>
            <a:r>
              <a:rPr kumimoji="0" lang="ru-RU" b="1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for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429264"/>
            <a:ext cx="4980614" cy="11430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500174"/>
            <a:ext cx="3643306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Прямоугольник 14"/>
          <p:cNvSpPr/>
          <p:nvPr/>
        </p:nvSpPr>
        <p:spPr>
          <a:xfrm>
            <a:off x="0" y="2857496"/>
            <a:ext cx="914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i="1" dirty="0" smtClean="0">
                <a:latin typeface="Times New Roman" pitchFamily="18" charset="0"/>
                <a:cs typeface="Times New Roman" pitchFamily="18" charset="0"/>
              </a:rPr>
              <a:t>Данный цикл будет выполняться, пока условие, указанное в круглых скобках является истиной.</a:t>
            </a:r>
            <a:endParaRPr lang="ru-RU" sz="14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1431" y="3429000"/>
            <a:ext cx="4082570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4857752" y="4786322"/>
            <a:ext cx="44291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i="1" dirty="0" smtClean="0">
                <a:latin typeface="Times New Roman" pitchFamily="18" charset="0"/>
                <a:cs typeface="Times New Roman" pitchFamily="18" charset="0"/>
              </a:rPr>
              <a:t>один проход цикла будет выполнен независимо от условия</a:t>
            </a:r>
            <a:endParaRPr lang="ru-RU" sz="1400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Циклы</a:t>
            </a:r>
            <a:endParaRPr lang="ru-RU" b="1" dirty="0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71545"/>
            <a:ext cx="8929718" cy="3357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1214414" y="745089"/>
            <a:ext cx="1449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Cambria" pitchFamily="18" charset="0"/>
              </a:rPr>
              <a:t>Цикл </a:t>
            </a:r>
            <a:r>
              <a:rPr lang="en-US" b="1" dirty="0" smtClean="0">
                <a:latin typeface="Cambria" pitchFamily="18" charset="0"/>
              </a:rPr>
              <a:t>While</a:t>
            </a:r>
            <a:endParaRPr lang="en-US" b="1" dirty="0">
              <a:latin typeface="Cambria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7215206" y="745089"/>
            <a:ext cx="1178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Cambria" pitchFamily="18" charset="0"/>
              </a:rPr>
              <a:t>Цикл </a:t>
            </a:r>
            <a:r>
              <a:rPr lang="en-US" b="1" dirty="0" smtClean="0">
                <a:latin typeface="Cambria" pitchFamily="18" charset="0"/>
              </a:rPr>
              <a:t>For</a:t>
            </a:r>
            <a:endParaRPr lang="en-US" b="1" dirty="0">
              <a:latin typeface="Cambria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143372" y="745089"/>
            <a:ext cx="2023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Cambria" pitchFamily="18" charset="0"/>
              </a:rPr>
              <a:t>Цикл </a:t>
            </a:r>
            <a:r>
              <a:rPr lang="en-US" b="1" dirty="0" smtClean="0">
                <a:latin typeface="Cambria" pitchFamily="18" charset="0"/>
              </a:rPr>
              <a:t>Do … While</a:t>
            </a:r>
            <a:endParaRPr lang="en-US" b="1" dirty="0">
              <a:latin typeface="Cambria" pitchFamily="18" charset="0"/>
            </a:endParaRPr>
          </a:p>
        </p:txBody>
      </p:sp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400569"/>
            <a:ext cx="2643173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98018" y="4472007"/>
            <a:ext cx="2588362" cy="157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4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86380" y="4548207"/>
            <a:ext cx="3857620" cy="1571627"/>
          </a:xfrm>
          <a:prstGeom prst="rect">
            <a:avLst/>
          </a:prstGeom>
          <a:noFill/>
          <a:ln w="9525">
            <a:solidFill>
              <a:schemeClr val="accent2">
                <a:lumMod val="75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Операторы </a:t>
            </a:r>
            <a:r>
              <a:rPr lang="en-US" b="1" dirty="0" smtClean="0"/>
              <a:t>break, continue</a:t>
            </a:r>
            <a:endParaRPr lang="ru-RU" b="1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484511"/>
            <a:ext cx="9144000" cy="1015663"/>
          </a:xfrm>
          <a:prstGeom prst="rect">
            <a:avLst/>
          </a:prstGeom>
          <a:solidFill>
            <a:srgbClr val="EBF1D9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Иногда возникает необходимость выйти из цикла до его завершения. В этом случае можно воспользоваться оператором 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break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Например, нам надо подсчитать сумму чисел от 1 до 9, пока она не станет больше 20: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71612"/>
            <a:ext cx="581025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Прямоугольник 16"/>
          <p:cNvSpPr/>
          <p:nvPr/>
        </p:nvSpPr>
        <p:spPr>
          <a:xfrm>
            <a:off x="4572000" y="1500174"/>
            <a:ext cx="4572000" cy="1200329"/>
          </a:xfrm>
          <a:prstGeom prst="rect">
            <a:avLst/>
          </a:prstGeom>
          <a:solidFill>
            <a:schemeClr val="bg2"/>
          </a:solidFill>
        </p:spPr>
        <p:txBody>
          <a:bodyPr>
            <a:spAutoFit/>
          </a:bodyPr>
          <a:lstStyle/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Здесь когда значение переменной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result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станет больше 20 (то есть когда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будет равно 6), осуществляется выход из цикла с помощью оператора </a:t>
            </a:r>
            <a:r>
              <a:rPr lang="ru-RU" b="1" i="1" dirty="0" err="1" smtClean="0">
                <a:latin typeface="Times New Roman" pitchFamily="18" charset="0"/>
                <a:cs typeface="Times New Roman" pitchFamily="18" charset="0"/>
              </a:rPr>
              <a:t>break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0" y="3857628"/>
            <a:ext cx="9144000" cy="1015663"/>
          </a:xfrm>
          <a:prstGeom prst="rect">
            <a:avLst/>
          </a:prstGeom>
          <a:solidFill>
            <a:srgbClr val="EBF1D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342900" algn="just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отличие от оператора 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break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оператор 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continue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производит переход к следующей итерации. Например, нам надо посчитать сумму только нечетных чисел из некоторого диапазона: </a:t>
            </a: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857760"/>
            <a:ext cx="7314435" cy="200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0" name="Прямая со стрелкой 19"/>
          <p:cNvCxnSpPr/>
          <p:nvPr/>
        </p:nvCxnSpPr>
        <p:spPr>
          <a:xfrm rot="10800000">
            <a:off x="1928794" y="5072074"/>
            <a:ext cx="1500198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 21"/>
          <p:cNvSpPr/>
          <p:nvPr/>
        </p:nvSpPr>
        <p:spPr>
          <a:xfrm>
            <a:off x="3428992" y="4857760"/>
            <a:ext cx="57150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Полезный совет: обнуляйте переменные, чтобы при записи в них не записалось непонятно что</a:t>
            </a:r>
            <a:endParaRPr lang="ru-R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Бесконечный цикл</a:t>
            </a:r>
            <a:endParaRPr lang="ru-RU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428604"/>
            <a:ext cx="9144000" cy="1754326"/>
          </a:xfrm>
          <a:prstGeom prst="rect">
            <a:avLst/>
          </a:prstGeom>
          <a:solidFill>
            <a:srgbClr val="EBF1D9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Иногда необходимо, чтобы цикл выполнялся бесконечно. Например, когда нам надо бесконечно отслеживать изменения каких-то значений или когда мы точно не знаем, сколько итераций циклу предстоит сделать. Бесконечные циклы находят широкое применение в различных областях, например, в графических программах, играх, сетевых программах и т.д. Для создания бесконечного цикла можно использовать любой вид циклов, но во всех случаях условие всегда истинно.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2354042"/>
            <a:ext cx="3096732" cy="2214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71802" y="2211165"/>
            <a:ext cx="3500462" cy="242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72232" y="2354041"/>
            <a:ext cx="2571768" cy="214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Прямоугольник 14"/>
          <p:cNvSpPr/>
          <p:nvPr/>
        </p:nvSpPr>
        <p:spPr>
          <a:xfrm>
            <a:off x="357158" y="4497181"/>
            <a:ext cx="23704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b="1" dirty="0" smtClean="0">
                <a:latin typeface="Cambria" pitchFamily="18" charset="0"/>
              </a:rPr>
              <a:t>Бесконечный цикл </a:t>
            </a:r>
            <a:br>
              <a:rPr lang="ru-RU" b="1" dirty="0" smtClean="0">
                <a:latin typeface="Cambria" pitchFamily="18" charset="0"/>
              </a:rPr>
            </a:br>
            <a:r>
              <a:rPr lang="ru-RU" b="1" dirty="0" smtClean="0">
                <a:latin typeface="Cambria" pitchFamily="18" charset="0"/>
              </a:rPr>
              <a:t>с предусловием</a:t>
            </a:r>
            <a:endParaRPr lang="en-US" b="1" dirty="0">
              <a:latin typeface="Cambria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6702137" y="4497181"/>
            <a:ext cx="23704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b="1" dirty="0" smtClean="0">
                <a:latin typeface="Cambria" pitchFamily="18" charset="0"/>
              </a:rPr>
              <a:t>Бесконечный цикл </a:t>
            </a:r>
            <a:br>
              <a:rPr lang="ru-RU" b="1" dirty="0" smtClean="0">
                <a:latin typeface="Cambria" pitchFamily="18" charset="0"/>
              </a:rPr>
            </a:br>
            <a:r>
              <a:rPr lang="ru-RU" b="1" dirty="0" smtClean="0">
                <a:latin typeface="Cambria" pitchFamily="18" charset="0"/>
              </a:rPr>
              <a:t>с постусловием</a:t>
            </a:r>
            <a:endParaRPr lang="en-US" b="1" dirty="0">
              <a:latin typeface="Cambria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2786050" y="4568619"/>
            <a:ext cx="38576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Cambria" pitchFamily="18" charset="0"/>
              </a:rPr>
              <a:t>Бесконечный цикл со счетчиком</a:t>
            </a:r>
            <a:endParaRPr lang="en-US" b="1" dirty="0">
              <a:latin typeface="Cambria" pitchFamily="18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0" y="5286388"/>
            <a:ext cx="4429124" cy="132343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Однако в этих случаях в зависимости от ситуации все равно может быть какое-то условие, при котором цикл может завершить работу. В этом случае для выхода из цикла может применяться оператор </a:t>
            </a:r>
            <a:r>
              <a:rPr lang="ru-RU" sz="1600" b="1" i="1" dirty="0" err="1" smtClean="0">
                <a:latin typeface="Times New Roman" pitchFamily="18" charset="0"/>
                <a:cs typeface="Times New Roman" pitchFamily="18" charset="0"/>
              </a:rPr>
              <a:t>break</a:t>
            </a:r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67652" y="5429264"/>
            <a:ext cx="4676348" cy="1214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Функции без параметров</a:t>
            </a:r>
            <a:endParaRPr lang="ru-RU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531666"/>
            <a:ext cx="7286644" cy="1754326"/>
          </a:xfrm>
          <a:prstGeom prst="rect">
            <a:avLst/>
          </a:prstGeom>
          <a:solidFill>
            <a:srgbClr val="EBF1D9"/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Функция в языке C++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 это группа операторов, которые объединены вместе и выполняют определённую задачу. По сути, это именованный блок кода, который можно многократно вызывать по присвоенному имени в различных частях программы. Например, определение функции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которая должна быть в любой программе на языке C++ и с которой начинается ее выполнение: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58083" y="782430"/>
            <a:ext cx="1785918" cy="1255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Прямоугольник 12"/>
          <p:cNvSpPr/>
          <p:nvPr/>
        </p:nvSpPr>
        <p:spPr>
          <a:xfrm>
            <a:off x="0" y="3864122"/>
            <a:ext cx="9144000" cy="707886"/>
          </a:xfrm>
          <a:prstGeom prst="rect">
            <a:avLst/>
          </a:prstGeom>
          <a:solidFill>
            <a:srgbClr val="EBF1D9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Но если функция имеет тип 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то ей не надо ничего возвращать. Для выполнения функции ее необходимо вызвать.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0" y="2285992"/>
            <a:ext cx="9144000" cy="147732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Возвращаемым типом функции является тип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поэтому функция должна использовать оператор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 возвращать какое-либо значение, которое соответствует типу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Возвращаемое значение ставится после оператора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Когда запускается программа на языке C++, то запускается функция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Никакие другие функции, определенные в программе, автоматически не выполняются.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00232" y="4549614"/>
            <a:ext cx="3057523" cy="2308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29322" y="5214950"/>
            <a:ext cx="9620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0" name="Прямая со стрелкой 19"/>
          <p:cNvCxnSpPr>
            <a:endCxn id="24581" idx="1"/>
          </p:cNvCxnSpPr>
          <p:nvPr/>
        </p:nvCxnSpPr>
        <p:spPr>
          <a:xfrm flipV="1">
            <a:off x="3214678" y="5686438"/>
            <a:ext cx="2714644" cy="7429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Вложенные циклы</a:t>
            </a:r>
            <a:endParaRPr lang="ru-RU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642918"/>
            <a:ext cx="9144000" cy="1938992"/>
          </a:xfrm>
          <a:prstGeom prst="rect">
            <a:avLst/>
          </a:prstGeom>
          <a:solidFill>
            <a:srgbClr val="EBF1D9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Вложенные циклы в C++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это когда в теле одного цикла (внешнего) размещается другой цикл (внутренний). Таких вложенных циклов во внешнем цикле может быть несколько.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Чтобы добраться к вложенному циклу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программе необходимо сначала приступить к выполнению внешнего цикла, выполнить то, что прописано в коде до вложенного цикла, и потом уже приступить к выполнению этого цикла. 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2823" y="2714620"/>
            <a:ext cx="3839842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/>
          <p:nvPr/>
        </p:nvCxnSpPr>
        <p:spPr>
          <a:xfrm rot="10800000" flipV="1">
            <a:off x="4071934" y="3000372"/>
            <a:ext cx="1285884" cy="85725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5357818" y="2610145"/>
            <a:ext cx="3786182" cy="313932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данном случае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отвечает за количество строк, а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j –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 количество столбцов. Как только в первой строке выведется десять чисел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=1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закончит работу), алгоритм перейдет на следующую строку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а значение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станет равным двум.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После каждого увеличения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на один внутренний цикл с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будет выполняться 10 раз</a:t>
            </a:r>
            <a:endParaRPr lang="ru-RU" i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873355"/>
            <a:ext cx="571504" cy="3984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Прямая со стрелкой 8"/>
          <p:cNvCxnSpPr/>
          <p:nvPr/>
        </p:nvCxnSpPr>
        <p:spPr>
          <a:xfrm rot="10800000" flipV="1">
            <a:off x="500034" y="6286520"/>
            <a:ext cx="1357322" cy="35719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1785918" y="5997379"/>
            <a:ext cx="73580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Примерный ответ на третье задание. В данном случае внешний цикл равен трем, а внутренний двум (по две фигуры в блоке), дальше отступ.</a:t>
            </a:r>
            <a:endParaRPr lang="ru-R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435</Words>
  <Application>Microsoft Office PowerPoint</Application>
  <PresentationFormat>Экран (4:3)</PresentationFormat>
  <Paragraphs>34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Язык С++: Циклы </vt:lpstr>
      <vt:lpstr>Циклы</vt:lpstr>
      <vt:lpstr>Циклы</vt:lpstr>
      <vt:lpstr>Операторы break, continue</vt:lpstr>
      <vt:lpstr>Бесконечный цикл</vt:lpstr>
      <vt:lpstr>Функции без параметров</vt:lpstr>
      <vt:lpstr>Вложенные циклы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Язык С++: основные операции, ветвления и циклы</dc:title>
  <dc:creator>user</dc:creator>
  <cp:lastModifiedBy>user</cp:lastModifiedBy>
  <cp:revision>43</cp:revision>
  <dcterms:created xsi:type="dcterms:W3CDTF">2024-02-01T09:49:19Z</dcterms:created>
  <dcterms:modified xsi:type="dcterms:W3CDTF">2025-09-28T11:22:11Z</dcterms:modified>
</cp:coreProperties>
</file>