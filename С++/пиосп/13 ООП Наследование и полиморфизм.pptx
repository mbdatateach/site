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9" r:id="rId4"/>
    <p:sldId id="257" r:id="rId5"/>
    <p:sldId id="266" r:id="rId6"/>
    <p:sldId id="267" r:id="rId7"/>
    <p:sldId id="263" r:id="rId8"/>
    <p:sldId id="271" r:id="rId9"/>
    <p:sldId id="270" r:id="rId10"/>
    <p:sldId id="268" r:id="rId11"/>
    <p:sldId id="272" r:id="rId12"/>
    <p:sldId id="264" r:id="rId13"/>
    <p:sldId id="265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08.12.2025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yzzet.ru/a/inheritance-and-polymorphism/" TargetMode="External"/><Relationship Id="rId2" Type="http://schemas.openxmlformats.org/officeDocument/2006/relationships/hyperlink" Target="https://education.yandex.ru/handbook/cpp/article/classes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kaidzu.com/cpp/draw_console?ysclid=lujkpzr0dk800289864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ООП: наследование и полиморфизм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5339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Классы С++</a:t>
            </a:r>
          </a:p>
          <a:p>
            <a:pPr algn="just"/>
            <a:r>
              <a:rPr lang="en-US" sz="2500" b="1" dirty="0" smtClean="0">
                <a:latin typeface="Cambria" pitchFamily="18" charset="0"/>
                <a:hlinkClick r:id="rId2"/>
              </a:rPr>
              <a:t>https://education.yandex.ru/handbook/cpp/article/classes</a:t>
            </a:r>
            <a:endParaRPr lang="ru-RU" sz="25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5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Наследование и полиморфизм в С++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https://dyzzet.ru/a/inheritance-and-polymorphism/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Рисование в консоли </a:t>
            </a:r>
            <a:r>
              <a:rPr lang="en-US" sz="2400" i="1" dirty="0" smtClean="0">
                <a:latin typeface="Cambria" pitchFamily="18" charset="0"/>
              </a:rPr>
              <a:t>W</a:t>
            </a:r>
            <a:r>
              <a:rPr lang="ru-RU" sz="2400" i="1" dirty="0" err="1" smtClean="0">
                <a:latin typeface="Cambria" pitchFamily="18" charset="0"/>
              </a:rPr>
              <a:t>indows</a:t>
            </a:r>
            <a:r>
              <a:rPr lang="ru-RU" sz="2400" i="1" dirty="0" smtClean="0">
                <a:latin typeface="Cambria" pitchFamily="18" charset="0"/>
              </a:rPr>
              <a:t> на С++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https://kaidzu.com/cpp/draw_console?ysclid=lujkpzr0dk800289864</a:t>
            </a:r>
            <a:endParaRPr lang="en-US" sz="2400" b="1" dirty="0" smtClean="0">
              <a:latin typeface="Cambria" pitchFamily="18" charset="0"/>
              <a:hlinkClick r:id="rId3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500" b="1" dirty="0" smtClean="0">
              <a:latin typeface="Cambria" pitchFamily="18" charset="0"/>
              <a:hlinkClick r:id="rId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принципы ООП</a:t>
            </a:r>
            <a:endParaRPr lang="ru-RU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1071546"/>
            <a:ext cx="8429652" cy="1015663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Абстракция </a:t>
            </a:r>
            <a:r>
              <a:rPr lang="ru-RU" sz="2000" dirty="0" smtClean="0">
                <a:latin typeface="Cambria" pitchFamily="18" charset="0"/>
              </a:rPr>
              <a:t>— это придание объекту характеристик, которые отличают его от всех объектов, четко определяя его концептуальные границы.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714348" y="2285992"/>
            <a:ext cx="8429652" cy="1938992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Инкапсуляция</a:t>
            </a:r>
            <a:r>
              <a:rPr lang="ru-RU" sz="2000" dirty="0" smtClean="0">
                <a:latin typeface="Cambria" pitchFamily="18" charset="0"/>
              </a:rPr>
              <a:t> — свойство, позволяющее пользователю не задумываться о сложности реализации используемого программного компонента (что у него внутри?), а взаимодействовать с ним посредством предоставляемого интерфейса (публичных методов и членов), а также объединить и защитить жизненно важные для компонента данные.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714348" y="4413601"/>
            <a:ext cx="8429652" cy="1015663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Cambria" pitchFamily="18" charset="0"/>
              </a:rPr>
              <a:t>Наследование</a:t>
            </a:r>
            <a:r>
              <a:rPr lang="ru-RU" sz="2000" dirty="0" smtClean="0">
                <a:latin typeface="Cambria" pitchFamily="18" charset="0"/>
              </a:rPr>
              <a:t> — свойство, позволяющий описать новый класс на основе уже существующего, при этом свойства и функциональность родительского класса заимствуются новым классом.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14348" y="5572141"/>
            <a:ext cx="8429652" cy="992579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950" b="1" dirty="0" smtClean="0">
                <a:latin typeface="Cambria" pitchFamily="18" charset="0"/>
              </a:rPr>
              <a:t>Полиморфизм</a:t>
            </a:r>
            <a:r>
              <a:rPr lang="ru-RU" sz="1950" dirty="0" smtClean="0">
                <a:latin typeface="Cambria" pitchFamily="18" charset="0"/>
              </a:rPr>
              <a:t> — возможность объектов с одинаковой спецификацией иметь различную реализацию. Кратко смысл полиморфизма можно выразить фразой: «Один интерфейс, множество реализаций»</a:t>
            </a:r>
            <a:endParaRPr lang="ru-RU" sz="1950" dirty="0">
              <a:latin typeface="Cambria" pitchFamily="18" charset="0"/>
            </a:endParaRP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214282" y="571480"/>
            <a:ext cx="1071570" cy="1588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 rot="5400000">
            <a:off x="-2535287" y="3321843"/>
            <a:ext cx="5499932" cy="7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>
            <a:endCxn id="5" idx="1"/>
          </p:cNvCxnSpPr>
          <p:nvPr/>
        </p:nvCxnSpPr>
        <p:spPr>
          <a:xfrm>
            <a:off x="214282" y="1571612"/>
            <a:ext cx="500066" cy="776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endCxn id="7" idx="1"/>
          </p:cNvCxnSpPr>
          <p:nvPr/>
        </p:nvCxnSpPr>
        <p:spPr>
          <a:xfrm>
            <a:off x="214282" y="3245322"/>
            <a:ext cx="500066" cy="1016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endCxn id="8" idx="1"/>
          </p:cNvCxnSpPr>
          <p:nvPr/>
        </p:nvCxnSpPr>
        <p:spPr>
          <a:xfrm flipV="1">
            <a:off x="214282" y="4921433"/>
            <a:ext cx="500066" cy="776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endCxn id="9" idx="1"/>
          </p:cNvCxnSpPr>
          <p:nvPr/>
        </p:nvCxnSpPr>
        <p:spPr>
          <a:xfrm flipV="1">
            <a:off x="214282" y="6068431"/>
            <a:ext cx="500066" cy="377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197945"/>
            <a:ext cx="3243252" cy="3660055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6429388" y="4214818"/>
            <a:ext cx="1428760" cy="16430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20</a:t>
            </a:r>
          </a:p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10</a:t>
            </a:r>
            <a:endParaRPr lang="ru-RU" sz="2800" b="1" dirty="0">
              <a:solidFill>
                <a:schemeClr val="tx1"/>
              </a:solidFill>
            </a:endParaRPr>
          </a:p>
        </p:txBody>
      </p:sp>
      <p:cxnSp>
        <p:nvCxnSpPr>
          <p:cNvPr id="6" name="Прямая со стрелкой 5"/>
          <p:cNvCxnSpPr>
            <a:stCxn id="1026" idx="3"/>
            <a:endCxn id="4" idx="1"/>
          </p:cNvCxnSpPr>
          <p:nvPr/>
        </p:nvCxnSpPr>
        <p:spPr>
          <a:xfrm>
            <a:off x="5029170" y="5027973"/>
            <a:ext cx="1400218" cy="838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0" y="500042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Наследование в C++ — ключевой механизм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объектно‑ориентированного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программирования (ООП), который позволяет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создавать новые классы на основе уже существующих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(базовых). Производный (дочерний) класс автоматически получает поля и методы базового (родительского) класса, при этом может добавлять собственные члены и переопределять унаследованные.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Основные цели использования наследования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Избегание дублирования кода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Вместо того чтобы заново описывать одинаковые поля и методы в нескольких классах, вы определяете их в базовом классе и наследуете в производных. Это сокращает объём кода и уменьшает вероятность ошибок.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Повторное использование кода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Уже реализованный и протестированный функционал базового класса становится доступен в производных классах без переписывания.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Расширение функциональности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Производный класс может: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добавлять новые поля и методы;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переопределять (модифицировать) унаследованные методы;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реализовывать специфическое поведение для своей предметной области.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4358452" cy="485776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7148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сделать все переменные приватными, а для их инициализации добавить конструкторы, то тут стоит учитывать, что конструкторы при наследовании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 наследуются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 если базовый класс содержит только конструкторы с параметрами, то производный класс должен вызывать в своем конструкторе один из конструкторов базового класса: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572000" y="257174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списка параметров конструктора производного класса через двоеточие идет вызов конструктора базового класса, в который передаются значения параметров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>
            <a:stCxn id="6" idx="1"/>
          </p:cNvCxnSpPr>
          <p:nvPr/>
        </p:nvCxnSpPr>
        <p:spPr>
          <a:xfrm rot="10800000" flipV="1">
            <a:off x="2285984" y="3310408"/>
            <a:ext cx="2286016" cy="140447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7896225" cy="58864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715008" y="642918"/>
            <a:ext cx="3428992" cy="224676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Объявление массива объектов класса в C++: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];</a:t>
            </a:r>
          </a:p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этом синтаксисе: 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className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имя класса, к которому принадлежат объекты.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arrayName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имя массива объектов.</a:t>
            </a:r>
          </a:p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arraySize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количество объектов в массиве или размер массива, указанное как константное выражение.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Иногда возникает необходимость определить класс, который не предполагает создания конкретных объектов. Например, класс фигуры. В реальности есть конкретные фигуры: квадрат, прямоугольник, треугольник, круг и так далее. Однако абстрактной фигуры самой по себе не существует. В то же время может потребоваться определить для всех фигур какой-то общий класс, который будет содержать общую для всех функциональность. И для описания подобных сущностей используются абстрактные классы.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Абстрактные классы</a:t>
            </a:r>
            <a:r>
              <a:rPr lang="ru-RU" sz="20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 - это классы, которые содержат или наследуют без переопределения хотя бы одну чистую виртуальную функцию. Абстрактный класс определяет интерфейс для переопределения производными классами.</a:t>
            </a:r>
            <a:endParaRPr lang="en-US" sz="20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Что такое 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чистые виртуальные функции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(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pure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functions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)? Это функции, которые не имеют определения. Цель подобных функций - просто определить функционал без реализации, а реализацию определят производные классы. Чтобы определить виртуальную функцию как чистую, ее объявление завершается значением "=0".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214950"/>
            <a:ext cx="47910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0" y="500042"/>
            <a:ext cx="91440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C++ абстрактные методы и виртуальные функции (а вместе с ними — абстрактные классы) служат ключевыми инструментами для реализации полиморфизма — одного из трёх китов </a:t>
            </a:r>
            <a:r>
              <a:rPr lang="ru-RU" sz="16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объектно‑ориентированного</a:t>
            </a:r>
            <a:r>
              <a:rPr lang="ru-RU" sz="16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программирования (наряду с инкапсуляцией и наследованием).</a:t>
            </a:r>
            <a:endParaRPr lang="en-US" sz="1600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Зачем нужны: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Задание контракта (интерфейса)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чётко определяет, 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какие методы должны быть у наследников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не заботясь о том, </a:t>
            </a:r>
            <a:r>
              <a:rPr lang="ru-RU" sz="1600" i="1" dirty="0" smtClean="0">
                <a:latin typeface="Times New Roman" pitchFamily="18" charset="0"/>
                <a:cs typeface="Times New Roman" pitchFamily="18" charset="0"/>
              </a:rPr>
              <a:t>как именно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они будут реализованы. Это как «технический регламент» для разработчиков.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Принудительная реализация поведения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Компилятор гарантирует, что любой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не‑абстрактный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наследник реализует все обязательные методы. Нет риска забыть важную функцию.</a:t>
            </a:r>
            <a:endParaRPr kumimoji="0" lang="ru-RU" sz="1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857496"/>
            <a:ext cx="5735131" cy="4000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6000792" y="2786058"/>
            <a:ext cx="3143208" cy="389337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Виртуальный</a:t>
            </a:r>
            <a:r>
              <a:rPr kumimoji="0" lang="en-US" sz="13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деструктор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Всегда объявляйте деструктор базового класса как </a:t>
            </a:r>
            <a:r>
              <a:rPr kumimoji="0" lang="ru-RU" sz="13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virtual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если планируете удалять объекты через указатель на базовый класс. Иначе может произойти утечка памяти.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sz="13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Ключевое слово </a:t>
            </a:r>
            <a:r>
              <a:rPr kumimoji="0" lang="ru-RU" sz="13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Используйте его при переопределении методов — это защитит от ошибок (например, если вы случайно изменили сигнатуру метода).</a:t>
            </a:r>
            <a:endParaRPr kumimoji="0" lang="en-US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sz="13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ru-RU" sz="1300" b="1" dirty="0" smtClean="0"/>
              <a:t>Сигнатура функции в языке программирования C++</a:t>
            </a:r>
            <a:r>
              <a:rPr lang="ru-RU" sz="1300" dirty="0" smtClean="0"/>
              <a:t> — это объявление функции, которое указывает её возвращаемый тип, имя и параметры. Сигнатура говорит компилятору, что ожидать от функции, без определения всего её тела.</a:t>
            </a:r>
            <a:endParaRPr kumimoji="0" lang="ru-RU" sz="13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86" y="1275622"/>
            <a:ext cx="9123414" cy="2510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1071538" y="6365557"/>
            <a:ext cx="62865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Базовый класс</a:t>
            </a:r>
            <a:endParaRPr lang="ru-RU" sz="2600" dirty="0">
              <a:latin typeface="Cambria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3286124"/>
            <a:ext cx="5514975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57148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Cambria" pitchFamily="18" charset="0"/>
              </a:rPr>
              <a:t>Результат работы программы. В массив базового абстрактного класса можно записать объекты производных и работать с ними</a:t>
            </a:r>
            <a:endParaRPr lang="ru-RU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2</a:t>
            </a:r>
            <a:endParaRPr lang="ru-RU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37138"/>
            <a:ext cx="9144000" cy="273487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рисовать прямо в консольном окне через GDI, но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непереносимо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 работает нестабильно в новых версиях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такой код может не работать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Windows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10/11 и ломаться при изменении размера окна.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0" y="4572008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любом случае можно использовать псевдографику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: заполняем двумерный массив символами (' ', '*', '#', '@' и т. п.) и выводим его построчно.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71736" y="4948135"/>
            <a:ext cx="3867139" cy="1909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6822852" y="1857364"/>
            <a:ext cx="2321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#include &lt;</a:t>
            </a:r>
            <a:r>
              <a:rPr lang="en-US" b="1" dirty="0" err="1" smtClean="0"/>
              <a:t>windows.h</a:t>
            </a:r>
            <a:r>
              <a:rPr lang="en-US" b="1" dirty="0" smtClean="0"/>
              <a:t>&gt;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5417982" cy="2208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14970" y="923925"/>
            <a:ext cx="4029029" cy="3433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2807568"/>
            <a:ext cx="4038606" cy="4050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572000" y="4214818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Также можно использовать умные указатели (можете прочитать про эту концепцию дополнительно)</a:t>
            </a:r>
          </a:p>
          <a:p>
            <a:pPr algn="just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Сырые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указатели (T*) — это просто адреса памяти. Они не управляют временем жизни объекта: программист вручную должен следить за выделением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 и освобождением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delete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 памяти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Умные указатели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std::unique_ptr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&lt;T&gt;,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std::shared_ptr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&lt;T&gt; и др.) — это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классы‑обёртки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над сырыми указателями. Они автоматически управляют памятью по принципу RAII 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Resource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Acquisition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Initialization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): ресурс освобождается при выходе указателя из области видимости.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0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Когда вы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просто помещаете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объект‑наследник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контейнер типа базового класса, происходит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объектное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обрезание (Прочитайте про это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самостоятельно). Можно положить наследников в контейнер базового класса, но: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Без виртуальных методов это почти всегда ошибка (теряется полиморфизм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).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виртуальными методами нужно использовать указатели.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ru-RU" b="1" dirty="0" smtClean="0"/>
              <a:t>3*</a:t>
            </a:r>
            <a:endParaRPr lang="ru-RU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857364"/>
            <a:ext cx="6938952" cy="4683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6365581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Cambria" pitchFamily="18" charset="0"/>
              </a:rPr>
              <a:t>Перегрузка операторов ввода/вывода</a:t>
            </a:r>
            <a:endParaRPr lang="ru-RU" sz="2600" dirty="0">
              <a:latin typeface="Cambria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928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Дружественные функции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это функции, которые не являются членами класса, однако имеют доступ к его закрытым членам - переменным и функциям, которые имеют спецификатор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r>
              <a:rPr lang="ru-RU" b="1" dirty="0" smtClean="0"/>
              <a:t>*</a:t>
            </a:r>
            <a:endParaRPr lang="ru-RU" b="1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30956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2214554"/>
            <a:ext cx="6072198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3214678" y="1214422"/>
            <a:ext cx="59293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использовать перечисления, то разницу между двумя объектами (между двумя буквами на доске можно узнать следующим образом)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6387" y="3429000"/>
            <a:ext cx="669607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307181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Cambria" pitchFamily="18" charset="0"/>
              </a:rPr>
              <a:t>Конструктор можно задавать так</a:t>
            </a:r>
            <a:endParaRPr lang="ru-RU" sz="2000" dirty="0">
              <a:latin typeface="Cambria" pitchFamily="18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6191250"/>
            <a:ext cx="91440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5786454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Cambria" pitchFamily="18" charset="0"/>
              </a:rPr>
              <a:t>Преобразование элемента перечисления в букву</a:t>
            </a:r>
            <a:endParaRPr lang="ru-RU" sz="2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489</Words>
  <Application>Microsoft Office PowerPoint</Application>
  <PresentationFormat>Экран (4:3)</PresentationFormat>
  <Paragraphs>69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ООП: наследование и полиморфизм</vt:lpstr>
      <vt:lpstr>Дополнительные материалы</vt:lpstr>
      <vt:lpstr>Основные принципы ООП</vt:lpstr>
      <vt:lpstr>Задание 1</vt:lpstr>
      <vt:lpstr>Задание 1</vt:lpstr>
      <vt:lpstr>Задание 1</vt:lpstr>
      <vt:lpstr>Задание 2</vt:lpstr>
      <vt:lpstr>Задание 2</vt:lpstr>
      <vt:lpstr>Задание 2</vt:lpstr>
      <vt:lpstr>Задание 2</vt:lpstr>
      <vt:lpstr>Слайд 11</vt:lpstr>
      <vt:lpstr>Задание 3*</vt:lpstr>
      <vt:lpstr>Задание 3*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52</cp:revision>
  <dcterms:created xsi:type="dcterms:W3CDTF">2024-02-01T11:07:17Z</dcterms:created>
  <dcterms:modified xsi:type="dcterms:W3CDTF">2025-12-08T20:08:59Z</dcterms:modified>
</cp:coreProperties>
</file>