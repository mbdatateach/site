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944" y="-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E5A87-3B20-4600-9DCE-BE5A8D5CFD98}" type="datetimeFigureOut">
              <a:rPr lang="ru-RU" smtClean="0"/>
              <a:pPr/>
              <a:t>24.11.2025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F89D07-70F9-49D4-923E-9EB4A53C3380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24.11.2025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24.11.2025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24.11.2025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24.11.2025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24.11.2025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24.11.2025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2F159-6E30-49ED-809A-AF4C5E7BA22D}" type="datetimeFigureOut">
              <a:rPr lang="ru-RU" smtClean="0"/>
              <a:pPr/>
              <a:t>24.11.2025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tanit.com/cpp/tutorial/8.3.php?ysclid=midf5t0qrc170817181" TargetMode="External"/><Relationship Id="rId2" Type="http://schemas.openxmlformats.org/officeDocument/2006/relationships/hyperlink" Target="https://proproprogs.ru/c_base/cpp-faylovye-potoki-otkrytie-i-zakrytie-faylov-rezhimy-dostupa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metanit.com/cpp/tutorial/7.2.php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smtClean="0"/>
              <a:t>Работа с текстовыми файлами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928670"/>
            <a:ext cx="9144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Cambria" pitchFamily="18" charset="0"/>
              </a:rPr>
              <a:t>Файловые потоки. Открытие и закрытие файлов. Режимы доступа</a:t>
            </a:r>
          </a:p>
          <a:p>
            <a:pPr algn="just"/>
            <a:r>
              <a:rPr lang="en-US" sz="2400" b="1" dirty="0" smtClean="0">
                <a:latin typeface="Cambria" pitchFamily="18" charset="0"/>
                <a:hlinkClick r:id="rId2"/>
              </a:rPr>
              <a:t>https://proproprogs.ru/c_base/cpp-faylovye-potoki-otkrytie-i-zakrytie-faylov-rezhimy-dostupa</a:t>
            </a:r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r>
              <a:rPr lang="ru-RU" sz="2400" dirty="0" smtClean="0">
                <a:latin typeface="Cambria" pitchFamily="18" charset="0"/>
              </a:rPr>
              <a:t>Чтение и запись текстовых файлов</a:t>
            </a:r>
          </a:p>
          <a:p>
            <a:pPr algn="just"/>
            <a:r>
              <a:rPr lang="en-US" sz="2400" b="1" dirty="0" smtClean="0">
                <a:latin typeface="Cambria" pitchFamily="18" charset="0"/>
                <a:hlinkClick r:id="rId3"/>
              </a:rPr>
              <a:t>https://</a:t>
            </a:r>
            <a:r>
              <a:rPr lang="en-US" sz="2400" b="1" dirty="0" smtClean="0">
                <a:latin typeface="Cambria" pitchFamily="18" charset="0"/>
                <a:hlinkClick r:id="rId3"/>
              </a:rPr>
              <a:t>metanit.com/cpp/tutorial/8.3.php?ysclid=midf5t0qrc170817181</a:t>
            </a:r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en-US" sz="2400" b="1" dirty="0" smtClean="0">
              <a:latin typeface="Cambria" pitchFamily="18" charset="0"/>
            </a:endParaRPr>
          </a:p>
          <a:p>
            <a:pPr algn="just"/>
            <a:r>
              <a:rPr lang="ru-RU" sz="2400" dirty="0" smtClean="0">
                <a:latin typeface="Cambria" pitchFamily="18" charset="0"/>
              </a:rPr>
              <a:t>Вектор</a:t>
            </a:r>
          </a:p>
          <a:p>
            <a:pPr algn="just"/>
            <a:r>
              <a:rPr lang="en-US" sz="2400" b="1" dirty="0" smtClean="0">
                <a:latin typeface="Cambria" pitchFamily="18" charset="0"/>
                <a:hlinkClick r:id="rId4"/>
              </a:rPr>
              <a:t>https://</a:t>
            </a:r>
            <a:r>
              <a:rPr lang="en-US" sz="2400" b="1" dirty="0" smtClean="0">
                <a:latin typeface="Cambria" pitchFamily="18" charset="0"/>
                <a:hlinkClick r:id="rId4"/>
              </a:rPr>
              <a:t>metanit.com/cpp/tutorial/7.2.php</a:t>
            </a:r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en-US" sz="2400" b="1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857232"/>
            <a:ext cx="9144000" cy="17859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14338"/>
            <a:ext cx="8229600" cy="1143000"/>
          </a:xfrm>
        </p:spPr>
        <p:txBody>
          <a:bodyPr/>
          <a:lstStyle/>
          <a:p>
            <a:r>
              <a:rPr lang="ru-RU" dirty="0" smtClean="0"/>
              <a:t>Запись в файл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785794"/>
            <a:ext cx="9144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языке программирования C++ для работы с текстовыми файлами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файлами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состоящими из символов) используются специальные классы —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ofstream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для записи в файл и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ifstream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для чтения из файла. Эти классы являются частью заголовочного файла &lt;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fstream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записи в файл к объекту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ofstream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или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fstream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применяется оператор &lt;&lt; (как и при выводе на консоль):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2714620"/>
            <a:ext cx="6943725" cy="325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-928726" y="5715016"/>
            <a:ext cx="11072858" cy="14311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rgbClr val="212529"/>
                </a:solidFill>
                <a:effectLst/>
                <a:latin typeface="Times New Roman" pitchFamily="18" charset="0"/>
                <a:cs typeface="Times New Roman" pitchFamily="18" charset="0"/>
              </a:rPr>
              <a:t>ofstream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Times New Roman" pitchFamily="18" charset="0"/>
                <a:cs typeface="Times New Roman" pitchFamily="18" charset="0"/>
              </a:rPr>
              <a:t> создает файл, если его нет, или перезаписывает существующий.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rgbClr val="212529"/>
                </a:solidFill>
                <a:effectLst/>
                <a:latin typeface="Times New Roman" pitchFamily="18" charset="0"/>
                <a:cs typeface="Times New Roman" pitchFamily="18" charset="0"/>
              </a:rPr>
              <a:t>is_open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Times New Roman" pitchFamily="18" charset="0"/>
                <a:cs typeface="Times New Roman" pitchFamily="18" charset="0"/>
              </a:rPr>
              <a:t>() проверяет успешность открытия.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rgbClr val="212529"/>
                </a:solidFill>
                <a:effectLst/>
                <a:latin typeface="Times New Roman" pitchFamily="18" charset="0"/>
                <a:cs typeface="Times New Roman" pitchFamily="18" charset="0"/>
              </a:rPr>
              <a:t>close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212529"/>
                </a:solidFill>
                <a:effectLst/>
                <a:latin typeface="Times New Roman" pitchFamily="18" charset="0"/>
                <a:cs typeface="Times New Roman" pitchFamily="18" charset="0"/>
              </a:rPr>
              <a:t>() освобождает ресурсы.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857232"/>
            <a:ext cx="9144000" cy="14287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14338"/>
            <a:ext cx="8229600" cy="1143000"/>
          </a:xfrm>
        </p:spPr>
        <p:txBody>
          <a:bodyPr/>
          <a:lstStyle/>
          <a:p>
            <a:r>
              <a:rPr lang="ru-RU" dirty="0" smtClean="0"/>
              <a:t>Чтение из файла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785794"/>
            <a:ext cx="9144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Если надо считать всю строку целиком или даже все строки из файла, то лучше использовать встроенную функцию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getline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(), которая принимает поток для чтения и переменную, в которую надо считать текст. Также для чтения данных из файла для объектов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ifstream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fstream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может применяться оператор &gt;&gt; (также как и при чтении с консоли).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-142908" y="5929330"/>
            <a:ext cx="5572164" cy="87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ifstream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читает файл, но не создает его, если его нет.</a:t>
            </a: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getline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 считывает строку до символа перевода строки.</a:t>
            </a:r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214554"/>
            <a:ext cx="5357818" cy="3724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29124" y="2227888"/>
            <a:ext cx="4714876" cy="14058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3797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52122" y="4143380"/>
            <a:ext cx="3091878" cy="27146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012078" cy="371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0" y="3857628"/>
            <a:ext cx="9144000" cy="300039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00562" y="4810118"/>
            <a:ext cx="4643438" cy="1619254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4572000" y="4071942"/>
            <a:ext cx="4286280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Cambria" pitchFamily="18" charset="0"/>
              </a:rPr>
              <a:t>Также можно </a:t>
            </a:r>
            <a:r>
              <a:rPr lang="en-US" b="1" dirty="0" smtClean="0">
                <a:latin typeface="Cambria" pitchFamily="18" charset="0"/>
              </a:rPr>
              <a:t>char </a:t>
            </a:r>
            <a:r>
              <a:rPr lang="en-US" b="1" dirty="0" err="1" smtClean="0">
                <a:latin typeface="Cambria" pitchFamily="18" charset="0"/>
              </a:rPr>
              <a:t>str</a:t>
            </a:r>
            <a:r>
              <a:rPr lang="en-US" b="1" dirty="0" smtClean="0">
                <a:latin typeface="Cambria" pitchFamily="18" charset="0"/>
              </a:rPr>
              <a:t>[] </a:t>
            </a:r>
            <a:r>
              <a:rPr lang="ru-RU" b="1" dirty="0" smtClean="0">
                <a:latin typeface="Cambria" pitchFamily="18" charset="0"/>
              </a:rPr>
              <a:t>или </a:t>
            </a:r>
            <a:r>
              <a:rPr lang="en-US" b="1" dirty="0" smtClean="0">
                <a:latin typeface="Cambria" pitchFamily="18" charset="0"/>
              </a:rPr>
              <a:t>string </a:t>
            </a:r>
            <a:r>
              <a:rPr lang="en-US" b="1" dirty="0" err="1" smtClean="0">
                <a:latin typeface="Cambria" pitchFamily="18" charset="0"/>
              </a:rPr>
              <a:t>str</a:t>
            </a:r>
            <a:endParaRPr lang="ru-RU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71470" y="4398047"/>
            <a:ext cx="4286216" cy="20313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Cambria" pitchFamily="18" charset="0"/>
              </a:rPr>
              <a:t>Строки пре передаче в функции могут передаваться как одномерные массивы типа </a:t>
            </a:r>
            <a:r>
              <a:rPr lang="en-US" dirty="0" smtClean="0">
                <a:latin typeface="Cambria" pitchFamily="18" charset="0"/>
              </a:rPr>
              <a:t>char </a:t>
            </a:r>
            <a:r>
              <a:rPr lang="ru-RU" dirty="0" smtClean="0">
                <a:latin typeface="Cambria" pitchFamily="18" charset="0"/>
              </a:rPr>
              <a:t>или как указатель на тип </a:t>
            </a:r>
            <a:r>
              <a:rPr lang="en-US" dirty="0" smtClean="0">
                <a:latin typeface="Cambria" pitchFamily="18" charset="0"/>
              </a:rPr>
              <a:t>char*. </a:t>
            </a:r>
            <a:r>
              <a:rPr lang="ru-RU" dirty="0" smtClean="0">
                <a:latin typeface="Cambria" pitchFamily="18" charset="0"/>
              </a:rPr>
              <a:t>В отличие от обычных массивов в функции не указывается длина строки, т. к. в конце строки всегда будет символ </a:t>
            </a:r>
            <a:r>
              <a:rPr lang="en-US" dirty="0" smtClean="0">
                <a:latin typeface="Cambria" pitchFamily="18" charset="0"/>
              </a:rPr>
              <a:t>‘/0’</a:t>
            </a:r>
            <a:endParaRPr lang="ru-RU" dirty="0"/>
          </a:p>
        </p:txBody>
      </p:sp>
      <p:cxnSp>
        <p:nvCxnSpPr>
          <p:cNvPr id="8" name="Прямая со стрелкой 7"/>
          <p:cNvCxnSpPr/>
          <p:nvPr/>
        </p:nvCxnSpPr>
        <p:spPr>
          <a:xfrm rot="5400000" flipH="1" flipV="1">
            <a:off x="5785652" y="4786322"/>
            <a:ext cx="715174" cy="794"/>
          </a:xfrm>
          <a:prstGeom prst="straightConnector1">
            <a:avLst/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461951"/>
            <a:ext cx="91440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В C++ есть функции </a:t>
            </a:r>
            <a:r>
              <a:rPr lang="ru-RU" sz="2200" b="1" dirty="0" err="1" smtClean="0">
                <a:latin typeface="Times New Roman" pitchFamily="18" charset="0"/>
                <a:cs typeface="Times New Roman" pitchFamily="18" charset="0"/>
              </a:rPr>
              <a:t>get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()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 и </a:t>
            </a:r>
            <a:r>
              <a:rPr lang="ru-RU" sz="2200" b="1" dirty="0" err="1" smtClean="0">
                <a:latin typeface="Times New Roman" pitchFamily="18" charset="0"/>
                <a:cs typeface="Times New Roman" pitchFamily="18" charset="0"/>
              </a:rPr>
              <a:t>getline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(), 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которые мы можем использовать вместе с </a:t>
            </a:r>
            <a:r>
              <a:rPr lang="ru-RU" sz="2200" b="1" dirty="0" err="1" smtClean="0">
                <a:latin typeface="Times New Roman" pitchFamily="18" charset="0"/>
                <a:cs typeface="Times New Roman" pitchFamily="18" charset="0"/>
              </a:rPr>
              <a:t>cin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 Они похожи, но чаще используется </a:t>
            </a:r>
            <a:r>
              <a:rPr lang="ru-RU" sz="2200" b="1" dirty="0" err="1" smtClean="0">
                <a:latin typeface="Times New Roman" pitchFamily="18" charset="0"/>
                <a:cs typeface="Times New Roman" pitchFamily="18" charset="0"/>
              </a:rPr>
              <a:t>getline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()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4962545"/>
            <a:ext cx="5324475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247769"/>
            <a:ext cx="5857884" cy="3114675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143636" y="1247769"/>
            <a:ext cx="3000364" cy="3052788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sp>
        <p:nvSpPr>
          <p:cNvPr id="13" name="Стрелка вниз 12"/>
          <p:cNvSpPr/>
          <p:nvPr/>
        </p:nvSpPr>
        <p:spPr>
          <a:xfrm>
            <a:off x="2928926" y="4533917"/>
            <a:ext cx="285752" cy="35719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6715140" y="4319603"/>
            <a:ext cx="207173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200" b="1" dirty="0" smtClean="0">
                <a:latin typeface="Cambria" pitchFamily="18" charset="0"/>
              </a:rPr>
              <a:t>Символьный перебор</a:t>
            </a:r>
            <a:endParaRPr lang="ru-RU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540435"/>
            <a:ext cx="5572132" cy="2674623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868" y="357166"/>
            <a:ext cx="5572132" cy="392909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714348" y="2285992"/>
            <a:ext cx="781976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b="1" dirty="0" smtClean="0">
                <a:latin typeface="Cambria" pitchFamily="18" charset="0"/>
              </a:rPr>
              <a:t>Перебор символов </a:t>
            </a:r>
            <a:r>
              <a:rPr lang="en-US" sz="2200" b="1" dirty="0" smtClean="0">
                <a:latin typeface="Cambria" pitchFamily="18" charset="0"/>
              </a:rPr>
              <a:t>String (</a:t>
            </a:r>
            <a:r>
              <a:rPr lang="ru-RU" sz="2200" b="1" dirty="0" smtClean="0">
                <a:latin typeface="Cambria" pitchFamily="18" charset="0"/>
              </a:rPr>
              <a:t>формирование новой строки</a:t>
            </a:r>
            <a:r>
              <a:rPr lang="en-US" sz="2200" b="1" dirty="0" smtClean="0">
                <a:latin typeface="Cambria" pitchFamily="18" charset="0"/>
              </a:rPr>
              <a:t>)</a:t>
            </a:r>
            <a:endParaRPr lang="en-US" sz="2200" b="1" dirty="0">
              <a:latin typeface="Cambria" pitchFamily="18" charset="0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714356"/>
            <a:ext cx="7600950" cy="165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2928934"/>
            <a:ext cx="91440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-342900" algn="just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2000" dirty="0" smtClean="0">
                <a:latin typeface="Cambria" pitchFamily="18" charset="0"/>
              </a:rPr>
              <a:t>Если строка или символ не найдены, то возвращается специальная константа </a:t>
            </a:r>
            <a:r>
              <a:rPr lang="ru-RU" sz="2000" b="1" dirty="0" err="1" smtClean="0">
                <a:latin typeface="Cambria" pitchFamily="18" charset="0"/>
              </a:rPr>
              <a:t>std::string::npos</a:t>
            </a:r>
            <a:r>
              <a:rPr lang="ru-RU" sz="2000" dirty="0" smtClean="0">
                <a:latin typeface="Cambria" pitchFamily="18" charset="0"/>
              </a:rPr>
              <a:t>, которая представляет очень большое число (например, 18446744073709551615). При поиске мы можем проверять результат функции </a:t>
            </a:r>
            <a:r>
              <a:rPr lang="ru-RU" sz="2000" dirty="0" err="1" smtClean="0">
                <a:latin typeface="Cambria" pitchFamily="18" charset="0"/>
              </a:rPr>
              <a:t>find</a:t>
            </a:r>
            <a:r>
              <a:rPr lang="ru-RU" sz="2000" dirty="0" smtClean="0">
                <a:latin typeface="Cambria" pitchFamily="18" charset="0"/>
              </a:rPr>
              <a:t>() на равенство этой константе: 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1000100" y="4268466"/>
            <a:ext cx="7286676" cy="144655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200" dirty="0" smtClean="0">
                <a:latin typeface="Cambria" pitchFamily="18" charset="0"/>
              </a:rPr>
              <a:t>while((pos = stroka.find(word_1)) != string::npos)</a:t>
            </a:r>
          </a:p>
          <a:p>
            <a:r>
              <a:rPr lang="en-US" sz="2200" dirty="0" smtClean="0">
                <a:latin typeface="Cambria" pitchFamily="18" charset="0"/>
              </a:rPr>
              <a:t>    {</a:t>
            </a:r>
          </a:p>
          <a:p>
            <a:r>
              <a:rPr lang="en-US" sz="2200" dirty="0" smtClean="0">
                <a:latin typeface="Cambria" pitchFamily="18" charset="0"/>
              </a:rPr>
              <a:t>        //…</a:t>
            </a:r>
          </a:p>
          <a:p>
            <a:r>
              <a:rPr lang="en-US" sz="2200" dirty="0" smtClean="0">
                <a:latin typeface="Cambria" pitchFamily="18" charset="0"/>
              </a:rPr>
              <a:t>    }</a:t>
            </a:r>
            <a:endParaRPr lang="ru-RU" sz="22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14338"/>
            <a:ext cx="8229600" cy="1143000"/>
          </a:xfrm>
        </p:spPr>
        <p:txBody>
          <a:bodyPr/>
          <a:lstStyle/>
          <a:p>
            <a:r>
              <a:rPr lang="ru-RU" dirty="0" smtClean="0"/>
              <a:t>Чтение структур в файлах</a:t>
            </a:r>
            <a:endParaRPr lang="ru-RU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2000240"/>
            <a:ext cx="7943874" cy="3305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5715016"/>
            <a:ext cx="9144000" cy="10917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0" y="5286388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/>
              <a:t>при чтении файла поток </a:t>
            </a:r>
            <a:r>
              <a:rPr lang="ru-RU" b="1" dirty="0" err="1" smtClean="0"/>
              <a:t>in</a:t>
            </a:r>
            <a:r>
              <a:rPr lang="ru-RU" b="1" dirty="0" smtClean="0"/>
              <a:t> использует пробел для отделения одного значения от другого</a:t>
            </a:r>
            <a:endParaRPr lang="ru-RU" b="1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714356"/>
            <a:ext cx="9144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Вектор в C++ — это контейнер, который содержит коллекцию объектов одного типа. Он представляет собой динамический массив, обеспечивающий быстрое добавление новых элементов в конец и меняющий свой размер при необходимости.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</TotalTime>
  <Words>254</Words>
  <Application>Microsoft Office PowerPoint</Application>
  <PresentationFormat>Экран (4:3)</PresentationFormat>
  <Paragraphs>35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Работа с текстовыми файлами</vt:lpstr>
      <vt:lpstr>Дополнительные материалы</vt:lpstr>
      <vt:lpstr>Запись в файл</vt:lpstr>
      <vt:lpstr>Чтение из файла</vt:lpstr>
      <vt:lpstr>Слайд 5</vt:lpstr>
      <vt:lpstr>Слайд 6</vt:lpstr>
      <vt:lpstr>Слайд 7</vt:lpstr>
      <vt:lpstr>Слайд 8</vt:lpstr>
      <vt:lpstr>Чтение структур в файлах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73</cp:revision>
  <dcterms:created xsi:type="dcterms:W3CDTF">2024-02-01T11:07:17Z</dcterms:created>
  <dcterms:modified xsi:type="dcterms:W3CDTF">2025-11-24T20:05:22Z</dcterms:modified>
</cp:coreProperties>
</file>