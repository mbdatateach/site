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2" r:id="rId3"/>
    <p:sldId id="257" r:id="rId4"/>
    <p:sldId id="265" r:id="rId5"/>
    <p:sldId id="263" r:id="rId6"/>
    <p:sldId id="259" r:id="rId7"/>
    <p:sldId id="266" r:id="rId8"/>
    <p:sldId id="267" r:id="rId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2934" y="-10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E5A87-3B20-4600-9DCE-BE5A8D5CFD98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F89D07-70F9-49D4-923E-9EB4A53C3380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2F159-6E30-49ED-809A-AF4C5E7BA22D}" type="datetimeFigureOut">
              <a:rPr lang="ru-RU" smtClean="0"/>
              <a:pPr/>
              <a:t>12.11.2025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7E39EE-4F97-432E-AD59-99FC74D7061F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lessons.dev/ru/dinamicheskie-massivy-i-peremennye-vse-samoe-glavnoe/" TargetMode="External"/><Relationship Id="rId2" Type="http://schemas.openxmlformats.org/officeDocument/2006/relationships/hyperlink" Target="https://pvoid.pro/index.php/articles/11-cplusplus/15-cpp-tutorial-dynamic-memory?ysclid=lsloqg5bnx877926279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Память и динамические массивы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1428736"/>
            <a:ext cx="9144000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600" i="1" dirty="0" smtClean="0">
                <a:latin typeface="Cambria" pitchFamily="18" charset="0"/>
              </a:rPr>
              <a:t>Динамическая память</a:t>
            </a:r>
          </a:p>
          <a:p>
            <a:pPr algn="just"/>
            <a:r>
              <a:rPr lang="en-US" sz="2600" u="sng" dirty="0" smtClean="0">
                <a:latin typeface="Cambria" pitchFamily="18" charset="0"/>
                <a:hlinkClick r:id="rId2"/>
              </a:rPr>
              <a:t>https://pvoid.pro/index.php/articles/11-cplusplus/15-cpp-tutorial-dynamic-memory?ysclid=lsloqg5bnx877926279</a:t>
            </a:r>
            <a:endParaRPr lang="en-US" sz="2600" u="sng" dirty="0" smtClean="0">
              <a:latin typeface="Cambria" pitchFamily="18" charset="0"/>
            </a:endParaRPr>
          </a:p>
          <a:p>
            <a:pPr algn="just"/>
            <a:endParaRPr lang="en-US" sz="2600" i="1" dirty="0" smtClean="0">
              <a:latin typeface="Cambria" pitchFamily="18" charset="0"/>
            </a:endParaRPr>
          </a:p>
          <a:p>
            <a:pPr algn="just"/>
            <a:r>
              <a:rPr lang="ru-RU" sz="2600" i="1" dirty="0" smtClean="0">
                <a:latin typeface="Cambria" pitchFamily="18" charset="0"/>
              </a:rPr>
              <a:t>Динамические массивы</a:t>
            </a:r>
          </a:p>
          <a:p>
            <a:pPr algn="just"/>
            <a:r>
              <a:rPr lang="en-US" sz="2600" dirty="0" smtClean="0">
                <a:latin typeface="Cambria" pitchFamily="18" charset="0"/>
                <a:hlinkClick r:id="rId3"/>
              </a:rPr>
              <a:t>https://codelessons.dev/ru/dinamicheskie-massivy-i-peremennye-vse-samoe-glavnoe/</a:t>
            </a:r>
            <a:endParaRPr lang="en-US" sz="2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/>
          <p:cNvSpPr/>
          <p:nvPr/>
        </p:nvSpPr>
        <p:spPr>
          <a:xfrm>
            <a:off x="214282" y="5143512"/>
            <a:ext cx="4500594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Стек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работает с переменными по схеме LIFO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Last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First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Out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 Управление стеком происходит автоматически. Стек работает очень быстро, но имеет ограниченный размер.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4929190" y="5143512"/>
            <a:ext cx="4071966" cy="147732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Куча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позволяет хранить объекты в произвольном месте, создавать и удалять их в произвольном порядке. Объекты из кучи не удаляются автоматически.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26" name="Группа 25"/>
          <p:cNvGrpSpPr/>
          <p:nvPr/>
        </p:nvGrpSpPr>
        <p:grpSpPr>
          <a:xfrm>
            <a:off x="1714480" y="142852"/>
            <a:ext cx="5786478" cy="4924321"/>
            <a:chOff x="1928794" y="862132"/>
            <a:chExt cx="5786478" cy="4924321"/>
          </a:xfrm>
          <a:solidFill>
            <a:schemeClr val="accent3">
              <a:lumMod val="20000"/>
              <a:lumOff val="80000"/>
            </a:schemeClr>
          </a:solidFill>
        </p:grpSpPr>
        <p:pic>
          <p:nvPicPr>
            <p:cNvPr id="1029" name="Picture 5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5887546" y="1071546"/>
              <a:ext cx="1827726" cy="4613158"/>
            </a:xfrm>
            <a:prstGeom prst="rect">
              <a:avLst/>
            </a:prstGeom>
            <a:grp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pic>
          <p:nvPicPr>
            <p:cNvPr id="1030" name="Picture 6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1928794" y="862132"/>
              <a:ext cx="2214578" cy="4924321"/>
            </a:xfrm>
            <a:prstGeom prst="rect">
              <a:avLst/>
            </a:prstGeom>
            <a:grpFill/>
            <a:ln w="952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  <p:cxnSp>
          <p:nvCxnSpPr>
            <p:cNvPr id="14" name="Прямая со стрелкой 13"/>
            <p:cNvCxnSpPr/>
            <p:nvPr/>
          </p:nvCxnSpPr>
          <p:spPr>
            <a:xfrm>
              <a:off x="4143372" y="2071678"/>
              <a:ext cx="1928826" cy="1588"/>
            </a:xfrm>
            <a:prstGeom prst="straightConnector1">
              <a:avLst/>
            </a:prstGeom>
            <a:grpFill/>
            <a:ln w="158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Прямая со стрелкой 19"/>
            <p:cNvCxnSpPr/>
            <p:nvPr/>
          </p:nvCxnSpPr>
          <p:spPr>
            <a:xfrm>
              <a:off x="4071934" y="3214686"/>
              <a:ext cx="2000264" cy="1588"/>
            </a:xfrm>
            <a:prstGeom prst="straightConnector1">
              <a:avLst/>
            </a:prstGeom>
            <a:grpFill/>
            <a:ln w="15875">
              <a:solidFill>
                <a:srgbClr val="C0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Скругленная соединительная линия 27"/>
          <p:cNvCxnSpPr>
            <a:stCxn id="10" idx="1"/>
            <a:endCxn id="1030" idx="1"/>
          </p:cNvCxnSpPr>
          <p:nvPr/>
        </p:nvCxnSpPr>
        <p:spPr>
          <a:xfrm rot="10800000" flipH="1">
            <a:off x="214282" y="2605014"/>
            <a:ext cx="1500198" cy="3277163"/>
          </a:xfrm>
          <a:prstGeom prst="curvedConnector3">
            <a:avLst>
              <a:gd name="adj1" fmla="val -7619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Скругленная соединительная линия 30"/>
          <p:cNvCxnSpPr>
            <a:stCxn id="11" idx="3"/>
            <a:endCxn id="1029" idx="3"/>
          </p:cNvCxnSpPr>
          <p:nvPr/>
        </p:nvCxnSpPr>
        <p:spPr>
          <a:xfrm flipH="1" flipV="1">
            <a:off x="7500958" y="2658845"/>
            <a:ext cx="1500198" cy="3223331"/>
          </a:xfrm>
          <a:prstGeom prst="curvedConnector3">
            <a:avLst>
              <a:gd name="adj1" fmla="val -4233"/>
            </a:avLst>
          </a:prstGeom>
          <a:ln w="1905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Прямоугольник 48"/>
          <p:cNvSpPr/>
          <p:nvPr/>
        </p:nvSpPr>
        <p:spPr>
          <a:xfrm>
            <a:off x="3929058" y="714356"/>
            <a:ext cx="1714512" cy="5232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//</a:t>
            </a:r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переменная </a:t>
            </a:r>
            <a:r>
              <a:rPr lang="en-US" sz="1400" i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 *x= new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int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(10);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2" name="Прямоугольник 51"/>
          <p:cNvSpPr/>
          <p:nvPr/>
        </p:nvSpPr>
        <p:spPr>
          <a:xfrm>
            <a:off x="4000528" y="1690204"/>
            <a:ext cx="1643042" cy="73866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1400" i="1" dirty="0" smtClean="0">
                <a:latin typeface="Times New Roman" pitchFamily="18" charset="0"/>
                <a:cs typeface="Times New Roman" pitchFamily="18" charset="0"/>
              </a:rPr>
              <a:t>// </a:t>
            </a:r>
            <a:r>
              <a:rPr lang="ru-RU" sz="1400" i="1" dirty="0" smtClean="0">
                <a:latin typeface="Times New Roman" pitchFamily="18" charset="0"/>
                <a:cs typeface="Times New Roman" pitchFamily="18" charset="0"/>
              </a:rPr>
              <a:t>объект класса</a:t>
            </a:r>
            <a:endParaRPr lang="en-US" sz="1400" i="1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Player *p = new Player();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Группа 11"/>
          <p:cNvGrpSpPr/>
          <p:nvPr/>
        </p:nvGrpSpPr>
        <p:grpSpPr>
          <a:xfrm>
            <a:off x="-32" y="214290"/>
            <a:ext cx="9144032" cy="4143404"/>
            <a:chOff x="0" y="1071546"/>
            <a:chExt cx="9144032" cy="4143404"/>
          </a:xfrm>
        </p:grpSpPr>
        <p:sp>
          <p:nvSpPr>
            <p:cNvPr id="11" name="Прямоугольник 10"/>
            <p:cNvSpPr/>
            <p:nvPr/>
          </p:nvSpPr>
          <p:spPr>
            <a:xfrm>
              <a:off x="0" y="1071546"/>
              <a:ext cx="9144000" cy="4143404"/>
            </a:xfrm>
            <a:prstGeom prst="rect">
              <a:avLst/>
            </a:prstGeom>
            <a:solidFill>
              <a:schemeClr val="bg2"/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3075" name="Picture 3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0" y="3857628"/>
              <a:ext cx="9144032" cy="1214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3076" name="Picture 4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0" y="1254684"/>
              <a:ext cx="9144000" cy="2531506"/>
            </a:xfrm>
            <a:prstGeom prst="rect">
              <a:avLst/>
            </a:prstGeom>
            <a:noFill/>
            <a:ln w="15875">
              <a:solidFill>
                <a:srgbClr val="C00000"/>
              </a:solidFill>
              <a:miter lim="800000"/>
              <a:headEnd/>
              <a:tailEnd/>
            </a:ln>
            <a:effectLst/>
          </p:spPr>
        </p:pic>
      </p:grpSp>
      <p:sp>
        <p:nvSpPr>
          <p:cNvPr id="13" name="Прямоугольник 12"/>
          <p:cNvSpPr/>
          <p:nvPr/>
        </p:nvSpPr>
        <p:spPr>
          <a:xfrm>
            <a:off x="0" y="4429132"/>
            <a:ext cx="9144000" cy="2308324"/>
          </a:xfrm>
          <a:prstGeom prst="rect">
            <a:avLst/>
          </a:prstGeom>
          <a:ln w="25400" cap="rnd">
            <a:solidFill>
              <a:srgbClr val="C00000"/>
            </a:solidFill>
            <a:beve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Примечание</a:t>
            </a:r>
            <a:r>
              <a:rPr lang="ru-RU" sz="2400" i="1" dirty="0" smtClean="0">
                <a:latin typeface="Cambria" pitchFamily="18" charset="0"/>
              </a:rPr>
              <a:t>: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Размер указателя </a:t>
            </a:r>
            <a:r>
              <a:rPr lang="ru-RU" sz="2400" b="1" i="1" u="sng" dirty="0" smtClean="0">
                <a:latin typeface="Cambria" pitchFamily="18" charset="0"/>
              </a:rPr>
              <a:t>ВСЕГДА</a:t>
            </a:r>
            <a:r>
              <a:rPr lang="ru-RU" sz="2400" b="1" i="1" dirty="0" smtClean="0">
                <a:latin typeface="Cambria" pitchFamily="18" charset="0"/>
              </a:rPr>
              <a:t> либо 4, либо 8 байтов;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Само значение указателя – это адрес памяти, в котором размещена переменная определенного типа;</a:t>
            </a:r>
          </a:p>
          <a:p>
            <a:pPr marL="457200" indent="-457200" algn="just">
              <a:buAutoNum type="arabicParenR"/>
            </a:pPr>
            <a:r>
              <a:rPr lang="ru-RU" sz="2400" b="1" i="1" dirty="0" smtClean="0">
                <a:latin typeface="Cambria" pitchFamily="18" charset="0"/>
              </a:rPr>
              <a:t>Сам указатель размещен в </a:t>
            </a:r>
            <a:r>
              <a:rPr lang="en-US" sz="2400" b="1" i="1" u="sng" dirty="0" smtClean="0">
                <a:latin typeface="Cambria" pitchFamily="18" charset="0"/>
              </a:rPr>
              <a:t>Stack</a:t>
            </a:r>
            <a:r>
              <a:rPr lang="en-US" sz="2400" b="1" i="1" dirty="0" smtClean="0">
                <a:latin typeface="Cambria" pitchFamily="18" charset="0"/>
              </a:rPr>
              <a:t>, </a:t>
            </a:r>
            <a:r>
              <a:rPr lang="ru-RU" sz="2400" b="1" i="1" dirty="0" smtClean="0">
                <a:latin typeface="Cambria" pitchFamily="18" charset="0"/>
              </a:rPr>
              <a:t>но указывает на адрес в </a:t>
            </a:r>
            <a:r>
              <a:rPr lang="en-US" sz="2400" b="1" i="1" u="sng" dirty="0" smtClean="0">
                <a:latin typeface="Cambria" pitchFamily="18" charset="0"/>
              </a:rPr>
              <a:t>Heap</a:t>
            </a:r>
            <a:r>
              <a:rPr lang="ru-RU" sz="2400" b="1" i="1" dirty="0" smtClean="0">
                <a:latin typeface="Cambria" pitchFamily="18" charset="0"/>
              </a:rPr>
              <a:t>.</a:t>
            </a:r>
            <a:endParaRPr lang="ru-RU" sz="2400" b="1" i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Задание 1</a:t>
            </a:r>
            <a:endParaRPr lang="ru-RU" b="1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0" y="928670"/>
            <a:ext cx="3714744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Язык С++ предоставляет два набора операторов для выделения памяти: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1) </a:t>
            </a:r>
            <a:r>
              <a:rPr lang="en-US" sz="2400" b="1" dirty="0" smtClean="0">
                <a:latin typeface="Cambria" pitchFamily="18" charset="0"/>
              </a:rPr>
              <a:t>new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</a:t>
            </a:r>
            <a:r>
              <a:rPr lang="ru-RU" sz="2400" dirty="0" smtClean="0">
                <a:latin typeface="Cambria" pitchFamily="18" charset="0"/>
              </a:rPr>
              <a:t> – для одиночных значений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 </a:t>
            </a:r>
            <a:r>
              <a:rPr lang="en-US" sz="2400" b="1" dirty="0" smtClean="0">
                <a:latin typeface="Cambria" pitchFamily="18" charset="0"/>
              </a:rPr>
              <a:t>new[]</a:t>
            </a:r>
            <a:r>
              <a:rPr lang="en-US" sz="2400" dirty="0" smtClean="0">
                <a:latin typeface="Cambria" pitchFamily="18" charset="0"/>
              </a:rPr>
              <a:t> </a:t>
            </a:r>
            <a:r>
              <a:rPr lang="ru-RU" sz="2400" dirty="0" smtClean="0">
                <a:latin typeface="Cambria" pitchFamily="18" charset="0"/>
              </a:rPr>
              <a:t>и </a:t>
            </a:r>
            <a:r>
              <a:rPr lang="en-US" sz="2400" b="1" dirty="0" smtClean="0">
                <a:latin typeface="Cambria" pitchFamily="18" charset="0"/>
              </a:rPr>
              <a:t>delete[]</a:t>
            </a:r>
            <a:r>
              <a:rPr lang="ru-RU" sz="2400" dirty="0" smtClean="0">
                <a:latin typeface="Cambria" pitchFamily="18" charset="0"/>
              </a:rPr>
              <a:t> – для массивов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0" y="350043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2400" dirty="0" smtClean="0">
                <a:latin typeface="Cambria" pitchFamily="18" charset="0"/>
              </a:rPr>
              <a:t>Операция </a:t>
            </a:r>
            <a:r>
              <a:rPr lang="ru-RU" altLang="ru-RU" sz="2400" i="1" dirty="0" err="1" smtClean="0">
                <a:latin typeface="Cambria" pitchFamily="18" charset="0"/>
              </a:rPr>
              <a:t>delete</a:t>
            </a:r>
            <a:r>
              <a:rPr lang="ru-RU" altLang="ru-RU" sz="2400" i="1" dirty="0" smtClean="0">
                <a:latin typeface="Cambria" pitchFamily="18" charset="0"/>
              </a:rPr>
              <a:t> </a:t>
            </a:r>
            <a:r>
              <a:rPr lang="ru-RU" altLang="ru-RU" sz="2400" dirty="0" smtClean="0">
                <a:latin typeface="Cambria" pitchFamily="18" charset="0"/>
              </a:rPr>
              <a:t>освобождает для дальнейшего использования в программе участок памяти, ранее выделенной операцией </a:t>
            </a:r>
            <a:r>
              <a:rPr lang="ru-RU" altLang="ru-RU" sz="2400" i="1" dirty="0" err="1" smtClean="0">
                <a:latin typeface="Cambria" pitchFamily="18" charset="0"/>
              </a:rPr>
              <a:t>new</a:t>
            </a:r>
            <a:r>
              <a:rPr lang="ru-RU" altLang="ru-RU" sz="2400" dirty="0" smtClean="0">
                <a:latin typeface="Cambria" pitchFamily="18" charset="0"/>
              </a:rPr>
              <a:t>.</a:t>
            </a:r>
            <a:endParaRPr lang="ru-RU" sz="2400" dirty="0" smtClean="0">
              <a:latin typeface="Cambria" pitchFamily="18" charset="0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1071546"/>
            <a:ext cx="5286380" cy="224790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4273080"/>
            <a:ext cx="5162538" cy="258492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2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0" y="928670"/>
            <a:ext cx="91440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dirty="0" smtClean="0">
                <a:latin typeface="Cambria" pitchFamily="18" charset="0"/>
              </a:rPr>
              <a:t>Алгоритм </a:t>
            </a:r>
            <a:r>
              <a:rPr lang="ru-RU" sz="2400" dirty="0" err="1" smtClean="0">
                <a:latin typeface="Cambria" pitchFamily="18" charset="0"/>
              </a:rPr>
              <a:t>перевыделения</a:t>
            </a:r>
            <a:r>
              <a:rPr lang="ru-RU" sz="2400" dirty="0" smtClean="0">
                <a:latin typeface="Cambria" pitchFamily="18" charset="0"/>
              </a:rPr>
              <a:t> памяти для одномерного массива в С++ может быть следующим:</a:t>
            </a:r>
            <a:endParaRPr lang="en-US" sz="2400" dirty="0" smtClean="0">
              <a:latin typeface="Cambria" pitchFamily="18" charset="0"/>
            </a:endParaRPr>
          </a:p>
          <a:p>
            <a:pPr algn="just"/>
            <a:r>
              <a:rPr lang="ru-RU" sz="2400" dirty="0" smtClean="0">
                <a:latin typeface="Cambria" pitchFamily="18" charset="0"/>
              </a:rPr>
              <a:t>1) Создайте новый массив с помощью оператора </a:t>
            </a:r>
            <a:r>
              <a:rPr lang="ru-RU" sz="2400" dirty="0" err="1" smtClean="0">
                <a:latin typeface="Cambria" pitchFamily="18" charset="0"/>
              </a:rPr>
              <a:t>new</a:t>
            </a:r>
            <a:r>
              <a:rPr lang="ru-RU" sz="2400" dirty="0" smtClean="0">
                <a:latin typeface="Cambria" pitchFamily="18" charset="0"/>
              </a:rPr>
              <a:t>, указав новый размер.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2)Скопируйте элементы из старого массива в новый</a:t>
            </a:r>
            <a:r>
              <a:rPr lang="en-US" sz="2400" dirty="0" smtClean="0">
                <a:latin typeface="Cambria" pitchFamily="18" charset="0"/>
              </a:rPr>
              <a:t>, </a:t>
            </a:r>
            <a:r>
              <a:rPr lang="ru-RU" sz="2400" dirty="0" smtClean="0">
                <a:latin typeface="Cambria" pitchFamily="18" charset="0"/>
              </a:rPr>
              <a:t>учитывая условия задачи. </a:t>
            </a:r>
          </a:p>
          <a:p>
            <a:pPr algn="just"/>
            <a:r>
              <a:rPr lang="ru-RU" sz="2400" dirty="0" smtClean="0">
                <a:latin typeface="Cambria" pitchFamily="18" charset="0"/>
              </a:rPr>
              <a:t>3) Удалите старый массив с помощью оператора </a:t>
            </a:r>
            <a:r>
              <a:rPr lang="ru-RU" sz="2400" dirty="0" err="1" smtClean="0">
                <a:latin typeface="Cambria" pitchFamily="18" charset="0"/>
              </a:rPr>
              <a:t>delete</a:t>
            </a:r>
            <a:r>
              <a:rPr lang="ru-RU" sz="2400" dirty="0" smtClean="0">
                <a:latin typeface="Cambria" pitchFamily="18" charset="0"/>
              </a:rPr>
              <a:t>.</a:t>
            </a:r>
            <a:endParaRPr lang="en-US" sz="2400" dirty="0" smtClean="0">
              <a:latin typeface="Cambria" pitchFamily="18" charset="0"/>
            </a:endParaRPr>
          </a:p>
        </p:txBody>
      </p:sp>
      <p:sp>
        <p:nvSpPr>
          <p:cNvPr id="10" name="Прямоугольник 9"/>
          <p:cNvSpPr/>
          <p:nvPr/>
        </p:nvSpPr>
        <p:spPr>
          <a:xfrm>
            <a:off x="285720" y="5610541"/>
            <a:ext cx="85725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Полное копирование старого массива в новый/временный</a:t>
            </a:r>
            <a:endParaRPr lang="ru-RU" sz="2400" dirty="0">
              <a:latin typeface="Cambria" pitchFamily="18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0" y="3786190"/>
            <a:ext cx="9110186" cy="1938992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int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ru-RU" sz="2000" dirty="0" err="1" smtClean="0">
                <a:latin typeface="Courier New" pitchFamily="49" charset="0"/>
                <a:cs typeface="Courier New" pitchFamily="49" charset="0"/>
              </a:rPr>
              <a:t>new_size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= ...; // Определите новый размер здесь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*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newArray</a:t>
            </a:r>
            <a:r>
              <a:rPr lang="ru-RU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=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new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 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int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[</a:t>
            </a:r>
            <a:r>
              <a:rPr kumimoji="0" lang="ru-RU" sz="20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new_size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]; 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…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for (int i = 0; i &lt; size; i++) { newArray[i] = array[i]; }</a:t>
            </a:r>
            <a:endParaRPr lang="ru-RU" sz="2000" dirty="0" smtClean="0">
              <a:latin typeface="Courier New" pitchFamily="49" charset="0"/>
              <a:cs typeface="Courier New" pitchFamily="49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delete []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array</a:t>
            </a: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;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000" dirty="0" smtClean="0">
                <a:latin typeface="Courier New" pitchFamily="49" charset="0"/>
                <a:cs typeface="Courier New" pitchFamily="49" charset="0"/>
              </a:rPr>
              <a:t>//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array = </a:t>
            </a:r>
            <a:r>
              <a:rPr lang="nn-NO" sz="2000" dirty="0" smtClean="0">
                <a:latin typeface="Courier New" pitchFamily="49" charset="0"/>
                <a:cs typeface="Courier New" pitchFamily="49" charset="0"/>
              </a:rPr>
              <a:t>newArray</a:t>
            </a:r>
            <a:r>
              <a:rPr kumimoji="0" lang="en-US" sz="2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urier New" pitchFamily="49" charset="0"/>
                <a:cs typeface="Courier New" pitchFamily="49" charset="0"/>
              </a:rPr>
              <a:t>;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44360" y="928670"/>
            <a:ext cx="7342416" cy="4286280"/>
          </a:xfrm>
          <a:prstGeom prst="rect">
            <a:avLst/>
          </a:prstGeom>
          <a:noFill/>
          <a:ln w="9525">
            <a:solidFill>
              <a:srgbClr val="C00000"/>
            </a:solidFill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1428728" y="5143512"/>
            <a:ext cx="64294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Определение матрицы с использованием двойного указателя</a:t>
            </a:r>
            <a:endParaRPr lang="ru-RU" sz="2400" dirty="0">
              <a:latin typeface="Cambria" pitchFamily="18" charset="0"/>
            </a:endParaRP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00364" y="5929330"/>
            <a:ext cx="3562350" cy="419100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6000760" y="6211669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побочной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0" y="6211669"/>
            <a:ext cx="3143240" cy="646331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Элемент находится на главной диагонали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 txBox="1">
            <a:spLocks/>
          </p:cNvSpPr>
          <p:nvPr/>
        </p:nvSpPr>
        <p:spPr>
          <a:xfrm>
            <a:off x="428596" y="-285776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Задание </a:t>
            </a:r>
            <a:r>
              <a:rPr kumimoji="0" 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3</a:t>
            </a:r>
            <a:endParaRPr kumimoji="0" lang="ru-RU" sz="44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1428728" y="4643446"/>
            <a:ext cx="642942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dirty="0" smtClean="0">
                <a:latin typeface="Cambria" pitchFamily="18" charset="0"/>
              </a:rPr>
              <a:t>Функции для выделения и высвобождения памяти для матрицы </a:t>
            </a:r>
            <a:endParaRPr lang="ru-RU" sz="2400" dirty="0">
              <a:latin typeface="Cambria" pitchFamily="18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5" y="718598"/>
            <a:ext cx="8201032" cy="40396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0" y="5786454"/>
            <a:ext cx="9144000" cy="830997"/>
          </a:xfrm>
          <a:prstGeom prst="rect">
            <a:avLst/>
          </a:prstGeom>
          <a:ln w="25400" cap="rnd">
            <a:solidFill>
              <a:srgbClr val="C00000"/>
            </a:solidFill>
            <a:bevel/>
          </a:ln>
        </p:spPr>
        <p:txBody>
          <a:bodyPr wrap="square">
            <a:spAutoFit/>
          </a:bodyPr>
          <a:lstStyle/>
          <a:p>
            <a:pPr algn="just"/>
            <a:r>
              <a:rPr lang="ru-RU" sz="2400" b="1" i="1" dirty="0" smtClean="0">
                <a:latin typeface="Cambria" pitchFamily="18" charset="0"/>
              </a:rPr>
              <a:t>Примечание</a:t>
            </a:r>
            <a:r>
              <a:rPr lang="ru-RU" sz="2400" i="1" dirty="0" smtClean="0">
                <a:latin typeface="Cambria" pitchFamily="18" charset="0"/>
              </a:rPr>
              <a:t>: данная реализация не является эффективной, поскольку оператор </a:t>
            </a:r>
            <a:r>
              <a:rPr lang="en-US" sz="2400" b="1" i="1" dirty="0" smtClean="0">
                <a:latin typeface="Cambria" pitchFamily="18" charset="0"/>
              </a:rPr>
              <a:t>new</a:t>
            </a:r>
            <a:r>
              <a:rPr lang="en-US" sz="2400" i="1" dirty="0" smtClean="0">
                <a:latin typeface="Cambria" pitchFamily="18" charset="0"/>
              </a:rPr>
              <a:t> </a:t>
            </a:r>
            <a:r>
              <a:rPr lang="ru-RU" sz="2400" i="1" dirty="0" smtClean="0">
                <a:latin typeface="Cambria" pitchFamily="18" charset="0"/>
              </a:rPr>
              <a:t>вызывается (а+1) раз.</a:t>
            </a:r>
            <a:endParaRPr lang="ru-RU" sz="2400" b="1" i="1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325</Words>
  <Application>Microsoft Office PowerPoint</Application>
  <PresentationFormat>Экран (4:3)</PresentationFormat>
  <Paragraphs>41</Paragraphs>
  <Slides>8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9" baseType="lpstr">
      <vt:lpstr>Тема Office</vt:lpstr>
      <vt:lpstr>Память и динамические массивы</vt:lpstr>
      <vt:lpstr>Дополнительные материалы</vt:lpstr>
      <vt:lpstr>Слайд 3</vt:lpstr>
      <vt:lpstr>Слайд 4</vt:lpstr>
      <vt:lpstr>Задание 1</vt:lpstr>
      <vt:lpstr>Слайд 6</vt:lpstr>
      <vt:lpstr>Слайд 7</vt:lpstr>
      <vt:lpstr>Слайд 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41</cp:revision>
  <dcterms:created xsi:type="dcterms:W3CDTF">2024-02-01T11:07:17Z</dcterms:created>
  <dcterms:modified xsi:type="dcterms:W3CDTF">2025-11-12T17:48:03Z</dcterms:modified>
</cp:coreProperties>
</file>