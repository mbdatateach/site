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74" r:id="rId4"/>
    <p:sldId id="276" r:id="rId5"/>
    <p:sldId id="273" r:id="rId6"/>
    <p:sldId id="272" r:id="rId7"/>
    <p:sldId id="275" r:id="rId8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3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F89D07-70F9-49D4-923E-9EB4A53C3380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cpp/tutorial/2.18.php" TargetMode="External"/><Relationship Id="rId2" Type="http://schemas.openxmlformats.org/officeDocument/2006/relationships/hyperlink" Target="https://pvoid.pro/index.php/articles/11-cplusplus/49-cpp-tutorial-pointers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Анимация массивов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Статья по указателям</a:t>
            </a:r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en-US" sz="2600" b="1" dirty="0" smtClean="0">
                <a:latin typeface="Cambria" pitchFamily="18" charset="0"/>
                <a:hlinkClick r:id="rId2"/>
              </a:rPr>
              <a:t>https://pvoid.pro/index.php/articles/11-cplusplus/49-cpp-tutorial-pointers#article-header-9</a:t>
            </a:r>
            <a:endParaRPr lang="en-US" sz="2600" b="1" dirty="0" smtClean="0">
              <a:latin typeface="Cambria" pitchFamily="18" charset="0"/>
            </a:endParaRP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Многомерные массивы</a:t>
            </a:r>
          </a:p>
          <a:p>
            <a:pPr algn="just"/>
            <a:r>
              <a:rPr lang="en-US" sz="2600" b="1" i="1" dirty="0" smtClean="0">
                <a:latin typeface="Cambria" pitchFamily="18" charset="0"/>
                <a:hlinkClick r:id="rId3"/>
              </a:rPr>
              <a:t>https://metanit.com/cpp/tutorial/2.18.php</a:t>
            </a:r>
            <a:endParaRPr lang="ru-RU" sz="2600" b="1" i="1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8860" y="4070293"/>
            <a:ext cx="4114798" cy="2787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928670"/>
            <a:ext cx="9144000" cy="12003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Кроме одномерных массивов в C++ есть и многомерные. Элементы таких массивов сами в свою очередь являются массивами, в которых также элементы могут быть массивами. Как правило, распространены двухмерные и трехмерные массивы. Например, определим двухмерный массив чисел: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0" y="2571744"/>
            <a:ext cx="9144000" cy="14773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Здесь массив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numbers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имеет две размерности (две пары квадратных скобок): первая размерность равна 3, а вторая размерность - 2. Такой массив состоит из трех элементов, при этом каждый элемент представляет массив из двух элементов. Двухмерный массив еще можно представить в виде таблицы, где первая размерность представляет количество строк, а вторая размерность - количество столбцов.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1928802"/>
            <a:ext cx="2740610" cy="628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928670"/>
            <a:ext cx="6143625" cy="3419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86053" y="4714884"/>
            <a:ext cx="5457947" cy="164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4643446"/>
            <a:ext cx="3643306" cy="20313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Каждый элемент 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row_ptrs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[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] хранит адрес начала </a:t>
            </a:r>
            <a:r>
              <a:rPr kumimoji="0" lang="ru-RU" sz="14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-й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строки статической матрицы. Это позволяет: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обращаться к элементам как 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row_ptrs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[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][</a:t>
            </a:r>
            <a:r>
              <a:rPr kumimoji="0" lang="ru-RU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j</a:t>
            </a: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] (синтаксис двумерного массива);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передавать отдельные строки в функции как одномерные массивы: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-642974" y="-214338"/>
            <a:ext cx="1037274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Передача двумерного массива в функцию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430420" cy="3413064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42976" y="3409950"/>
            <a:ext cx="4076700" cy="344805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43504" y="857232"/>
            <a:ext cx="4000496" cy="3286148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5286380" y="5534561"/>
            <a:ext cx="3857620" cy="132343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Cambria" pitchFamily="18" charset="0"/>
              </a:rPr>
              <a:t>3 способ</a:t>
            </a:r>
          </a:p>
          <a:p>
            <a:pPr algn="ctr"/>
            <a:r>
              <a:rPr lang="ru-RU" sz="2000" dirty="0" smtClean="0">
                <a:latin typeface="Cambria" pitchFamily="18" charset="0"/>
              </a:rPr>
              <a:t>Передать указатель на нулевой элемент массива, количество строк и количество столбцов</a:t>
            </a:r>
            <a:endParaRPr lang="ru-RU" sz="2000" dirty="0">
              <a:latin typeface="Cambria" pitchFamily="18" charset="0"/>
            </a:endParaRPr>
          </a:p>
        </p:txBody>
      </p:sp>
      <p:cxnSp>
        <p:nvCxnSpPr>
          <p:cNvPr id="12" name="Shape 11"/>
          <p:cNvCxnSpPr>
            <a:stCxn id="10" idx="0"/>
            <a:endCxn id="4101" idx="3"/>
          </p:cNvCxnSpPr>
          <p:nvPr/>
        </p:nvCxnSpPr>
        <p:spPr>
          <a:xfrm rot="16200000" flipV="1">
            <a:off x="6017140" y="4336511"/>
            <a:ext cx="400586" cy="1995514"/>
          </a:xfrm>
          <a:prstGeom prst="curvedConnector2">
            <a:avLst/>
          </a:prstGeom>
          <a:ln w="15875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35721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0" y="1589118"/>
            <a:ext cx="9144000" cy="553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Функция возвращает 16-битное значение. Мы используем побитовую операцию 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rgbClr val="F4645F"/>
                </a:solidFill>
                <a:effectLst/>
                <a:latin typeface="Menlo"/>
                <a:cs typeface="Arial" pitchFamily="34" charset="0"/>
              </a:rPr>
              <a:t>AND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( 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rgbClr val="F4645F"/>
                </a:solidFill>
                <a:effectLst/>
                <a:latin typeface="Menlo"/>
                <a:cs typeface="Arial" pitchFamily="34" charset="0"/>
              </a:rPr>
              <a:t>&amp;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) </a:t>
            </a:r>
            <a:r>
              <a:rPr kumimoji="0" lang="ru-RU" sz="1300" b="0" i="0" u="none" strike="noStrike" cap="none" normalizeH="0" baseline="0" dirty="0" smtClean="0">
                <a:ln>
                  <a:noFill/>
                </a:ln>
                <a:solidFill>
                  <a:srgbClr val="F4645F"/>
                </a:solidFill>
                <a:effectLst/>
                <a:latin typeface="Menlo"/>
                <a:cs typeface="Arial" pitchFamily="34" charset="0"/>
              </a:rPr>
              <a:t>0x8000</a:t>
            </a:r>
            <a:r>
              <a:rPr kumimoji="0" lang="en-US" sz="1300" b="0" i="0" u="none" strike="noStrike" cap="none" normalizeH="0" baseline="0" dirty="0" smtClean="0">
                <a:ln>
                  <a:noFill/>
                </a:ln>
                <a:solidFill>
                  <a:srgbClr val="F4645F"/>
                </a:solidFill>
                <a:effectLst/>
                <a:latin typeface="Menlo"/>
                <a:cs typeface="Arial" pitchFamily="34" charset="0"/>
              </a:rPr>
              <a:t> </a:t>
            </a: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для выделения бита 15 и проверки его установки (нажата ли клавиша).</a:t>
            </a:r>
            <a:r>
              <a:rPr kumimoji="0" lang="ru-RU" sz="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  <a:t> 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190747"/>
            <a:ext cx="8020050" cy="80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0" y="2928934"/>
            <a:ext cx="9144000" cy="3231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Функция чтения изображения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42844" y="3429000"/>
            <a:ext cx="5632489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67275" y="4214818"/>
            <a:ext cx="4276725" cy="58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Rectangle 3"/>
          <p:cNvSpPr>
            <a:spLocks noChangeArrowheads="1"/>
          </p:cNvSpPr>
          <p:nvPr/>
        </p:nvSpPr>
        <p:spPr bwMode="auto">
          <a:xfrm>
            <a:off x="0" y="4857760"/>
            <a:ext cx="9144000" cy="553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Массив может иметь следующий вид, тогда для преобразования </a:t>
            </a:r>
            <a:r>
              <a:rPr kumimoji="0" lang="en-US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string</a:t>
            </a:r>
            <a:r>
              <a:rPr kumimoji="0" lang="en-US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 </a:t>
            </a:r>
            <a:r>
              <a:rPr kumimoji="0" lang="ru-RU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к </a:t>
            </a:r>
            <a:r>
              <a:rPr kumimoji="0" lang="en-US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const char* </a:t>
            </a:r>
            <a:r>
              <a:rPr kumimoji="0" lang="ru-RU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можно использовать операцию </a:t>
            </a:r>
            <a:r>
              <a:rPr kumimoji="0" lang="en-US" sz="1500" b="0" i="0" u="none" strike="noStrike" cap="none" normalizeH="0" dirty="0" err="1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c_str</a:t>
            </a:r>
            <a:r>
              <a:rPr kumimoji="0" lang="en-US" sz="1500" b="0" i="0" u="none" strike="noStrike" cap="none" normalizeH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()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0" y="5531982"/>
            <a:ext cx="5938820" cy="13260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5857884" y="5715016"/>
            <a:ext cx="3286116" cy="5539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500" b="0" i="0" u="none" strike="noStrike" cap="none" normalizeH="0" baseline="0" dirty="0" smtClean="0">
                <a:ln>
                  <a:noFill/>
                </a:ln>
                <a:solidFill>
                  <a:srgbClr val="333333"/>
                </a:solidFill>
                <a:effectLst/>
                <a:latin typeface="Lato"/>
                <a:cs typeface="Arial" pitchFamily="34" charset="0"/>
              </a:rPr>
              <a:t>Функция проверки столкновений (проверка краев)</a:t>
            </a:r>
            <a:endParaRPr kumimoji="0" lang="ru-RU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000232" y="500042"/>
            <a:ext cx="5831564" cy="11191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049" name="Rectangle 1"/>
          <p:cNvSpPr>
            <a:spLocks noChangeArrowheads="1"/>
          </p:cNvSpPr>
          <p:nvPr/>
        </p:nvSpPr>
        <p:spPr bwMode="auto">
          <a:xfrm>
            <a:off x="0" y="642918"/>
            <a:ext cx="9144000" cy="378565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Алгоритм</a:t>
            </a:r>
            <a:r>
              <a:rPr kumimoji="0" lang="ru-RU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генерации лабиринта может выглядеть так: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Задайте две ключевые константы: CELL_SIZE (размер ячейки) и MARGIN (отступ от края окна). Создайте двумерный массив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maze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с размерами под ваш лабиринт, где 0 — проход, 1 — стена; экспериментируйте с разными конфигурациями.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 функции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drawWall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реализуйте рисование квадратного блока: установите цвета фона и заливки, нарисуйте контур через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rectangle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, затем заполните внутренность через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floodfill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(смещение +1 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px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 гарантирует попадание внутрь контура).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В функции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drawLab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через двойные циклы переберите все ячейки массива: для каждой вычислите экранные координаты как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x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 = MARGIN + 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j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 * CELL_SIZE,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y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 = MARGIN + 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i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 * CELL_SIZE; если значение ячейки равно 1, вызовите 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drawWall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cs typeface="Times New Roman" pitchFamily="18" charset="0"/>
              </a:rPr>
              <a:t> с вычисленными координатами и размером.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6314" y="4572008"/>
            <a:ext cx="4357686" cy="1853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4857760"/>
            <a:ext cx="5114933" cy="12388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379</TotalTime>
  <Words>202</Words>
  <Application>Microsoft Office PowerPoint</Application>
  <PresentationFormat>Экран (4:3)</PresentationFormat>
  <Paragraphs>28</Paragraphs>
  <Slides>7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8" baseType="lpstr">
      <vt:lpstr>Тема Office</vt:lpstr>
      <vt:lpstr>Анимация массивов</vt:lpstr>
      <vt:lpstr>Дополнительные материалы</vt:lpstr>
      <vt:lpstr>Слайд 3</vt:lpstr>
      <vt:lpstr>Слайд 4</vt:lpstr>
      <vt:lpstr>Слайд 5</vt:lpstr>
      <vt:lpstr>Слайд 6</vt:lpstr>
      <vt:lpstr>Слайд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69</cp:revision>
  <dcterms:created xsi:type="dcterms:W3CDTF">2024-02-01T11:07:17Z</dcterms:created>
  <dcterms:modified xsi:type="dcterms:W3CDTF">2025-11-12T17:45:26Z</dcterms:modified>
</cp:coreProperties>
</file>