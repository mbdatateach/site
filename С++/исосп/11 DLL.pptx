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62" r:id="rId3"/>
    <p:sldId id="263" r:id="rId4"/>
    <p:sldId id="264" r:id="rId5"/>
    <p:sldId id="265" r:id="rId6"/>
    <p:sldId id="266" r:id="rId7"/>
    <p:sldId id="267" r:id="rId8"/>
    <p:sldId id="269" r:id="rId9"/>
    <p:sldId id="272" r:id="rId10"/>
    <p:sldId id="273" r:id="rId11"/>
    <p:sldId id="268" r:id="rId12"/>
    <p:sldId id="270" r:id="rId13"/>
    <p:sldId id="271" r:id="rId14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100" d="100"/>
          <a:sy n="100" d="100"/>
        </p:scale>
        <p:origin x="-1944" y="-3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E5A87-3B20-4600-9DCE-BE5A8D5CFD98}" type="datetimeFigureOut">
              <a:rPr lang="ru-RU" smtClean="0"/>
              <a:pPr/>
              <a:t>22.11.2025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F89D07-70F9-49D4-923E-9EB4A53C3380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F89D07-70F9-49D4-923E-9EB4A53C3380}" type="slidenum">
              <a:rPr lang="ru-RU" smtClean="0"/>
              <a:pPr/>
              <a:t>8</a:t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F89D07-70F9-49D4-923E-9EB4A53C3380}" type="slidenum">
              <a:rPr lang="ru-RU" smtClean="0"/>
              <a:pPr/>
              <a:t>9</a:t>
            </a:fld>
            <a:endParaRPr 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F89D07-70F9-49D4-923E-9EB4A53C3380}" type="slidenum">
              <a:rPr lang="ru-RU" smtClean="0"/>
              <a:pPr/>
              <a:t>10</a:t>
            </a:fld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F89D07-70F9-49D4-923E-9EB4A53C3380}" type="slidenum">
              <a:rPr lang="ru-RU" smtClean="0"/>
              <a:pPr/>
              <a:t>11</a:t>
            </a:fld>
            <a:endParaRPr 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F89D07-70F9-49D4-923E-9EB4A53C3380}" type="slidenum">
              <a:rPr lang="ru-RU" smtClean="0"/>
              <a:pPr/>
              <a:t>12</a:t>
            </a:fld>
            <a:endParaRPr lang="ru-RU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F89D07-70F9-49D4-923E-9EB4A53C3380}" type="slidenum">
              <a:rPr lang="ru-RU" smtClean="0"/>
              <a:pPr/>
              <a:t>13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22.11.2025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22.11.2025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22.11.2025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22.11.2025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22.11.2025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22.11.2025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22.11.2025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22.11.2025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22.11.2025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22.11.2025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22.11.2025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02F159-6E30-49ED-809A-AF4C5E7BA22D}" type="datetimeFigureOut">
              <a:rPr lang="ru-RU" smtClean="0"/>
              <a:pPr/>
              <a:t>22.11.2025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rutube.ru/video/f97c89139e35faba6f23a69eab79107a/?ysclid=mi0601ctu4217696010" TargetMode="External"/><Relationship Id="rId2" Type="http://schemas.openxmlformats.org/officeDocument/2006/relationships/hyperlink" Target="https://proglib.io/p/7-sposobov-sortirovki-massivov-na-primere-s-s-illyustraciyami-2022-04-20?ysclid=mi06gtm7tq188590613" TargetMode="Externa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docs.python.org/3/library/ctypes.html" TargetMode="External"/><Relationship Id="rId4" Type="http://schemas.openxmlformats.org/officeDocument/2006/relationships/hyperlink" Target="https://disk.yandex.ru/i/m--e7LQFAFgBlQ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0.jpeg"/><Relationship Id="rId4" Type="http://schemas.openxmlformats.org/officeDocument/2006/relationships/hyperlink" Target="https://disk.yandex.ru/d/MAnhEvAipQqGv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DLL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ru-RU" b="1" dirty="0" smtClean="0"/>
              <a:t>Дополнительные материалы</a:t>
            </a:r>
            <a:endParaRPr lang="ru-RU" b="1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928670"/>
            <a:ext cx="9144000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Cambria" pitchFamily="18" charset="0"/>
              </a:rPr>
              <a:t>7 способов сортировки массивов на примере С++ с иллюстрациями</a:t>
            </a:r>
          </a:p>
          <a:p>
            <a:pPr algn="just"/>
            <a:r>
              <a:rPr lang="en-US" sz="2400" b="1" dirty="0" smtClean="0">
                <a:latin typeface="Cambria" pitchFamily="18" charset="0"/>
                <a:hlinkClick r:id="rId2"/>
              </a:rPr>
              <a:t>https://proglib.io/p/7-sposobov-sortirovki-massivov-na-primere-s-s-illyustraciyami-2022-04-20?ysclid=mi06gtm7tq188590613</a:t>
            </a:r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  <a:p>
            <a:pPr algn="just"/>
            <a:r>
              <a:rPr lang="en-US" sz="2400" b="1" dirty="0" smtClean="0">
                <a:latin typeface="Cambria" pitchFamily="18" charset="0"/>
              </a:rPr>
              <a:t>how to create </a:t>
            </a:r>
            <a:r>
              <a:rPr lang="en-US" sz="2400" b="1" dirty="0" err="1" smtClean="0">
                <a:latin typeface="Cambria" pitchFamily="18" charset="0"/>
              </a:rPr>
              <a:t>dll</a:t>
            </a:r>
            <a:r>
              <a:rPr lang="en-US" sz="2400" b="1" dirty="0" smtClean="0">
                <a:latin typeface="Cambria" pitchFamily="18" charset="0"/>
              </a:rPr>
              <a:t> and use it in </a:t>
            </a:r>
            <a:r>
              <a:rPr lang="en-US" sz="2400" b="1" dirty="0" err="1" smtClean="0">
                <a:latin typeface="Cambria" pitchFamily="18" charset="0"/>
              </a:rPr>
              <a:t>codeblocks</a:t>
            </a:r>
            <a:endParaRPr lang="en-US" sz="2400" b="1" dirty="0" smtClean="0">
              <a:latin typeface="Cambria" pitchFamily="18" charset="0"/>
            </a:endParaRPr>
          </a:p>
          <a:p>
            <a:pPr algn="just"/>
            <a:r>
              <a:rPr lang="en-US" sz="2400" b="1" dirty="0" smtClean="0">
                <a:latin typeface="Cambria" pitchFamily="18" charset="0"/>
                <a:hlinkClick r:id="rId3"/>
              </a:rPr>
              <a:t>https://rutube.ru/video/f97c89139e35faba6f23a69eab79107a/?ysclid=mi0601ctu4217696010</a:t>
            </a:r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  <a:p>
            <a:pPr algn="just"/>
            <a:r>
              <a:rPr lang="ru-RU" sz="2400" dirty="0" smtClean="0">
                <a:latin typeface="Cambria" pitchFamily="18" charset="0"/>
              </a:rPr>
              <a:t>Как импортировать DLL в </a:t>
            </a:r>
            <a:r>
              <a:rPr lang="ru-RU" sz="2400" dirty="0" err="1" smtClean="0">
                <a:latin typeface="Cambria" pitchFamily="18" charset="0"/>
              </a:rPr>
              <a:t>Python</a:t>
            </a:r>
            <a:r>
              <a:rPr lang="ru-RU" sz="2400" dirty="0" smtClean="0">
                <a:latin typeface="Cambria" pitchFamily="18" charset="0"/>
              </a:rPr>
              <a:t> использование С++ в </a:t>
            </a:r>
            <a:r>
              <a:rPr lang="ru-RU" sz="2400" dirty="0" err="1" smtClean="0">
                <a:latin typeface="Cambria" pitchFamily="18" charset="0"/>
              </a:rPr>
              <a:t>python</a:t>
            </a:r>
            <a:endParaRPr lang="ru-RU" sz="2400" dirty="0" smtClean="0">
              <a:latin typeface="Cambria" pitchFamily="18" charset="0"/>
            </a:endParaRPr>
          </a:p>
          <a:p>
            <a:pPr algn="just"/>
            <a:r>
              <a:rPr lang="en-US" sz="2400" b="1" dirty="0" smtClean="0">
                <a:latin typeface="Cambria" pitchFamily="18" charset="0"/>
                <a:hlinkClick r:id="rId4"/>
              </a:rPr>
              <a:t>https://disk.yandex.ru/i/m--e7LQFAFgBlQ</a:t>
            </a:r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  <a:p>
            <a:pPr algn="just"/>
            <a:r>
              <a:rPr lang="en-US" sz="2400" dirty="0" err="1" smtClean="0">
                <a:latin typeface="Cambria" pitchFamily="18" charset="0"/>
              </a:rPr>
              <a:t>ctypes</a:t>
            </a:r>
            <a:endParaRPr lang="en-US" sz="2400" dirty="0" smtClean="0">
              <a:latin typeface="Cambria" pitchFamily="18" charset="0"/>
            </a:endParaRPr>
          </a:p>
          <a:p>
            <a:pPr algn="just"/>
            <a:r>
              <a:rPr lang="en-US" sz="2400" b="1" dirty="0" smtClean="0">
                <a:latin typeface="Cambria" pitchFamily="18" charset="0"/>
                <a:hlinkClick r:id="rId5"/>
              </a:rPr>
              <a:t>https://docs.python.org/3/library/ctypes.html</a:t>
            </a:r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en-US" sz="2400" b="1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857232"/>
            <a:ext cx="9144000" cy="521497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en-US" dirty="0" smtClean="0"/>
              <a:t>DLL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785794"/>
            <a:ext cx="91440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Вообще говоря, DLL — это просто наборы функций, собранные в библиотеки. Однако, в отличие от своих статических родственников (файлов .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lib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), библиотеки DLL не присоединены непосредственно к выполняемым файлам с помощью редактора связей. В выполняемый файл занесена только информация об их местонахождении. В момент выполнения программы загружается вся библиотека целиком. Благодаря этому разные процессы могут пользоваться совместно одними и теми же библиотеками, находящимися в памяти. Такой подход позволяет сократить объем памяти, необходимый для нескольких приложений, использующих много общих библиотек, а также контролировать размеры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ЕХЕ-файлов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DLL использует динамическое связывание — программу не нужно компилировать и связывать с библиотекой, связывание происходит во время выполнения. Это достигается с помощью таблиц импорта и экспорта, которые управляют доступом к функциям и переменным между приложением и DLL.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Некоторые компоненты DLL: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Файлы заголовков и определения функций — в них объявляются функции, которые будут доступны приложениям, использующим DLL.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Экспорт функций — функции в DLL должны быть назначены для экспорта с помощью ключевого слова 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__declspec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dllexport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algn="just"/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en-US" dirty="0" smtClean="0"/>
              <a:t>DLL: </a:t>
            </a:r>
            <a:r>
              <a:rPr lang="ru-RU" dirty="0" smtClean="0"/>
              <a:t>подключение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857232"/>
            <a:ext cx="91440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Библиотека DLL может быть подключена к приложению </a:t>
            </a: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Статически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при сборке последнего путём указания соответствующей библиотеки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lib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как части проекта. В этом случае DLL загружается в память при запуске приложения.</a:t>
            </a: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Динамически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DLL может загружаться и выгружаться при необходимости. В этом случае приложение предъявляет меньше требований к ресурсам, но обращение к функциям DLL несколько усложнено.</a:t>
            </a: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Важно: при статическом связывании программа не может начать работу без DLL, в то время как при динамическом связывании наличие DLL для запуска приложения не обязательно.</a:t>
            </a:r>
          </a:p>
          <a:p>
            <a:pPr algn="just"/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85984" y="4214818"/>
            <a:ext cx="4714908" cy="4760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00430" y="2000240"/>
            <a:ext cx="2209798" cy="1290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0" y="857232"/>
            <a:ext cx="9144000" cy="335758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en-US" dirty="0" smtClean="0"/>
              <a:t>DLL: </a:t>
            </a:r>
            <a:r>
              <a:rPr lang="ru-RU" dirty="0" smtClean="0"/>
              <a:t>создание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857232"/>
            <a:ext cx="91440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Прежде всего необходимо создать функцию, которую смогут «видеть» другие программы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Для этого используют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__declspec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dllexport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) — экспорт функции из DLL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ru-RU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Помечает функцию как «видимую извне» — то есть доступную для других программ/DLL, которые подключат эту библиотеку.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Как работает: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Без этого ключевого слова компилятор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не экспортирует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функцию из DLL (даже если она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public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Компилятор добавляет специальные метки в объектный файл, чтобы линкер включил функцию в таблицу экспорта DLL.</a:t>
            </a:r>
          </a:p>
          <a:p>
            <a:pPr algn="just"/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extern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"C"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предотвращение искажения имён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name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mangling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- Функция становится совместимой с C и другими языками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через 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ctypes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C#,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etc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.).</a:t>
            </a:r>
          </a:p>
          <a:p>
            <a:pPr algn="just"/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728" y="4286256"/>
            <a:ext cx="6000750" cy="1323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0" y="857232"/>
            <a:ext cx="9144000" cy="592935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en-US" dirty="0" smtClean="0"/>
              <a:t>DLL</a:t>
            </a:r>
            <a:r>
              <a:rPr lang="ru-RU" dirty="0" smtClean="0"/>
              <a:t>: создание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857232"/>
            <a:ext cx="9144000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Далее необходимо настроить заголовочный файл</a:t>
            </a: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Заголовочные файлы (.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или .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hpp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в C++ — ключевой механизм организации кода, позволяющий разделять объявления (интерфейс) и реализацию (тело функций).</a:t>
            </a: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Главные задачи заголовочных файлов</a:t>
            </a:r>
          </a:p>
          <a:p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Разделение интерфейса и реализации</a:t>
            </a: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заголовочном файле — только объявления: что есть (функции, классы, переменные), но не как работает.</a:t>
            </a: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файле .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cpp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 реализация (код функций).</a:t>
            </a:r>
            <a:br>
              <a:rPr lang="ru-RU" dirty="0" smtClean="0">
                <a:latin typeface="Times New Roman" pitchFamily="18" charset="0"/>
                <a:cs typeface="Times New Roman" pitchFamily="18" charset="0"/>
              </a:rPr>
            </a:b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→ Проект становится понятнее: можно смотреть «что доступно», не вникая в детали.</a:t>
            </a:r>
          </a:p>
          <a:p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Повторное использование кода</a:t>
            </a: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Один заголовочный файл можно подключить в нескольких .cpp-файлах.</a:t>
            </a: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Не нужно копировать объявления везде вручную.</a:t>
            </a:r>
          </a:p>
          <a:p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Модульность и удобство поддержки</a:t>
            </a:r>
          </a:p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Меняете объявление в .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 все .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cpp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которые его включают, «увидят» изменения.</a:t>
            </a:r>
          </a:p>
          <a:p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Почему нельзя всё писать в .</a:t>
            </a:r>
            <a:r>
              <a:rPr lang="ru-RU" sz="1600" b="1" dirty="0" err="1" smtClean="0">
                <a:latin typeface="Times New Roman" pitchFamily="18" charset="0"/>
                <a:cs typeface="Times New Roman" pitchFamily="18" charset="0"/>
              </a:rPr>
              <a:t>cpp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?</a:t>
            </a:r>
          </a:p>
          <a:p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Дублирование: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 пришлось бы копировать объявления во все файлы, где они нужны.</a:t>
            </a:r>
          </a:p>
          <a:p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Ошибки при обновлении: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 изменив функцию, нужно править её объявление везде вручную.</a:t>
            </a:r>
          </a:p>
          <a:p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Неудобство командной работы: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 сложно понять, какие функции доступны в проекте, без единого «справочника».</a:t>
            </a:r>
          </a:p>
          <a:p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Медленная компиляция: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 при изменении объявления пришлось бы перекомпилировать все файлы, где оно используется.</a:t>
            </a:r>
          </a:p>
          <a:p>
            <a:endParaRPr lang="ru-RU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en-US" dirty="0" smtClean="0"/>
              <a:t>DLL</a:t>
            </a:r>
            <a:r>
              <a:rPr lang="ru-RU" dirty="0" smtClean="0"/>
              <a:t>: создание</a:t>
            </a:r>
            <a:endParaRPr lang="ru-RU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857232"/>
            <a:ext cx="91440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Важные правила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Защитные директивы (#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ifndef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/ #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define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/ #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endif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или #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pragma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once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 — чтобы файл не включался многократно.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Подключение через #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include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"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my_header.h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" (для своих файлов) или #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include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&lt;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library.h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&gt; (для системных).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Минимум зависимостей: включайте в .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только то, что действительно нужно для интерфейса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0" y="4714884"/>
            <a:ext cx="871534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— это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стандартный способ защитить заголовочный файл от многократного включения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чтобы: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избежать дублирования объявлений;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предотвратить ошибки компиляции;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обеспечить корректную сборку проекта при сложной иерархии включений.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3000372"/>
            <a:ext cx="9144000" cy="170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7145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Подключение </a:t>
            </a:r>
            <a:r>
              <a:rPr lang="en-US" dirty="0" smtClean="0"/>
              <a:t>DLL: C</a:t>
            </a:r>
            <a:r>
              <a:rPr lang="en-US" dirty="0" smtClean="0"/>
              <a:t>++</a:t>
            </a:r>
            <a:br>
              <a:rPr lang="en-US" dirty="0" smtClean="0"/>
            </a:br>
            <a:r>
              <a:rPr lang="ru-RU" dirty="0" smtClean="0"/>
              <a:t>статическое</a:t>
            </a:r>
            <a:endParaRPr lang="ru-RU" dirty="0"/>
          </a:p>
        </p:txBody>
      </p:sp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71472" y="1142984"/>
            <a:ext cx="1790700" cy="193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Прямоугольник 15"/>
          <p:cNvSpPr/>
          <p:nvPr/>
        </p:nvSpPr>
        <p:spPr>
          <a:xfrm>
            <a:off x="0" y="3143248"/>
            <a:ext cx="364330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Для статического связывания необходимо подключить заголовочный файл и сам файл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dll</a:t>
            </a:r>
            <a:endParaRPr lang="ru-RU" dirty="0"/>
          </a:p>
        </p:txBody>
      </p:sp>
      <p:pic>
        <p:nvPicPr>
          <p:cNvPr id="4104" name="Picture 8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143504" y="989617"/>
            <a:ext cx="2800341" cy="23891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9" name="Прямоугольник 18"/>
          <p:cNvSpPr/>
          <p:nvPr/>
        </p:nvSpPr>
        <p:spPr>
          <a:xfrm>
            <a:off x="4357686" y="3429000"/>
            <a:ext cx="485778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Настроить компиляцию (подключить файл .а и поместить файлы .а и .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dll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папку к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exe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ru-RU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285984" y="4065861"/>
            <a:ext cx="5062544" cy="27921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71454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Подключение </a:t>
            </a:r>
            <a:r>
              <a:rPr lang="en-US" dirty="0" smtClean="0"/>
              <a:t>DLL: </a:t>
            </a:r>
            <a:r>
              <a:rPr lang="en-US" dirty="0" smtClean="0"/>
              <a:t>C++</a:t>
            </a:r>
            <a:br>
              <a:rPr lang="en-US" dirty="0" smtClean="0"/>
            </a:br>
            <a:r>
              <a:rPr lang="ru-RU" dirty="0" smtClean="0"/>
              <a:t>динамическое</a:t>
            </a: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" y="1214423"/>
            <a:ext cx="5986062" cy="34290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4572008"/>
            <a:ext cx="5210175" cy="1247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5929322" y="1285860"/>
            <a:ext cx="3214678" cy="4770537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Тип функции</a:t>
            </a:r>
            <a:r>
              <a:rPr kumimoji="0" lang="en-US" sz="16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через 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typedef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 (например, 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typedef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int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(*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AddFunc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)(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int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, </a:t>
            </a:r>
            <a:r>
              <a:rPr kumimoji="0" lang="ru-RU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int</a:t>
            </a:r>
            <a:r>
              <a:rPr kumimoji="0" lang="ru-RU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);) при динамической загрузке DLL </a:t>
            </a:r>
            <a:r>
              <a:rPr kumimoji="0" lang="ru-RU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необходим для безопасного и корректного вызова функций из библиотеки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 Без явного типа компилятор не сможет проверить корректность вызова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1600" b="1" dirty="0" err="1" smtClean="0">
                <a:latin typeface="Times New Roman" pitchFamily="18" charset="0"/>
                <a:cs typeface="Times New Roman" pitchFamily="18" charset="0"/>
              </a:rPr>
              <a:t>GetProcAddress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Получает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указатель на функцию 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Add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 по её имени. Важно: имя должно совпадать с тем, что экспортируется из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DLL</a:t>
            </a: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r>
              <a:rPr lang="ru-RU" sz="1600" b="1" dirty="0" err="1" smtClean="0">
                <a:latin typeface="Times New Roman" pitchFamily="18" charset="0"/>
                <a:cs typeface="Times New Roman" pitchFamily="18" charset="0"/>
              </a:rPr>
              <a:t>FreeLibrary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Освобождает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DLL из памяти после использования.</a:t>
            </a:r>
          </a:p>
          <a:p>
            <a:pPr algn="just" fontAlgn="base">
              <a:spcBef>
                <a:spcPct val="0"/>
              </a:spcBef>
              <a:spcAft>
                <a:spcPct val="0"/>
              </a:spcAft>
            </a:pPr>
            <a:endParaRPr kumimoji="0" lang="ru-RU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5857892"/>
            <a:ext cx="9144000" cy="52322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typedef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 — это спецификатор, который создаёт </a:t>
            </a:r>
            <a:r>
              <a:rPr kumimoji="0" lang="ru-RU" sz="1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алиас</a:t>
            </a:r>
            <a:r>
              <a:rPr kumimoji="0" lang="ru-RU" sz="1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(синоним)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 для существующего типа. Он </a:t>
            </a:r>
            <a:r>
              <a:rPr kumimoji="0" lang="ru-RU" sz="14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не объявляет новую функцию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, а лишь даёт альтернативное имя типу. </a:t>
            </a:r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1214422"/>
            <a:ext cx="5986062" cy="34290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Прямоугольник 13"/>
          <p:cNvSpPr/>
          <p:nvPr/>
        </p:nvSpPr>
        <p:spPr>
          <a:xfrm>
            <a:off x="0" y="6429396"/>
            <a:ext cx="914399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200" dirty="0" err="1" smtClean="0">
                <a:latin typeface="Times New Roman" pitchFamily="18" charset="0"/>
                <a:cs typeface="Times New Roman" pitchFamily="18" charset="0"/>
              </a:rPr>
              <a:t>typedef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2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 (*</a:t>
            </a:r>
            <a:r>
              <a:rPr lang="ru-RU" sz="1200" dirty="0" err="1" smtClean="0">
                <a:latin typeface="Times New Roman" pitchFamily="18" charset="0"/>
                <a:cs typeface="Times New Roman" pitchFamily="18" charset="0"/>
              </a:rPr>
              <a:t>FuncPtr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)(</a:t>
            </a:r>
            <a:r>
              <a:rPr lang="ru-RU" sz="12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12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); // </a:t>
            </a:r>
            <a:r>
              <a:rPr lang="ru-RU" sz="1200" dirty="0" err="1" smtClean="0">
                <a:latin typeface="Times New Roman" pitchFamily="18" charset="0"/>
                <a:cs typeface="Times New Roman" pitchFamily="18" charset="0"/>
              </a:rPr>
              <a:t>FuncPtr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 — синоним для "указатель на функцию, принимающую два </a:t>
            </a:r>
            <a:r>
              <a:rPr lang="ru-RU" sz="12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 и возвращающую </a:t>
            </a:r>
            <a:r>
              <a:rPr lang="ru-RU" sz="12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ru-RU" sz="1200" dirty="0" smtClean="0">
                <a:latin typeface="Times New Roman" pitchFamily="18" charset="0"/>
                <a:cs typeface="Times New Roman" pitchFamily="18" charset="0"/>
              </a:rPr>
              <a:t>"</a:t>
            </a:r>
            <a:endParaRPr lang="ru-RU" sz="1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/>
          </a:bodyPr>
          <a:lstStyle/>
          <a:p>
            <a:r>
              <a:rPr lang="ru-RU" dirty="0" smtClean="0"/>
              <a:t>Подключение </a:t>
            </a:r>
            <a:r>
              <a:rPr lang="en-US" dirty="0" smtClean="0"/>
              <a:t>DLL</a:t>
            </a:r>
            <a:r>
              <a:rPr lang="ru-RU" dirty="0" smtClean="0"/>
              <a:t> </a:t>
            </a:r>
            <a:r>
              <a:rPr lang="en-US" dirty="0" smtClean="0"/>
              <a:t>C++: </a:t>
            </a:r>
            <a:r>
              <a:rPr lang="ru-RU" dirty="0" smtClean="0"/>
              <a:t>Структуры</a:t>
            </a:r>
            <a:endParaRPr lang="ru-RU" dirty="0"/>
          </a:p>
        </p:txBody>
      </p:sp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143240" y="3143248"/>
            <a:ext cx="2714625" cy="44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174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28662" y="1857364"/>
            <a:ext cx="6905625" cy="1343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Прямоугольник 7"/>
          <p:cNvSpPr/>
          <p:nvPr/>
        </p:nvSpPr>
        <p:spPr>
          <a:xfrm>
            <a:off x="0" y="857232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Если структура объявлена в заголовочном файле 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main.h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DLL,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чтобы использовать ее в других программах необходимо подключать к ним заголовочный файл, предварительно разместив его в директории вызывающей программы</a:t>
            </a:r>
            <a:endParaRPr lang="ru-RU" dirty="0"/>
          </a:p>
        </p:txBody>
      </p:sp>
      <p:pic>
        <p:nvPicPr>
          <p:cNvPr id="31748" name="Picture 4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00034" y="4643446"/>
            <a:ext cx="7800975" cy="809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Прямоугольник 10"/>
          <p:cNvSpPr/>
          <p:nvPr/>
        </p:nvSpPr>
        <p:spPr>
          <a:xfrm>
            <a:off x="0" y="3786190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При динамическом связывании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c DLL (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при указании синонимов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проверяйте, какие параметры Вы передаете в функцию и какой тип она возвращает</a:t>
            </a:r>
            <a:endParaRPr lang="ru-RU" dirty="0"/>
          </a:p>
        </p:txBody>
      </p:sp>
      <p:cxnSp>
        <p:nvCxnSpPr>
          <p:cNvPr id="14" name="Прямая со стрелкой 13"/>
          <p:cNvCxnSpPr>
            <a:stCxn id="11" idx="2"/>
          </p:cNvCxnSpPr>
          <p:nvPr/>
        </p:nvCxnSpPr>
        <p:spPr>
          <a:xfrm rot="5400000">
            <a:off x="3180654" y="3466413"/>
            <a:ext cx="425239" cy="2357454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/>
          <p:cNvCxnSpPr/>
          <p:nvPr/>
        </p:nvCxnSpPr>
        <p:spPr>
          <a:xfrm>
            <a:off x="1142976" y="4357694"/>
            <a:ext cx="3643338" cy="500066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ru-RU" dirty="0" smtClean="0"/>
              <a:t>Подключение </a:t>
            </a:r>
            <a:r>
              <a:rPr lang="en-US" dirty="0" smtClean="0"/>
              <a:t>DLL: PYTHON</a:t>
            </a:r>
            <a:endParaRPr lang="ru-RU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7158" y="1916660"/>
            <a:ext cx="1685925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Прямоугольник 6"/>
          <p:cNvSpPr/>
          <p:nvPr/>
        </p:nvSpPr>
        <p:spPr>
          <a:xfrm>
            <a:off x="0" y="3559734"/>
            <a:ext cx="23727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После сборки проекта</a:t>
            </a:r>
            <a:endParaRPr lang="ru-RU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214678" y="1988098"/>
            <a:ext cx="1228725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Прямоугольник 8"/>
          <p:cNvSpPr/>
          <p:nvPr/>
        </p:nvSpPr>
        <p:spPr>
          <a:xfrm>
            <a:off x="2571737" y="2916792"/>
            <a:ext cx="221457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Поместите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dll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папку с кодом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Python</a:t>
            </a:r>
            <a:endParaRPr lang="ru-RU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5715008" y="3559734"/>
            <a:ext cx="22145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Код связывания</a:t>
            </a:r>
            <a:endParaRPr lang="ru-RU" dirty="0"/>
          </a:p>
        </p:txBody>
      </p:sp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857752" y="1988098"/>
            <a:ext cx="4286248" cy="1617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0" name="Прямоугольник 19"/>
          <p:cNvSpPr/>
          <p:nvPr/>
        </p:nvSpPr>
        <p:spPr>
          <a:xfrm>
            <a:off x="0" y="4071942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Для работы с функциями С++ необходима встроенная библиотека </a:t>
            </a: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ctypes</a:t>
            </a:r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Она позволяет создавать структуры данных, совместимые с C, и передавать их в функции С++. 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Подключение </a:t>
            </a:r>
            <a:r>
              <a:rPr lang="en-US" dirty="0" smtClean="0"/>
              <a:t>DLL</a:t>
            </a:r>
            <a:r>
              <a:rPr lang="ru-RU" dirty="0" smtClean="0"/>
              <a:t> </a:t>
            </a:r>
            <a:r>
              <a:rPr lang="en-US" dirty="0" smtClean="0"/>
              <a:t>Python: </a:t>
            </a:r>
            <a:r>
              <a:rPr lang="ru-RU" dirty="0" smtClean="0"/>
              <a:t>Структуры</a:t>
            </a:r>
            <a:endParaRPr lang="ru-RU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71604" y="857232"/>
            <a:ext cx="5386471" cy="1443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57158" y="2328863"/>
            <a:ext cx="8172685" cy="16002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571736" y="3578691"/>
            <a:ext cx="5700705" cy="32793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ru-RU" dirty="0" smtClean="0"/>
              <a:t>Ошибка </a:t>
            </a:r>
            <a:r>
              <a:rPr lang="ru-RU" dirty="0" smtClean="0"/>
              <a:t>версий</a:t>
            </a:r>
            <a:r>
              <a:rPr lang="en-US" dirty="0" smtClean="0"/>
              <a:t>: Python/C++</a:t>
            </a: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85852" y="1714488"/>
            <a:ext cx="6029325" cy="1285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Прямоугольник 6"/>
          <p:cNvSpPr/>
          <p:nvPr/>
        </p:nvSpPr>
        <p:spPr>
          <a:xfrm>
            <a:off x="857224" y="2857496"/>
            <a:ext cx="714376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При возникновении такой ошибки есть два варианта решения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0" y="3429000"/>
            <a:ext cx="4643438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AutoNum type="arabicParenR"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Установить версию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Python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другой разрядности</a:t>
            </a:r>
          </a:p>
          <a:p>
            <a:pPr marL="342900" indent="-342900" algn="just">
              <a:buAutoNum type="arabicParenR"/>
            </a:pP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Добавить компилятор другой разрядности в С++</a:t>
            </a:r>
          </a:p>
          <a:p>
            <a:pPr marL="342900" indent="-342900" algn="just">
              <a:buAutoNum type="arabicParenR"/>
            </a:pP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/>
            <a:r>
              <a:rPr lang="en-US" dirty="0" smtClean="0">
                <a:hlinkClick r:id="rId4"/>
              </a:rPr>
              <a:t>https://disk.yandex.ru/d/MAnhEvAipQqGvA</a:t>
            </a:r>
            <a:endParaRPr lang="ru-RU" dirty="0" smtClean="0"/>
          </a:p>
          <a:p>
            <a:pPr marL="342900" indent="-342900" algn="just"/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0" y="928670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/>
              <a:t>Основное отличие между 32-битной (x32) и 64-битной (x64) операционными системами заключается в способности работать с оперативной памятью (ОЗУ)</a:t>
            </a:r>
            <a:r>
              <a:rPr lang="ru-RU" dirty="0" smtClean="0"/>
              <a:t>.</a:t>
            </a:r>
            <a:endParaRPr lang="ru-RU" dirty="0"/>
          </a:p>
        </p:txBody>
      </p:sp>
      <p:pic>
        <p:nvPicPr>
          <p:cNvPr id="1028" name="Picture 4" descr="https://sun9-54.userapi.com/s/v1/ig2/VI7RhAZSzUPrphGi6IigRGDJu0qwmY33bQ_0M9obLW4gVr2rz_DJeLd0SPyCnRTXMtoWlh0GwPJIDH653Bpu1Yj_.jpg?quality=95&amp;as=32x28,48x42,72x63,108x94,160x139,240x209,360x314,480x418,540x471,640x558,720x628,749x653&amp;from=bu&amp;cs=749x0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929190" y="3183405"/>
            <a:ext cx="4214811" cy="3674596"/>
          </a:xfrm>
          <a:prstGeom prst="rect">
            <a:avLst/>
          </a:prstGeom>
          <a:noFill/>
        </p:spPr>
      </p:pic>
      <p:cxnSp>
        <p:nvCxnSpPr>
          <p:cNvPr id="12" name="Прямая со стрелкой 11"/>
          <p:cNvCxnSpPr>
            <a:endCxn id="1028" idx="1"/>
          </p:cNvCxnSpPr>
          <p:nvPr/>
        </p:nvCxnSpPr>
        <p:spPr>
          <a:xfrm>
            <a:off x="3286116" y="4214818"/>
            <a:ext cx="1643074" cy="80588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448</TotalTime>
  <Words>345</Words>
  <Application>Microsoft Office PowerPoint</Application>
  <PresentationFormat>Экран (4:3)</PresentationFormat>
  <Paragraphs>100</Paragraphs>
  <Slides>13</Slides>
  <Notes>6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4" baseType="lpstr">
      <vt:lpstr>Тема Office</vt:lpstr>
      <vt:lpstr>DLL</vt:lpstr>
      <vt:lpstr>Дополнительные материалы</vt:lpstr>
      <vt:lpstr>DLL</vt:lpstr>
      <vt:lpstr>DLL: подключение</vt:lpstr>
      <vt:lpstr>DLL: создание</vt:lpstr>
      <vt:lpstr>DLL: создание</vt:lpstr>
      <vt:lpstr>DLL: создание</vt:lpstr>
      <vt:lpstr>Подключение DLL: C++ статическое</vt:lpstr>
      <vt:lpstr>Подключение DLL: C++ динамическое</vt:lpstr>
      <vt:lpstr>Подключение DLL C++: Структуры</vt:lpstr>
      <vt:lpstr>Подключение DLL: PYTHON</vt:lpstr>
      <vt:lpstr>Подключение DLL Python: Структуры</vt:lpstr>
      <vt:lpstr>Ошибка версий: Python/C++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64</cp:revision>
  <dcterms:created xsi:type="dcterms:W3CDTF">2024-02-01T11:07:17Z</dcterms:created>
  <dcterms:modified xsi:type="dcterms:W3CDTF">2025-11-22T11:22:30Z</dcterms:modified>
</cp:coreProperties>
</file>