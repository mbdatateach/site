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6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03.12.2025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yandex.ru/handbook/cpp/article/classes" TargetMode="External"/><Relationship Id="rId2" Type="http://schemas.openxmlformats.org/officeDocument/2006/relationships/hyperlink" Target="https://www.codeincodeblock.com/2011/02/setup-openglglut-in-codeblock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rutube.ru/video/9f9d4fba3785ebc006aca34ffaaadc8c/" TargetMode="External"/><Relationship Id="rId4" Type="http://schemas.openxmlformats.org/officeDocument/2006/relationships/hyperlink" Target="https://www.dir.by/developer/c_plus_plus/opengl/new_app/?ysclid=mibj5jcru690679840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OpenGL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400" i="1" dirty="0" smtClean="0">
                <a:latin typeface="Cambria" pitchFamily="18" charset="0"/>
              </a:rPr>
              <a:t>Setup GLUT (OpenGL) in </a:t>
            </a:r>
            <a:r>
              <a:rPr lang="en-US" sz="2400" i="1" dirty="0" err="1" smtClean="0">
                <a:latin typeface="Cambria" pitchFamily="18" charset="0"/>
              </a:rPr>
              <a:t>Codeblocks</a:t>
            </a:r>
            <a:endParaRPr lang="en-US" sz="2400" i="1" dirty="0" smtClean="0">
              <a:latin typeface="Cambria" pitchFamily="18" charset="0"/>
            </a:endParaRPr>
          </a:p>
          <a:p>
            <a:pPr algn="just" fontAlgn="base"/>
            <a:r>
              <a:rPr lang="en-US" sz="2800" dirty="0" smtClean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www.codeincodeblock.com/2011/02/setup-openglglut-in-codeblock.html</a:t>
            </a:r>
            <a:endParaRPr lang="ru-RU" sz="2800" dirty="0" smtClean="0"/>
          </a:p>
          <a:p>
            <a:pPr algn="just" fontAlgn="base"/>
            <a:endParaRPr lang="ru-RU" sz="2500" b="1" dirty="0" smtClean="0">
              <a:latin typeface="Cambria" pitchFamily="18" charset="0"/>
              <a:hlinkClick r:id="rId3"/>
            </a:endParaRPr>
          </a:p>
          <a:p>
            <a:pPr algn="just"/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 Создаем новое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OpenGL </a:t>
            </a:r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приложение на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C++ | </a:t>
            </a:r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библиотека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GLUT, Visual Studio  </a:t>
            </a:r>
            <a:endParaRPr lang="ru-RU" sz="2400" i="1" dirty="0" smtClean="0">
              <a:latin typeface="Cambria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4"/>
              </a:rPr>
              <a:t>https://www.dir.by/developer/c_plus_plus/opengl/new_app/?</a:t>
            </a:r>
            <a:r>
              <a:rPr lang="en-US" sz="2400" dirty="0" smtClean="0">
                <a:latin typeface="Cambria" pitchFamily="18" charset="0"/>
                <a:hlinkClick r:id="rId4"/>
              </a:rPr>
              <a:t>ysclid=mibj5jcru6906798404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ru-RU" sz="2400" i="1" dirty="0" err="1" smtClean="0">
                <a:latin typeface="Cambria" pitchFamily="18" charset="0"/>
              </a:rPr>
              <a:t>OpenGL</a:t>
            </a:r>
            <a:r>
              <a:rPr lang="ru-RU" sz="2400" i="1" dirty="0" smtClean="0">
                <a:latin typeface="Cambria" pitchFamily="18" charset="0"/>
              </a:rPr>
              <a:t> </a:t>
            </a:r>
            <a:r>
              <a:rPr lang="ru-RU" sz="2400" i="1" dirty="0" smtClean="0">
                <a:latin typeface="Cambria" pitchFamily="18" charset="0"/>
              </a:rPr>
              <a:t>- Урок 17 - Основы </a:t>
            </a:r>
            <a:r>
              <a:rPr lang="ru-RU" sz="2400" i="1" dirty="0" err="1" smtClean="0">
                <a:latin typeface="Cambria" pitchFamily="18" charset="0"/>
              </a:rPr>
              <a:t>текстурирования</a:t>
            </a:r>
            <a:r>
              <a:rPr lang="ru-RU" sz="2400" i="1" dirty="0" smtClean="0">
                <a:latin typeface="Cambria" pitchFamily="18" charset="0"/>
              </a:rPr>
              <a:t>. Загрузка текстур из файла</a:t>
            </a:r>
            <a:r>
              <a:rPr lang="ru-RU" sz="2400" i="1" dirty="0" smtClean="0">
                <a:latin typeface="Cambria" pitchFamily="18" charset="0"/>
              </a:rPr>
              <a:t>. (с канала </a:t>
            </a:r>
            <a:r>
              <a:rPr lang="en-US" sz="2400" i="1" dirty="0" smtClean="0">
                <a:latin typeface="Cambria" pitchFamily="18" charset="0"/>
              </a:rPr>
              <a:t>Begin End</a:t>
            </a:r>
            <a:r>
              <a:rPr lang="ru-RU" sz="2400" i="1" dirty="0" smtClean="0">
                <a:latin typeface="Cambria" pitchFamily="18" charset="0"/>
              </a:rPr>
              <a:t>)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5"/>
              </a:rPr>
              <a:t>https://rutube.ru/video/9f9d4fba3785ebc006aca34ffaaadc8c</a:t>
            </a:r>
            <a:r>
              <a:rPr lang="en-US" sz="2400" dirty="0" smtClean="0">
                <a:latin typeface="Cambria" pitchFamily="18" charset="0"/>
                <a:hlinkClick r:id="rId5"/>
              </a:rPr>
              <a:t>/</a:t>
            </a:r>
            <a:endParaRPr lang="ru-RU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20621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набор команд, которые описывают геометрические объекты и способ их отображения на экране. Программист определяет объекты, задаёт их местоположение в трёхмерном пространстве, другие параметры (поворот, масштаб) и свойства (цвет, текстура, материал), а библиотека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отображает всё это на экране.</a:t>
            </a:r>
            <a:r>
              <a:rPr lang="en-US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 (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Utility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Toolkit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— «Набор утилит для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») — это дополнительная библиотека, упрощающая работу с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Простыми словами: GLUT решает «бытовые» задачи, которые не входит в обязанности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чтобы программист мог сосредоточиться на графике.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ru-RU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046"/>
            <a:ext cx="4143404" cy="3100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72132" y="2357430"/>
            <a:ext cx="31623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500694" y="2143116"/>
            <a:ext cx="33614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 </a:t>
            </a:r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уже встроен в </a:t>
            </a:r>
            <a:r>
              <a:rPr lang="en-US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CodeBlocks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1917" y="3122155"/>
            <a:ext cx="4932083" cy="3735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flipV="1">
            <a:off x="3643306" y="5286388"/>
            <a:ext cx="1857388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71406" y="5429264"/>
            <a:ext cx="6239016" cy="14157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Необходимо настроить компилятор</a:t>
            </a:r>
          </a:p>
          <a:p>
            <a:r>
              <a:rPr lang="en-US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Settings→Compiler</a:t>
            </a:r>
            <a:r>
              <a:rPr lang="en-US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→</a:t>
            </a:r>
            <a:r>
              <a:rPr lang="en-US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Linker </a:t>
            </a:r>
            <a:endParaRPr lang="ru-RU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использовать готовый проект с сайта</a:t>
            </a:r>
          </a:p>
          <a:p>
            <a:endParaRPr lang="ru-RU" sz="16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Также необходимо добавить </a:t>
            </a:r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windows.h</a:t>
            </a:r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в самое начало</a:t>
            </a:r>
            <a:endParaRPr lang="ru-RU" sz="16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OpenGL + GLUT</a:t>
            </a:r>
            <a:endParaRPr lang="ru-RU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255454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Без GLUT программист должен был бы: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вручную настраивать окна под каждую ОС;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писать код для отслеживания нажатий клавиш;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реализовывать базовые фигуры самостоятельно.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 делает это за него несколькими строками кода.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16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«сердце» 3D‑графики: рисует объекты, работает с освещением, текстурами.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 — «помощник» для </a:t>
            </a: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: создаёт окна, ловит ввод с устройств, рисует примитивы.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Вместе они позволяют быстро начать работу с 3D‑графикой, не погружаясь в низкоуровневые детали операционной системы.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GLUT</a:t>
            </a:r>
            <a:endParaRPr lang="ru-RU" sz="4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148008"/>
            <a:ext cx="6834195" cy="3709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>
            <a:off x="2928926" y="3786190"/>
            <a:ext cx="3500462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4651874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714876" y="500042"/>
            <a:ext cx="4429124" cy="2893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Обработка изменения размера окна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Вычисляет соотношение сторон (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aspect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ratio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 окна.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Задаёт область вывода графики — весь клиентский регион окна.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текущую матрицу на матрицу проекции (отвечает за «камеру» и перспективу).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Обнуляет текущую матрицу (делает её единичной).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матрицу на модельную (для трансформации объектов). Без этого объекты могут выглядеть плоскими или искажёнными.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матрицу обратно на модельную (для трансформации объектов в сцене). Следующие операции (например, в 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 будут влиять на положение объектов, а не на камеру.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Объяснение базового проекта</a:t>
            </a:r>
            <a:endParaRPr lang="ru-RU" sz="4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2222036"/>
            <a:ext cx="478631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resize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Обновляет область вывода под новый размер окна.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Настраивает перспективную камеру с учётом соотношения сторон.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Готовит матрицы для корректной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объектов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Без неё при изменении размера окна: графика могла бы растягиваться/сжиматься; перспектива нарушилась (например, объекты «улетали» бы за экран); пропорции сцены искажались.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929066"/>
            <a:ext cx="5372085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572132" y="3357562"/>
            <a:ext cx="3571868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отрисовка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кадра</a:t>
            </a:r>
            <a:endParaRPr lang="en-US" sz="1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Очищает буфер цвета (экран) и буфер глубины (для корректного отображения 3D).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Устанавливает позицию «камеры»: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камера в точке (0, 0, 5);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смотрит в точку (0, 0, 0);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вектор «вверх» — (0, 1, 0) (ось Y).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Сдвигает объект на 1 единицу по оси Y (конус поднимется вверх).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Поворачивает объект на угол 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angleX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 вокруг оси X.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Устанавливает цвет объекта: красный (RGB = 1, 0, 0).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Рисует сплошной конус: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радиус основания: 1;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высота: 1;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количество сегментов по окружности: 20;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количество уровней по высоте: 20.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Двойная буферизация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8925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(обработка нажатий клавиш)</a:t>
            </a:r>
            <a:endParaRPr lang="en-US" sz="13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нажатая клавиша;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координаты курсора в момент нажатия.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glutPostRedisplay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(); </a:t>
            </a:r>
            <a:r>
              <a:rPr lang="en-US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//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Запрашивает перерисовку окна (чтобы отразить изменения).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Объяснение базового проекта</a:t>
            </a:r>
            <a:endParaRPr lang="ru-RU" sz="4000" b="1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4571999" cy="3671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572000" y="1500174"/>
            <a:ext cx="4572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Инициализирует GLUT, передавая аргументы командной строки.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Задаёт начальный размер окна: 640×480 пикселей.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Задаёт позицию окна на экране: 10×10 пикселей от левого верхнего угла.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Настраивает режим отображения: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GLUT_RGB — цветовая модель RGB;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GLUT_DOUBLE — двойная буферизация (плавная анимация);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GLUT_DEPTH — буфер глубины (для 3D).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Создаёт окно с заголовком «GLUT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Shapes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».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resize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изменения размера окна.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нажатий клавиш.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Устанавливает цвет очистки экрана: чёрный (RGBA = 0, 0, 0, 0).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Включает тест глубины (чтобы объекты правильно перекрывались в 3D).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Запускает главный цикл GLUT (обработка событий, перерисовка и т. д.).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glPopMatrix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«скобки» для трансформаций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 временно изменить систему координат, а потом вернуться к прежнему состоянию.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3D‑графике часто требуется: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нарисовать объект, повернутый на 45°;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затем вернуться к «прямой» системе координат и нарисовать другой объект без поворота.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Без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все трансформации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накапливались бы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второй объект тоже оказался бы повёрнут на 45°, третий — на 90° и т. д.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 это работает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«Замораживает» текущую матрицу (систему координат).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Сохраняет её в специальный стек (как папку в памяти).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Теперь можно смело менять матрицу (вращать, сдвигать) — исходное состояние «запомнено».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glPopMatrix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Достаёт из стека последнюю сохранённую матрицу.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Восстанавливает систему координат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том виде, как она была до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 изменения, сделанные после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отменяются.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286388"/>
            <a:ext cx="6829425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87534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рисования снеговика можно создать отдельно вот эти функции для шаров и конусов, а далее использовать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glTranslatef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позиционирования этих фигур.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85762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Функцию непосредственной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снеговика можете вызвать 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display()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505325"/>
            <a:ext cx="80105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857232"/>
            <a:ext cx="585788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// Функция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текста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drawString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(const char*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float x, float y, float z) {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const char* c;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glRasterPos3f(x, y, z);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for (c =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*c != '\0';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c++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glutBitmapCharacter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(GLUT_BITMAP_HELVETICA_18, *c);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471656"/>
            <a:ext cx="5715008" cy="3029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715008" y="3571876"/>
            <a:ext cx="342899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Этот код позволяет: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Временно перейти в 2D (как в графическом редакторе) для удобного вывода текста по пиксельным координатам.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Не испортить 3D‑сцену: после вывода текста все настройки (проекция, положение объектов) возвращаются к исходному состоянию.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Избежать наложения трансформаций: без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glPush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glPop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текст мог бы наследовать повороты/масштабы 3D‑объектов, а 3D‑объекты — «запомнить» 2D‑сдвиги.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85786" y="6488668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Вывод 2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D-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текста на экран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215074" y="714356"/>
            <a:ext cx="2928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Функция получает строку и координаты.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Устанавливает начальную позицию вывода в 3D‑пространстве.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Посимвольно проходит по строке.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каждого символа вызывает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glutBitmapCharacter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который: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берёт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глиф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(изображение символа) из встроенного шрифта;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выводит его в текущей растровой позиции;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автоматически сдвигает позицию для следующего символа.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Цикл завершается при достижении конца строки (\0).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 это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однофайловая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header‑only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библиотека на языке C для загрузки и декодирования изображений различных форматов в проекты на C/C++.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Ключевые особенности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Header‑only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не требует отдельной компиляции — достаточно подключить заголовочный файл.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Минималистичная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один файл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(нет зависимостей).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Кроссплатформенная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работает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macOS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др.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Простота интеграции: не нужно собирать библиотеку, линковать и т. п.</a:t>
            </a: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4803485"/>
            <a:ext cx="9144000" cy="14773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Как использовать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Скачайте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файл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с официального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репозитория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Поместите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его в папку вашего проекта.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Определите макрос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STB_IMAGE_IMPLEMENTATION 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в одном .cpp-файле перед включением заголовка: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32245"/>
            <a:ext cx="4929190" cy="62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3000372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Преимущества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Простота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один файл, нет сборочных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Скорость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оптимизированный код для быстрого декодирования.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Малый объём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подходит для встраиваемых систем и небольших проектов.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Лицензия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(можно использовать в коммерческих проектах без ограничений).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void </a:t>
            </a:r>
            <a:r>
              <a:rPr lang="en-US" b="1" dirty="0" err="1" smtClean="0"/>
              <a:t>Load_Texture</a:t>
            </a:r>
            <a:r>
              <a:rPr lang="en-US" b="1" dirty="0" smtClean="0"/>
              <a:t>(const char* </a:t>
            </a:r>
            <a:r>
              <a:rPr lang="en-US" b="1" dirty="0" err="1" smtClean="0"/>
              <a:t>fileName</a:t>
            </a:r>
            <a:r>
              <a:rPr lang="en-US" b="1" dirty="0" smtClean="0"/>
              <a:t>, </a:t>
            </a:r>
            <a:r>
              <a:rPr lang="en-US" b="1" dirty="0" err="1" smtClean="0"/>
              <a:t>GLuint</a:t>
            </a:r>
            <a:r>
              <a:rPr lang="en-US" b="1" dirty="0" smtClean="0"/>
              <a:t>* </a:t>
            </a:r>
            <a:r>
              <a:rPr lang="en-US" b="1" dirty="0" err="1" smtClean="0"/>
              <a:t>textureID</a:t>
            </a:r>
            <a:r>
              <a:rPr lang="en-US" b="1" dirty="0" smtClean="0"/>
              <a:t>) 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int</a:t>
            </a:r>
            <a:r>
              <a:rPr lang="en-US" b="1" dirty="0" smtClean="0"/>
              <a:t> width, height, channels;</a:t>
            </a:r>
          </a:p>
          <a:p>
            <a:r>
              <a:rPr lang="en-US" b="1" dirty="0" smtClean="0"/>
              <a:t>    unsigned char* data = </a:t>
            </a:r>
            <a:r>
              <a:rPr lang="en-US" b="1" dirty="0" err="1" smtClean="0"/>
              <a:t>stbi_load</a:t>
            </a:r>
            <a:r>
              <a:rPr lang="en-US" b="1" dirty="0" smtClean="0"/>
              <a:t>(</a:t>
            </a:r>
            <a:r>
              <a:rPr lang="en-US" b="1" dirty="0" err="1" smtClean="0"/>
              <a:t>fileName</a:t>
            </a:r>
            <a:r>
              <a:rPr lang="en-US" b="1" dirty="0" smtClean="0"/>
              <a:t>, &amp;width, &amp;height, &amp;channels, 0);</a:t>
            </a:r>
          </a:p>
          <a:p>
            <a:r>
              <a:rPr lang="en-US" b="1" dirty="0" smtClean="0"/>
              <a:t>    if (!data) {</a:t>
            </a:r>
          </a:p>
          <a:p>
            <a:r>
              <a:rPr lang="en-US" b="1" dirty="0" smtClean="0"/>
              <a:t>        </a:t>
            </a:r>
            <a:r>
              <a:rPr lang="en-US" b="1" dirty="0" err="1" smtClean="0"/>
              <a:t>fprintf</a:t>
            </a:r>
            <a:r>
              <a:rPr lang="en-US" b="1" dirty="0" smtClean="0"/>
              <a:t>(</a:t>
            </a:r>
            <a:r>
              <a:rPr lang="en-US" b="1" dirty="0" err="1" smtClean="0"/>
              <a:t>stderr</a:t>
            </a:r>
            <a:r>
              <a:rPr lang="en-US" b="1" dirty="0" smtClean="0"/>
              <a:t>, "Failed to load image: %s\n", </a:t>
            </a:r>
            <a:r>
              <a:rPr lang="en-US" b="1" dirty="0" err="1" smtClean="0"/>
              <a:t>fileName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    return;</a:t>
            </a:r>
          </a:p>
          <a:p>
            <a:r>
              <a:rPr lang="en-US" b="1" dirty="0" smtClean="0"/>
              <a:t>    }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Генерируем </a:t>
            </a:r>
            <a:r>
              <a:rPr lang="en-US" b="1" dirty="0" smtClean="0"/>
              <a:t>ID </a:t>
            </a:r>
            <a:r>
              <a:rPr lang="ru-RU" b="1" dirty="0" smtClean="0"/>
              <a:t>текстуры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glGenTextures</a:t>
            </a:r>
            <a:r>
              <a:rPr lang="en-US" b="1" dirty="0" smtClean="0"/>
              <a:t>(1, 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glBindTexture</a:t>
            </a:r>
            <a:r>
              <a:rPr lang="en-US" b="1" dirty="0" smtClean="0"/>
              <a:t>(GL_TEXTURE_2D, *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Параметры </a:t>
            </a:r>
            <a:r>
              <a:rPr lang="ru-RU" b="1" dirty="0" err="1" smtClean="0"/>
              <a:t>текстурирования</a:t>
            </a:r>
            <a:endParaRPr lang="ru-RU" b="1" dirty="0" smtClean="0"/>
          </a:p>
          <a:p>
            <a:r>
              <a:rPr lang="ru-RU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GL_TEXTURE_WRAP_S, GL_REPEAT);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GL_TEXTURE_WRAP_T, GL_REPEAT);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GL_TEXTURE_MIN_FILTER, GL_LINEAR);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GL_TEXTURE_MAG_FILTER, GL_LINEAR);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Определяем формат на основе количества каналов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GLenum</a:t>
            </a:r>
            <a:r>
              <a:rPr lang="en-US" b="1" dirty="0" smtClean="0"/>
              <a:t> format = (channels == 4) ? GL_RGBA : GL_RGB;</a:t>
            </a:r>
          </a:p>
          <a:p>
            <a:r>
              <a:rPr lang="en-US" b="1" dirty="0" smtClean="0"/>
              <a:t>    glTexImage2D(GL_TEXTURE_2D, 0, format, width, height, 0, format, GL_UNSIGNED_BYTE, data);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stbi_image_free</a:t>
            </a:r>
            <a:r>
              <a:rPr lang="en-US" b="1" dirty="0" smtClean="0"/>
              <a:t>(data);</a:t>
            </a:r>
          </a:p>
          <a:p>
            <a:r>
              <a:rPr lang="en-US" b="1" dirty="0" smtClean="0"/>
              <a:t>}</a:t>
            </a:r>
            <a:endParaRPr lang="ru-RU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// </a:t>
            </a:r>
            <a:r>
              <a:rPr lang="ru-RU" b="1" dirty="0" err="1" smtClean="0"/>
              <a:t>Отрисовка</a:t>
            </a:r>
            <a:r>
              <a:rPr lang="ru-RU" b="1" dirty="0" smtClean="0"/>
              <a:t> </a:t>
            </a:r>
            <a:r>
              <a:rPr lang="ru-RU" b="1" dirty="0" err="1" smtClean="0"/>
              <a:t>текстурированной</a:t>
            </a:r>
            <a:r>
              <a:rPr lang="ru-RU" b="1" dirty="0" smtClean="0"/>
              <a:t> сферы</a:t>
            </a:r>
          </a:p>
          <a:p>
            <a:r>
              <a:rPr lang="en-US" b="1" dirty="0" smtClean="0"/>
              <a:t>void </a:t>
            </a:r>
            <a:r>
              <a:rPr lang="en-US" b="1" dirty="0" err="1" smtClean="0"/>
              <a:t>drawTexturedSphere</a:t>
            </a:r>
            <a:r>
              <a:rPr lang="en-US" b="1" dirty="0" smtClean="0"/>
              <a:t>() 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glEnable</a:t>
            </a:r>
            <a:r>
              <a:rPr lang="en-US" b="1" dirty="0" smtClean="0"/>
              <a:t>(GL_TEXTURE_2D);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GLUquadric</a:t>
            </a:r>
            <a:r>
              <a:rPr lang="en-US" b="1" dirty="0" smtClean="0"/>
              <a:t>* quadric = </a:t>
            </a:r>
            <a:r>
              <a:rPr lang="en-US" b="1" dirty="0" err="1" smtClean="0"/>
              <a:t>gluNewQuadric</a:t>
            </a:r>
            <a:r>
              <a:rPr lang="en-US" b="1" dirty="0" smtClean="0"/>
              <a:t>();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Включаем генерацию текстурных координат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gluQuadricTexture</a:t>
            </a:r>
            <a:r>
              <a:rPr lang="en-US" b="1" dirty="0" smtClean="0"/>
              <a:t>(quadric, GL_TRUE);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Применяем текстуру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Load_Texture</a:t>
            </a:r>
            <a:r>
              <a:rPr lang="en-US" b="1" dirty="0" smtClean="0"/>
              <a:t>("D:/128.bmp", &amp;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glBindTexture</a:t>
            </a:r>
            <a:r>
              <a:rPr lang="en-US" b="1" dirty="0" smtClean="0"/>
              <a:t>(GL_TEXTURE_2D, 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Рисуем сферу: </a:t>
            </a:r>
            <a:r>
              <a:rPr lang="en-US" b="1" dirty="0" err="1" smtClean="0"/>
              <a:t>baseRadius</a:t>
            </a:r>
            <a:r>
              <a:rPr lang="en-US" b="1" dirty="0" smtClean="0"/>
              <a:t>=1.0, </a:t>
            </a:r>
            <a:r>
              <a:rPr lang="en-US" b="1" dirty="0" err="1" smtClean="0"/>
              <a:t>topRadius</a:t>
            </a:r>
            <a:r>
              <a:rPr lang="en-US" b="1" dirty="0" smtClean="0"/>
              <a:t>=0.0, height=1.0, slices=20, stacks=20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gluSphere</a:t>
            </a:r>
            <a:r>
              <a:rPr lang="en-US" b="1" dirty="0" smtClean="0"/>
              <a:t>(quadric, 0.1, 20, 20</a:t>
            </a:r>
            <a:r>
              <a:rPr lang="en-US" b="1" dirty="0" smtClean="0"/>
              <a:t>); //</a:t>
            </a:r>
            <a:r>
              <a:rPr lang="ru-RU" b="1" dirty="0" smtClean="0"/>
              <a:t>также есть </a:t>
            </a:r>
            <a:r>
              <a:rPr lang="en-US" b="1" dirty="0" err="1" smtClean="0"/>
              <a:t>gluCylinder</a:t>
            </a:r>
            <a:r>
              <a:rPr lang="en-US" b="1" dirty="0" smtClean="0"/>
              <a:t>, </a:t>
            </a:r>
            <a:r>
              <a:rPr lang="en-US" b="1" dirty="0" err="1" smtClean="0"/>
              <a:t>gluDisk</a:t>
            </a:r>
            <a:r>
              <a:rPr lang="en-US" b="1" dirty="0" smtClean="0"/>
              <a:t> </a:t>
            </a:r>
            <a:r>
              <a:rPr lang="ru-RU" b="1" dirty="0" smtClean="0"/>
              <a:t>и </a:t>
            </a:r>
            <a:r>
              <a:rPr lang="en-US" b="1" dirty="0" err="1" smtClean="0"/>
              <a:t>gluPartialDisk</a:t>
            </a:r>
            <a:endParaRPr lang="en-US" b="1" dirty="0" smtClean="0"/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gluDeleteQuadric</a:t>
            </a:r>
            <a:r>
              <a:rPr lang="en-US" b="1" dirty="0" smtClean="0"/>
              <a:t>(quadric);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glDisable</a:t>
            </a:r>
            <a:r>
              <a:rPr lang="en-US" b="1" dirty="0" smtClean="0"/>
              <a:t>(GL_TEXTURE_2D);</a:t>
            </a:r>
          </a:p>
          <a:p>
            <a:r>
              <a:rPr lang="en-US" b="1" dirty="0" smtClean="0"/>
              <a:t>}</a:t>
            </a:r>
            <a:endParaRPr lang="ru-RU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4396447"/>
            <a:ext cx="3652823" cy="2461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826</Words>
  <Application>Microsoft Office PowerPoint</Application>
  <PresentationFormat>Экран (4:3)</PresentationFormat>
  <Paragraphs>164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OpenGL</vt:lpstr>
      <vt:lpstr>Дополнительные материалы</vt:lpstr>
      <vt:lpstr>OpenGL + GLUT</vt:lpstr>
      <vt:lpstr>GLUT</vt:lpstr>
      <vt:lpstr>Объяснение базового проекта</vt:lpstr>
      <vt:lpstr>Объяснение базового проекта</vt:lpstr>
      <vt:lpstr>Рисование объектов</vt:lpstr>
      <vt:lpstr>Рисование объектов</vt:lpstr>
      <vt:lpstr>Рисование объектов</vt:lpstr>
      <vt:lpstr>Текстуры</vt:lpstr>
      <vt:lpstr>Текстуры</vt:lpstr>
      <vt:lpstr>Текстуры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90</cp:revision>
  <dcterms:created xsi:type="dcterms:W3CDTF">2024-02-01T11:07:17Z</dcterms:created>
  <dcterms:modified xsi:type="dcterms:W3CDTF">2025-12-03T18:44:21Z</dcterms:modified>
</cp:coreProperties>
</file>