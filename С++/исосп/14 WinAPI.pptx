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66" r:id="rId4"/>
    <p:sldId id="273" r:id="rId5"/>
    <p:sldId id="270" r:id="rId6"/>
    <p:sldId id="271" r:id="rId7"/>
    <p:sldId id="274" r:id="rId8"/>
    <p:sldId id="275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29.11.2025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29.11.2025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29.11.2025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29.11.2025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29.11.2025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ducation.yandex.ru/handbook/cpp/article/classes" TargetMode="External"/><Relationship Id="rId2" Type="http://schemas.openxmlformats.org/officeDocument/2006/relationships/hyperlink" Target="https://lexpenz.com/programmirovanie/cpp/win32-api-sozdanie-prostejshego-prilozheniya-pod-windows.html?ysclid=mikpfjqddj421370514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pdfiles.net/storage/Books/designing-and-graphics/programming_2d_games.pdf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cppstudio.com/post/9384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cppstudio.com/post/9741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shatalov.ghost17.ru/winapi/threads.html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 smtClean="0"/>
              <a:t>WinAPI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428736"/>
            <a:ext cx="9144000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ru-RU" sz="2400" i="1" dirty="0" err="1" smtClean="0">
                <a:latin typeface="Cambria" pitchFamily="18" charset="0"/>
              </a:rPr>
              <a:t>WinAPI</a:t>
            </a:r>
            <a:r>
              <a:rPr lang="ru-RU" sz="2400" i="1" dirty="0" smtClean="0">
                <a:latin typeface="Cambria" pitchFamily="18" charset="0"/>
              </a:rPr>
              <a:t>. Создание простейшего приложения под Windows</a:t>
            </a:r>
          </a:p>
          <a:p>
            <a:pPr algn="just" fontAlgn="base"/>
            <a:r>
              <a:rPr lang="en-US" sz="2800" dirty="0" smtClean="0">
                <a:hlinkClick r:id="rId2"/>
              </a:rPr>
              <a:t>https://</a:t>
            </a:r>
            <a:r>
              <a:rPr lang="en-US" sz="2800" dirty="0" smtClean="0">
                <a:hlinkClick r:id="rId2"/>
              </a:rPr>
              <a:t>lexpenz.com/programmirovanie/cpp/win32-api-sozdanie-prostejshego-prilozheniya-pod-windows.html?ysclid=mikpfjqddj421370514</a:t>
            </a:r>
            <a:endParaRPr lang="ru-RU" sz="2800" dirty="0" smtClean="0"/>
          </a:p>
          <a:p>
            <a:pPr algn="just"/>
            <a:endParaRPr lang="ru-RU" sz="2500" b="1" dirty="0" smtClean="0">
              <a:latin typeface="Cambria" pitchFamily="18" charset="0"/>
              <a:hlinkClick r:id="rId3"/>
            </a:endParaRPr>
          </a:p>
          <a:p>
            <a:pPr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Programming 2D Games </a:t>
            </a:r>
            <a:endParaRPr lang="ru-RU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Cambria" pitchFamily="18" charset="0"/>
                <a:hlinkClick r:id="rId4"/>
              </a:rPr>
              <a:t>https://</a:t>
            </a:r>
            <a:r>
              <a:rPr lang="en-US" sz="2400" dirty="0" smtClean="0">
                <a:latin typeface="Cambria" pitchFamily="18" charset="0"/>
                <a:hlinkClick r:id="rId4"/>
              </a:rPr>
              <a:t>www.pdfiles.net/storage/Books/designing-and-graphics/programming_2d_games.pdf</a:t>
            </a:r>
            <a:endParaRPr lang="en-US" sz="2400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500" b="1" dirty="0" smtClean="0">
              <a:latin typeface="Cambria" pitchFamily="18" charset="0"/>
              <a:hlinkClick r:id="rId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/>
          <a:lstStyle/>
          <a:p>
            <a:r>
              <a:rPr lang="en-US" b="1" dirty="0" err="1" smtClean="0"/>
              <a:t>WinAPI</a:t>
            </a:r>
            <a:endParaRPr lang="ru-RU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1857364"/>
            <a:ext cx="4681530" cy="3503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00042"/>
            <a:ext cx="9144000" cy="132343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Win32 API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 (далее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WinAPI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) – это набор функций (</a:t>
            </a:r>
            <a:r>
              <a:rPr kumimoji="0" lang="ru-RU" sz="1600" b="0" i="1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API – </a:t>
            </a:r>
            <a:r>
              <a:rPr kumimoji="0" lang="ru-RU" sz="1600" b="0" i="1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Application</a:t>
            </a:r>
            <a:r>
              <a:rPr kumimoji="0" lang="ru-RU" sz="1600" b="0" i="1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1600" b="0" i="1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Programming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r>
              <a:rPr kumimoji="0" lang="ru-RU" sz="1600" b="0" i="1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Interface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), работающих под управлением ОС Windows. Они содержатся в библиотеке 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7254E"/>
                </a:solidFill>
                <a:effectLst/>
                <a:latin typeface="Times New Roman" pitchFamily="18" charset="0"/>
                <a:cs typeface="Times New Roman" pitchFamily="18" charset="0"/>
              </a:rPr>
              <a:t>windows.h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С помощью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WinAPI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 можно создавать различные оконные процедуры, диалоговые окна, программы и даже игры. Эта, скажем так, библиотека является базовой в освоении программирования 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428BCA"/>
                </a:solidFill>
                <a:effectLst/>
                <a:latin typeface="Times New Roman" pitchFamily="18" charset="0"/>
                <a:cs typeface="Times New Roman" pitchFamily="18" charset="0"/>
              </a:rPr>
              <a:t>Windows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428BCA"/>
                </a:solidFill>
                <a:effectLst/>
                <a:latin typeface="Times New Roman" pitchFamily="18" charset="0"/>
                <a:cs typeface="Times New Roman" pitchFamily="18" charset="0"/>
              </a:rPr>
              <a:t>Forms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, MFC, потому что эти интерфейсы являются надстройками этой библиотеки.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380672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В проекте </a:t>
            </a:r>
            <a:r>
              <a:rPr lang="ru-RU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задания 1 уже </a:t>
            </a:r>
            <a:r>
              <a:rPr lang="ru-RU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даны комментарии касательно функций создания окна и необходимых переменных. Дополнительную информацию можно найти по ссылкам в файле с заданием и по следующим ссылкам: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3"/>
              </a:rPr>
              <a:t>http://cppstudio.com/post/9384/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latin typeface="Times New Roman" pitchFamily="18" charset="0"/>
                <a:cs typeface="Times New Roman" pitchFamily="18" charset="0"/>
                <a:hlinkClick r:id="rId4"/>
              </a:rPr>
              <a:t>http://cppstudio.com/post/9741/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Код программы с потоками</a:t>
            </a:r>
            <a:endParaRPr lang="ru-RU" b="1" dirty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642918"/>
            <a:ext cx="9144000" cy="40011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Функция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Draw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 — основная двойная буферизация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 t="47009"/>
          <a:stretch>
            <a:fillRect/>
          </a:stretch>
        </p:blipFill>
        <p:spPr bwMode="auto">
          <a:xfrm>
            <a:off x="1142976" y="2571744"/>
            <a:ext cx="7191375" cy="1771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4071942"/>
            <a:ext cx="7953375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357158" y="5572140"/>
            <a:ext cx="82867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Если этого не сделать, при двойной буферизации будет черный фон</a:t>
            </a: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Создаётся чистый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bitmap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памяти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CreateCompatibleBitmap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он изначально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чёрный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(нулевые пиксели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200,200,200 – серый (как изначальный экран)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1142984"/>
            <a:ext cx="841057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Код программы с потоками</a:t>
            </a:r>
            <a:endParaRPr lang="ru-RU" b="1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848479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DrawBitmap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(hdcMem,50,y_1,hBitmap_1);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DrawBitmap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(hdcMem,100,y_2,hBitmap_2);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DrawBitmap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(hdcMem,150,y_3,hBitmap_3);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0" y="857232"/>
            <a:ext cx="9144000" cy="33855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//Рисуем 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все три </a:t>
            </a: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bitmap’а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в 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hdcMem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(т. е. в наш буфер памяти, а не на экран!).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2071678"/>
            <a:ext cx="6233918" cy="1378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3357562"/>
            <a:ext cx="9144000" cy="23083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BitBlt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hdc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, 0, 25, 250, 250,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hdcMem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, 0, 0, SRCCOPY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//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Функция 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BitBlt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выполняет 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копирование прямоугольного блока пикселей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из одного контекста устройства (DC) в другой.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hdc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Обычно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это контекст окна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GetDC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hwnd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)), т. е. видимая область экрана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//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hdcMem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— исходный DC (откуда копируем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контекст памяти, в котором вы предварительно нарисовали содержимое (например, объекты и фон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SRCCOPY означает: «просто заменить пиксели приёмника на пиксели источника» (без смешения, масок и т. п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.).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1571604" y="5443582"/>
            <a:ext cx="6748459" cy="1414418"/>
            <a:chOff x="1571604" y="5443582"/>
            <a:chExt cx="6748459" cy="1414418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3"/>
            <a:srcRect t="49685"/>
            <a:stretch>
              <a:fillRect/>
            </a:stretch>
          </p:blipFill>
          <p:spPr bwMode="auto">
            <a:xfrm>
              <a:off x="1571604" y="5443582"/>
              <a:ext cx="6748459" cy="14144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2" name="Прямоугольник 11"/>
            <p:cNvSpPr/>
            <p:nvPr/>
          </p:nvSpPr>
          <p:spPr>
            <a:xfrm>
              <a:off x="5857884" y="5857892"/>
              <a:ext cx="714380" cy="285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Код программы с потоками</a:t>
            </a:r>
            <a:endParaRPr lang="ru-RU" b="1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642918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Когда приложение начинает свою работу, для него создаётся процесс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process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 Обычно, каждой программе соответствует один процесс. Дополнительную информацию про потоки можете почитать здесь: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https://shatalov.ghost17.ru/winapi/threads.html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1819809"/>
            <a:ext cx="914400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case WM_CREATE: //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код</a:t>
            </a:r>
            <a:r>
              <a:rPr kumimoji="0" lang="ru-RU" sz="1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создания кнопки при запуске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{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	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CreateWindow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(TEXT("BUTTON"), TEXT("PUSK"),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WS_VISIBLE | WS_CHILD,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0, 0,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100, 25,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hwnd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, (HMENU)15000,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NULL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, 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NULL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);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break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}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345528"/>
            <a:ext cx="914400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-1" y="322005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Объект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мьютекса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можно использовать для защиты общего ресурса от одновременного доступа нескольких потоков или процессов. Каждый поток должен дождаться владения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мьютексом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прежде чем он сможет выполнить код, который обращается к общему ресурсу.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928661" y="4131238"/>
            <a:ext cx="71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CONST HANDLE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hMutex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CreateMutex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(NULL, FALSE, NULL);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857223" y="6488668"/>
            <a:ext cx="78581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 нажатию кнопки запускает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три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потока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428604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WM_PAINT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системное сообщение Windows, которое отправляется в окно приложения, когда требуется перерисовать (обновить) его клиентскую область (ту часть окна, где отображается основное содержимое — текст, графика, элементы управления и т. п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.).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Когда возникает WM_PAINT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Система генерирует это сообщение в таких случаях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окно стало видимым (например, после сворачивания/разворачивания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);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изменился размер окна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714620"/>
            <a:ext cx="7243353" cy="3990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786314" y="2643182"/>
            <a:ext cx="364330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rcPaint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— прямоугольник (тип RECT), описывающий область окна, требующую обновления (часто — вся клиентская область);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428596" y="-71454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Еще один способ перерисовки изображения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428596" y="-71454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Работа с таймером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786190"/>
            <a:ext cx="9144001" cy="1908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42860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WM_TIMER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системное сообщение Windows, которое приложение получает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 срабатывании таймера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(по истечении заданного интервала времени). Оно позволяет выполнять код «по расписанию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»,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 обновлять интерфейс, проверять состояние системы, анимировать элементы и т. п.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1714488"/>
            <a:ext cx="618172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5812713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 другими видами сообщений и способами их обработки можете ознакомиться самостоятельно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316</Words>
  <Application>Microsoft Office PowerPoint</Application>
  <PresentationFormat>Экран (4:3)</PresentationFormat>
  <Paragraphs>55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WinAPI</vt:lpstr>
      <vt:lpstr>Дополнительные материалы</vt:lpstr>
      <vt:lpstr>WinAPI</vt:lpstr>
      <vt:lpstr>Код программы с потоками</vt:lpstr>
      <vt:lpstr>Код программы с потоками</vt:lpstr>
      <vt:lpstr>Код программы с потоками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72</cp:revision>
  <dcterms:created xsi:type="dcterms:W3CDTF">2024-02-01T11:07:17Z</dcterms:created>
  <dcterms:modified xsi:type="dcterms:W3CDTF">2025-11-29T19:55:48Z</dcterms:modified>
</cp:coreProperties>
</file>