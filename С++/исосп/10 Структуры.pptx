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2" r:id="rId3"/>
    <p:sldId id="272" r:id="rId4"/>
    <p:sldId id="263" r:id="rId5"/>
    <p:sldId id="264" r:id="rId6"/>
    <p:sldId id="266" r:id="rId7"/>
    <p:sldId id="271" r:id="rId8"/>
    <p:sldId id="275" r:id="rId9"/>
    <p:sldId id="276" r:id="rId10"/>
    <p:sldId id="277" r:id="rId1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-161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E5A87-3B20-4600-9DCE-BE5A8D5CFD98}" type="datetimeFigureOut">
              <a:rPr lang="ru-RU" smtClean="0"/>
              <a:pPr/>
              <a:t>13.11.2025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F89D07-70F9-49D4-923E-9EB4A53C3380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13.11.2025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13.11.2025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13.11.2025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13.11.2025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13.11.2025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13.11.2025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13.11.2025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13.11.2025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13.11.2025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13.11.2025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13.11.2025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02F159-6E30-49ED-809A-AF4C5E7BA22D}" type="datetimeFigureOut">
              <a:rPr lang="ru-RU" smtClean="0"/>
              <a:pPr/>
              <a:t>13.11.2025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urecodecpp.com/archives/1538" TargetMode="External"/><Relationship Id="rId2" Type="http://schemas.openxmlformats.org/officeDocument/2006/relationships/hyperlink" Target="https://metanit.com/cpp/tutorial/5.8.php?ysclid=lsz3k1c7co308885428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cppstudio.com/post/8106/?ysclid=ltu6oxvq93575518708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 smtClean="0"/>
              <a:t>Структуры</a:t>
            </a:r>
            <a:r>
              <a:rPr lang="en-US" b="1" dirty="0" smtClean="0"/>
              <a:t> C++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b="1" dirty="0" smtClean="0"/>
              <a:t>Дополнительные материалы</a:t>
            </a:r>
            <a:endParaRPr lang="ru-RU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928670"/>
            <a:ext cx="9144000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600" i="1" dirty="0" smtClean="0">
                <a:latin typeface="Cambria" pitchFamily="18" charset="0"/>
              </a:rPr>
              <a:t>Структуры</a:t>
            </a:r>
          </a:p>
          <a:p>
            <a:pPr algn="just"/>
            <a:r>
              <a:rPr lang="en-US" sz="2600" b="1" dirty="0" smtClean="0">
                <a:latin typeface="Cambria" pitchFamily="18" charset="0"/>
                <a:hlinkClick r:id="rId2"/>
              </a:rPr>
              <a:t>https://metanit.com/cpp/tutorial/5.8.php?ysclid=lsz3k1c7co308885428</a:t>
            </a:r>
            <a:endParaRPr lang="ru-RU" sz="2600" b="1" dirty="0" smtClean="0">
              <a:latin typeface="Cambria" pitchFamily="18" charset="0"/>
            </a:endParaRPr>
          </a:p>
          <a:p>
            <a:pPr algn="just"/>
            <a:endParaRPr lang="ru-RU" sz="2600" b="1" dirty="0" smtClean="0">
              <a:latin typeface="Cambria" pitchFamily="18" charset="0"/>
            </a:endParaRPr>
          </a:p>
          <a:p>
            <a:pPr algn="just"/>
            <a:r>
              <a:rPr lang="ru-RU" sz="2600" b="1" i="1" dirty="0" smtClean="0">
                <a:solidFill>
                  <a:srgbClr val="FF0000"/>
                </a:solidFill>
                <a:latin typeface="Cambria" pitchFamily="18" charset="0"/>
              </a:rPr>
              <a:t>Динамический массив структур С++</a:t>
            </a:r>
          </a:p>
          <a:p>
            <a:pPr algn="just"/>
            <a:r>
              <a:rPr lang="en-US" sz="2600" b="1" dirty="0" smtClean="0">
                <a:solidFill>
                  <a:srgbClr val="FF0000"/>
                </a:solidFill>
                <a:latin typeface="Cambria" pitchFamily="18" charset="0"/>
                <a:hlinkClick r:id="rId3"/>
              </a:rPr>
              <a:t>https://purecodecpp.com/archives/1538</a:t>
            </a:r>
            <a:endParaRPr lang="ru-RU" sz="2600" b="1" dirty="0" smtClean="0">
              <a:solidFill>
                <a:srgbClr val="FF0000"/>
              </a:solidFill>
              <a:latin typeface="Cambria" pitchFamily="18" charset="0"/>
            </a:endParaRPr>
          </a:p>
          <a:p>
            <a:pPr algn="just"/>
            <a:endParaRPr lang="en-US" sz="2600" b="1" dirty="0" smtClean="0">
              <a:latin typeface="Cambria" pitchFamily="18" charset="0"/>
            </a:endParaRPr>
          </a:p>
          <a:p>
            <a:pPr algn="just"/>
            <a:r>
              <a:rPr lang="ru-RU" sz="2600" i="1" dirty="0" smtClean="0">
                <a:latin typeface="Cambria" pitchFamily="18" charset="0"/>
              </a:rPr>
              <a:t>Перечисления в С++</a:t>
            </a:r>
          </a:p>
          <a:p>
            <a:pPr algn="just"/>
            <a:r>
              <a:rPr lang="en-US" sz="2600" b="1" dirty="0" smtClean="0">
                <a:latin typeface="Cambria" pitchFamily="18" charset="0"/>
                <a:hlinkClick r:id="rId4"/>
              </a:rPr>
              <a:t>http://cppstudio.com/post/8106/?ysclid=ltu6oxvq93575518708</a:t>
            </a:r>
            <a:endParaRPr lang="ru-RU" sz="2600" b="1" dirty="0" smtClean="0">
              <a:latin typeface="Cambria" pitchFamily="18" charset="0"/>
            </a:endParaRPr>
          </a:p>
          <a:p>
            <a:pPr algn="just"/>
            <a:endParaRPr lang="en-US" sz="2600" b="1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ru-RU" b="1" dirty="0" smtClean="0"/>
              <a:t>Задание</a:t>
            </a:r>
            <a:endParaRPr lang="ru-RU" b="1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1714488"/>
            <a:ext cx="7429552" cy="5143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0" y="857232"/>
            <a:ext cx="9144000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600" b="1" dirty="0" smtClean="0">
                <a:latin typeface="Cambria" pitchFamily="18" charset="0"/>
              </a:rPr>
              <a:t>Структуры</a:t>
            </a:r>
            <a:r>
              <a:rPr lang="ru-RU" sz="2600" dirty="0" smtClean="0">
                <a:latin typeface="Cambria" pitchFamily="18" charset="0"/>
              </a:rPr>
              <a:t> – это способ синтаксически (и физически) сгруппировать логически связанные данные.</a:t>
            </a:r>
            <a:endParaRPr lang="ru-RU" sz="2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0" y="2428868"/>
            <a:ext cx="9144000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600" dirty="0" smtClean="0">
                <a:latin typeface="Cambria" pitchFamily="18" charset="0"/>
              </a:rPr>
              <a:t>Доступ к полям структуры  осуществляется через оператор «.»</a:t>
            </a:r>
            <a:endParaRPr lang="ru-RU" sz="2600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0" y="5000636"/>
            <a:ext cx="91440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600" dirty="0" smtClean="0">
                <a:latin typeface="Cambria" pitchFamily="18" charset="0"/>
              </a:rPr>
              <a:t>Для указателей на структуры используется «-</a:t>
            </a:r>
            <a:r>
              <a:rPr lang="en-US" sz="2600" dirty="0" smtClean="0">
                <a:latin typeface="Cambria" pitchFamily="18" charset="0"/>
              </a:rPr>
              <a:t>&gt;</a:t>
            </a:r>
            <a:r>
              <a:rPr lang="ru-RU" sz="2600" dirty="0" smtClean="0">
                <a:latin typeface="Cambria" pitchFamily="18" charset="0"/>
              </a:rPr>
              <a:t>»</a:t>
            </a:r>
            <a:endParaRPr lang="ru-RU" sz="2600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14480" y="3286124"/>
            <a:ext cx="5919799" cy="1765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00166" y="5420092"/>
            <a:ext cx="6257939" cy="1437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85984" y="0"/>
            <a:ext cx="4500594" cy="25337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0" y="428604"/>
            <a:ext cx="9144000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600" dirty="0" smtClean="0">
                <a:latin typeface="Cambria" pitchFamily="18" charset="0"/>
              </a:rPr>
              <a:t>Поля структуры можно инициализировать подобно массивам.</a:t>
            </a:r>
            <a:endParaRPr lang="ru-RU" sz="2600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0" y="2928934"/>
            <a:ext cx="91440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600" dirty="0" smtClean="0">
                <a:latin typeface="Cambria" pitchFamily="18" charset="0"/>
              </a:rPr>
              <a:t>Структуры могут хранить переменные разных типов</a:t>
            </a:r>
            <a:endParaRPr lang="ru-RU" sz="26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357298"/>
            <a:ext cx="8886825" cy="1343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429000"/>
            <a:ext cx="8886825" cy="2809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714356"/>
            <a:ext cx="8148638" cy="48718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0" y="5500702"/>
            <a:ext cx="91440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600" dirty="0" smtClean="0">
                <a:latin typeface="Cambria" pitchFamily="18" charset="0"/>
              </a:rPr>
              <a:t>Динамический массив структур</a:t>
            </a:r>
            <a:endParaRPr lang="ru-RU" sz="2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214422"/>
            <a:ext cx="6648450" cy="549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143240" y="842011"/>
            <a:ext cx="6000760" cy="2586989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ffectLst/>
        </p:spPr>
      </p:pic>
      <p:sp>
        <p:nvSpPr>
          <p:cNvPr id="4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Перечисления</a:t>
            </a:r>
            <a:endParaRPr kumimoji="0" lang="ru-RU" sz="4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57818" y="3469983"/>
            <a:ext cx="3786182" cy="33880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714620"/>
            <a:ext cx="3493165" cy="2424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2" name="Прямоугольник 21"/>
          <p:cNvSpPr/>
          <p:nvPr/>
        </p:nvSpPr>
        <p:spPr>
          <a:xfrm>
            <a:off x="1928794" y="4286256"/>
            <a:ext cx="428628" cy="3571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3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928926" y="3357562"/>
            <a:ext cx="2295525" cy="65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24" name="Прямая со стрелкой 23"/>
          <p:cNvCxnSpPr>
            <a:stCxn id="22" idx="3"/>
            <a:endCxn id="23" idx="1"/>
          </p:cNvCxnSpPr>
          <p:nvPr/>
        </p:nvCxnSpPr>
        <p:spPr>
          <a:xfrm flipV="1">
            <a:off x="2357422" y="3686175"/>
            <a:ext cx="571504" cy="77867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429256" y="2500306"/>
            <a:ext cx="2218870" cy="923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26" name="Прямая со стрелкой 25"/>
          <p:cNvCxnSpPr>
            <a:stCxn id="23" idx="3"/>
            <a:endCxn id="25" idx="1"/>
          </p:cNvCxnSpPr>
          <p:nvPr/>
        </p:nvCxnSpPr>
        <p:spPr>
          <a:xfrm flipV="1">
            <a:off x="5224451" y="2962268"/>
            <a:ext cx="204805" cy="723907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en-US" b="1" dirty="0" smtClean="0"/>
              <a:t>GUI </a:t>
            </a:r>
            <a:r>
              <a:rPr lang="ru-RU" b="1" dirty="0" smtClean="0"/>
              <a:t>интерфейс (</a:t>
            </a:r>
            <a:r>
              <a:rPr lang="en-US" b="1" dirty="0" err="1" smtClean="0"/>
              <a:t>wxWidgets</a:t>
            </a:r>
            <a:r>
              <a:rPr lang="ru-RU" b="1" dirty="0" smtClean="0"/>
              <a:t>)</a:t>
            </a:r>
            <a:endParaRPr lang="ru-RU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0" y="1000108"/>
            <a:ext cx="9144000" cy="1552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8429652" y="1000108"/>
            <a:ext cx="642942" cy="2857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357158" y="2357430"/>
            <a:ext cx="428628" cy="15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3500430" y="2643182"/>
            <a:ext cx="1171575" cy="63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Прямоугольник 12"/>
          <p:cNvSpPr/>
          <p:nvPr/>
        </p:nvSpPr>
        <p:spPr>
          <a:xfrm>
            <a:off x="6786578" y="4429132"/>
            <a:ext cx="785818" cy="10715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3357554" y="4824408"/>
            <a:ext cx="1984842" cy="20335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52" y="857232"/>
            <a:ext cx="7048517" cy="4901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en-US" b="1" dirty="0" smtClean="0"/>
              <a:t>GUI </a:t>
            </a:r>
            <a:r>
              <a:rPr lang="ru-RU" b="1" dirty="0" smtClean="0"/>
              <a:t>интерфейс (</a:t>
            </a:r>
            <a:r>
              <a:rPr lang="en-US" b="1" dirty="0" err="1" smtClean="0"/>
              <a:t>wxWidgets</a:t>
            </a:r>
            <a:r>
              <a:rPr lang="ru-RU" b="1" dirty="0" smtClean="0"/>
              <a:t>)</a:t>
            </a:r>
            <a:endParaRPr lang="ru-RU" b="1" dirty="0"/>
          </a:p>
        </p:txBody>
      </p:sp>
      <p:cxnSp>
        <p:nvCxnSpPr>
          <p:cNvPr id="18" name="Прямая со стрелкой 17"/>
          <p:cNvCxnSpPr/>
          <p:nvPr/>
        </p:nvCxnSpPr>
        <p:spPr>
          <a:xfrm rot="16200000" flipV="1">
            <a:off x="3357554" y="4572008"/>
            <a:ext cx="1428760" cy="571504"/>
          </a:xfrm>
          <a:prstGeom prst="straightConnector1">
            <a:avLst/>
          </a:prstGeom>
          <a:ln w="254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Прямоугольник 26"/>
          <p:cNvSpPr/>
          <p:nvPr/>
        </p:nvSpPr>
        <p:spPr>
          <a:xfrm>
            <a:off x="0" y="5786454"/>
            <a:ext cx="9144000" cy="584775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ctr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1)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Необходимо добавить в рабочую область панель для размещения элементов (ее добавить обязательно первой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желтая стрелка)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1" name="Прямая со стрелкой 30"/>
          <p:cNvCxnSpPr/>
          <p:nvPr/>
        </p:nvCxnSpPr>
        <p:spPr>
          <a:xfrm rot="5400000" flipH="1" flipV="1">
            <a:off x="1393009" y="4179099"/>
            <a:ext cx="1928826" cy="100013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/>
          <p:nvPr/>
        </p:nvCxnSpPr>
        <p:spPr>
          <a:xfrm rot="10800000">
            <a:off x="2214546" y="3357562"/>
            <a:ext cx="5286412" cy="228601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/>
          <p:cNvCxnSpPr/>
          <p:nvPr/>
        </p:nvCxnSpPr>
        <p:spPr>
          <a:xfrm rot="16200000" flipV="1">
            <a:off x="3143240" y="4071942"/>
            <a:ext cx="2071702" cy="107157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 стрелкой 39"/>
          <p:cNvCxnSpPr/>
          <p:nvPr/>
        </p:nvCxnSpPr>
        <p:spPr>
          <a:xfrm rot="10800000">
            <a:off x="3357554" y="3286124"/>
            <a:ext cx="4357718" cy="228601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Прямоугольник 42"/>
          <p:cNvSpPr/>
          <p:nvPr/>
        </p:nvSpPr>
        <p:spPr>
          <a:xfrm>
            <a:off x="5286380" y="1571612"/>
            <a:ext cx="28575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Grid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находится на вкладке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Advanced</a:t>
            </a:r>
            <a:endParaRPr lang="ru-RU" b="1" dirty="0"/>
          </a:p>
        </p:txBody>
      </p:sp>
      <p:cxnSp>
        <p:nvCxnSpPr>
          <p:cNvPr id="44" name="Прямая со стрелкой 43"/>
          <p:cNvCxnSpPr/>
          <p:nvPr/>
        </p:nvCxnSpPr>
        <p:spPr>
          <a:xfrm rot="10800000">
            <a:off x="5000628" y="1857364"/>
            <a:ext cx="500066" cy="158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 стрелкой 47"/>
          <p:cNvCxnSpPr/>
          <p:nvPr/>
        </p:nvCxnSpPr>
        <p:spPr>
          <a:xfrm rot="10800000">
            <a:off x="4500562" y="2786058"/>
            <a:ext cx="714380" cy="428628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Прямоугольник 48"/>
          <p:cNvSpPr/>
          <p:nvPr/>
        </p:nvSpPr>
        <p:spPr>
          <a:xfrm>
            <a:off x="5214942" y="2928934"/>
            <a:ext cx="329799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Двойной щелчок по добавленной кнопке, чтобы редактировать ее код</a:t>
            </a:r>
            <a:endParaRPr lang="ru-RU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915531"/>
            <a:ext cx="3190875" cy="101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en-US" b="1" dirty="0" smtClean="0"/>
              <a:t>GUI </a:t>
            </a:r>
            <a:r>
              <a:rPr lang="ru-RU" b="1" dirty="0" smtClean="0"/>
              <a:t>интерфейс (</a:t>
            </a:r>
            <a:r>
              <a:rPr lang="en-US" b="1" dirty="0" err="1" smtClean="0"/>
              <a:t>wxWidgets</a:t>
            </a:r>
            <a:r>
              <a:rPr lang="ru-RU" b="1" dirty="0" smtClean="0"/>
              <a:t>)</a:t>
            </a:r>
            <a:endParaRPr lang="ru-RU" b="1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0" y="1428736"/>
            <a:ext cx="9144000" cy="338554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ctr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Чтобы обрабатывать нажатие кнопки, нужно щелкнуть по ней два раза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14546" y="857232"/>
            <a:ext cx="5072055" cy="589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643174" y="1772655"/>
            <a:ext cx="6500826" cy="15469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Прямоугольник 11"/>
          <p:cNvSpPr/>
          <p:nvPr/>
        </p:nvSpPr>
        <p:spPr>
          <a:xfrm>
            <a:off x="0" y="3201415"/>
            <a:ext cx="9144000" cy="584775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ctr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Значение объекта можно получить с помощью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GetValue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pPr algn="ctr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Имя объекта можно получить, если в конструкторе щелкнуть по нему правой кнопкой мыши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42910" y="4429132"/>
            <a:ext cx="7858148" cy="11664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Прямоугольник 13"/>
          <p:cNvSpPr/>
          <p:nvPr/>
        </p:nvSpPr>
        <p:spPr>
          <a:xfrm>
            <a:off x="0" y="5500702"/>
            <a:ext cx="9144000" cy="338554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ctr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Отображение элементов в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Grid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00034" y="6000768"/>
            <a:ext cx="28479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4000496" y="5929330"/>
            <a:ext cx="4276725" cy="69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9" name="Прямоугольник 18"/>
          <p:cNvSpPr/>
          <p:nvPr/>
        </p:nvSpPr>
        <p:spPr>
          <a:xfrm>
            <a:off x="142844" y="6376594"/>
            <a:ext cx="3571868" cy="338554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ctr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Установить пользовательское значение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Прямоугольник 19"/>
          <p:cNvSpPr/>
          <p:nvPr/>
        </p:nvSpPr>
        <p:spPr>
          <a:xfrm>
            <a:off x="4714876" y="6519446"/>
            <a:ext cx="3571868" cy="338554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ctr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Всплывающее окно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0" y="3857628"/>
            <a:ext cx="3581403" cy="4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Прямоугольник 14"/>
          <p:cNvSpPr/>
          <p:nvPr/>
        </p:nvSpPr>
        <p:spPr>
          <a:xfrm>
            <a:off x="3571868" y="4071942"/>
            <a:ext cx="4357718" cy="338554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ctr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Часть функции для создания объекта структуры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366</TotalTime>
  <Words>172</Words>
  <Application>Microsoft Office PowerPoint</Application>
  <PresentationFormat>Экран (4:3)</PresentationFormat>
  <Paragraphs>31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Тема Office</vt:lpstr>
      <vt:lpstr>Структуры C++</vt:lpstr>
      <vt:lpstr>Дополнительные материалы</vt:lpstr>
      <vt:lpstr>Задание</vt:lpstr>
      <vt:lpstr>Слайд 4</vt:lpstr>
      <vt:lpstr>Слайд 5</vt:lpstr>
      <vt:lpstr>Слайд 6</vt:lpstr>
      <vt:lpstr>Слайд 7</vt:lpstr>
      <vt:lpstr>GUI интерфейс (wxWidgets)</vt:lpstr>
      <vt:lpstr>GUI интерфейс (wxWidgets)</vt:lpstr>
      <vt:lpstr>GUI интерфейс (wxWidgets)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54</cp:revision>
  <dcterms:created xsi:type="dcterms:W3CDTF">2024-02-01T11:07:17Z</dcterms:created>
  <dcterms:modified xsi:type="dcterms:W3CDTF">2025-11-13T18:38:51Z</dcterms:modified>
</cp:coreProperties>
</file>