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58" r:id="rId5"/>
    <p:sldId id="259" r:id="rId6"/>
    <p:sldId id="260" r:id="rId7"/>
    <p:sldId id="266" r:id="rId8"/>
    <p:sldId id="267" r:id="rId9"/>
    <p:sldId id="261" r:id="rId10"/>
    <p:sldId id="262" r:id="rId11"/>
    <p:sldId id="263" r:id="rId12"/>
    <p:sldId id="264" r:id="rId13"/>
    <p:sldId id="268"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5" d="100"/>
          <a:sy n="75" d="100"/>
        </p:scale>
        <p:origin x="-2580" y="-79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E08042BC-74F2-472E-A48A-56FF1AD4BBD8}" type="datetimeFigureOut">
              <a:rPr lang="ru-RU" smtClean="0"/>
              <a:pPr/>
              <a:t>31.08.2026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903E5C8-A4D7-42C2-A431-2E1550274A86}"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08042BC-74F2-472E-A48A-56FF1AD4BBD8}" type="datetimeFigureOut">
              <a:rPr lang="ru-RU" smtClean="0"/>
              <a:pPr/>
              <a:t>31.08.2026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903E5C8-A4D7-42C2-A431-2E1550274A86}"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E08042BC-74F2-472E-A48A-56FF1AD4BBD8}" type="datetimeFigureOut">
              <a:rPr lang="ru-RU" smtClean="0"/>
              <a:pPr/>
              <a:t>31.08.2026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903E5C8-A4D7-42C2-A431-2E1550274A86}"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E08042BC-74F2-472E-A48A-56FF1AD4BBD8}" type="datetimeFigureOut">
              <a:rPr lang="ru-RU" smtClean="0"/>
              <a:pPr/>
              <a:t>31.08.2026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903E5C8-A4D7-42C2-A431-2E1550274A86}"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E08042BC-74F2-472E-A48A-56FF1AD4BBD8}" type="datetimeFigureOut">
              <a:rPr lang="ru-RU" smtClean="0"/>
              <a:pPr/>
              <a:t>31.08.2026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A903E5C8-A4D7-42C2-A431-2E1550274A86}"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E08042BC-74F2-472E-A48A-56FF1AD4BBD8}" type="datetimeFigureOut">
              <a:rPr lang="ru-RU" smtClean="0"/>
              <a:pPr/>
              <a:t>31.08.2026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A903E5C8-A4D7-42C2-A431-2E1550274A86}"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08042BC-74F2-472E-A48A-56FF1AD4BBD8}" type="datetimeFigureOut">
              <a:rPr lang="ru-RU" smtClean="0"/>
              <a:pPr/>
              <a:t>31.08.2026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A903E5C8-A4D7-42C2-A431-2E1550274A86}"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08042BC-74F2-472E-A48A-56FF1AD4BBD8}" type="datetimeFigureOut">
              <a:rPr lang="ru-RU" smtClean="0"/>
              <a:pPr/>
              <a:t>31.08.2026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903E5C8-A4D7-42C2-A431-2E1550274A86}"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08042BC-74F2-472E-A48A-56FF1AD4BBD8}" type="datetimeFigureOut">
              <a:rPr lang="ru-RU" smtClean="0"/>
              <a:pPr/>
              <a:t>31.08.2026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903E5C8-A4D7-42C2-A431-2E1550274A86}"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08042BC-74F2-472E-A48A-56FF1AD4BBD8}" type="datetimeFigureOut">
              <a:rPr lang="ru-RU" smtClean="0"/>
              <a:pPr/>
              <a:t>31.08.2026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903E5C8-A4D7-42C2-A431-2E1550274A86}"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08042BC-74F2-472E-A48A-56FF1AD4BBD8}" type="datetimeFigureOut">
              <a:rPr lang="ru-RU" smtClean="0"/>
              <a:pPr/>
              <a:t>31.08.2026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903E5C8-A4D7-42C2-A431-2E1550274A86}"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8042BC-74F2-472E-A48A-56FF1AD4BBD8}" type="datetimeFigureOut">
              <a:rPr lang="ru-RU" smtClean="0"/>
              <a:pPr/>
              <a:t>31.08.2026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03E5C8-A4D7-42C2-A431-2E1550274A86}"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rookee.ru/blog/vnutrennyaya-perelinkovka-chto-eto-zachem-nuzhna-i-prostye-skhemy-dlya-nebolshogo-sayta-ili-bloga/"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pr-cy.ru/news/p/5126-besplatnye-instrumenty-dlya-realizatsii-proektov-lyuboy-slozhnosti?ysclid=mtfpnkxigj413004706" TargetMode="External"/><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fontScale="90000"/>
          </a:bodyPr>
          <a:lstStyle/>
          <a:p>
            <a:r>
              <a:rPr lang="ru-RU" b="1" dirty="0"/>
              <a:t>Виды сайтов и выбор формата под рекламную задачу. Жизненный цикл создания сайта</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icture background"/>
          <p:cNvPicPr>
            <a:picLocks noChangeAspect="1" noChangeArrowheads="1"/>
          </p:cNvPicPr>
          <p:nvPr/>
        </p:nvPicPr>
        <p:blipFill>
          <a:blip r:embed="rId2"/>
          <a:srcRect/>
          <a:stretch>
            <a:fillRect/>
          </a:stretch>
        </p:blipFill>
        <p:spPr bwMode="auto">
          <a:xfrm>
            <a:off x="0" y="714356"/>
            <a:ext cx="9144000" cy="5528774"/>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Picture background"/>
          <p:cNvPicPr>
            <a:picLocks noChangeAspect="1" noChangeArrowheads="1"/>
          </p:cNvPicPr>
          <p:nvPr/>
        </p:nvPicPr>
        <p:blipFill>
          <a:blip r:embed="rId2"/>
          <a:srcRect/>
          <a:stretch>
            <a:fillRect/>
          </a:stretch>
        </p:blipFill>
        <p:spPr bwMode="auto">
          <a:xfrm>
            <a:off x="0" y="0"/>
            <a:ext cx="9143999" cy="3155531"/>
          </a:xfrm>
          <a:prstGeom prst="rect">
            <a:avLst/>
          </a:prstGeom>
          <a:noFill/>
        </p:spPr>
      </p:pic>
      <p:pic>
        <p:nvPicPr>
          <p:cNvPr id="22532" name="Picture 4" descr="Picture background"/>
          <p:cNvPicPr>
            <a:picLocks noChangeAspect="1" noChangeArrowheads="1"/>
          </p:cNvPicPr>
          <p:nvPr/>
        </p:nvPicPr>
        <p:blipFill>
          <a:blip r:embed="rId3"/>
          <a:srcRect/>
          <a:stretch>
            <a:fillRect/>
          </a:stretch>
        </p:blipFill>
        <p:spPr bwMode="auto">
          <a:xfrm>
            <a:off x="1214414" y="3710264"/>
            <a:ext cx="6715172" cy="3147736"/>
          </a:xfrm>
          <a:prstGeom prst="rect">
            <a:avLst/>
          </a:prstGeom>
          <a:noFill/>
        </p:spPr>
      </p:pic>
      <p:sp>
        <p:nvSpPr>
          <p:cNvPr id="4" name="Прямоугольник 3"/>
          <p:cNvSpPr/>
          <p:nvPr/>
        </p:nvSpPr>
        <p:spPr>
          <a:xfrm>
            <a:off x="0" y="2778293"/>
            <a:ext cx="9144000" cy="507831"/>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ru-RU" sz="27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Жизненный цикл создания сайта</a:t>
            </a:r>
            <a:endParaRPr lang="ru-RU" sz="27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0" y="500042"/>
            <a:ext cx="9118910" cy="5557849"/>
          </a:xfrm>
          <a:prstGeom prst="rect">
            <a:avLst/>
          </a:prstGeom>
          <a:noFill/>
          <a:ln w="9525">
            <a:noFill/>
            <a:miter lim="800000"/>
            <a:headEnd/>
            <a:tailEnd/>
          </a:ln>
          <a:effectLst/>
        </p:spPr>
      </p:pic>
      <p:sp>
        <p:nvSpPr>
          <p:cNvPr id="3" name="Прямоугольник 2"/>
          <p:cNvSpPr/>
          <p:nvPr/>
        </p:nvSpPr>
        <p:spPr>
          <a:xfrm>
            <a:off x="0" y="6143644"/>
            <a:ext cx="9144000" cy="507831"/>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ru-RU" sz="27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Способы разработки сайта</a:t>
            </a:r>
            <a:endParaRPr lang="ru-RU" sz="27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Picture background"/>
          <p:cNvPicPr>
            <a:picLocks noChangeAspect="1" noChangeArrowheads="1"/>
          </p:cNvPicPr>
          <p:nvPr/>
        </p:nvPicPr>
        <p:blipFill>
          <a:blip r:embed="rId2" cstate="print"/>
          <a:srcRect/>
          <a:stretch>
            <a:fillRect/>
          </a:stretch>
        </p:blipFill>
        <p:spPr bwMode="auto">
          <a:xfrm>
            <a:off x="0" y="0"/>
            <a:ext cx="5429256" cy="3780120"/>
          </a:xfrm>
          <a:prstGeom prst="rect">
            <a:avLst/>
          </a:prstGeom>
          <a:noFill/>
        </p:spPr>
      </p:pic>
      <p:pic>
        <p:nvPicPr>
          <p:cNvPr id="16388" name="Picture 4" descr="Picture background"/>
          <p:cNvPicPr>
            <a:picLocks noChangeAspect="1" noChangeArrowheads="1"/>
          </p:cNvPicPr>
          <p:nvPr/>
        </p:nvPicPr>
        <p:blipFill>
          <a:blip r:embed="rId3"/>
          <a:srcRect/>
          <a:stretch>
            <a:fillRect/>
          </a:stretch>
        </p:blipFill>
        <p:spPr bwMode="auto">
          <a:xfrm>
            <a:off x="3518310" y="4357694"/>
            <a:ext cx="5625689" cy="2500306"/>
          </a:xfrm>
          <a:prstGeom prst="rect">
            <a:avLst/>
          </a:prstGeom>
          <a:noFill/>
        </p:spPr>
      </p:pic>
      <p:sp>
        <p:nvSpPr>
          <p:cNvPr id="6" name="Прямоугольник 5"/>
          <p:cNvSpPr/>
          <p:nvPr/>
        </p:nvSpPr>
        <p:spPr>
          <a:xfrm>
            <a:off x="5572132" y="1428736"/>
            <a:ext cx="3266022" cy="5078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ru-RU" sz="27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Пример карты сайта</a:t>
            </a:r>
            <a:endParaRPr lang="ru-RU" sz="27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7" name="Прямоугольник 6"/>
          <p:cNvSpPr/>
          <p:nvPr/>
        </p:nvSpPr>
        <p:spPr>
          <a:xfrm>
            <a:off x="0" y="4786322"/>
            <a:ext cx="3143239" cy="1338828"/>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ru-RU" sz="27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Логика пользовательского пути</a:t>
            </a:r>
            <a:endParaRPr lang="ru-RU" sz="27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srcRect/>
          <a:stretch>
            <a:fillRect/>
          </a:stretch>
        </p:blipFill>
        <p:spPr bwMode="auto">
          <a:xfrm>
            <a:off x="500034" y="0"/>
            <a:ext cx="7929586" cy="6290805"/>
          </a:xfrm>
          <a:prstGeom prst="rect">
            <a:avLst/>
          </a:prstGeom>
          <a:noFill/>
          <a:ln w="9525">
            <a:noFill/>
            <a:miter lim="800000"/>
            <a:headEnd/>
            <a:tailEnd/>
          </a:ln>
          <a:effectLst/>
        </p:spPr>
      </p:pic>
      <p:sp>
        <p:nvSpPr>
          <p:cNvPr id="3" name="Прямоугольник 2"/>
          <p:cNvSpPr/>
          <p:nvPr/>
        </p:nvSpPr>
        <p:spPr>
          <a:xfrm>
            <a:off x="0" y="6072206"/>
            <a:ext cx="9144000" cy="507831"/>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ru-RU" sz="27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Что учитывать при создании сайта?</a:t>
            </a:r>
            <a:endParaRPr lang="ru-RU" sz="27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Offer</a:t>
            </a:r>
            <a:r>
              <a:rPr lang="ru-RU" sz="3200" b="1" dirty="0" smtClean="0">
                <a:latin typeface="Cambria" pitchFamily="18" charset="0"/>
              </a:rPr>
              <a:t> </a:t>
            </a:r>
            <a:r>
              <a:rPr lang="ru-RU" sz="3200" b="1" dirty="0" err="1" smtClean="0">
                <a:latin typeface="Cambria" pitchFamily="18" charset="0"/>
              </a:rPr>
              <a:t>Deadline</a:t>
            </a:r>
            <a:r>
              <a:rPr lang="ru-RU" sz="3200" b="1" dirty="0" smtClean="0">
                <a:latin typeface="Cambria" pitchFamily="18" charset="0"/>
              </a:rPr>
              <a:t> </a:t>
            </a:r>
            <a:r>
              <a:rPr lang="ru-RU" sz="3200" b="1" dirty="0" err="1" smtClean="0">
                <a:latin typeface="Cambria" pitchFamily="18" charset="0"/>
              </a:rPr>
              <a:t>Call</a:t>
            </a:r>
            <a:r>
              <a:rPr lang="ru-RU" sz="3200" b="1" dirty="0" smtClean="0">
                <a:latin typeface="Cambria" pitchFamily="18" charset="0"/>
              </a:rPr>
              <a:t> </a:t>
            </a:r>
            <a:r>
              <a:rPr lang="ru-RU" sz="3200" b="1" dirty="0" err="1" smtClean="0">
                <a:latin typeface="Cambria" pitchFamily="18" charset="0"/>
              </a:rPr>
              <a:t>to</a:t>
            </a:r>
            <a:r>
              <a:rPr lang="ru-RU" sz="3200" b="1" dirty="0" smtClean="0">
                <a:latin typeface="Cambria" pitchFamily="18" charset="0"/>
              </a:rPr>
              <a:t> </a:t>
            </a:r>
            <a:r>
              <a:rPr lang="ru-RU" sz="3200" b="1" dirty="0" err="1" smtClean="0">
                <a:latin typeface="Cambria" pitchFamily="18" charset="0"/>
              </a:rPr>
              <a:t>action</a:t>
            </a:r>
            <a:endParaRPr lang="ru-RU" sz="3200" b="1" dirty="0"/>
          </a:p>
        </p:txBody>
      </p:sp>
      <p:sp>
        <p:nvSpPr>
          <p:cNvPr id="12" name="Прямоугольник 11"/>
          <p:cNvSpPr/>
          <p:nvPr/>
        </p:nvSpPr>
        <p:spPr>
          <a:xfrm>
            <a:off x="0" y="2214554"/>
            <a:ext cx="9144000" cy="163121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Offer</a:t>
            </a:r>
            <a:r>
              <a:rPr lang="ru-RU" sz="2000" dirty="0" smtClean="0">
                <a:latin typeface="Times New Roman" pitchFamily="18" charset="0"/>
                <a:cs typeface="Times New Roman" pitchFamily="18" charset="0"/>
              </a:rPr>
              <a:t> – это ваше «вкусное» предложение. И это далеко не банальные скидки, которые работают все хуже. Предложение может быть материальным (</a:t>
            </a:r>
            <a:r>
              <a:rPr lang="ru-RU" sz="2000" dirty="0" err="1" smtClean="0">
                <a:latin typeface="Times New Roman" pitchFamily="18" charset="0"/>
                <a:cs typeface="Times New Roman" pitchFamily="18" charset="0"/>
              </a:rPr>
              <a:t>флешка</a:t>
            </a:r>
            <a:r>
              <a:rPr lang="ru-RU" sz="2000" dirty="0" smtClean="0">
                <a:latin typeface="Times New Roman" pitchFamily="18" charset="0"/>
                <a:cs typeface="Times New Roman" pitchFamily="18" charset="0"/>
              </a:rPr>
              <a:t> в подарок) или нематериальным (бесплатная доставка) стимулом к покупке. Или в виде предоставления скидки после выполнения условий («купи три – четвертый в подарок»). Фактически это причина купить именно у вас. </a:t>
            </a:r>
          </a:p>
        </p:txBody>
      </p:sp>
      <p:sp>
        <p:nvSpPr>
          <p:cNvPr id="14" name="Прямоугольник 13"/>
          <p:cNvSpPr/>
          <p:nvPr/>
        </p:nvSpPr>
        <p:spPr>
          <a:xfrm>
            <a:off x="0" y="4000504"/>
            <a:ext cx="9144000" cy="163121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Deadline</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это ограничитель. Давно замечено, что без ограничителя реклама не так эффективная. Ограничивать можно по времени («до завтрашнего утра»), по количеству («только первые пять заказов») или комбинированным способом («первые пять заказов до завтрашнего утра»). Это веская причина купить у вас прямо сейчас. </a:t>
            </a:r>
          </a:p>
        </p:txBody>
      </p:sp>
      <p:sp>
        <p:nvSpPr>
          <p:cNvPr id="16" name="Прямоугольник 15"/>
          <p:cNvSpPr/>
          <p:nvPr/>
        </p:nvSpPr>
        <p:spPr>
          <a:xfrm>
            <a:off x="0" y="5786454"/>
            <a:ext cx="9144000" cy="70788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Call-to-action</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 дословно это призыв к действию: «купи!», «зайди!». Все это, как ни странно, работает и существенно повышает отклик на рекламу.</a:t>
            </a:r>
          </a:p>
        </p:txBody>
      </p:sp>
      <p:sp>
        <p:nvSpPr>
          <p:cNvPr id="17" name="Прямоугольник 16"/>
          <p:cNvSpPr/>
          <p:nvPr/>
        </p:nvSpPr>
        <p:spPr>
          <a:xfrm>
            <a:off x="0" y="928670"/>
            <a:ext cx="9144000" cy="1015663"/>
          </a:xfrm>
          <a:prstGeom prst="rect">
            <a:avLst/>
          </a:prstGeom>
          <a:solidFill>
            <a:schemeClr val="tx2">
              <a:lumMod val="20000"/>
              <a:lumOff val="80000"/>
            </a:schemeClr>
          </a:solidFill>
          <a:ln>
            <a:solidFill>
              <a:schemeClr val="tx1"/>
            </a:solidFill>
          </a:ln>
        </p:spPr>
        <p:txBody>
          <a:bodyPr wrap="square">
            <a:spAutoFit/>
          </a:bodyPr>
          <a:lstStyle/>
          <a:p>
            <a:pPr algn="just" fontAlgn="base"/>
            <a:r>
              <a:rPr lang="ru-RU" sz="2000" b="1" dirty="0" smtClean="0">
                <a:latin typeface="Times New Roman" pitchFamily="18" charset="0"/>
                <a:cs typeface="Times New Roman" pitchFamily="18" charset="0"/>
              </a:rPr>
              <a:t>Принцип ODC (</a:t>
            </a:r>
            <a:r>
              <a:rPr lang="ru-RU" sz="2000" b="1" dirty="0" err="1" smtClean="0">
                <a:latin typeface="Times New Roman" pitchFamily="18" charset="0"/>
                <a:cs typeface="Times New Roman" pitchFamily="18" charset="0"/>
              </a:rPr>
              <a:t>Offer</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Deadline</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Call</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to</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Action</a:t>
            </a:r>
            <a:r>
              <a:rPr lang="ru-RU" sz="2000" b="1" dirty="0" smtClean="0">
                <a:latin typeface="Times New Roman" pitchFamily="18" charset="0"/>
                <a:cs typeface="Times New Roman" pitchFamily="18" charset="0"/>
              </a:rPr>
              <a:t>) - </a:t>
            </a:r>
            <a:r>
              <a:rPr lang="ru-RU" sz="2000" dirty="0" smtClean="0">
                <a:latin typeface="Times New Roman" pitchFamily="18" charset="0"/>
                <a:cs typeface="Times New Roman" pitchFamily="18" charset="0"/>
              </a:rPr>
              <a:t>это метод создания рекламных объявлений, который включает в себя предложение (</a:t>
            </a:r>
            <a:r>
              <a:rPr lang="ru-RU" sz="2000" dirty="0" err="1" smtClean="0">
                <a:latin typeface="Times New Roman" pitchFamily="18" charset="0"/>
                <a:cs typeface="Times New Roman" pitchFamily="18" charset="0"/>
              </a:rPr>
              <a:t>offer</a:t>
            </a:r>
            <a:r>
              <a:rPr lang="ru-RU" sz="2000" dirty="0" smtClean="0">
                <a:latin typeface="Times New Roman" pitchFamily="18" charset="0"/>
                <a:cs typeface="Times New Roman" pitchFamily="18" charset="0"/>
              </a:rPr>
              <a:t>), ограничение по времени (</a:t>
            </a:r>
            <a:r>
              <a:rPr lang="ru-RU" sz="2000" dirty="0" err="1" smtClean="0">
                <a:latin typeface="Times New Roman" pitchFamily="18" charset="0"/>
                <a:cs typeface="Times New Roman" pitchFamily="18" charset="0"/>
              </a:rPr>
              <a:t>deadline</a:t>
            </a:r>
            <a:r>
              <a:rPr lang="ru-RU" sz="2000" dirty="0" smtClean="0">
                <a:latin typeface="Times New Roman" pitchFamily="18" charset="0"/>
                <a:cs typeface="Times New Roman" pitchFamily="18" charset="0"/>
              </a:rPr>
              <a:t>) и призыв к действию (</a:t>
            </a:r>
            <a:r>
              <a:rPr lang="ru-RU" sz="2000" dirty="0" err="1" smtClean="0">
                <a:latin typeface="Times New Roman" pitchFamily="18" charset="0"/>
                <a:cs typeface="Times New Roman" pitchFamily="18" charset="0"/>
              </a:rPr>
              <a:t>call</a:t>
            </a:r>
            <a:r>
              <a:rPr lang="ru-RU"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to</a:t>
            </a:r>
            <a:r>
              <a:rPr lang="ru-RU"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action</a:t>
            </a:r>
            <a:r>
              <a:rPr lang="ru-RU"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latin typeface="Cambria" pitchFamily="18" charset="0"/>
              </a:rPr>
              <a:t>Offer</a:t>
            </a:r>
            <a:r>
              <a:rPr lang="ru-RU" sz="3200" b="1" dirty="0" smtClean="0">
                <a:latin typeface="Cambria" pitchFamily="18" charset="0"/>
              </a:rPr>
              <a:t> </a:t>
            </a:r>
            <a:r>
              <a:rPr lang="ru-RU" sz="3200" b="1" dirty="0" err="1" smtClean="0">
                <a:latin typeface="Cambria" pitchFamily="18" charset="0"/>
              </a:rPr>
              <a:t>Deadline</a:t>
            </a:r>
            <a:r>
              <a:rPr lang="ru-RU" sz="3200" b="1" dirty="0" smtClean="0">
                <a:latin typeface="Cambria" pitchFamily="18" charset="0"/>
              </a:rPr>
              <a:t> </a:t>
            </a:r>
            <a:r>
              <a:rPr lang="ru-RU" sz="3200" b="1" dirty="0" err="1" smtClean="0">
                <a:latin typeface="Cambria" pitchFamily="18" charset="0"/>
              </a:rPr>
              <a:t>Call</a:t>
            </a:r>
            <a:r>
              <a:rPr lang="ru-RU" sz="3200" b="1" dirty="0" smtClean="0">
                <a:latin typeface="Cambria" pitchFamily="18" charset="0"/>
              </a:rPr>
              <a:t> </a:t>
            </a:r>
            <a:r>
              <a:rPr lang="ru-RU" sz="3200" b="1" dirty="0" err="1" smtClean="0">
                <a:latin typeface="Cambria" pitchFamily="18" charset="0"/>
              </a:rPr>
              <a:t>to</a:t>
            </a:r>
            <a:r>
              <a:rPr lang="ru-RU" sz="3200" b="1" dirty="0" smtClean="0">
                <a:latin typeface="Cambria" pitchFamily="18" charset="0"/>
              </a:rPr>
              <a:t> </a:t>
            </a:r>
            <a:r>
              <a:rPr lang="ru-RU" sz="3200" b="1" dirty="0" err="1" smtClean="0">
                <a:latin typeface="Cambria" pitchFamily="18" charset="0"/>
              </a:rPr>
              <a:t>action</a:t>
            </a:r>
            <a:endParaRPr lang="ru-RU" sz="3200" b="1" dirty="0"/>
          </a:p>
        </p:txBody>
      </p:sp>
      <p:sp>
        <p:nvSpPr>
          <p:cNvPr id="4" name="Прямоугольник 3"/>
          <p:cNvSpPr/>
          <p:nvPr/>
        </p:nvSpPr>
        <p:spPr>
          <a:xfrm>
            <a:off x="0" y="1500174"/>
            <a:ext cx="9144000" cy="2369880"/>
          </a:xfrm>
          <a:prstGeom prst="rect">
            <a:avLst/>
          </a:prstGeom>
        </p:spPr>
        <p:txBody>
          <a:bodyPr wrap="square">
            <a:spAutoFit/>
          </a:bodyPr>
          <a:lstStyle/>
          <a:p>
            <a:pPr algn="just" fontAlgn="base"/>
            <a:r>
              <a:rPr lang="ru-RU" sz="2200" dirty="0" smtClean="0">
                <a:latin typeface="Times New Roman" pitchFamily="18" charset="0"/>
                <a:cs typeface="Times New Roman" pitchFamily="18" charset="0"/>
              </a:rPr>
              <a:t>Пример объявления, использующего принцип ODC:  </a:t>
            </a:r>
            <a:endParaRPr lang="en-US" sz="2200" dirty="0" smtClean="0">
              <a:latin typeface="Times New Roman" pitchFamily="18" charset="0"/>
              <a:cs typeface="Times New Roman" pitchFamily="18" charset="0"/>
            </a:endParaRPr>
          </a:p>
          <a:p>
            <a:pPr algn="just" fontAlgn="base"/>
            <a:endParaRPr lang="ru-RU" sz="1900" b="1" dirty="0" smtClean="0">
              <a:latin typeface="Times New Roman" pitchFamily="18" charset="0"/>
              <a:cs typeface="Times New Roman" pitchFamily="18" charset="0"/>
            </a:endParaRPr>
          </a:p>
          <a:p>
            <a:pPr algn="ctr" fontAlgn="base"/>
            <a:r>
              <a:rPr lang="ru-RU" sz="1900" b="1" dirty="0" smtClean="0">
                <a:latin typeface="Times New Roman" pitchFamily="18" charset="0"/>
                <a:cs typeface="Times New Roman" pitchFamily="18" charset="0"/>
              </a:rPr>
              <a:t>Ночью </a:t>
            </a:r>
            <a:r>
              <a:rPr lang="ru-RU" sz="1900" b="1" dirty="0" err="1" smtClean="0">
                <a:latin typeface="Times New Roman" pitchFamily="18" charset="0"/>
                <a:cs typeface="Times New Roman" pitchFamily="18" charset="0"/>
              </a:rPr>
              <a:t>iPhone</a:t>
            </a:r>
            <a:r>
              <a:rPr lang="ru-RU" sz="1900" b="1" dirty="0" smtClean="0">
                <a:latin typeface="Times New Roman" pitchFamily="18" charset="0"/>
                <a:cs typeface="Times New Roman" pitchFamily="18" charset="0"/>
              </a:rPr>
              <a:t> 5 дешевле! При заказе сейчас бесплатная доставка утром. Оцени!</a:t>
            </a:r>
          </a:p>
          <a:p>
            <a:pPr algn="just" fontAlgn="base"/>
            <a:endParaRPr lang="en-US" sz="2200" dirty="0" smtClean="0">
              <a:latin typeface="Times New Roman" pitchFamily="18" charset="0"/>
              <a:cs typeface="Times New Roman" pitchFamily="18" charset="0"/>
            </a:endParaRPr>
          </a:p>
          <a:p>
            <a:pPr algn="just" fontAlgn="base"/>
            <a:endParaRPr lang="en-US" sz="2200" dirty="0" smtClean="0">
              <a:latin typeface="Times New Roman" pitchFamily="18" charset="0"/>
              <a:cs typeface="Times New Roman" pitchFamily="18" charset="0"/>
            </a:endParaRPr>
          </a:p>
          <a:p>
            <a:pPr algn="just" fontAlgn="base"/>
            <a:endParaRPr lang="en-US" sz="2200" dirty="0" smtClean="0">
              <a:latin typeface="Times New Roman" pitchFamily="18" charset="0"/>
              <a:cs typeface="Times New Roman" pitchFamily="18" charset="0"/>
            </a:endParaRPr>
          </a:p>
          <a:p>
            <a:pPr algn="just" fontAlgn="base"/>
            <a:endParaRPr lang="ru-RU" sz="2200" dirty="0">
              <a:latin typeface="Times New Roman" pitchFamily="18" charset="0"/>
              <a:cs typeface="Times New Roman" pitchFamily="18" charset="0"/>
            </a:endParaRPr>
          </a:p>
        </p:txBody>
      </p:sp>
      <p:sp>
        <p:nvSpPr>
          <p:cNvPr id="5" name="Скругленный прямоугольник 4"/>
          <p:cNvSpPr/>
          <p:nvPr/>
        </p:nvSpPr>
        <p:spPr>
          <a:xfrm>
            <a:off x="857224"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Offer (</a:t>
            </a:r>
            <a:r>
              <a:rPr lang="ru-RU" dirty="0" smtClean="0"/>
              <a:t>Предложение</a:t>
            </a:r>
            <a:r>
              <a:rPr lang="en-US" dirty="0" smtClean="0"/>
              <a:t>)</a:t>
            </a:r>
            <a:endParaRPr lang="ru-RU" dirty="0"/>
          </a:p>
        </p:txBody>
      </p:sp>
      <p:sp>
        <p:nvSpPr>
          <p:cNvPr id="6" name="Скругленный прямоугольник 5"/>
          <p:cNvSpPr/>
          <p:nvPr/>
        </p:nvSpPr>
        <p:spPr>
          <a:xfrm>
            <a:off x="3571868"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Deadline</a:t>
            </a:r>
            <a:r>
              <a:rPr lang="ru-RU" dirty="0" smtClean="0"/>
              <a:t> </a:t>
            </a:r>
            <a:r>
              <a:rPr lang="en-US" dirty="0" smtClean="0"/>
              <a:t>(</a:t>
            </a:r>
            <a:r>
              <a:rPr lang="ru-RU" dirty="0" smtClean="0"/>
              <a:t>ограничение</a:t>
            </a:r>
            <a:r>
              <a:rPr lang="en-US" dirty="0" smtClean="0"/>
              <a:t>)</a:t>
            </a:r>
            <a:endParaRPr lang="ru-RU" dirty="0"/>
          </a:p>
        </p:txBody>
      </p:sp>
      <p:sp>
        <p:nvSpPr>
          <p:cNvPr id="7" name="Скругленный прямоугольник 6"/>
          <p:cNvSpPr/>
          <p:nvPr/>
        </p:nvSpPr>
        <p:spPr>
          <a:xfrm>
            <a:off x="6215074"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err="1" smtClean="0">
                <a:latin typeface="Times New Roman" pitchFamily="18" charset="0"/>
                <a:cs typeface="Times New Roman" pitchFamily="18" charset="0"/>
              </a:rPr>
              <a:t>Call-to-action</a:t>
            </a:r>
            <a:endParaRPr lang="ru-RU" dirty="0" smtClean="0">
              <a:latin typeface="Times New Roman" pitchFamily="18" charset="0"/>
              <a:cs typeface="Times New Roman" pitchFamily="18" charset="0"/>
            </a:endParaRPr>
          </a:p>
          <a:p>
            <a:pPr algn="ctr"/>
            <a:r>
              <a:rPr lang="en-US" dirty="0" smtClean="0"/>
              <a:t>(</a:t>
            </a:r>
            <a:r>
              <a:rPr lang="ru-RU" dirty="0" smtClean="0"/>
              <a:t>призыв к действию</a:t>
            </a:r>
            <a:r>
              <a:rPr lang="en-US" dirty="0" smtClean="0"/>
              <a:t>)</a:t>
            </a:r>
            <a:endParaRPr lang="ru-RU" dirty="0"/>
          </a:p>
        </p:txBody>
      </p:sp>
      <p:cxnSp>
        <p:nvCxnSpPr>
          <p:cNvPr id="9" name="Прямая со стрелкой 8"/>
          <p:cNvCxnSpPr>
            <a:endCxn id="5" idx="0"/>
          </p:cNvCxnSpPr>
          <p:nvPr/>
        </p:nvCxnSpPr>
        <p:spPr>
          <a:xfrm rot="16200000" flipH="1">
            <a:off x="1142976" y="3000372"/>
            <a:ext cx="1214446" cy="21431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endCxn id="6" idx="0"/>
          </p:cNvCxnSpPr>
          <p:nvPr/>
        </p:nvCxnSpPr>
        <p:spPr>
          <a:xfrm rot="5400000">
            <a:off x="4000496" y="3071810"/>
            <a:ext cx="1214446" cy="714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endCxn id="7" idx="0"/>
          </p:cNvCxnSpPr>
          <p:nvPr/>
        </p:nvCxnSpPr>
        <p:spPr>
          <a:xfrm rot="5400000">
            <a:off x="7215206" y="2500306"/>
            <a:ext cx="1214446" cy="121444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Picture background"/>
          <p:cNvPicPr>
            <a:picLocks noChangeAspect="1" noChangeArrowheads="1"/>
          </p:cNvPicPr>
          <p:nvPr/>
        </p:nvPicPr>
        <p:blipFill>
          <a:blip r:embed="rId2"/>
          <a:srcRect/>
          <a:stretch>
            <a:fillRect/>
          </a:stretch>
        </p:blipFill>
        <p:spPr bwMode="auto">
          <a:xfrm>
            <a:off x="857224" y="0"/>
            <a:ext cx="7715272" cy="4233602"/>
          </a:xfrm>
          <a:prstGeom prst="rect">
            <a:avLst/>
          </a:prstGeom>
          <a:noFill/>
        </p:spPr>
      </p:pic>
      <p:pic>
        <p:nvPicPr>
          <p:cNvPr id="18435" name="Picture 3"/>
          <p:cNvPicPr>
            <a:picLocks noChangeAspect="1" noChangeArrowheads="1"/>
          </p:cNvPicPr>
          <p:nvPr/>
        </p:nvPicPr>
        <p:blipFill>
          <a:blip r:embed="rId3"/>
          <a:srcRect/>
          <a:stretch>
            <a:fillRect/>
          </a:stretch>
        </p:blipFill>
        <p:spPr bwMode="auto">
          <a:xfrm>
            <a:off x="2500298" y="4298857"/>
            <a:ext cx="4500562" cy="2559143"/>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1938992"/>
          </a:xfrm>
          <a:prstGeom prst="rect">
            <a:avLst/>
          </a:prstGeom>
        </p:spPr>
        <p:txBody>
          <a:bodyPr wrap="square">
            <a:spAutoFit/>
          </a:bodyPr>
          <a:lstStyle/>
          <a:p>
            <a:pPr algn="just"/>
            <a:r>
              <a:rPr lang="ru-RU" sz="2400" b="1" dirty="0">
                <a:latin typeface="Times New Roman" pitchFamily="18" charset="0"/>
                <a:cs typeface="Times New Roman" pitchFamily="18" charset="0"/>
              </a:rPr>
              <a:t>Внутренняя перелинковка: что это, зачем нужна и простые схемы для небольшого сайта или </a:t>
            </a:r>
            <a:r>
              <a:rPr lang="ru-RU" sz="2400" b="1" dirty="0" err="1" smtClean="0">
                <a:latin typeface="Times New Roman" pitchFamily="18" charset="0"/>
                <a:cs typeface="Times New Roman" pitchFamily="18" charset="0"/>
              </a:rPr>
              <a:t>блога</a:t>
            </a:r>
            <a:endParaRPr lang="ru-RU" sz="2400" b="1" dirty="0" smtClean="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hlinkClick r:id="rId2"/>
              </a:rPr>
              <a:t>https://rookee.ru/blog/vnutrennyaya-perelinkovka-chto-eto-zachem-nuzhna-i-prostye-skhemy-dlya-nebolshogo-sayta-ili-bloga/</a:t>
            </a:r>
            <a:endParaRPr lang="ru-RU" sz="2400" b="1" dirty="0" smtClean="0">
              <a:latin typeface="Times New Roman" pitchFamily="18" charset="0"/>
              <a:cs typeface="Times New Roman" pitchFamily="18" charset="0"/>
            </a:endParaRPr>
          </a:p>
          <a:p>
            <a:pPr algn="just"/>
            <a:endParaRPr lang="ru-RU" sz="2400" b="1" dirty="0">
              <a:latin typeface="Times New Roman" pitchFamily="18" charset="0"/>
              <a:cs typeface="Times New Roman" pitchFamily="18" charset="0"/>
            </a:endParaRPr>
          </a:p>
        </p:txBody>
      </p:sp>
      <p:pic>
        <p:nvPicPr>
          <p:cNvPr id="19458" name="Picture 2" descr="Picture background"/>
          <p:cNvPicPr>
            <a:picLocks noChangeAspect="1" noChangeArrowheads="1"/>
          </p:cNvPicPr>
          <p:nvPr/>
        </p:nvPicPr>
        <p:blipFill>
          <a:blip r:embed="rId3"/>
          <a:srcRect t="20313"/>
          <a:stretch>
            <a:fillRect/>
          </a:stretch>
        </p:blipFill>
        <p:spPr bwMode="auto">
          <a:xfrm>
            <a:off x="0" y="1857364"/>
            <a:ext cx="9144000" cy="3643306"/>
          </a:xfrm>
          <a:prstGeom prst="rect">
            <a:avLst/>
          </a:prstGeom>
          <a:noFill/>
        </p:spPr>
      </p:pic>
      <p:sp>
        <p:nvSpPr>
          <p:cNvPr id="5" name="Прямоугольник 4"/>
          <p:cNvSpPr/>
          <p:nvPr/>
        </p:nvSpPr>
        <p:spPr>
          <a:xfrm>
            <a:off x="0" y="5357826"/>
            <a:ext cx="9144000" cy="507831"/>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ru-RU" sz="27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Вариан</a:t>
            </a:r>
            <a:r>
              <a:rPr lang="ru-RU" sz="27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т внутренней перелинковки</a:t>
            </a:r>
            <a:endParaRPr lang="ru-RU" sz="27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descr="Picture backgroun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20483" name="Picture 3"/>
          <p:cNvPicPr>
            <a:picLocks noChangeAspect="1" noChangeArrowheads="1"/>
          </p:cNvPicPr>
          <p:nvPr/>
        </p:nvPicPr>
        <p:blipFill>
          <a:blip r:embed="rId2" cstate="print"/>
          <a:srcRect/>
          <a:stretch>
            <a:fillRect/>
          </a:stretch>
        </p:blipFill>
        <p:spPr bwMode="auto">
          <a:xfrm>
            <a:off x="1285852" y="1000108"/>
            <a:ext cx="6429388" cy="4092377"/>
          </a:xfrm>
          <a:prstGeom prst="rect">
            <a:avLst/>
          </a:prstGeom>
          <a:noFill/>
          <a:ln w="9525">
            <a:noFill/>
            <a:miter lim="800000"/>
            <a:headEnd/>
            <a:tailEnd/>
          </a:ln>
          <a:effectLst/>
        </p:spPr>
      </p:pic>
      <p:sp>
        <p:nvSpPr>
          <p:cNvPr id="4" name="Прямоугольник 3"/>
          <p:cNvSpPr/>
          <p:nvPr/>
        </p:nvSpPr>
        <p:spPr>
          <a:xfrm>
            <a:off x="1071538" y="5288340"/>
            <a:ext cx="7143768" cy="1569660"/>
          </a:xfrm>
          <a:prstGeom prst="rect">
            <a:avLst/>
          </a:prstGeom>
          <a:solidFill>
            <a:schemeClr val="accent1">
              <a:lumMod val="20000"/>
              <a:lumOff val="80000"/>
            </a:schemeClr>
          </a:solidFill>
        </p:spPr>
        <p:txBody>
          <a:bodyPr wrap="square">
            <a:spAutoFit/>
          </a:bodyPr>
          <a:lstStyle/>
          <a:p>
            <a:pPr algn="just"/>
            <a:r>
              <a:rPr lang="ru-RU" sz="1600" b="1" dirty="0" err="1">
                <a:latin typeface="Times New Roman" pitchFamily="18" charset="0"/>
                <a:cs typeface="Times New Roman" pitchFamily="18" charset="0"/>
              </a:rPr>
              <a:t>Прототипирование</a:t>
            </a:r>
            <a:r>
              <a:rPr lang="ru-RU" sz="1600" b="1" dirty="0">
                <a:latin typeface="Times New Roman" pitchFamily="18" charset="0"/>
                <a:cs typeface="Times New Roman" pitchFamily="18" charset="0"/>
              </a:rPr>
              <a:t> сайта</a:t>
            </a:r>
            <a:r>
              <a:rPr lang="ru-RU" sz="1600" dirty="0">
                <a:latin typeface="Times New Roman" pitchFamily="18" charset="0"/>
                <a:cs typeface="Times New Roman" pitchFamily="18" charset="0"/>
              </a:rPr>
              <a:t> — это этап в разработке, на котором создают упрощённую модель (макет) будущего ресурса. По сути, это эскиз, который визуализирует структуру страниц, расположение ключевых элементов (кнопок, меню, блоков </a:t>
            </a:r>
            <a:r>
              <a:rPr lang="ru-RU" sz="1600" dirty="0" err="1">
                <a:latin typeface="Times New Roman" pitchFamily="18" charset="0"/>
                <a:cs typeface="Times New Roman" pitchFamily="18" charset="0"/>
              </a:rPr>
              <a:t>контента</a:t>
            </a:r>
            <a:r>
              <a:rPr lang="ru-RU" sz="1600" dirty="0">
                <a:latin typeface="Times New Roman" pitchFamily="18" charset="0"/>
                <a:cs typeface="Times New Roman" pitchFamily="18" charset="0"/>
              </a:rPr>
              <a:t>), логику переходов и основные сценарии взаимодействия пользователя с сайтом. Главная задача такого прототипа — показать, как будет устроена логика и навигация, а не создать красивый дизайн.</a:t>
            </a:r>
          </a:p>
        </p:txBody>
      </p:sp>
      <p:sp>
        <p:nvSpPr>
          <p:cNvPr id="5" name="Прямоугольник 4"/>
          <p:cNvSpPr/>
          <p:nvPr/>
        </p:nvSpPr>
        <p:spPr>
          <a:xfrm>
            <a:off x="0" y="0"/>
            <a:ext cx="9144000" cy="1200329"/>
          </a:xfrm>
          <a:prstGeom prst="rect">
            <a:avLst/>
          </a:prstGeom>
        </p:spPr>
        <p:txBody>
          <a:bodyPr wrap="square">
            <a:spAutoFit/>
          </a:bodyPr>
          <a:lstStyle/>
          <a:p>
            <a:pPr algn="just"/>
            <a:r>
              <a:rPr lang="ru-RU" b="1" dirty="0"/>
              <a:t>Подборка бесплатных инструментов 2026 для дизайна интерфейсов и разработки </a:t>
            </a:r>
            <a:r>
              <a:rPr lang="ru-RU" b="1" dirty="0" smtClean="0"/>
              <a:t>сайтов</a:t>
            </a:r>
            <a:endParaRPr lang="en-US" b="1" dirty="0" smtClean="0"/>
          </a:p>
          <a:p>
            <a:pPr algn="just"/>
            <a:r>
              <a:rPr lang="en-US" b="1" dirty="0" smtClean="0">
                <a:hlinkClick r:id="rId3"/>
              </a:rPr>
              <a:t>https://pr-cy.ru/news/p/5126-besplatnye-instrumenty-dlya-realizatsii-proektov-lyuboy-slozhnosti?ysclid=mtfpnkxigj413004706</a:t>
            </a:r>
            <a:endParaRPr lang="en-US" b="1" dirty="0" smtClean="0"/>
          </a:p>
          <a:p>
            <a:pPr algn="just"/>
            <a:endParaRPr lang="ru-RU"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Picture background"/>
          <p:cNvPicPr>
            <a:picLocks noChangeAspect="1" noChangeArrowheads="1"/>
          </p:cNvPicPr>
          <p:nvPr/>
        </p:nvPicPr>
        <p:blipFill>
          <a:blip r:embed="rId2"/>
          <a:srcRect/>
          <a:stretch>
            <a:fillRect/>
          </a:stretch>
        </p:blipFill>
        <p:spPr bwMode="auto">
          <a:xfrm>
            <a:off x="2357422" y="-14560"/>
            <a:ext cx="3867128" cy="687256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000108"/>
            <a:ext cx="9144000" cy="34163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ru-RU"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Выберите тему сайта, кратко опишите цель выбранного сайта и ключевые задачи, которые сайт должен решить</a:t>
            </a:r>
            <a:endParaRPr lang="ru-RU"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305</Words>
  <Application>Microsoft Office PowerPoint</Application>
  <PresentationFormat>Экран (4:3)</PresentationFormat>
  <Paragraphs>28</Paragraphs>
  <Slides>13</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13</vt:i4>
      </vt:variant>
    </vt:vector>
  </HeadingPairs>
  <TitlesOfParts>
    <vt:vector size="14" baseType="lpstr">
      <vt:lpstr>Тема Office</vt:lpstr>
      <vt:lpstr>Виды сайтов и выбор формата под рекламную задачу. Жизненный цикл создания сайта</vt:lpstr>
      <vt:lpstr>Слайд 2</vt:lpstr>
      <vt:lpstr>Слайд 3</vt:lpstr>
      <vt:lpstr>Слайд 4</vt:lpstr>
      <vt:lpstr>Слайд 5</vt:lpstr>
      <vt:lpstr>Слайд 6</vt:lpstr>
      <vt:lpstr>Offer Deadline Call to action</vt:lpstr>
      <vt:lpstr>Offer Deadline Call to action</vt:lpstr>
      <vt:lpstr>Слайд 9</vt:lpstr>
      <vt:lpstr>Слайд 10</vt:lpstr>
      <vt:lpstr>Слайд 11</vt:lpstr>
      <vt:lpstr>Слайд 12</vt:lpstr>
      <vt:lpstr>Слайд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user</dc:creator>
  <cp:lastModifiedBy>user</cp:lastModifiedBy>
  <cp:revision>6</cp:revision>
  <dcterms:created xsi:type="dcterms:W3CDTF">2026-08-30T10:51:48Z</dcterms:created>
  <dcterms:modified xsi:type="dcterms:W3CDTF">2026-08-31T08:55:29Z</dcterms:modified>
</cp:coreProperties>
</file>