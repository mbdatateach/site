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97" r:id="rId5"/>
    <p:sldId id="298" r:id="rId6"/>
    <p:sldId id="299" r:id="rId7"/>
    <p:sldId id="300" r:id="rId8"/>
    <p:sldId id="301" r:id="rId9"/>
    <p:sldId id="302" r:id="rId10"/>
    <p:sldId id="274" r:id="rId11"/>
    <p:sldId id="265" r:id="rId12"/>
    <p:sldId id="273" r:id="rId13"/>
    <p:sldId id="266" r:id="rId14"/>
    <p:sldId id="269" r:id="rId15"/>
    <p:sldId id="270" r:id="rId16"/>
    <p:sldId id="271" r:id="rId17"/>
    <p:sldId id="272" r:id="rId18"/>
    <p:sldId id="280" r:id="rId19"/>
    <p:sldId id="281" r:id="rId20"/>
    <p:sldId id="277" r:id="rId21"/>
    <p:sldId id="279" r:id="rId22"/>
    <p:sldId id="278" r:id="rId23"/>
    <p:sldId id="295" r:id="rId24"/>
    <p:sldId id="296" r:id="rId25"/>
    <p:sldId id="288" r:id="rId26"/>
    <p:sldId id="289" r:id="rId27"/>
    <p:sldId id="290" r:id="rId28"/>
    <p:sldId id="291" r:id="rId29"/>
    <p:sldId id="292" r:id="rId30"/>
    <p:sldId id="293" r:id="rId31"/>
    <p:sldId id="294" r:id="rId3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0867" autoAdjust="0"/>
    <p:restoredTop sz="94660"/>
  </p:normalViewPr>
  <p:slideViewPr>
    <p:cSldViewPr>
      <p:cViewPr>
        <p:scale>
          <a:sx n="75" d="100"/>
          <a:sy n="75" d="100"/>
        </p:scale>
        <p:origin x="-2826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23.09.2026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nton.shevchuk.name/javascript/jquery-for-beginners-write-plugins/" TargetMode="External"/><Relationship Id="rId2" Type="http://schemas.openxmlformats.org/officeDocument/2006/relationships/hyperlink" Target="https://xtalk.pro/articles/153/urok-11-jquery-plaginy-i-rasshireniya-kak-ispolzovat-i-sozdavat-svoi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codepen.io/tag/jquery-plugin?cursor=ZD0xJm89MCZwPTE" TargetMode="External"/><Relationship Id="rId4" Type="http://schemas.openxmlformats.org/officeDocument/2006/relationships/hyperlink" Target="https://www.jqueryscript.net/blog/best-pagination-plugins.html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yrusakov.ru/javascript-skripty.html?ysclid=m4ole06cpf178961639" TargetMode="External"/><Relationship Id="rId2" Type="http://schemas.openxmlformats.org/officeDocument/2006/relationships/hyperlink" Target="https://colorscheme.ru/html-colors.html?ysclid=m6j4ulvj4i130544151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skillbox.ru/media/code/chto-takoe-modalnye-okna-i-kak-ikh-effektivno-ispolzovat/?ysclid=mfcbq3sn72390337338" TargetMode="External"/><Relationship Id="rId4" Type="http://schemas.openxmlformats.org/officeDocument/2006/relationships/hyperlink" Target="https://thecode.media/count-timer/?ysclid=mfcbdmbebw425730494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ka-guide.vercel.app/js/prompt/" TargetMode="External"/><Relationship Id="rId2" Type="http://schemas.openxmlformats.org/officeDocument/2006/relationships/hyperlink" Target="https://vk.cc/cPCkOo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learn.javascript.ru/string?ysclid=mfthrj1lf5772577549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web.ru/java/forms.php?ysclid=mg3njo7les571227432" TargetMode="External"/><Relationship Id="rId2" Type="http://schemas.openxmlformats.org/officeDocument/2006/relationships/hyperlink" Target="https://www.emailjs.com/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rutube.ru/video/ddccdfc7cadfc60d3cc6a0af1ded5cc5/" TargetMode="External"/><Relationship Id="rId4" Type="http://schemas.openxmlformats.org/officeDocument/2006/relationships/hyperlink" Target="https://www.emailjs.com/docs/tutorial/creating-contact-form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mailjs.com/docs/tutorial/creating-contact-form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Базовый </a:t>
            </a:r>
            <a:r>
              <a:rPr lang="en-US" b="1" dirty="0" smtClean="0"/>
              <a:t>JavaScript </a:t>
            </a:r>
            <a:r>
              <a:rPr lang="ru-RU" b="1" dirty="0" smtClean="0"/>
              <a:t>для сайтов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это язык программирования, который используется для создания интерактивных и динамических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веб-сайтов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Он позволяет разработчикам добавлять функциональность к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веб-страницам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делать их более отзывчивыми к действиям пользователя и обеспечивать взаимодействие с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веб-серверами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загрузки или отправки данных без необходимости перезагрузки страницы. </a:t>
            </a:r>
          </a:p>
          <a:p>
            <a:pPr algn="just"/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Некоторые возможности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для сайтов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отображение своевременных и актуальных обновлений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вставка раскрывающихся меню;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воспроизведение аудио и видео;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увеличение и уменьшение изображений;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добавление 2D/3D графики и анимации;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вставка эффектов, которые приходят в действие при наведении курсора;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отображение и скрытие меню;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предупреждение пользователей о недопустимых символах при вводе паролей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5380696"/>
            <a:ext cx="9144000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Добавить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в HTML-документ можно двумя способами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Встроенный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Код встраивается непосредственно в HTML-документ, в тегах 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Внешний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Код размещается в отдельном файле и подключается к HTML-документу.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создания программ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не требуется никаких дополнительных средств— необходим лишь браузер, поддерживающий язык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соответствующей версии и текстовый редактор, позволяющий создавать HTML-документы. Так как программа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встраивается непосредственно в текст HTML-документа, вы можете немедленно увидеть результаты своей работы во время просмотра документа браузером и при необходимости внести изменения.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4549676"/>
            <a:ext cx="9144000" cy="2308324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обеспечивает взаимодействие с пользователем. Важной особенностью этого языка является реализованная в нем возможность определять обработчики событий — произвольные порции кода, которые выполняются при наступлении конкретных событий (обычно действий пользователя).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позволяет использовать в качестве обработчиков событий любые новые предварительно заданные функции. Например, можно написать программу, которая выведет в строке состояния специальное сообщение, если пользователь установит указатель "мыши" на гипертекстовую ссылку, или выведет на экран диалоговое окно с запросом на подтверждение выполнения некоторого действия.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298" y="2357430"/>
            <a:ext cx="5734660" cy="2071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20" y="2571744"/>
            <a:ext cx="8229600" cy="1143000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en-US" dirty="0" smtClean="0"/>
              <a:t>1</a:t>
            </a:r>
            <a:r>
              <a:rPr lang="ru-RU" dirty="0" smtClean="0"/>
              <a:t>. </a:t>
            </a:r>
            <a:r>
              <a:rPr lang="ru-RU" dirty="0" smtClean="0"/>
              <a:t>Работа с </a:t>
            </a:r>
            <a:r>
              <a:rPr lang="ru-RU" dirty="0" err="1" smtClean="0"/>
              <a:t>плагинами</a:t>
            </a:r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452431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b="1" i="1" dirty="0" err="1" smtClean="0">
                <a:latin typeface="Cambria" pitchFamily="18" charset="0"/>
              </a:rPr>
              <a:t>jQuery</a:t>
            </a:r>
            <a:r>
              <a:rPr lang="ru-RU" sz="2400" b="1" i="1" dirty="0" smtClean="0">
                <a:latin typeface="Cambria" pitchFamily="18" charset="0"/>
              </a:rPr>
              <a:t> </a:t>
            </a:r>
            <a:r>
              <a:rPr lang="ru-RU" sz="2400" b="1" i="1" dirty="0" err="1" smtClean="0">
                <a:latin typeface="Cambria" pitchFamily="18" charset="0"/>
              </a:rPr>
              <a:t>плагины</a:t>
            </a:r>
            <a:r>
              <a:rPr lang="ru-RU" sz="2400" b="1" i="1" dirty="0" smtClean="0">
                <a:latin typeface="Cambria" pitchFamily="18" charset="0"/>
              </a:rPr>
              <a:t> и расширения — как использовать и создавать свои</a:t>
            </a:r>
          </a:p>
          <a:p>
            <a:pPr algn="just"/>
            <a:r>
              <a:rPr lang="en-US" sz="2400" dirty="0" smtClean="0">
                <a:latin typeface="Cambria" pitchFamily="18" charset="0"/>
                <a:hlinkClick r:id="rId2"/>
              </a:rPr>
              <a:t>https://xtalk.pro/articles/153/urok-11-jquery-plaginy-i-rasshireniya-kak-ispolzovat-i-sozdavat-svoi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dirty="0" smtClean="0">
                <a:latin typeface="Cambria" pitchFamily="18" charset="0"/>
                <a:hlinkClick r:id="rId3"/>
              </a:rPr>
              <a:t>https://anton.shevchuk.name/javascript/jquery-for-beginners-write-plugins/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i="1" dirty="0" smtClean="0">
                <a:latin typeface="Cambria" pitchFamily="18" charset="0"/>
              </a:rPr>
              <a:t>10 Best Pagination Components In JavaScript (2025 Update)</a:t>
            </a:r>
          </a:p>
          <a:p>
            <a:pPr algn="just"/>
            <a:r>
              <a:rPr lang="en-US" sz="2400" i="1" dirty="0" smtClean="0">
                <a:latin typeface="Cambria" pitchFamily="18" charset="0"/>
                <a:hlinkClick r:id="rId4"/>
              </a:rPr>
              <a:t>https://www.jqueryscript.net/blog/best-pagination-plugins.html</a:t>
            </a:r>
            <a:endParaRPr lang="ru-RU" sz="2400" i="1" dirty="0" smtClean="0">
              <a:latin typeface="Cambria" pitchFamily="18" charset="0"/>
            </a:endParaRPr>
          </a:p>
          <a:p>
            <a:pPr algn="just"/>
            <a:endParaRPr lang="ru-RU" sz="2400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jquery-plugin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  <a:hlinkClick r:id="rId5"/>
              </a:rPr>
              <a:t>https://codepen.io/tag/jquery-plugin?cursor=ZD0xJm89MCZwPTE</a:t>
            </a:r>
            <a:r>
              <a:rPr lang="en-US" sz="2400" i="1" dirty="0" smtClean="0">
                <a:latin typeface="Cambria" pitchFamily="18" charset="0"/>
              </a:rPr>
              <a:t>=</a:t>
            </a:r>
            <a:endParaRPr lang="ru-RU" sz="2400" i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endParaRPr lang="ru-RU" b="1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0" y="857232"/>
            <a:ext cx="9144000" cy="2214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существуют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(инструменты) для разных задач: вёрстки, работы с формами, анимации и тестирования. Они могут быть разработаны для разных библиотек, например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jQuery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и встраиваться в основное приложение без изменения исходного кода.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 — это дополнение к программе, которое добавляет новые функции или улучшает уже существующие. 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0" y="3429000"/>
            <a:ext cx="9144000" cy="30469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обычно предоставляются в виде одного или нескольких JavaScript-файлов. Чтобы использовать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проекте, необходимо: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и подключить его к проекту.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Подключить CSS-стили (если необходимо) — многие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требуют этого для корректного отображения.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Инициализировать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после подключения необходимо его правильно вызвать, чтобы он начал работать.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642918"/>
            <a:ext cx="9144000" cy="3429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r>
              <a:rPr lang="ru-RU" b="1" dirty="0" smtClean="0"/>
              <a:t> в сети Интернет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71480"/>
            <a:ext cx="91440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 текущий момент в сети Интернет можно найти множество ресурсов, посвященных демонстрации работы бесплатных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Одним из популярных ресурсов является</a:t>
            </a:r>
          </a:p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CodePen.io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 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онлайн-платформа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фронтенд-разработчиков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где можно создавать и тестировать HTML, CSS и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прямо в браузере. Это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онлайн-редактор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кода, а также интернет-сообщество, где пользователи могут делиться своими разработками.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Если на этом сайте будет найден интересующий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всегда можно найти больше примеров и теоретической информации, если искать его название (или части кода). Иногда можно выйти на страницу проекта самого разработчика (например, в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GitHub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14818"/>
            <a:ext cx="6215074" cy="1757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81640" y="4214818"/>
            <a:ext cx="3562360" cy="2643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4214818"/>
            <a:ext cx="2286016" cy="12858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единительная линия 7"/>
          <p:cNvCxnSpPr>
            <a:stCxn id="6" idx="2"/>
          </p:cNvCxnSpPr>
          <p:nvPr/>
        </p:nvCxnSpPr>
        <p:spPr>
          <a:xfrm rot="5400000">
            <a:off x="821521" y="5822157"/>
            <a:ext cx="642942" cy="3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>
            <a:off x="1142976" y="6143644"/>
            <a:ext cx="4714908" cy="158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642918"/>
            <a:ext cx="9144000" cy="17145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</a:t>
            </a:r>
            <a:r>
              <a:rPr lang="ru-RU" b="1" dirty="0" smtClean="0"/>
              <a:t>: тестирование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00042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качестве примера рассмотрим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создания тестирования на стороне пользователя. На странице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CodePen.io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можно найти код разметки, стиля и непосредственный код подключения самого тестирования (с помощью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JQuery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). Но на этой странице не приведены дополнительные библиотека, которые нужны для корректной работы. Как раз в этом случае может помочь страница проекта автора.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500306"/>
            <a:ext cx="2643174" cy="4357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/>
          <p:nvPr/>
        </p:nvCxnSpPr>
        <p:spPr>
          <a:xfrm rot="10800000" flipV="1">
            <a:off x="1428728" y="3143248"/>
            <a:ext cx="2500330" cy="85725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3857620" y="2357430"/>
            <a:ext cx="5286380" cy="317009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создания документа в едином файле необходимо: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Вставить после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&lt;title&gt;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ссылки на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стили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Добавить блок с тегами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&lt;style&gt;&lt;/style&gt;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вставки кода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CSS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Вставить код непосредственно самого блока тестирования внутри тега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&lt;body&gt;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Добавить блок кода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между тегами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&lt;script&gt;&lt;/script&gt;</a:t>
            </a:r>
          </a:p>
        </p:txBody>
      </p:sp>
      <p:cxnSp>
        <p:nvCxnSpPr>
          <p:cNvPr id="15" name="Прямая со стрелкой 14"/>
          <p:cNvCxnSpPr/>
          <p:nvPr/>
        </p:nvCxnSpPr>
        <p:spPr>
          <a:xfrm rot="10800000" flipV="1">
            <a:off x="1214414" y="3786190"/>
            <a:ext cx="2714644" cy="42862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rot="10800000" flipV="1">
            <a:off x="1214414" y="4357694"/>
            <a:ext cx="2786082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rot="10800000" flipV="1">
            <a:off x="857224" y="5000636"/>
            <a:ext cx="3071834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endParaRPr lang="ru-RU" b="1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0" y="642918"/>
            <a:ext cx="9144000" cy="60016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могут значительно улучшить твою работу с программами, но как и любое другое расширение, они имеют свои плюсы и минусы.</a:t>
            </a:r>
          </a:p>
          <a:p>
            <a:pPr algn="just"/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Преимущества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Экономия времени и усилий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автоматизация рутинных задач.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Гибкость и индивидуализация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настройка программ под личные нужды.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Легкость и быстрота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программы остаются легкими и быстрыми, так как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можно устанавливать и удалять по необходимости.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Недостатки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Возможные проблемы с совместимостью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особенно при обновлениях основной программы или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Риск безопасности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при скачивании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плагинов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из ненадежных источников.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250030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</a:t>
            </a:r>
            <a:r>
              <a:rPr lang="en-US" dirty="0" smtClean="0"/>
              <a:t>2</a:t>
            </a:r>
            <a:r>
              <a:rPr lang="ru-RU" dirty="0" smtClean="0"/>
              <a:t>. </a:t>
            </a:r>
            <a:r>
              <a:rPr lang="ru-RU" dirty="0" smtClean="0"/>
              <a:t>Внедрение готовых элементов</a:t>
            </a:r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071546"/>
            <a:ext cx="9144000" cy="526297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i="1" dirty="0" smtClean="0">
                <a:latin typeface="Cambria" pitchFamily="18" charset="0"/>
              </a:rPr>
              <a:t>Таблица цветов </a:t>
            </a:r>
            <a:r>
              <a:rPr lang="en-US" sz="2400" i="1" dirty="0" smtClean="0">
                <a:latin typeface="Cambria" pitchFamily="18" charset="0"/>
              </a:rPr>
              <a:t>HTML</a:t>
            </a:r>
          </a:p>
          <a:p>
            <a:pPr algn="just"/>
            <a:r>
              <a:rPr lang="en-US" sz="2400" b="1" dirty="0" smtClean="0">
                <a:latin typeface="Cambria" pitchFamily="18" charset="0"/>
                <a:hlinkClick r:id="rId2"/>
              </a:rPr>
              <a:t>https://colorscheme.ru/html-colors.html?ysclid=m6j4ulvj4i130544151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</a:rPr>
              <a:t>JavaScript </a:t>
            </a:r>
            <a:r>
              <a:rPr lang="ru-RU" sz="2400" i="1" dirty="0" err="1" smtClean="0">
                <a:latin typeface="Cambria" pitchFamily="18" charset="0"/>
              </a:rPr>
              <a:t>Скрипты</a:t>
            </a:r>
            <a:endParaRPr lang="ru-RU" sz="2400" i="1" dirty="0" smtClean="0">
              <a:latin typeface="Cambria" pitchFamily="18" charset="0"/>
            </a:endParaRPr>
          </a:p>
          <a:p>
            <a:r>
              <a:rPr lang="ru-RU" sz="2400" b="1" u="sng" dirty="0" smtClean="0">
                <a:hlinkClick r:id="rId3"/>
              </a:rPr>
              <a:t>https://myrusakov.ru/javascript-skripty.html?ysclid=m4ole06cpf178961639</a:t>
            </a:r>
            <a:endParaRPr lang="ru-RU" sz="2400" b="1" u="sng" dirty="0" smtClean="0"/>
          </a:p>
          <a:p>
            <a:endParaRPr lang="ru-RU" sz="2400" b="1" u="sng" dirty="0" smtClean="0"/>
          </a:p>
          <a:p>
            <a:pPr algn="just"/>
            <a:r>
              <a:rPr lang="ru-RU" sz="2400" i="1" dirty="0" smtClean="0">
                <a:latin typeface="Cambria" pitchFamily="18" charset="0"/>
              </a:rPr>
              <a:t>Встраиваем таймер обратного отсчёта на страницу</a:t>
            </a:r>
          </a:p>
          <a:p>
            <a:r>
              <a:rPr lang="en-US" sz="2400" b="1" dirty="0" smtClean="0">
                <a:hlinkClick r:id="rId4"/>
              </a:rPr>
              <a:t>https://thecode.media/count-timer/?ysclid=mfcbdmbebw425730494</a:t>
            </a:r>
            <a:endParaRPr lang="en-US" sz="2400" b="1" dirty="0" smtClean="0"/>
          </a:p>
          <a:p>
            <a:endParaRPr lang="en-US" sz="2400" b="1" dirty="0" smtClean="0"/>
          </a:p>
          <a:p>
            <a:pPr algn="just"/>
            <a:r>
              <a:rPr lang="ru-RU" sz="2400" i="1" dirty="0" smtClean="0">
                <a:latin typeface="Cambria" pitchFamily="18" charset="0"/>
              </a:rPr>
              <a:t>Что такое модальные окна и как их эффективно использовать</a:t>
            </a:r>
            <a:endParaRPr lang="en-US" sz="2400" i="1" dirty="0" smtClean="0">
              <a:latin typeface="Cambria" pitchFamily="18" charset="0"/>
            </a:endParaRPr>
          </a:p>
          <a:p>
            <a:r>
              <a:rPr lang="en-US" sz="2400" b="1" dirty="0" smtClean="0">
                <a:hlinkClick r:id="rId5"/>
              </a:rPr>
              <a:t>https://skillbox.ru/media/code/chto-takoe-modalnye-okna-i-kak-ikh-effektivno-ispolzovat/?ysclid=mfcbq3sn72390337338</a:t>
            </a:r>
            <a:endParaRPr lang="en-US" sz="24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642918"/>
            <a:ext cx="9144000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используется, например, для создания таймеров обратного отсчёта — виртуальных часов, которые ведут обратный отсчёт от определённой даты (времени) до нуля. Такие таймеры помогают указать начало (или конец) события, например,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веб-сайтах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электронной коммерции — отобразить начало (или конец) предложения.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отдельных случаях можно указывать текущее время.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14480" y="4143381"/>
            <a:ext cx="5685796" cy="2714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2285992"/>
            <a:ext cx="9144000" cy="175432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Таймеры (функции, позволяющие запускать код с задержкой во времени) нужны в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для управления потоком приложения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Они позволяют: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Запланировать выполнение функции через заданное время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(в миллисекундах).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Запустить функцию не сразу, а через определённый промежуток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(асинхронно).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Контролировать поведение приложения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на основе времени: добавлять отложенные действия, анимации, периодические обновления.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/>
          <p:cNvGrpSpPr/>
          <p:nvPr/>
        </p:nvGrpSpPr>
        <p:grpSpPr>
          <a:xfrm>
            <a:off x="1" y="642919"/>
            <a:ext cx="5286380" cy="6215082"/>
            <a:chOff x="1" y="642919"/>
            <a:chExt cx="5286380" cy="6215082"/>
          </a:xfrm>
        </p:grpSpPr>
        <p:pic>
          <p:nvPicPr>
            <p:cNvPr id="35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1" y="642919"/>
              <a:ext cx="5286380" cy="621508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36" name="Прямоугольник 35"/>
            <p:cNvSpPr/>
            <p:nvPr/>
          </p:nvSpPr>
          <p:spPr>
            <a:xfrm>
              <a:off x="571472" y="5072074"/>
              <a:ext cx="2286016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JS</a:t>
            </a:r>
            <a:endParaRPr lang="ru-RU" dirty="0"/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5643570" y="571480"/>
            <a:ext cx="3500430" cy="1169551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Инициализация переменных: создаются переменные для хранения времени (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timer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days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hours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minutes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seconds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). Дата окончания преобразуется в миллисекунды с помощью метода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getTime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. </a:t>
            </a:r>
          </a:p>
        </p:txBody>
      </p:sp>
      <p:cxnSp>
        <p:nvCxnSpPr>
          <p:cNvPr id="7" name="Прямая со стрелкой 6"/>
          <p:cNvCxnSpPr>
            <a:stCxn id="1027" idx="1"/>
          </p:cNvCxnSpPr>
          <p:nvPr/>
        </p:nvCxnSpPr>
        <p:spPr>
          <a:xfrm rot="10800000">
            <a:off x="2928926" y="1142984"/>
            <a:ext cx="2714644" cy="1327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/>
          <p:cNvSpPr/>
          <p:nvPr/>
        </p:nvSpPr>
        <p:spPr>
          <a:xfrm>
            <a:off x="428596" y="785794"/>
            <a:ext cx="2571768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Rectangle 3"/>
          <p:cNvSpPr>
            <a:spLocks noChangeArrowheads="1"/>
          </p:cNvSpPr>
          <p:nvPr/>
        </p:nvSpPr>
        <p:spPr bwMode="auto">
          <a:xfrm>
            <a:off x="5643570" y="1785926"/>
            <a:ext cx="3500430" cy="16004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если дата окончания не является допустимой (возвращается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isNaN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), функция завершает работу.</a:t>
            </a:r>
            <a:endParaRPr lang="en-US" sz="14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Интервал таймера: устанавливается интервал выполнения функции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calculate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каждые 1000 мс (1 секунду) с использованием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setInterval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11" name="Прямая со стрелкой 10"/>
          <p:cNvCxnSpPr>
            <a:stCxn id="10" idx="1"/>
            <a:endCxn id="19" idx="3"/>
          </p:cNvCxnSpPr>
          <p:nvPr/>
        </p:nvCxnSpPr>
        <p:spPr>
          <a:xfrm rot="10800000">
            <a:off x="2928926" y="1821645"/>
            <a:ext cx="2714644" cy="76450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7" idx="1"/>
          </p:cNvCxnSpPr>
          <p:nvPr/>
        </p:nvCxnSpPr>
        <p:spPr>
          <a:xfrm rot="10800000">
            <a:off x="3428992" y="3143250"/>
            <a:ext cx="2214578" cy="690237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3"/>
          <p:cNvSpPr>
            <a:spLocks noChangeArrowheads="1"/>
          </p:cNvSpPr>
          <p:nvPr/>
        </p:nvSpPr>
        <p:spPr bwMode="auto">
          <a:xfrm>
            <a:off x="5643570" y="3571876"/>
            <a:ext cx="3500430" cy="52322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Создает объект текущей даты. Вычисляет оставшееся время в секундах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357158" y="1500174"/>
            <a:ext cx="2571768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Rectangle 3"/>
          <p:cNvSpPr>
            <a:spLocks noChangeArrowheads="1"/>
          </p:cNvSpPr>
          <p:nvPr/>
        </p:nvSpPr>
        <p:spPr bwMode="auto">
          <a:xfrm>
            <a:off x="5643570" y="4286256"/>
            <a:ext cx="3500430" cy="52322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Разделяет оставшееся время на дни, часы, минуты и секунды.</a:t>
            </a:r>
          </a:p>
        </p:txBody>
      </p:sp>
      <p:cxnSp>
        <p:nvCxnSpPr>
          <p:cNvPr id="22" name="Прямая со стрелкой 21"/>
          <p:cNvCxnSpPr>
            <a:stCxn id="21" idx="1"/>
          </p:cNvCxnSpPr>
          <p:nvPr/>
        </p:nvCxnSpPr>
        <p:spPr>
          <a:xfrm rot="10800000" flipV="1">
            <a:off x="3500430" y="4547866"/>
            <a:ext cx="2143140" cy="2414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3"/>
          <p:cNvSpPr>
            <a:spLocks noChangeArrowheads="1"/>
          </p:cNvSpPr>
          <p:nvPr/>
        </p:nvSpPr>
        <p:spPr bwMode="auto">
          <a:xfrm>
            <a:off x="5643570" y="5143512"/>
            <a:ext cx="3500430" cy="138499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Отображение результата: значения дней, часов, минут и секунд обновляются на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веб-странице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с использованием метода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innerHTML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для соответствующих элементов HTML с идентификаторами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days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hours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minutes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seconds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27" name="Прямая со стрелкой 26"/>
          <p:cNvCxnSpPr>
            <a:stCxn id="26" idx="1"/>
          </p:cNvCxnSpPr>
          <p:nvPr/>
        </p:nvCxnSpPr>
        <p:spPr>
          <a:xfrm rot="10800000">
            <a:off x="5214942" y="5643578"/>
            <a:ext cx="428628" cy="1924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Группа 30"/>
          <p:cNvGrpSpPr/>
          <p:nvPr/>
        </p:nvGrpSpPr>
        <p:grpSpPr>
          <a:xfrm>
            <a:off x="1" y="571480"/>
            <a:ext cx="5286380" cy="6215082"/>
            <a:chOff x="1" y="642919"/>
            <a:chExt cx="5286380" cy="6215082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1" y="642919"/>
              <a:ext cx="5286380" cy="621508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30" name="Прямоугольник 29"/>
            <p:cNvSpPr/>
            <p:nvPr/>
          </p:nvSpPr>
          <p:spPr>
            <a:xfrm>
              <a:off x="571472" y="5072074"/>
              <a:ext cx="2286016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357214"/>
            <a:ext cx="9086792" cy="1143000"/>
          </a:xfrm>
        </p:spPr>
        <p:txBody>
          <a:bodyPr>
            <a:normAutofit/>
          </a:bodyPr>
          <a:lstStyle/>
          <a:p>
            <a:r>
              <a:rPr lang="ru-RU" sz="3600" dirty="0" smtClean="0"/>
              <a:t>Работа с файлом </a:t>
            </a:r>
            <a:r>
              <a:rPr lang="en-US" sz="3600" dirty="0" smtClean="0"/>
              <a:t>JS: </a:t>
            </a:r>
            <a:r>
              <a:rPr lang="ru-RU" sz="3600" dirty="0" smtClean="0"/>
              <a:t>исправление ошибок</a:t>
            </a:r>
            <a:endParaRPr lang="ru-RU" sz="3600" dirty="0"/>
          </a:p>
        </p:txBody>
      </p:sp>
      <p:sp>
        <p:nvSpPr>
          <p:cNvPr id="21" name="Rectangle 3"/>
          <p:cNvSpPr>
            <a:spLocks noChangeArrowheads="1"/>
          </p:cNvSpPr>
          <p:nvPr/>
        </p:nvSpPr>
        <p:spPr bwMode="auto">
          <a:xfrm>
            <a:off x="5643570" y="4500570"/>
            <a:ext cx="3500430" cy="95410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Добавьте разделите после 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days, hours,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minutese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Для этого после скобки допишите</a:t>
            </a:r>
            <a:br>
              <a:rPr lang="ru-RU" sz="14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+"</a:t>
            </a:r>
            <a:r>
              <a:rPr lang="en-US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"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где вместе / может быть любой разделитель</a:t>
            </a:r>
          </a:p>
        </p:txBody>
      </p:sp>
      <p:cxnSp>
        <p:nvCxnSpPr>
          <p:cNvPr id="22" name="Прямая со стрелкой 21"/>
          <p:cNvCxnSpPr>
            <a:stCxn id="21" idx="1"/>
          </p:cNvCxnSpPr>
          <p:nvPr/>
        </p:nvCxnSpPr>
        <p:spPr>
          <a:xfrm rot="10800000" flipV="1">
            <a:off x="5072066" y="4977624"/>
            <a:ext cx="571504" cy="52307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3"/>
          <p:cNvSpPr>
            <a:spLocks noChangeArrowheads="1"/>
          </p:cNvSpPr>
          <p:nvPr/>
        </p:nvSpPr>
        <p:spPr bwMode="auto">
          <a:xfrm>
            <a:off x="5429256" y="5500702"/>
            <a:ext cx="3714744" cy="138499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На строчке ниже вызовите функцию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countdown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и укажите конечную дату в формате :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месяц/день/год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часы:минуты:секунды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AM</a:t>
            </a:r>
            <a:endParaRPr lang="en-US" sz="14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countdown(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'12/31/2026 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12:00:00 AM');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//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31 </a:t>
            </a:r>
            <a:r>
              <a:rPr lang="ru-RU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декабря </a:t>
            </a:r>
            <a:r>
              <a:rPr lang="ru-RU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202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endParaRPr lang="ru-RU" sz="1400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27" name="Прямая со стрелкой 26"/>
          <p:cNvCxnSpPr>
            <a:stCxn id="26" idx="1"/>
          </p:cNvCxnSpPr>
          <p:nvPr/>
        </p:nvCxnSpPr>
        <p:spPr>
          <a:xfrm rot="10800000" flipV="1">
            <a:off x="71406" y="6193200"/>
            <a:ext cx="5357850" cy="52194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2692595"/>
            <a:ext cx="8267700" cy="29432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HTML</a:t>
            </a:r>
            <a:endParaRPr lang="ru-RU" dirty="0"/>
          </a:p>
        </p:txBody>
      </p:sp>
      <p:sp>
        <p:nvSpPr>
          <p:cNvPr id="13" name="Rectangle 3"/>
          <p:cNvSpPr>
            <a:spLocks noChangeArrowheads="1"/>
          </p:cNvSpPr>
          <p:nvPr/>
        </p:nvSpPr>
        <p:spPr bwMode="auto">
          <a:xfrm>
            <a:off x="5357818" y="6264495"/>
            <a:ext cx="3500430" cy="30777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Текст, который нужно изменить</a:t>
            </a:r>
          </a:p>
        </p:txBody>
      </p:sp>
      <p:cxnSp>
        <p:nvCxnSpPr>
          <p:cNvPr id="14" name="Прямая со стрелкой 13"/>
          <p:cNvCxnSpPr/>
          <p:nvPr/>
        </p:nvCxnSpPr>
        <p:spPr>
          <a:xfrm rot="10800000">
            <a:off x="3428992" y="3835605"/>
            <a:ext cx="2714644" cy="242889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rot="16200000" flipV="1">
            <a:off x="2928926" y="3049785"/>
            <a:ext cx="3214710" cy="32147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rot="10800000">
            <a:off x="4071934" y="5121487"/>
            <a:ext cx="2071702" cy="114300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0" y="500042"/>
            <a:ext cx="9144000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Модальное окно 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это 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элемент интерфейса, который отображается поверх основного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страницы и требует от пользователя какого-либо действия перед тем, как продолжить работу с сайтом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Оно блокирует взаимодействие с остальной частью страницы до тех пор, пока пользователь не завершит действие в окне.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HTML</a:t>
            </a:r>
            <a:endParaRPr lang="ru-RU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429132"/>
            <a:ext cx="4572000" cy="21812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638675" y="3981450"/>
            <a:ext cx="4505325" cy="28765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571480"/>
            <a:ext cx="9144000" cy="317009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на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можно реализовать взаимодействие с модальным окном (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поп-апом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которое блокирует работу родительского сайта, пока пользователь не закроет окно. Для этого используются 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обработчики событий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Структура модального окна обычно включает: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заголовок, который объясняет назначение окна;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кнопки для взаимодействия, например, крестик для закрытия окна или кнопки действия;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тень или затемнение фона, создающие контраст и акцентирующие внимание на окне.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en-US" dirty="0" smtClean="0"/>
              <a:t>HTML/CSS</a:t>
            </a:r>
            <a:endParaRPr lang="ru-RU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62350" y="1000108"/>
            <a:ext cx="5581650" cy="112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266950"/>
            <a:ext cx="3314700" cy="4591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3929058" y="3571876"/>
            <a:ext cx="5214942" cy="267765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Ищите соответствия заголовков в файле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HTML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 стиля в файле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CSS.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Измените цвета, размеры шрифтов, отступы и положение на свое усмотрение</a:t>
            </a:r>
          </a:p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Возможные значения параметров посмотрите в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сети Интернет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rot="5400000">
            <a:off x="1893075" y="1964521"/>
            <a:ext cx="3857652" cy="335758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 rot="10800000" flipV="1">
            <a:off x="571472" y="1357298"/>
            <a:ext cx="5143536" cy="10001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rot="5400000">
            <a:off x="2250265" y="3321843"/>
            <a:ext cx="571504" cy="35719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"/>
          <p:cNvSpPr>
            <a:spLocks noChangeArrowheads="1"/>
          </p:cNvSpPr>
          <p:nvPr/>
        </p:nvSpPr>
        <p:spPr bwMode="auto">
          <a:xfrm>
            <a:off x="1714480" y="2500306"/>
            <a:ext cx="2143140" cy="95410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Альфа канал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для всплывающего окна. Будет ли виден задний фон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71472" y="235743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Дополнительное задание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Создание </a:t>
            </a:r>
            <a:r>
              <a:rPr lang="ru-RU" dirty="0" smtClean="0"/>
              <a:t>собственных </a:t>
            </a:r>
            <a:r>
              <a:rPr lang="ru-RU" dirty="0" err="1" smtClean="0"/>
              <a:t>скриптов</a:t>
            </a:r>
            <a:endParaRPr lang="ru-RU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3785652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b="1" i="1" dirty="0" smtClean="0">
                <a:latin typeface="Cambria" pitchFamily="18" charset="0"/>
              </a:rPr>
              <a:t>Главный язык программирования для </a:t>
            </a:r>
            <a:r>
              <a:rPr lang="ru-RU" sz="2400" b="1" i="1" dirty="0" err="1" smtClean="0">
                <a:latin typeface="Cambria" pitchFamily="18" charset="0"/>
              </a:rPr>
              <a:t>фронтендера</a:t>
            </a:r>
            <a:r>
              <a:rPr lang="ru-RU" sz="2400" b="1" i="1" dirty="0" smtClean="0">
                <a:latin typeface="Cambria" pitchFamily="18" charset="0"/>
              </a:rPr>
              <a:t>: зачем учить </a:t>
            </a:r>
            <a:r>
              <a:rPr lang="ru-RU" sz="2400" b="1" i="1" dirty="0" err="1" smtClean="0">
                <a:latin typeface="Cambria" pitchFamily="18" charset="0"/>
              </a:rPr>
              <a:t>JavaScript</a:t>
            </a:r>
            <a:endParaRPr lang="ru-RU" sz="2400" b="1" i="1" dirty="0" smtClean="0">
              <a:latin typeface="Cambria" pitchFamily="18" charset="0"/>
            </a:endParaRPr>
          </a:p>
          <a:p>
            <a:pPr algn="just"/>
            <a:r>
              <a:rPr lang="en-US" sz="2400" dirty="0" smtClean="0">
                <a:latin typeface="Cambria" pitchFamily="18" charset="0"/>
                <a:hlinkClick r:id="rId2"/>
              </a:rPr>
              <a:t>https://vk.cc/cPCkOo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Promt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  <a:hlinkClick r:id="rId3"/>
              </a:rPr>
              <a:t>https://doka-guide.vercel.app/js/prompt/</a:t>
            </a:r>
            <a:endParaRPr lang="en-US" sz="2400" i="1" dirty="0" smtClean="0">
              <a:latin typeface="Cambria" pitchFamily="18" charset="0"/>
            </a:endParaRPr>
          </a:p>
          <a:p>
            <a:pPr algn="just"/>
            <a:endParaRPr lang="en-US" sz="2400" i="1" dirty="0" smtClean="0">
              <a:latin typeface="Cambria" pitchFamily="18" charset="0"/>
            </a:endParaRPr>
          </a:p>
          <a:p>
            <a:pPr algn="just"/>
            <a:r>
              <a:rPr lang="ru-RU" sz="2400" b="1" i="1" dirty="0" smtClean="0">
                <a:latin typeface="Cambria" pitchFamily="18" charset="0"/>
              </a:rPr>
              <a:t>Строки</a:t>
            </a:r>
          </a:p>
          <a:p>
            <a:pPr algn="just"/>
            <a:r>
              <a:rPr lang="en-US" sz="2400" i="1" dirty="0" smtClean="0">
                <a:latin typeface="Cambria" pitchFamily="18" charset="0"/>
                <a:hlinkClick r:id="rId4"/>
              </a:rPr>
              <a:t>https://learn.javascript.ru/string?ysclid=mfthrj1lf5772577549</a:t>
            </a:r>
            <a:endParaRPr lang="ru-RU" sz="2400" i="1" dirty="0" smtClean="0">
              <a:latin typeface="Cambria" pitchFamily="18" charset="0"/>
            </a:endParaRPr>
          </a:p>
          <a:p>
            <a:pPr algn="just"/>
            <a:endParaRPr lang="ru-RU" sz="2400" i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всплывающие окна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286232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Очень важной частью для программирования на языке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являются события и обработчики событий. События, главным образом, инициируются теми или иными действиями пользователя. Если он щелкает по некоторой кнопке, происходит событие "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". Если указатель мыши пересекает какую-либо ссылку гипертекста - происходит событие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MouseOver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Существует несколько различных типов событий. JavaScript-программа реагирует на них с помощью специальных программ обработки событий. Так, в результате щелчка по кнопке используется программа-обработчик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onClick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Приведенный ниже код представляет простой пример программы обработки события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onClick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643314"/>
            <a:ext cx="5048250" cy="73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14925" y="3500438"/>
            <a:ext cx="4029075" cy="2190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4572008"/>
            <a:ext cx="50720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Это и есть пример кода на языке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(в этом случае даже не используется тэг &lt;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&gt;).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000364" y="5780782"/>
            <a:ext cx="6143636" cy="1077218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Метод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alert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() отображает окно предупреждения с соответствующим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сообщением. После прочтения сообщения пользователю необходимо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нажать кнопку ОК, чтобы закрыть окно. Аргументом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данного метода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является строка.</a:t>
            </a:r>
            <a:endParaRPr lang="ru-RU" sz="16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Прямая со стрелкой 10"/>
          <p:cNvCxnSpPr>
            <a:stCxn id="9" idx="0"/>
          </p:cNvCxnSpPr>
          <p:nvPr/>
        </p:nvCxnSpPr>
        <p:spPr>
          <a:xfrm rot="5400000" flipH="1" flipV="1">
            <a:off x="6289340" y="4854916"/>
            <a:ext cx="708708" cy="114302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всплывающие окна</a:t>
            </a:r>
            <a:endParaRPr lang="ru-RU" sz="4000" b="1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0" y="714356"/>
            <a:ext cx="9144000" cy="224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Метод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prompt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()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имеет противоположное назначение. Он служит для получения данных от пользователя. При его вызове отображается окно приглашения с текстовым полем. Метод может содержать два аргумента. Оба этих аргумента должны быть строками. Первый аргумент – сообщение, которое отображается в окне. Второй аргумент – это текст по умолчанию, который должен появиться в соответствующем поле. Кроме того, этот метод, в свою очередь, возвращает значение, которое также является строкой, – это текст, который ввел пользователь.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3071810"/>
            <a:ext cx="75628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1471" y="4714884"/>
            <a:ext cx="4477497" cy="4619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Контейнер изображения</a:t>
            </a:r>
            <a:endParaRPr lang="ru-RU" sz="4000" b="1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071546"/>
            <a:ext cx="3514725" cy="1085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610225" y="785794"/>
            <a:ext cx="3533775" cy="298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/>
          <p:nvPr/>
        </p:nvCxnSpPr>
        <p:spPr>
          <a:xfrm rot="10800000">
            <a:off x="1357290" y="2071678"/>
            <a:ext cx="4714908" cy="107157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/>
          <p:nvPr/>
        </p:nvCxnSpPr>
        <p:spPr>
          <a:xfrm rot="10800000">
            <a:off x="3286116" y="1357298"/>
            <a:ext cx="2786082" cy="178595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0" y="3857628"/>
            <a:ext cx="9144000" cy="138499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Чтобы применять стили, нужно оборачивать код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HTML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в специальные блоки. Вставьте в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HTML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-файл блок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style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внутри блока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head</a:t>
            </a:r>
            <a:endParaRPr lang="ru-RU" sz="28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&lt;body&gt;</a:t>
            </a:r>
          </a:p>
          <a:p>
            <a:pPr algn="just"/>
            <a:endParaRPr lang="en-US" sz="1400" dirty="0" smtClean="0"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&lt;div class="container"&gt;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&lt;h2&gt;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Какое это животное?&lt;/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h2&gt;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&lt;div class="frame"&gt;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&lt;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src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="https://upload.wikimedia.org/wikipedia/commons/thumb/b/b5/Lion_d%27Afrique.jpg/500px-Lion_d%27Afrique.jpg" alt="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Лев"&gt;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div&gt;</a:t>
            </a:r>
          </a:p>
          <a:p>
            <a:pPr algn="just"/>
            <a:endParaRPr lang="en-US" sz="1400" dirty="0" smtClean="0"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&lt;button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onclick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="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checkAnswer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тигр')"&gt;Это тигр!&lt;/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button&gt;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&lt;button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onclick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="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checkAnswer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лев')"&gt;Это лев!&lt;/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button&gt;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&lt;button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onclick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="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checkAnswer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гепард')"&gt;Это гепард!&lt;/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button&gt;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&lt;/div&gt;</a:t>
            </a:r>
          </a:p>
          <a:p>
            <a:pPr algn="just"/>
            <a:endParaRPr lang="en-US" sz="1400" dirty="0" smtClean="0"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&lt;script&gt;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function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checkAnswer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(selected) {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if (selected === 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лев') {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alert('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Да, это ЛЕВ - ЦАРЬ ЗВЕРЕЙ!');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} 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else {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    alert('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Попробуйте еще раз!');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script&gt;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&lt;/body&gt;</a:t>
            </a:r>
            <a:endParaRPr lang="ru-RU" sz="14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832010" y="3214686"/>
            <a:ext cx="2311989" cy="3643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&lt;html&gt;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&lt;head&gt;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&lt;title&gt;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Приветствие&lt;/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title&gt;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&lt;/head&gt;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&lt;body&gt;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&lt;script&gt;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const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userName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= prompt('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Как вас зовут?');</a:t>
            </a:r>
          </a:p>
          <a:p>
            <a:pPr algn="just"/>
            <a:endParaRPr lang="ru-RU" sz="1400" dirty="0" smtClean="0"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userName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!== null &amp;&amp;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userName.trim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() !== '') {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    alert('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Привет, ' +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userName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+ '! 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Добро пожаловать!');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} 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else {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    alert('</a:t>
            </a:r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Похоже, вы не захотели назвать имя. Всё равно рады вас видеть!');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pPr algn="just"/>
            <a:r>
              <a:rPr lang="ru-RU" sz="1400" dirty="0" smtClean="0">
                <a:latin typeface="Courier New" pitchFamily="49" charset="0"/>
                <a:cs typeface="Courier New" pitchFamily="49" charset="0"/>
              </a:rPr>
              <a:t>    &lt;/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script&gt;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&lt;/body&gt;</a:t>
            </a:r>
          </a:p>
          <a:p>
            <a:pPr algn="just"/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&lt;/html&gt;</a:t>
            </a:r>
            <a:endParaRPr lang="ru-RU" sz="14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28860" y="3500438"/>
            <a:ext cx="42957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264318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Дополнительное задание</a:t>
            </a:r>
            <a:br>
              <a:rPr lang="ru-RU" dirty="0" smtClean="0"/>
            </a:br>
            <a:r>
              <a:rPr lang="en-US" dirty="0" err="1" smtClean="0"/>
              <a:t>EmailJS</a:t>
            </a:r>
            <a:endParaRPr lang="ru-RU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526297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en-US" sz="2400" b="1" i="1" dirty="0" err="1" smtClean="0">
                <a:latin typeface="Cambria" pitchFamily="18" charset="0"/>
              </a:rPr>
              <a:t>EmailJS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smtClean="0">
                <a:latin typeface="Cambria" pitchFamily="18" charset="0"/>
                <a:hlinkClick r:id="rId2"/>
              </a:rPr>
              <a:t>https://www.emailjs.com/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ru-RU" sz="2400" b="1" i="1" dirty="0" smtClean="0">
                <a:latin typeface="Cambria" pitchFamily="18" charset="0"/>
              </a:rPr>
              <a:t>Формы и </a:t>
            </a:r>
            <a:r>
              <a:rPr lang="en-US" sz="2400" b="1" i="1" dirty="0" err="1" smtClean="0">
                <a:latin typeface="Cambria" pitchFamily="18" charset="0"/>
              </a:rPr>
              <a:t>javascript</a:t>
            </a:r>
            <a:r>
              <a:rPr lang="en-US" sz="2400" b="1" i="1" dirty="0" smtClean="0">
                <a:latin typeface="Cambria" pitchFamily="18" charset="0"/>
              </a:rPr>
              <a:t>. FORM</a:t>
            </a:r>
          </a:p>
          <a:p>
            <a:pPr algn="just"/>
            <a:r>
              <a:rPr lang="en-US" sz="2400" b="1" i="1" dirty="0" smtClean="0">
                <a:latin typeface="Cambria" pitchFamily="18" charset="0"/>
                <a:hlinkClick r:id="rId3"/>
              </a:rPr>
              <a:t>https://htmlweb.ru/java/forms.php?ysclid=mg3njo7les571227432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EmailJS</a:t>
            </a:r>
            <a:r>
              <a:rPr lang="en-US" sz="2400" b="1" i="1" dirty="0" smtClean="0">
                <a:latin typeface="Cambria" pitchFamily="18" charset="0"/>
              </a:rPr>
              <a:t> Create a contact form</a:t>
            </a:r>
            <a:endParaRPr lang="ru-RU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4"/>
              </a:rPr>
              <a:t>https://www.emailjs.com/docs/tutorial/creating-contact-form/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endParaRPr lang="en-US" sz="2400" b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</a:rPr>
              <a:t>Send Email from HTML Form for Free | </a:t>
            </a:r>
            <a:r>
              <a:rPr lang="en-US" sz="2400" b="1" dirty="0" err="1" smtClean="0">
                <a:latin typeface="Cambria" pitchFamily="18" charset="0"/>
              </a:rPr>
              <a:t>EmailJS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5"/>
              </a:rPr>
              <a:t>https://rutube.ru/video/ddccdfc7cadfc60d3cc6a0af1ded5cc5/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endParaRPr lang="en-US" sz="2400" b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smtClean="0"/>
              <a:t>Основные разделы сайта</a:t>
            </a:r>
            <a:endParaRPr lang="ru-RU" b="1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0" y="857232"/>
            <a:ext cx="9144000" cy="2286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6572264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 — 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сервис на основе облачных технологий, который позволяет отправлять электронные письма напрямую из кода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без использования серверного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скрипта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Это инструмент для разработчиков, которые хотят интегрировать функциональность отправки писем в свои приложения без необходимости настраивать сервер для обработки писем. 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194" name="Picture 2" descr="EmailJS Guide eM Clien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72264" y="1142984"/>
            <a:ext cx="2571736" cy="1381126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0" y="3214686"/>
            <a:ext cx="9144000" cy="34778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Функции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Упрощение разработки.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позволяет отправлять электронные письма напрямую с клиентской стороны, без необходимости настраивать сервер, что упрощает процесс разработки.</a:t>
            </a:r>
            <a:endParaRPr lang="en-US" sz="20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Поддержка сервисов электронной почты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Gmail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Outlook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SendGrid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других. Сервис позволяет использовать функции этих провайдеров, используя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как интерфейс для отправки писем. 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Поддержка шаблонов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разработчики могут создавать настраиваемые шаблоны писем, которые могут включать динамический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контент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 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Встроенная проверка электронной почты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обеспечивает правильный формат адресов.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формы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643438" y="714356"/>
            <a:ext cx="4500562" cy="11695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Переключатели применяются в том случае, когда необходимо предоставить пользователю возможность выбора одного параметра из группы. В связи с этим переключатели всегда используются в группе. Вся группа должна иметь одно и то же название.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9" y="1785926"/>
            <a:ext cx="4500562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11420" y="3000372"/>
            <a:ext cx="4232580" cy="14859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857752" y="2500306"/>
            <a:ext cx="4286248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Создание переключателя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857752" y="4429132"/>
            <a:ext cx="4286248" cy="5232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Функция для получения значения переключателя и вывода на экран</a:t>
            </a:r>
            <a:endParaRPr lang="ru-RU" sz="1400" dirty="0"/>
          </a:p>
        </p:txBody>
      </p:sp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2000240"/>
            <a:ext cx="39052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714356"/>
            <a:ext cx="4572000" cy="1169551"/>
          </a:xfrm>
          <a:prstGeom prst="rect">
            <a:avLst/>
          </a:prstGeom>
          <a:solidFill>
            <a:schemeClr val="bg2"/>
          </a:solidFill>
        </p:spPr>
        <p:txBody>
          <a:bodyPr>
            <a:spAutoFit/>
          </a:bodyPr>
          <a:lstStyle/>
          <a:p>
            <a:pPr algn="just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Элемент &lt;</a:t>
            </a:r>
            <a:r>
              <a:rPr lang="ru-RU" sz="1400" b="1" dirty="0" err="1" smtClean="0">
                <a:latin typeface="Times New Roman" pitchFamily="18" charset="0"/>
                <a:cs typeface="Times New Roman" pitchFamily="18" charset="0"/>
              </a:rPr>
              <a:t>select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&gt; в </a:t>
            </a:r>
            <a:r>
              <a:rPr lang="ru-RU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— компонент форм на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веб-страницах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представляющий 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выпадающий список с вариантами выбора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 Используется для отображения списка предопределённых значений, где пользователь может выбрать нужное.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0" y="3448050"/>
            <a:ext cx="4762500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4786314" y="5929330"/>
            <a:ext cx="4357686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Для ввода простейшей текстовой информации предназначены элементы &lt;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input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type=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"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text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"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en-US" b="1" dirty="0" smtClean="0"/>
              <a:t>Email Services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571744"/>
            <a:ext cx="3038475" cy="227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2660657"/>
            <a:ext cx="3714744" cy="4197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4919008"/>
            <a:ext cx="478631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Можно выбрать любую почту, но для взаимодействия с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Mail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или </a:t>
            </a: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Yandex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необходимо создать временный пароль для доступа к почте сторонних приложений. (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показывает ссылку, где это можно сделать)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Services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 раздел настройки сервисов электронной почты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Чтобы настроить сервис, нужно: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Перейти в раздел «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Services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» на панели управления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Нажать «Добавить новое обслуживание».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Выбрать предпочитаемый сервис электронной почты.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Следовать инструкциям, чтобы связать учётную запись электронной почты (обычно нужны ключи API или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токены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доступа).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en-US" b="1" dirty="0" smtClean="0"/>
              <a:t>Email Templates</a:t>
            </a:r>
          </a:p>
        </p:txBody>
      </p:sp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000240"/>
            <a:ext cx="914400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0" name="Прямая со стрелкой 9"/>
          <p:cNvCxnSpPr/>
          <p:nvPr/>
        </p:nvCxnSpPr>
        <p:spPr>
          <a:xfrm rot="10800000">
            <a:off x="1500166" y="5786454"/>
            <a:ext cx="1643074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3143240" y="5715016"/>
            <a:ext cx="60007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Писать нужно также, какое значение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name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у поля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input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ru-RU" dirty="0"/>
          </a:p>
        </p:txBody>
      </p:sp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66875" y="6372249"/>
            <a:ext cx="7477125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7" name="Прямая со стрелкой 6"/>
          <p:cNvCxnSpPr>
            <a:stCxn id="14" idx="2"/>
          </p:cNvCxnSpPr>
          <p:nvPr/>
        </p:nvCxnSpPr>
        <p:spPr>
          <a:xfrm rot="16200000" flipH="1">
            <a:off x="6435451" y="5792517"/>
            <a:ext cx="416486" cy="100014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0" y="500042"/>
            <a:ext cx="9144000" cy="15696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Templates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— раздел создания шаблонов электронных писем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 Создание шаблона позволяет динамически настраивать макет и содержание писем. Чтобы создать шаблон, нужно: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Перейти в раздел «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Templates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Нажать «Создать новый шаблон».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Использовать редактор шаблонов для форматирования тела письма и установки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местозаполнителей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для динамических данных.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Скрипт</a:t>
            </a:r>
            <a:r>
              <a:rPr lang="ru-RU" b="1" dirty="0" smtClean="0"/>
              <a:t> для взаимодействия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9144000" cy="483209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src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="https://cdn.jsdelivr.net/npm/@emailjs/browser@4/dist/email.min.js"&gt;&lt;/script&gt;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(function()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emailjs.init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publicKey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: “…",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})();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&lt;/script&gt;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window.onload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= function()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document.getElementById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('contact-form').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addEventListener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('submit', function(event)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event.preventDefault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// these IDs from the previous steps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emailjs.sendForm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(‘…', ‘…', this)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.then(() =&gt;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    console.log('SUCCESS!');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}, (error) =&gt;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    console.log('FAILED...', error);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}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&lt;/script&gt;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rot="10800000" flipV="1">
            <a:off x="2000232" y="1714488"/>
            <a:ext cx="1714512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 rot="10800000" flipV="1">
            <a:off x="3286116" y="3643314"/>
            <a:ext cx="1714512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3714745" y="1428736"/>
            <a:ext cx="54292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Можно найти в личном кабинете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https://dashboard.emailjs.com/admin/account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5000628" y="3429000"/>
            <a:ext cx="414337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Нужно создать на вкладках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Email Services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Email Templates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5786454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Cambria" pitchFamily="18" charset="0"/>
              </a:rPr>
              <a:t>Дополнительную информацию по настройке </a:t>
            </a:r>
            <a:r>
              <a:rPr lang="ru-RU" b="1" dirty="0" err="1" smtClean="0">
                <a:latin typeface="Cambria" pitchFamily="18" charset="0"/>
              </a:rPr>
              <a:t>скрипта</a:t>
            </a:r>
            <a:r>
              <a:rPr lang="ru-RU" b="1" dirty="0" smtClean="0">
                <a:latin typeface="Cambria" pitchFamily="18" charset="0"/>
              </a:rPr>
              <a:t> и формы можно найти по ссылке</a:t>
            </a:r>
            <a:endParaRPr lang="en-US" b="1" dirty="0" smtClean="0">
              <a:latin typeface="Cambria" pitchFamily="18" charset="0"/>
              <a:hlinkClick r:id="rId2"/>
            </a:endParaRPr>
          </a:p>
          <a:p>
            <a:pPr algn="ctr"/>
            <a:r>
              <a:rPr lang="en-US" b="1" dirty="0" smtClean="0">
                <a:latin typeface="Cambria" pitchFamily="18" charset="0"/>
                <a:hlinkClick r:id="rId2"/>
              </a:rPr>
              <a:t>https://www.emailjs.com/docs/tutorial/creating-contact-form/</a:t>
            </a:r>
            <a:endParaRPr lang="en-US" b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1588</Words>
  <Application>Microsoft Office PowerPoint</Application>
  <PresentationFormat>Экран (4:3)</PresentationFormat>
  <Paragraphs>231</Paragraphs>
  <Slides>31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2" baseType="lpstr">
      <vt:lpstr>Тема Office</vt:lpstr>
      <vt:lpstr>Базовый JavaScript для сайтов</vt:lpstr>
      <vt:lpstr>JavaScript</vt:lpstr>
      <vt:lpstr>JavaScript</vt:lpstr>
      <vt:lpstr>Задание 1. Работа с плагинами</vt:lpstr>
      <vt:lpstr>Дополнительные материалы</vt:lpstr>
      <vt:lpstr>Плагины</vt:lpstr>
      <vt:lpstr>Плагины в сети Интернет</vt:lpstr>
      <vt:lpstr>Плагин: тестирование</vt:lpstr>
      <vt:lpstr>Плагины</vt:lpstr>
      <vt:lpstr>Задание 2. Внедрение готовых элементов</vt:lpstr>
      <vt:lpstr>Дополнительные материалы</vt:lpstr>
      <vt:lpstr>JavaScript</vt:lpstr>
      <vt:lpstr>Работа с файлом JS</vt:lpstr>
      <vt:lpstr>Работа с файлом JS: исправление ошибок</vt:lpstr>
      <vt:lpstr>Работа с файлом HTML</vt:lpstr>
      <vt:lpstr>Работа с файлом HTML</vt:lpstr>
      <vt:lpstr>HTML/CSS</vt:lpstr>
      <vt:lpstr>Дополнительное задание  Создание собственных скриптов</vt:lpstr>
      <vt:lpstr>Дополнительные материалы</vt:lpstr>
      <vt:lpstr>JavaScript: всплывающие окна</vt:lpstr>
      <vt:lpstr>JavaScript: всплывающие окна</vt:lpstr>
      <vt:lpstr>Контейнер изображения</vt:lpstr>
      <vt:lpstr>Слайд 23</vt:lpstr>
      <vt:lpstr>Слайд 24</vt:lpstr>
      <vt:lpstr>Дополнительное задание EmailJS</vt:lpstr>
      <vt:lpstr>Дополнительные материалы</vt:lpstr>
      <vt:lpstr>Основные разделы сайта</vt:lpstr>
      <vt:lpstr>JavaScript: формы</vt:lpstr>
      <vt:lpstr>Email Services</vt:lpstr>
      <vt:lpstr>Email Templates</vt:lpstr>
      <vt:lpstr>Скрипт для взаимодействия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JavaScript для сайтов</dc:title>
  <dc:creator>user</dc:creator>
  <cp:lastModifiedBy>user</cp:lastModifiedBy>
  <cp:revision>62</cp:revision>
  <dcterms:created xsi:type="dcterms:W3CDTF">2024-02-01T09:49:19Z</dcterms:created>
  <dcterms:modified xsi:type="dcterms:W3CDTF">2026-09-23T14:30:40Z</dcterms:modified>
</cp:coreProperties>
</file>