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4" r:id="rId28"/>
    <p:sldId id="285" r:id="rId29"/>
    <p:sldId id="281" r:id="rId30"/>
    <p:sldId id="286" r:id="rId31"/>
    <p:sldId id="287" r:id="rId32"/>
    <p:sldId id="288" r:id="rId33"/>
    <p:sldId id="290" r:id="rId34"/>
    <p:sldId id="291" r:id="rId35"/>
    <p:sldId id="292" r:id="rId36"/>
    <p:sldId id="293" r:id="rId37"/>
    <p:sldId id="294" r:id="rId38"/>
    <p:sldId id="295" r:id="rId39"/>
    <p:sldId id="289" r:id="rId40"/>
    <p:sldId id="296" r:id="rId41"/>
    <p:sldId id="297" r:id="rId42"/>
    <p:sldId id="298" r:id="rId43"/>
    <p:sldId id="299" r:id="rId4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FF2A3-7837-41D6-9FC4-00D6DA20B02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0DF92-7ED4-4E0F-988B-1EE3A2AEA272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pPr/>
              <a:t>40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pPr/>
              <a:t>41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merionet.ru/articles/kak-sozdavat-i-zapuskat-scenarii-powershell-posagovoe-rukovodstvo?ysclid=mt8n9y2z5b643336265" TargetMode="External"/><Relationship Id="rId2" Type="http://schemas.openxmlformats.org/officeDocument/2006/relationships/hyperlink" Target="https://timeweb.cloud/tutorials/windows/windows-powershell-principy-raboty-i-osnovnye-vozmozhnosti?ysclid=mt8nbrayyf264743009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geeksforgeeks.org/python/get-your-system-information-using-python-script/?ysclid=mt8nfki727623701036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ipmeter.ru/" TargetMode="Externa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Базовая диагностика операционной системы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1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Штатные средства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позволяют получать сведения об аппаратной конфигурации и параметрах ОС двумя путями: консольными утилитами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для автоматизированного сбора данных и формирования отчётов, и графическими оснастками — для наглядной проверки и быстрой интерпретации информации.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подходит для простых типовых операций и совместим со старыми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даёт расширенные возможности работы с объектами, фильтрации и экспорта данных (например, в CSV), а графический интерфейс (GUI) позволяет наглядно оценить состояние системы и быстро найти нужные параметры без знания команд — при этом GUI не годится для автоматизации,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уступает в гибкости обработки данных,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требует более глубокого освоения синтаксиса.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214414" y="3714752"/>
          <a:ext cx="6649089" cy="1785949"/>
        </p:xfrm>
        <a:graphic>
          <a:graphicData uri="http://schemas.openxmlformats.org/drawingml/2006/table">
            <a:tbl>
              <a:tblPr/>
              <a:tblGrid>
                <a:gridCol w="791277"/>
                <a:gridCol w="5857812"/>
              </a:tblGrid>
              <a:tr h="223244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Среда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Способ получения версии и сборки ОС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487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CMD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systeminfo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 |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findstr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 /B /C:"OS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Name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" /C:"OS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Version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" или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winver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 (открывает всплывающее окно с версией)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731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PowerShell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(Get-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ComputerInfo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).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WindowsVersion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либо 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Get-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ItemProperty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 "HKLM:\SOFTWARE\Microsoft\Windows NT\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CurrentVersion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" | Select-Object 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ProductName,ReleaseId,CurrentBuild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487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GUI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Win+R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 → msinfo32 (строки «Имя ОС» и «Версия») либо «Параметры → Система → О системе»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0" y="5429264"/>
            <a:ext cx="9143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Конкретные команды и нюансы их применения можно найти в официальной документации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или профильных справочных ресурсах в интернете.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396335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WMIC (Windows Management Instrumentation Command-line)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встроенная утилита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которая позволяет управлять компонентами и получать сведения о системе через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Windows Management Instrumentation (WMI)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 помощью текстовых команд.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Служба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фоновый процесс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запускается автоматически (или по требованию) и работает независимо от входа пользователя; управляет ключевыми функциями ОС (сеть, печать, обновления и т. п.). У службы есть тип запуска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Automatic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Manual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Disabled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текущий статус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Running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Stopped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Автозагрузка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список программ, стартующих при входе пользователя; источники — папка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Startup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либо ветки реестра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Run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Процесс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запущенный экземпляр программы с выделенными ресурсами (ЦП, память); в отличие от службы, обычно привязан к пользовательской сессии.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657671"/>
            <a:ext cx="9143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Конкретные команды и нюансы их применения можно найти в официальной документации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или профильных справочных ресурсах в интернете.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214414" y="3000372"/>
          <a:ext cx="6720527" cy="1773836"/>
        </p:xfrm>
        <a:graphic>
          <a:graphicData uri="http://schemas.openxmlformats.org/drawingml/2006/table">
            <a:tbl>
              <a:tblPr/>
              <a:tblGrid>
                <a:gridCol w="2053879"/>
                <a:gridCol w="4666648"/>
              </a:tblGrid>
              <a:tr h="224519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Пункт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Что сделать и чем воспользоваться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519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Анализ служб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Например, PowerShell: `Get-Service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519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Автозагрузка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PowerShell</a:t>
                      </a:r>
                      <a:r>
                        <a:rPr lang="en-US" sz="1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: Get-</a:t>
                      </a:r>
                      <a:r>
                        <a:rPr lang="en-US" sz="1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CimInstance</a:t>
                      </a:r>
                      <a:r>
                        <a:rPr lang="en-US" sz="1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Win32_StartupCommand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Или </a:t>
                      </a:r>
                      <a:r>
                        <a:rPr lang="en-US" sz="1400" dirty="0" err="1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Win+R</a:t>
                      </a:r>
                      <a:r>
                        <a:rPr lang="en-US" sz="1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msconfig</a:t>
                      </a:r>
                      <a:endParaRPr lang="ru-RU" sz="1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8078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Добавить в автозагрузку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https://rutube.ru/video/b951acec7e460151501230137695103c/</a:t>
                      </a:r>
                      <a:endParaRPr lang="ru-RU" sz="1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https://rutube.ru/video/d884a4abbe6bc1d01351f6acd8199000/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</a:t>
            </a:r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автоматизации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 это последовательность команд (на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которая собирает данные из разных источников ОС и формирует единый отчёт без ручного копирования. Для задачи подходят оба языка: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«роднее» для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напрямую обращается к системным классам (CIM, WMI),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удобнее, если дальше отчёт нужно обрабатывать библиотеками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или встраивать в более сложные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пайплайны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Дополнительная литература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https://timeweb.cloud/tutorials/windows/windows-powershell-principy-raboty-i-osnovnye-vozmozhnosti?ysclid=mt8nbrayyf264743009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основы синтаксиса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написания кода в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копировать по одной строке, либо создать файл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ps1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в блокноте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https://wiki.merionet.ru/articles/kak-sozdavat-i-zapuskat-scenarii-powershell-posagovoe-rukovodstvo?ysclid=mt8n9y2z5b643336265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Get Your System Information - Using Python Script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https://www.geeksforgeeks.org/python/get-your-system-information-using-python-script/?ysclid=mt8nfki727623701036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</a:t>
            </a:r>
            <a:r>
              <a:rPr lang="en-US" dirty="0" smtClean="0"/>
              <a:t>3</a:t>
            </a:r>
            <a:r>
              <a:rPr lang="ru-RU" dirty="0" smtClean="0"/>
              <a:t>: пример в </a:t>
            </a:r>
            <a:r>
              <a:rPr lang="en-US" dirty="0" err="1" smtClean="0"/>
              <a:t>powershell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0" y="500043"/>
          <a:ext cx="9144001" cy="6380486"/>
        </p:xfrm>
        <a:graphic>
          <a:graphicData uri="http://schemas.openxmlformats.org/drawingml/2006/table">
            <a:tbl>
              <a:tblPr/>
              <a:tblGrid>
                <a:gridCol w="3047682"/>
                <a:gridCol w="3047682"/>
                <a:gridCol w="3048637"/>
              </a:tblGrid>
              <a:tr h="492761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Строка кода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</a:rPr>
                        <a:t>Что реально происходит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</a:rPr>
                        <a:t>Самые понятные аналоги и что запомнить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5521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$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os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= [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System.Environment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]::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OSVersion.VersionString</a:t>
                      </a:r>
                      <a:endParaRPr lang="ru-RU" sz="9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PowerShell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 спрашивает у системы «какая у тебя версия </a:t>
                      </a: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Windows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» и кладёт ответ в коробочку с именем $</a:t>
                      </a: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os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$ — это «</a:t>
                      </a: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коробочка‑переменная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», туда можно складывать результаты.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System.Environment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] — это прямой доступ к возможностям .NET. Ты не вызываешь внешнюю программу, а спрашиваешь саму среду выполнения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Windows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. Это быстро и надёжно.</a:t>
                      </a:r>
                      <a:endParaRPr lang="ru-RU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5521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$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cpu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= (Get-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WmiObject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Win32_Processor).Name</a:t>
                      </a:r>
                      <a:endParaRPr lang="ru-RU" sz="9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Спрашиваем у «внутренней базы» </a:t>
                      </a: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Windows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 про процессор и берём оттуда только его название, кладём в $</a:t>
                      </a: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cpu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Get-</a:t>
                      </a:r>
                      <a:r>
                        <a:rPr lang="en-US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WmiObject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или лучше 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Get-</a:t>
                      </a:r>
                      <a:r>
                        <a:rPr lang="en-US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CimInstance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на новых 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Windows)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 — способ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выцепить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технические данные (это как заглянуть в паспорт устройства). Win32_Processor — имя нужной «страницы» в этом паспорте.</a:t>
                      </a:r>
                      <a:endParaRPr lang="ru-RU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593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$ram = [math]::Round(((Get-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WmiObject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Win32_PhysicalMemory | Measure -Property Capacity -Sum).Sum / 1GB), 1)</a:t>
                      </a:r>
                      <a:endParaRPr lang="ru-RU" sz="9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</a:rPr>
                        <a:t>Собираем объёмы всех планок памяти, складываем их, делим на 1 ГБ (чтобы было в гигабайтах), округляем до 1 знака после запятой и кладём в $ram.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Get-</a:t>
                      </a:r>
                      <a:r>
                        <a:rPr lang="en-US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WmiObject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Win32_PhysicalMemory —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получает список всех планок памяти. | 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Measure -Property Capacity -Sum —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складывает их объёмы. Важно: в 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Windows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память хранится в байтах. .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Sum —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берёт итоговую сумму. / 1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GB —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делит на 1 гигабайт (</a:t>
                      </a:r>
                      <a:r>
                        <a:rPr lang="en-US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PowerShell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знает, что такое 1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GB,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это 1 073 741 824 байта). [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math]::Round(..., 1) —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округляет до 1 знака после запятой (чтобы было 16.0, а не 16.034829...).</a:t>
                      </a:r>
                      <a:endParaRPr lang="ru-RU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973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$disks = Get-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WmiObject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Win32_LogicalDisk -Filter "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DriveType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=3" | 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ForEach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{"$($_.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DeviceID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) — $([math]::Round($_.Size/1GB)) </a:t>
                      </a:r>
                      <a:r>
                        <a:rPr lang="ru-RU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ГБ"}</a:t>
                      </a:r>
                      <a:endParaRPr lang="ru-RU" sz="9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</a:rPr>
                        <a:t>Берём все диски, оставляем только те, у которых есть буква (C:, D: и т. д.), и для каждого делаем красивую строчку «C: — 256 ГБ». Все такие строчки складываем в список $disks.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Filter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"DriveType=3" — оставляет только настоящие жёсткие диски и SSD. (3 =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Local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Disk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). Это важно: так мы отсекаем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флешки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(тип 2), CD-диски (тип 5) и сетевые диски (тип 4).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ForEach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— проходит по каждому оставшемуся диску и превращает его в красивую строчку: C: — 120 ГБ. Сохраняет этот список строчек в $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disks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ru-RU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6833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en-US" sz="900" b="1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"$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os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| $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cpu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| $ram </a:t>
                      </a:r>
                      <a:r>
                        <a:rPr lang="ru-RU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ГБ | $($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disks -join '; ')" | Out-File "system_info.txt" -Encoding UTF8 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9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Собираем все наши «коробочки» в одну аккуратную табличку с заголовками, склеиваем список дисков в одну строку через точку с запятой, и сохраняем эту табличку в 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TXT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‑файл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Собирает одну длинную строку из всех переменных. $($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disks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-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join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'; ') — берёт список дисков (который сейчас является массивом строк) и склеивает его в одну строку через точку с запятой. Без этого у тебя в файле было бы много строк, а не одна сводка.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Out-File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— записывает результат в файл. -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Encoding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UTF8 — критически важно. Гарантирует, что слово «ГБ» не превратится в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кракозябры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в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Блокноте или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Excel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ru-RU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Развёртывание и администрирование виртуальной среды на примере </a:t>
            </a:r>
            <a:r>
              <a:rPr lang="en-US" b="1" dirty="0" smtClean="0"/>
              <a:t>Linux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843" y="857232"/>
            <a:ext cx="4590157" cy="357187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32"/>
            <a:ext cx="3929874" cy="335756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857356" y="0"/>
            <a:ext cx="48747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Установка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Linux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4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2571736" y="4572008"/>
            <a:ext cx="3866997" cy="126769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3357554" y="5857892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Сброс пароля</a:t>
            </a:r>
            <a:endParaRPr lang="ru-RU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71736" y="0"/>
            <a:ext cx="41689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Общая папка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6" name="Picture 2" descr="Подключение образа диска Дополнений Ubuntu в VirtualBo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889982"/>
            <a:ext cx="5807100" cy="3968018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0" y="692048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Общая папка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способ организовать совместный доступ к файлам между «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хостовой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ОС (той, что стоит на реальном компьютере) и гостевой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внутри виртуальной машины. Проще говоря: вы создаёте папку на основном компьютере, настраиваете её как «общую»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и она становится видна внутри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будто лежит прямо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Linux‑системе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Зачем это нужно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Быстро передавать файлы между хостом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без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флешек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облака и сетевых протоколов.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Держать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проекты или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конфиги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 хосте, а запускать их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Тестировать и разрабатывать в изолированной среде, не копируя файлы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туда‑сюда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71604" y="-142900"/>
            <a:ext cx="58817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Базовые операции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92048"/>
            <a:ext cx="914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вся работа с файлами строится вокруг нескольких простых, но мощных команд. Главное — осознавать, где ты находишься (текущая директория) и что делаешь (создать, посмотреть, упаковать).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Ключевые команды и их назначение: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pwd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показать текущий путь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working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directory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Это ориентир: «где я сейчас?».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показать список файлов и папок. Флаг -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делает размеры читаемыми (КБ, МБ, ГБ).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mkdir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создать новую директорию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make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directory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перейти в другую директорию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change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directory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Перенаправление &gt; — создаёт файл и записывает туда текст. Если файл уже есть — перезапишет.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tar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czf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создаёт архив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tape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archive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create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сжать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gzip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указать имя файла. Это не удаление файлов, а упаковка.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tar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xzf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-C — распаковать архив: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extract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-C — в какую папку распаковать.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3429000"/>
            <a:ext cx="5165726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2143108" y="542926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Здесь звёздочка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note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*.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txt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— это шаблон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glob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), который автоматически подставляет все файлы, подходящие под маску. Это экономит время и снижает риск опечаток.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31345" y="-137536"/>
            <a:ext cx="47981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Анализ файлов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92048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Работа с содержимым файлов: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Вывод первых строк: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filename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позволяет быстро оценить структуру файла без открытия всего содержимого. Это особенно полезно для логов, CSV, JSON.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Подсчёт слов: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filename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Флаг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считает именно слова; есть также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(строки) и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(байты). Эти команды часто комбинируют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пайплайнах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Сбор информации о системе: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whoami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текущий пользователь. Важно для проверки прав и контекста.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hostname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имя машины. Нужно для идентификации узла в сети.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версия ядра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Критично при установке драйверов, проверке совместимости и отладке.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free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свободная и занятая оперативная память. Флаг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даёт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человекочитаемый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формат.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динамический мониторинг процессов и загрузки CPU/RAM. Это интерактивный инструмент: он обновляется в реальном времени.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Почему это нужно в администрировании: Быстрая диагностика начинается с понимания, кто работает в системе, сколько ресурсов доступно и какие процессы потребляют ресурсы. Эти команды — первый шаг в поиске узких мест и аномалий.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143240" y="-214338"/>
            <a:ext cx="27847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Скрипты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92048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последовательность команд, записанная в файл. Чтобы система поняла, что это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 первой строке указывают интерпретатор: #!/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Подстановка команд через $(...) позволяет динамически вставлять результаты в вывод: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$(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whoami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подставит имя пользователя.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$(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текущую дату и время.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$(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pwd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текущий путь.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было запустить как программу, ему нужно дать право на выполнение: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chmod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+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greet.sh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После этого его можно вызывать как обычную команду: ./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greet.sh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0078" y="3357562"/>
            <a:ext cx="6193922" cy="326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4071942"/>
            <a:ext cx="30718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#!/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usr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/bin/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env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bash</a:t>
            </a:r>
          </a:p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echo 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Привет, $(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whoami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)!"</a:t>
            </a:r>
          </a:p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echo 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Сегодня: $(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date)"</a:t>
            </a:r>
          </a:p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echo 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Ты в директории: $(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pwd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)"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42910" y="0"/>
            <a:ext cx="7798545" cy="5078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Устаревшие </a:t>
            </a:r>
            <a:r>
              <a:rPr lang="ru-RU" sz="27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репозитории</a:t>
            </a:r>
            <a:r>
              <a:rPr lang="ru-RU" sz="27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и установка ПО в </a:t>
            </a:r>
            <a:r>
              <a:rPr lang="ru-RU" sz="27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Ubuntu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57148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задании мы сталкиваемся с системой, где стоит очень старая версия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(2.6.5) — это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10.04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Lucid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Lynx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Поддержка этой версии прекращена более 10 лет назад: нет обновлений безопасности, многие пакеты уже недоступны в текущих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репозиториях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Для учебных целей мы можем временно использовать архив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репозиториев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old-releases.ubuntu.com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чтобы показать сам механизм работы с источниками пакетов и установки ПО. В реальной работе так делать нельзя: это небезопасно.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репозиторий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зачем его менять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Репозиторий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сервер с пакетами и метаданными, откуда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скачивает и устанавливает программы.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Стандартный 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sources.list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современной системе ссылается на активные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старой версии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зеркала отключаются, и система перестаёт «видеть» пакеты.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old-releases.ubuntu.com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архив старых релизов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 нужен только для обучения и восстановления данных, не для продуктивной работы.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643446"/>
            <a:ext cx="4850606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000628" y="4549676"/>
            <a:ext cx="414337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Команда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sources.list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открывает редактор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 правами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суперпользователя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Мы заменяем строки, чтобы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начал «видеть» пакеты именно из архива для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Lucid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Это нужно, чтобы после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apt-get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система получила списки доступных пакетов из старого релиза и смогла установить, например, python3.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5984" y="0"/>
            <a:ext cx="44282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Python </a:t>
            </a:r>
            <a:r>
              <a:rPr lang="ru-RU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в </a:t>
            </a:r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Linux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857232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важно понимать, какой именно интерпретатор используется: команда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python3) показывает путь к исполняемому файлу — это помогает избежать путаницы между версиями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настройки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репозиториев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установки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apt-get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install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python3 можно запускать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прямо из терминала: python3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script.py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Если в файле есть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shebang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права на выполнение, подойдёт и ./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script.py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Общая папка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удобна для разработки: пишете код в привычном редакторе на хосте, а запускаете и тестируете в изолированной среде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например, положив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 рабочий стол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Базовый ввод/вывод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строится на двух командах: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запрашивает данные у пользователя,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выводит результат. Уже этого достаточно, чтобы сделать простой интерактивный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3929066"/>
            <a:ext cx="3835093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471488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Команда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имя_скрипта.py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открывает простой консольный редактор, где можно быстро внести изменения, сохранить их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Ctrl+O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затем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выйти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Ctrl+X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Это базовый навык администрирования и разработки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Разработка клиент-серверных архитектур информационных систем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HTTP‑сервер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HTTP‑сервер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программа, которая принимает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HTTP‑запросы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 клиентов (чаще всего браузеров) и возвращает им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HTTP‑ответы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HTML‑страницы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файлы,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JSON‑данные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т. п. Его главная задача — реализовать протокол HTTP поверх транспортного протокола (обычно TCP) и отдать нужный ресурс по URL.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Ключевые обязанности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HTTP‑сервера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Принимать соединения на заданном порту (например, 80 или 8080) и управлять ими.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Читать и разбирать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HTTP‑запрос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метод (GET, POST и др.), путь, заголовки.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Формировать корректный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HTTP‑ответ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строку статуса, заголовки (включая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Content-Type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Content-Length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тело ответа.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Соблюдать спецификацию протокола: правильно использовать разделители \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r\n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корректно кодировать данные, учитывать длину тела.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Управлять соединениями: закрывать их или поддерживать в режиме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keep‑alive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нашем примере сервер предельно простой: он не разбирает запрос детально, а сразу возвращает фиксированную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HTML‑страницу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 статусом 200 OK. Такой подход полезен для обучения: он показывает, что HTTP — это просто текст, переданный по TCP.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нашем примере сервер предельно простой: он не разбирает запрос детально, а сразу возвращает фиксированную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HTML‑страницу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 статусом 200 OK. Такой подход полезен для обучения: он показывает, что HTTP — это просто текст, переданный по TCP.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 — это программный интерфейс для сетевого взаимодействия, точка входа/выхода данных для процесса. В контексте TCP/IP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конкретная комбинация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IP‑адреса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порта, к которой можно подключиться и обмениваться байтами.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Основные роли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Создание канала связи.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позволяет процессу «занять» порт и начать слушать входящие соединения.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Передача данных в виде байтов. Сеть оперирует байтами, поэтому любые данные (текст, картинки, команды) должны быть преобразованы в байтовую последовательность.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Управление состоянием соединения.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дают методы для установки соединения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чтения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записи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sendall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и закрытия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close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Типы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примере: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Слушающий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(создаётся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bind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listen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 — он не передаёт данные напрямую, а только принимает новые соединения.</a:t>
            </a: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соединения (возвращается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 — именно по нему происходит обмен данными с конкретным клиентом. На каждое новое подключение создаётся свой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соединения.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Как HTTP и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работают вместе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Сервер создаёт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TCP‑сокет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привязывает его к адресу и порту, переходит в режим прослушивания.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Клиент (браузер) устанавливает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TCP‑соединение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 этим портом.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Сервер принимает соединение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получает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для работы с этим клиентом.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Клиент отправляет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HTTP‑запрос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как последовательность байтов; сервер читает их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Сервер формирует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HTTP‑ответ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(статус, заголовки, тело) и отправляет байты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sendall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Соединение закрывается (или остаётся открытым для следующих запросов).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Именно эту цепочку реализует приведённый код: он использует «чистые»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чтобы вручную собрать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HTTP‑ответ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отправить его клиенту. Это помогает увидеть, как работают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веб‑серверы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«под капотом», без абстракций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фреймворков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Этот код реализует минимальный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HTTP‑сервер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 «чистых»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сокетах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без использования готовых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HTTP‑модулей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вроде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http.server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BaseHTTPServer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 принимает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HTTP‑запросы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отдаёт в ответ простую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HTML‑страницу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000108"/>
            <a:ext cx="7038975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0"/>
            <a:ext cx="70008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3286124"/>
            <a:ext cx="72675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0"/>
            <a:ext cx="776287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4685932"/>
            <a:ext cx="5838812" cy="2172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подсеть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уникальный идентификатор устройства в сети (например, 192.168.1.55). Он позволяет другим устройствам «находить» его и обмениваться данными. Подсеть — логическая часть сети, определяемая маской подсети: устройства в одной подсети могут напрямую «видеть» друг друга. Совпадение первых трёх октетов (например, 192.168.1 у хоста и ВМ) — простой признак, что они в одной подсети и теоретически могут взаимодействовать без маршрутизации.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Режим NAT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почему хост не видит ВМ напрямую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NAT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Network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Translation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работает как «виртуальный роутер»: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ВМ получает IP из приватного диапазона (чаще всего 10.0.2.x).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Все исходящие соединения от ВМ «маскируются» под IP хоста: для внешней сети (и для хоста) трафик выглядит так, будто он идёт от самого хоста.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Входящие соединения на ВМ по умолчанию не пробрасываются: хост не может напрямую обратиться к ВМ по её внутреннему IP.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Следствие для задания: если ВМ в режиме NAT, 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хоста на её IP (10.0.2.x) не пройдёт или будет идти не туда — это ожидаемое поведение. Для прямого доступа из хоста к сервисам внутри ВМ NAT не подходит.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6632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Режим «Сетевой мост» (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Adapter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): ВМ как полноценный узел сети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В режиме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Adapter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виртуальная сетевая карта ВМ «мостится» с физическим адаптером хоста (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Wi‑Fi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). В результате: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ВМ становится полноценным участником локальной сети — как ещё один компьютер или телефон в вашей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Wi‑Fi‑сети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ВМ выдаётся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DHCP‑сервером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вашей локальной сети (обычно это ваш роутер) и попадает в диапазон локальной сети, например 192.168.1.x.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Другие устройства в локальной сети (в том числе хост) могут обращаться к ВМ напрямую по её IP.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Что важно при настройке: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Нужно выбрать именно физический адаптер хоста (не виртуальный). Если у хоста одновременно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Wi‑Fi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 выбирают тот, через который хост подключён к сети.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После смены режима ВМ должна получить новый IP — это видно через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 или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addr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(современные дистрибутивы).</a:t>
            </a:r>
          </a:p>
          <a:p>
            <a:pPr algn="just"/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Команды для определения IP и проверки связности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(или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addr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show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 в гостевой ОС — показывает сетевые интерфейсы и их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IP‑адреса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По IP можно понять, в каком режиме сеть: 10.0.2.x — NAT, 192.168.x.x — скорее всего,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ipconfig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на хосте — показывает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хоста. Сравнение первых трёх октетов у хоста и ВМ — быстрый способ убедиться, что они в одной подсети.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&lt;IP&gt; — отправляет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ICMP‑запросы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к целевому узлу. Успешный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(строки с временем отклика и без потерь) подтверждает, что: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узел доступен в сети;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ICMP не блокируется брандмауэром;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маршрутизация между хостом и ВМ работает.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Почему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может не проходить даже при правильной подсети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Даже если хост и ВМ в одной подсети,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не работать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Брандмауэра гостевой ОС. По умолчанию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может блокировать входящие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ICMP‑пакеты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В учебных целях временно отключают брандмауэр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disable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либо разрешают ICMP правилом.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Блокировки на уровне хоста. Брандмауэр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отклонять входящие ICMP.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Неправильного выбора адаптера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выбран неактивный или виртуальный адаптер, ВМ не получит корректный IP в локальной сети.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Конфликта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IP‑адресов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DHCP выдал ВМ адрес, уже занятый другим устройством, сеть будет работать нестабильно.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Как интерпретировать сообщения об ошибках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«Превышено время ожидания» — запрос ушёл, но ответ не пришёл. Частая причина — брандмауэр блокирует ICMP или ВМ недоступна.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«Узел недоступен» — маршрутизация не знает, как добраться до этого IP. Возможные причины: неверный режим сети (NAT вместо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), неправильный IP, отключённый сетевой адаптер.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Почему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может не проходить даже при правильной подсети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Даже если хост и ВМ в одной подсети,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не работать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Брандмауэра гостевой ОС. По умолчанию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может блокировать входящие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ICMP‑пакеты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В учебных целях временно отключают брандмауэр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disable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либо разрешают ICMP правилом.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Блокировки на уровне хоста. Брандмауэр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отклонять входящие ICMP.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Неправильного выбора адаптера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выбран неактивный или виртуальный адаптер, ВМ не получит корректный IP в локальной сети.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Конфликта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IP‑адресов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DHCP выдал ВМ адрес, уже занятый другим устройством, сеть будет работать нестабильно.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Как интерпретировать сообщения об ошибках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«Превышено время ожидания» — запрос ушёл, но ответ не пришёл. Частая причина — брандмауэр блокирует ICMP или ВМ недоступна.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«Узел недоступен» — маршрутизация не знает, как добраться до этого IP. Возможные причины: неверный режим сети (NAT вместо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), неправильный IP, отключённый сетевой адаптер.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Что такое брандмауэр и зачем он нужен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Брандмауэр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firewall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— это сетевой фильтр, который контролирует входящий и исходящий трафик по правилам.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по умолчанию используется UFW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Uncomplicated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Firewall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— надстройка над сетевым фильтром ядра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iptables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netfilter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Принцип работы: брандмауэр проверяет каждый входящий пакет и решает — пропустить или отбросить — на основе правил. Если правило для порта 8080 не задано, а брандмауэр активен, пакет молча отбрасывается. Клиент (браузер на хосте) в этом случае получает ошибку соединения или «превышение времени ожидания».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Базовые команды UFW</a:t>
            </a:r>
          </a:p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status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показать текущее состояние и список правил.</a:t>
            </a:r>
          </a:p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disable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полностью отключить брандмауэр. Все правила перестают действовать; весь входящий трафик проходит без фильтрации.</a:t>
            </a:r>
          </a:p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enable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включить брандмауэр с ранее настроенными правилами.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2867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SOAP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Simple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Object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— протокол обмена структурированными сообщениями в формате XML. В администрировании ИС он применяется для стандартизированного доступа к внешним данным (курсы валют, справочники, реестры) без необходимости поддерживать собственные хранилища.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WSDL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Description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— описание сервиса: список методов, типы параметров и формат ответов. Это «контракт», по которому клиент и сервер договариваются о взаимодействии.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Библиотека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zeep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автоматизирует работу с SOAP: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парсит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WSDL, формирует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XML‑запросы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сериализует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ответы в объекты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Для администратора это снижает риск ошибок и обеспечивает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скриптов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Практический смысл: интеграция с внешними сервисами позволяет строить автоматические отчёты, проверки лимитов, конвертацию валют в расчётах, синхронизацию справочников — всё это часть управления конфигурациями и качеством данных.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SOAP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28670"/>
            <a:ext cx="914400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Центральный банк РФ выбрал SOAP не случайно: как государственное финансовое учреждение, он работает с данными, к которым предъявляются строгие требования к надёжности, типизации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воспроизводимости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SOAP появился в 1998 году и хотя в современных проектах его во многом потеснили REST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gRPC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в банковской и государственной сфере он остаётся стандартом именно благодаря жёстким стандартам форматирования и предсказуемости обмена. В отличие от REST, где структура запроса и ответа не всегда строго регламентирована, SOAP требует наличия WSDL-описания — формального контракта, в котором заранее зафиксированы все методы, типы параметров и структура ответов. Для Центробанка это означает, что любая система на любой платформе — будь то .NET, 1С,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получит одинаковый, гарантированно корректный ответ. Кроме того, SOAP-сервисы ЦБ построены на платформе .NET, поэтому ответы приходят в виде объектов типа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DataSet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стандартизированной структуры, где каждая таблица имеет чётко описанную схему (XSD) с именами полей и типами данных. 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сервисах ЦБ РФ каждый метод соответствует конкретной задаче: например,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GetCursOnDate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возвращает курсы на указанную дату в виде структурированной таблицы,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DragMetDynamic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динамику цен на драгметаллы за период, 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GetLatestDateSeld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дату последней публикации данных. Поскольку ответы приходят в виде сложных вложенных структур (в частности, .NET-объектов типа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DataSet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администратору важно уметь извлекать из них только нужные поля и преобразовывать в удобные для дальнейшей обработки форматы — словари, списки, CSV-файлы. Данные, получаемые через SOAP-сервис ЦБ, используются корпоративными системами для автоматической загрузки курсов валют в расчёты, формирования финансовой отчётности, контроля лимитов и конвертации сумм — всё это операции, где ошибка в формате или актуальности данных может привести к прямым финансовым потерям, поэтому строгость и предсказуемость SOAP здесь не избыточна, а функциональна.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SOAP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28670"/>
            <a:ext cx="9144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Технология RPC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Remote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Procedure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«удалённый вызов процедуры») — это подход, при котором клиентский код обращается к функционалу на удалённом сервере так, будто вызывает обычную локальную функцию: передаёт параметры, ждёт результат и дальше работает с ним. Для администратора ИС в этом кроется сразу два преимущества: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во‑первых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логика остаётся привычной и понятной,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во‑вторых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вся сложность сетевого обмена,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сериализации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данных и маршрутизации запроса прячется «под капотом» — её берут на себя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фреймворки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транспортные механизмы. Именно поэтому RPC часто используют там, где важна скорость разработки интеграций и предсказуемость поведения, а не максимальная абстракция над ресурсами, как в REST.</a:t>
            </a:r>
          </a:p>
          <a:p>
            <a:pPr algn="just"/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 основе RPC лежит идея контракта: заранее описанного интерфейса, где перечислены доступные процедуры, типы входных параметров и формат возвращаемых значений. Для этого применяют IDL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язык описания интерфейсов. Например,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gRPC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используют .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proto‑файлы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на базе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Buffers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а в старых реализациях — WSDL или иные схемы. Такой контракт нужен не только разработчикам, но и администраторам: он позволяет быстро проверить, какие методы доступны, какие версии API поддерживаются и какие типы данных ожидаются. Если контракт изменился, администратор сразу видит расхождения и может заранее скорректировать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мониторинга, CI/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CD‑пайплайны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или правила балансировки нагрузки.</a:t>
            </a:r>
          </a:p>
          <a:p>
            <a:pPr algn="just"/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Существует несколько распространённых реализаций RPC, каждая со своей спецификой для администрирования. XML‑RPC и JSON‑RPC — простые варианты: запрос и ответ передаются в виде структурированного текста (XML или JSON), транспорт обычно HTTP. Они удобны для быстрых интеграций и отладки: администратор легко читает запросы в логах и может вручную воспроизвести вызов через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curl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Postman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gRPC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более современная и производительная реализация: использует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Buffers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для компактной бинарной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сериализации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HTTP/2 как транспорт. Благодаря потоковой передаче, мультиплексированию и встроенным механизмам контроля ошибок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gRPC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особенно востребован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микросервисных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архитектурах и распределённых вычислениях. Для администратора это означает более высокую пропускную способность и удобные инструменты трассировки, но одновременно требует поддержки HTTP/2 на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балансировщиках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прокси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а также понимания работы с сертификатами и TLS. Есть и более старые варианты вроде CORBA или DCOM — они исторически важны, но в новых проектах почти не применяются.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RPC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-357214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XML-RPC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71546"/>
            <a:ext cx="5492231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4714884"/>
            <a:ext cx="7079586" cy="1447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Соединительная линия уступом 6"/>
          <p:cNvCxnSpPr>
            <a:stCxn id="1026" idx="2"/>
            <a:endCxn id="5" idx="0"/>
          </p:cNvCxnSpPr>
          <p:nvPr/>
        </p:nvCxnSpPr>
        <p:spPr>
          <a:xfrm rot="16200000" flipH="1">
            <a:off x="3500112" y="2889285"/>
            <a:ext cx="1285884" cy="236531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11" idx="1"/>
          </p:cNvCxnSpPr>
          <p:nvPr/>
        </p:nvCxnSpPr>
        <p:spPr>
          <a:xfrm rot="10800000" flipV="1">
            <a:off x="4214810" y="2020146"/>
            <a:ext cx="1571636" cy="3372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786446" y="1142984"/>
            <a:ext cx="3214710" cy="175432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/>
              <a:t>Вместо </a:t>
            </a:r>
            <a:r>
              <a:rPr lang="en-US" dirty="0" err="1" smtClean="0"/>
              <a:t>localhost</a:t>
            </a:r>
            <a:r>
              <a:rPr lang="en-US" dirty="0" smtClean="0"/>
              <a:t> </a:t>
            </a:r>
            <a:r>
              <a:rPr lang="ru-RU" dirty="0" smtClean="0"/>
              <a:t>можно вставить </a:t>
            </a:r>
            <a:r>
              <a:rPr lang="en-US" dirty="0" err="1" smtClean="0"/>
              <a:t>ip</a:t>
            </a:r>
            <a:r>
              <a:rPr lang="en-US" dirty="0" smtClean="0"/>
              <a:t>-</a:t>
            </a:r>
            <a:r>
              <a:rPr lang="ru-RU" dirty="0" smtClean="0"/>
              <a:t>адрес любого удаленного устройства, к которому есть доступ и которое может выступать в качестве сервера</a:t>
            </a:r>
            <a:endParaRPr lang="ru-RU" dirty="0"/>
          </a:p>
        </p:txBody>
      </p:sp>
      <p:cxnSp>
        <p:nvCxnSpPr>
          <p:cNvPr id="13" name="Прямая со стрелкой 12"/>
          <p:cNvCxnSpPr>
            <a:stCxn id="11" idx="2"/>
          </p:cNvCxnSpPr>
          <p:nvPr/>
        </p:nvCxnSpPr>
        <p:spPr>
          <a:xfrm rot="5400000">
            <a:off x="5717056" y="3609643"/>
            <a:ext cx="2389078" cy="9644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28670"/>
            <a:ext cx="9144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Взаимодействие с почтовым сервером через SMTP — это типовая задача администрирования, когда нужно доставить отчёт, уведомление или результат проверки без участия человека. В реальных сценариях так отправляют: ежедневные отчёты по доступности сервисов, уведомления о превышении лимитов, результаты аудита конфигураций, итоги тестирования обновлений.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SMTP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Simple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Mail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здесь выступает как транспортный слой: администратор не строит собственный канал связи, а использует уже настроенный и контролируемый почтовый сервис. Библиотека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smtplib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берёт на себя установку соединения, рукопожатие (EHLO), аутентификацию и передачу письма в формате RFC 5322. Для администратора критически важно не просто «отправить», а предусмотреть типовые отказы: сервер недоступен, таймаут, неверные учётные данные, отказ в доставке. Каждый такой случай — это событие, которое нужно зафиксировать в логах и, при необходимости, перевести в инцидент.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Почтовые протоколы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ru-RU" dirty="0" smtClean="0"/>
              <a:t>Пример </a:t>
            </a:r>
            <a:r>
              <a:rPr lang="en-US" dirty="0" smtClean="0"/>
              <a:t>SMTP-</a:t>
            </a:r>
            <a:r>
              <a:rPr lang="ru-RU" dirty="0" smtClean="0"/>
              <a:t>сессии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46"/>
            <a:ext cx="8510585" cy="4250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142844" y="5286388"/>
            <a:ext cx="87868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Cambria" pitchFamily="18" charset="0"/>
              </a:rPr>
              <a:t>S- </a:t>
            </a:r>
            <a:r>
              <a:rPr lang="ru-RU" b="1" dirty="0" smtClean="0">
                <a:latin typeface="Cambria" pitchFamily="18" charset="0"/>
              </a:rPr>
              <a:t>Сервер; </a:t>
            </a:r>
            <a:r>
              <a:rPr lang="en-US" b="1" dirty="0" smtClean="0">
                <a:latin typeface="Cambria" pitchFamily="18" charset="0"/>
              </a:rPr>
              <a:t>C - </a:t>
            </a:r>
            <a:r>
              <a:rPr lang="ru-RU" b="1" dirty="0" smtClean="0">
                <a:latin typeface="Cambria" pitchFamily="18" charset="0"/>
              </a:rPr>
              <a:t>Клиент</a:t>
            </a:r>
          </a:p>
          <a:p>
            <a:r>
              <a:rPr lang="ru-RU" dirty="0" smtClean="0"/>
              <a:t>В результате такой сессии письмо будет доставлено адресату user1@company.tld, но не будет доставлено адресату user2@company.tld, потому что такого адреса не существует.</a:t>
            </a:r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85728"/>
            <a:ext cx="8234359" cy="2918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3357562"/>
            <a:ext cx="7343765" cy="330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000364" y="59272"/>
            <a:ext cx="3197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Некоторые команды</a:t>
            </a:r>
            <a:r>
              <a:rPr lang="en-US" b="1" dirty="0" smtClean="0"/>
              <a:t> </a:t>
            </a:r>
            <a:r>
              <a:rPr lang="en-US" b="1" dirty="0" smtClean="0">
                <a:latin typeface="Cambria" pitchFamily="18" charset="0"/>
              </a:rPr>
              <a:t>SMTP</a:t>
            </a:r>
            <a:endParaRPr lang="ru-RU" b="1" dirty="0">
              <a:latin typeface="Cambria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14612" y="3143248"/>
            <a:ext cx="3571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Коды отклика в системе </a:t>
            </a:r>
            <a:r>
              <a:rPr lang="en-US" b="1" dirty="0" smtClean="0">
                <a:latin typeface="Cambria" pitchFamily="18" charset="0"/>
              </a:rPr>
              <a:t>SMTP</a:t>
            </a:r>
            <a:endParaRPr lang="ru-RU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IP-</a:t>
            </a:r>
            <a:r>
              <a:rPr lang="ru-RU" dirty="0" smtClean="0"/>
              <a:t>адресация</a:t>
            </a:r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500042"/>
            <a:ext cx="7163335" cy="3933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4572008"/>
            <a:ext cx="9144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Адрес сети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побитовое И (последний октет:</a:t>
            </a:r>
            <a:r>
              <a:rPr kumimoji="0" lang="ru-RU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219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&amp;240=208=11010000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Количество бит под нумерацию узлов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количество нулей в маске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Кол-во узлов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2</a:t>
            </a:r>
            <a:r>
              <a:rPr kumimoji="0" lang="en-US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− 2 (так</a:t>
            </a:r>
            <a:r>
              <a:rPr kumimoji="0" lang="ru-RU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как минус адрес сети и широковещательный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), где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– количество бит в маске, отвечающее за нумерацию узлов.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Широковещательный адрес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либо к адресу сети прибавить кол-во узлов + 1;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либо заменить все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нули в маске на единицы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 заменить соответствующие биты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адресе сети на единицы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428736"/>
            <a:ext cx="5903079" cy="3286148"/>
          </a:xfrm>
          <a:prstGeom prst="rect">
            <a:avLst/>
          </a:prstGeom>
          <a:noFill/>
        </p:spPr>
      </p:pic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" y="642918"/>
            <a:ext cx="914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Количество бит, выделенных под нумерацию подсетей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количество единиц в хосте.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То, сколько бит 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относится к хосту зависит от класса сети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5286388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Количество полученных после разбиения подсетей</a:t>
            </a:r>
            <a:r>
              <a:rPr kumimoji="0" lang="ru-RU" sz="20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 в степени "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Количество бит, выделенных под нумерацию подсетей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так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как каждый бит в хосте может быть либо 0, либо 1.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785794"/>
            <a:ext cx="9144000" cy="27860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786190"/>
            <a:ext cx="9144000" cy="1714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357214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785794"/>
            <a:ext cx="914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Количество бит, выделенных под нумерацию узлов в подсетях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Количество нулей в маске подсети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0" y="1643050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Возможное количество узлов в подсети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2 в степени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"Количество бит, выделенных под нумерацию узлов в подсетях"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- 2 за минусом адреса сети и широковещательного адреса)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2786058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Адрес подсети для заданного адреса узла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определяется побитовой конъюнкцией между "Адресом узла" и "Маской подсети</a:t>
            </a:r>
            <a:r>
              <a:rPr lang="ru-RU" sz="20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 "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Адрес первого узла в данной подсети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в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"Адрес подсети для заданного адреса узла"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к последнему октету прибавить один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Адрес последнего узла в данной подсети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в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"Адрес подсети для заданного адреса узла"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 последнему октету прибавить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"Возможное количество узлов в подсети"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" y="5715016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Широковещательный адрес в данной подсети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Можно прибавить 1 к  "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Адрес последнего узла в данной подсети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", можно по схеме из первого задания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1071546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Разделение сети на подсети с помощью маски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логическое разделение IP-сети на более мелкие сети с помощью маски подсети. Подсети позволяют эффективнее использовать адресное пространство и управлять трафиком внутри сети.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Процесс разделения сети на подсети включает увеличение длины маски подсети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что позволяет создавать большее количество мелких сетей.  В этом примере сеть компании имеет адрес 192.168.1.0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/24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Первые три октета адреса (192.168.1) представляют собой номер сети (сеть класса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а оставшийся октет – идентификатор хоста, что позволяет использовать в сети максимум 28 – 2 = 254 хостов.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Сеть компании до ее деления на подсети показана на рисунке.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14348" y="500042"/>
            <a:ext cx="75121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32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https://ipmeter.ru/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калькулятор подсетей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 descr="b8e43ab7-27cf-4e72-8bd6-c86fd86e280f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4357694"/>
            <a:ext cx="3810000" cy="2286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5857892"/>
            <a:ext cx="9144000" cy="10001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500042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разделить сеть 192.168.1.0 на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две отдельные подсети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можно "позаимствовать" один бит из идентификатора хоста. В этом случае маска подсети станет 25-битной (255.255.255.128 или /25).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"Одолженный" бит идентификатора хоста может быть либо нулем, либо единицей, что дает нам две подсети: 192.168.1.0 /25 и 192.168.1.128 /25.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Сеть компании после ее деления на подсети показана на рисунке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справа. Теперь она включает в себя две подсети,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4" descr="a478a684-925c-4d15-9e01-8277a2acb7a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2500306"/>
            <a:ext cx="3391752" cy="1857388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>
            <a:off x="0" y="428625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25-битной подсети на идентификатор хоста выделяется 7 бит, поэтому в каждой подсети может быть максимум 2</a:t>
            </a:r>
            <a:r>
              <a:rPr lang="ru-RU" baseline="30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– 2 = 126 хостов. Таким образом, наименьший IP-адрес, который может быть закреплен за действительным хостом в подсети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– это 192.168.1.1, а наибольший – 192.168.1.126.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585789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задании необходимо разделить сеть на 4 подсети. Число в овалах означает количество рабочих компьютеров в секторе. Например, можно разделить сеть на две подсети по 64 машины + одну  на 32 машины + одну на 16 машин.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 smtClean="0"/>
              <a:t>Диагностика сетевых устройств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964308"/>
            <a:ext cx="4857784" cy="5893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" y="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Передача файлов в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P2P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передаче короткого текста достаточно одного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sendall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 одного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С файлом сложнее: размер может превышать буфер приёмника, поэтому содержимое передаётся порциями в цикле. Чтобы приёмник знал, сколько байтов ждать, отправитель передаёт размер файла отдельным сообщением до начала передачи содержимого.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2143116"/>
            <a:ext cx="7891700" cy="962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2428860" y="3000372"/>
            <a:ext cx="3999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Отправитель: размер перед данными</a:t>
            </a:r>
            <a:endParaRPr lang="ru-RU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728" y="3500438"/>
            <a:ext cx="6206388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2428860" y="5286388"/>
            <a:ext cx="3859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Приёмник: цикл приёма по размеру</a:t>
            </a:r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Передача строится на трёх шагах. Сначала отправитель передаёт размер, приёмник отвечает «OK». Затем отправитель передаёт содержимое файла, приёмник накапливает данные в цикле до заявленного размера. После сохранения файла приёмник отправляет подтверждение ACK, а отправитель читает его и фиксирует успешную доставку.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143116"/>
            <a:ext cx="5350777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500034" y="3286124"/>
            <a:ext cx="43531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Приёмник: сохранение и подтверждение</a:t>
            </a:r>
            <a:endParaRPr lang="ru-RU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00694" y="2071678"/>
            <a:ext cx="3643306" cy="1000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5072066" y="3000372"/>
            <a:ext cx="4071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Отправитель: ожидание подтверждения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385762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Приёмник получает байты по сети и записывает их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бинарном режиме 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". Без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преобразует \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\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r\n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и размер сохранённого файла не совпадёт с заявленным. Контроль размера на каждом этапе — главный механизм целостности: если заявленный и фактический размеры совпадают, передача прошла без потерь.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143512"/>
            <a:ext cx="4672943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64837" y="5214950"/>
            <a:ext cx="4479163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1" y="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Передача файлов в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P2P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1275688" y="-208974"/>
            <a:ext cx="64395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Deployment-diagram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0004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Deployment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diagram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отвечает на вопрос, где и как всё это будет работать: она отображает среду развёртывания — серверы, контейнеры, базы данных, клиентские устройства — и то, как компоненты размещаются на этих узлах. На ней показывают узлы (например, «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веб‑сервер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», «сервер приложений», «БД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»), артефакты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WAR‑файлы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контейнеры, исполняемые модули), связи между узлами (сети, протоколы) и распределение компонентов по инфраструктуре. Её стоит строить, когда важно согласовать архитектуру с инфраструктурой, оценить нагрузку и отказоустойчивость, подготовить требования к окружению или объяснить команде и заказчику, как система будет жить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продакшене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Вместе эти диаграммы дают чёткую картину «что есть в системе» и «где и как это работает», без лишней детализации кода.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933690"/>
            <a:ext cx="6255666" cy="39243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62150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gitignore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файл, который говорит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какие файлы и папки не нужно отслеживать (например, временные файлы,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логи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сборки, секреты) — так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остаётся чистым и не разрастается мусором.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928802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README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главная инструкция к проекту: кратко объясняет, что делает проект, как его запустить, какие зависимости нужны и как участвовать в разработке — это первое, что читают пользователи и новые участники команды.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4357694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CHANGELOG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журнал изменений между версиями: фиксирует, что нового добавили, какие ошибки исправили и какие изменения могут сломать совместимость — он нужен для прозрачности релизов и аудита в процессах управления качеством.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0"/>
            <a:ext cx="1066800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1857364"/>
            <a:ext cx="4429124" cy="2396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4361639"/>
            <a:ext cx="3714744" cy="2496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3914</Words>
  <PresentationFormat>Экран (4:3)</PresentationFormat>
  <Paragraphs>267</Paragraphs>
  <Slides>43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4" baseType="lpstr">
      <vt:lpstr>Тема Office</vt:lpstr>
      <vt:lpstr>Базовая диагностика операционной системы </vt:lpstr>
      <vt:lpstr>Задание 1</vt:lpstr>
      <vt:lpstr>Задание 2</vt:lpstr>
      <vt:lpstr>Задание 3</vt:lpstr>
      <vt:lpstr>Задание 3: пример в powershell</vt:lpstr>
      <vt:lpstr>Развёртывание и администрирование виртуальной среды на примере Linux 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Разработка клиент-серверных архитектур информационных систем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XML-RPC</vt:lpstr>
      <vt:lpstr>Слайд 30</vt:lpstr>
      <vt:lpstr>Пример SMTP-сессии</vt:lpstr>
      <vt:lpstr>Слайд 32</vt:lpstr>
      <vt:lpstr>IP-адресация</vt:lpstr>
      <vt:lpstr>Слайд 34</vt:lpstr>
      <vt:lpstr>Слайд 35</vt:lpstr>
      <vt:lpstr>Задание 2</vt:lpstr>
      <vt:lpstr>Слайд 37</vt:lpstr>
      <vt:lpstr>Слайд 38</vt:lpstr>
      <vt:lpstr>Диагностика сетевых устройств</vt:lpstr>
      <vt:lpstr>Слайд 40</vt:lpstr>
      <vt:lpstr>Слайд 41</vt:lpstr>
      <vt:lpstr>Слайд 42</vt:lpstr>
      <vt:lpstr>Слайд 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Базовая диагностика операционной системы </dc:title>
  <cp:lastModifiedBy>user</cp:lastModifiedBy>
  <cp:revision>9</cp:revision>
  <dcterms:modified xsi:type="dcterms:W3CDTF">2026-10-01T21:17:33Z</dcterms:modified>
</cp:coreProperties>
</file>