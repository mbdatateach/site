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9" r:id="rId4"/>
    <p:sldId id="274" r:id="rId5"/>
    <p:sldId id="275" r:id="rId6"/>
    <p:sldId id="276" r:id="rId7"/>
    <p:sldId id="277" r:id="rId8"/>
    <p:sldId id="278" r:id="rId9"/>
    <p:sldId id="279" r:id="rId10"/>
    <p:sldId id="280" r:id="rId11"/>
    <p:sldId id="281" r:id="rId12"/>
    <p:sldId id="282" r:id="rId13"/>
    <p:sldId id="283" r:id="rId14"/>
    <p:sldId id="284" r:id="rId1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2DD"/>
    <a:srgbClr val="ECDDF2"/>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5" d="100"/>
          <a:sy n="75" d="100"/>
        </p:scale>
        <p:origin x="-2664" y="-87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19.11.2025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19.11.2025</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abr.com/ru/companies/click/articles/541658/" TargetMode="External"/><Relationship Id="rId2" Type="http://schemas.openxmlformats.org/officeDocument/2006/relationships/hyperlink" Target="https://vc.ru/marketing/146047-15-prichin-ispolzovat-video-dlya-prodvizheniya-tovarov-i-uslug?ysclid=m23ai2qpgh74652647" TargetMode="External"/><Relationship Id="rId1" Type="http://schemas.openxmlformats.org/officeDocument/2006/relationships/slideLayout" Target="../slideLayouts/slideLayout6.xml"/><Relationship Id="rId4" Type="http://schemas.openxmlformats.org/officeDocument/2006/relationships/hyperlink" Target="https://vc.ru/services/901628-18-luchshih-ii-generatorov-video-kak-sdelat-video-bez-bolshih-usilii?ysclid=m23apiyuh118705906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rutube.ru/video/b8928a0adc19051ad1907a42cf0f2357/" TargetMode="External"/><Relationship Id="rId2" Type="http://schemas.openxmlformats.org/officeDocument/2006/relationships/hyperlink" Target="https://losst.pro/kak-polzovatsya-shotcut" TargetMode="External"/><Relationship Id="rId1" Type="http://schemas.openxmlformats.org/officeDocument/2006/relationships/slideLayout" Target="../slideLayouts/slideLayout7.xml"/><Relationship Id="rId5" Type="http://schemas.openxmlformats.org/officeDocument/2006/relationships/hyperlink" Target="https://rutube.ru/video/2f82c99d9a517033043b34419d89a259/" TargetMode="External"/><Relationship Id="rId4" Type="http://schemas.openxmlformats.org/officeDocument/2006/relationships/hyperlink" Target="https://rutube.ru/video/91440706f90d07e6407b841db2c10a6a/"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Роль видеоматериалов в рекламе</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928670"/>
            <a:ext cx="9144000" cy="6740307"/>
          </a:xfrm>
          <a:prstGeom prst="rect">
            <a:avLst/>
          </a:prstGeom>
          <a:ln>
            <a:noFill/>
          </a:ln>
        </p:spPr>
        <p:txBody>
          <a:bodyPr wrap="square">
            <a:spAutoFit/>
          </a:bodyPr>
          <a:lstStyle/>
          <a:p>
            <a:pPr algn="just"/>
            <a:endParaRPr lang="ru-RU" sz="2400" b="1" dirty="0" smtClean="0">
              <a:latin typeface="Cambria" pitchFamily="18" charset="0"/>
            </a:endParaRPr>
          </a:p>
          <a:p>
            <a:pPr algn="just" fontAlgn="base"/>
            <a:r>
              <a:rPr lang="ru-RU" sz="2400" i="1" dirty="0" smtClean="0">
                <a:latin typeface="Cambria" pitchFamily="18" charset="0"/>
              </a:rPr>
              <a:t>15 причин использовать видео для продвижения товаров и услуг</a:t>
            </a:r>
          </a:p>
          <a:p>
            <a:pPr algn="just"/>
            <a:r>
              <a:rPr lang="en-US" sz="2400" b="1" dirty="0" smtClean="0">
                <a:latin typeface="Cambria" pitchFamily="18" charset="0"/>
                <a:hlinkClick r:id="rId2"/>
              </a:rPr>
              <a:t>https://vc.ru/marketing/146047-15-prichin-ispolzovat-video-dlya-prodvizheniya-tovarov-i-uslug?ysclid=m23ai2qpgh74652647</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7 простых инструментов, которые помогут сделать видео для рекламы</a:t>
            </a:r>
          </a:p>
          <a:p>
            <a:pPr algn="just"/>
            <a:r>
              <a:rPr lang="en-US" sz="2400" b="1" dirty="0" smtClean="0">
                <a:hlinkClick r:id="rId3"/>
              </a:rPr>
              <a:t>https://habr.com/ru/companies/click/articles/541658/</a:t>
            </a:r>
            <a:endParaRPr lang="ru-RU" sz="2400" b="1" dirty="0" smtClean="0"/>
          </a:p>
          <a:p>
            <a:pPr algn="just"/>
            <a:endParaRPr lang="en-US" sz="2400" b="1" i="1" dirty="0" smtClean="0">
              <a:latin typeface="Cambria" pitchFamily="18" charset="0"/>
            </a:endParaRPr>
          </a:p>
          <a:p>
            <a:pPr algn="just"/>
            <a:r>
              <a:rPr lang="ru-RU" sz="2400" i="1" dirty="0" smtClean="0">
                <a:latin typeface="Cambria" pitchFamily="18" charset="0"/>
              </a:rPr>
              <a:t>18 лучших </a:t>
            </a:r>
            <a:r>
              <a:rPr lang="ru-RU" sz="2400" i="1" dirty="0" err="1" smtClean="0">
                <a:latin typeface="Cambria" pitchFamily="18" charset="0"/>
              </a:rPr>
              <a:t>ИИ-генераторов</a:t>
            </a:r>
            <a:r>
              <a:rPr lang="ru-RU" sz="2400" i="1" dirty="0" smtClean="0">
                <a:latin typeface="Cambria" pitchFamily="18" charset="0"/>
              </a:rPr>
              <a:t> видео: как сделать видео без больших усилий</a:t>
            </a:r>
          </a:p>
          <a:p>
            <a:pPr algn="just"/>
            <a:r>
              <a:rPr lang="en-US" sz="2400" b="1" dirty="0" smtClean="0">
                <a:latin typeface="Cambria" pitchFamily="18" charset="0"/>
                <a:hlinkClick r:id="rId4"/>
              </a:rPr>
              <a:t>https://vc.ru/services/901628-18-luchshih-ii-generatorov-video-kak-sdelat-video-bez-bolshih-usilii?ysclid=m23apiyuh1187059062</a:t>
            </a:r>
            <a:endParaRPr lang="en-US" sz="2400" b="1" dirty="0" smtClean="0">
              <a:latin typeface="Cambria" pitchFamily="18" charset="0"/>
            </a:endParaRPr>
          </a:p>
          <a:p>
            <a:pPr algn="just"/>
            <a:endParaRPr lang="en-US" sz="2400" i="1" dirty="0" smtClean="0">
              <a:latin typeface="Cambria" pitchFamily="18" charset="0"/>
            </a:endParaRPr>
          </a:p>
          <a:p>
            <a:pPr algn="just"/>
            <a:endParaRPr lang="ru-RU" sz="2400" b="1" dirty="0" smtClean="0"/>
          </a:p>
          <a:p>
            <a:pPr algn="just"/>
            <a:endParaRPr lang="en-US" sz="2400"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err="1" smtClean="0"/>
              <a:t>Видеореклама</a:t>
            </a:r>
            <a:endParaRPr lang="ru-RU" b="1" dirty="0"/>
          </a:p>
        </p:txBody>
      </p:sp>
      <p:sp>
        <p:nvSpPr>
          <p:cNvPr id="5" name="Прямоугольник 4"/>
          <p:cNvSpPr/>
          <p:nvPr/>
        </p:nvSpPr>
        <p:spPr>
          <a:xfrm>
            <a:off x="0" y="1000108"/>
            <a:ext cx="9144000" cy="1107996"/>
          </a:xfrm>
          <a:prstGeom prst="rect">
            <a:avLst/>
          </a:prstGeom>
        </p:spPr>
        <p:txBody>
          <a:bodyPr wrap="square">
            <a:spAutoFit/>
          </a:bodyPr>
          <a:lstStyle/>
          <a:p>
            <a:pPr algn="just"/>
            <a:r>
              <a:rPr lang="ru-RU" sz="2200" b="1"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 форма рекламы, размещаемой в интернете, направленная на создание имиджа компании, продвижение услуг или товаров, предоставление информации с целью повышения продаж.</a:t>
            </a:r>
            <a:endParaRPr lang="ru-RU" sz="2200" dirty="0">
              <a:latin typeface="Times New Roman" pitchFamily="18" charset="0"/>
              <a:cs typeface="Times New Roman" pitchFamily="18" charset="0"/>
            </a:endParaRPr>
          </a:p>
        </p:txBody>
      </p:sp>
      <p:sp>
        <p:nvSpPr>
          <p:cNvPr id="6" name="Прямоугольник 5"/>
          <p:cNvSpPr/>
          <p:nvPr/>
        </p:nvSpPr>
        <p:spPr>
          <a:xfrm>
            <a:off x="71438" y="2285992"/>
            <a:ext cx="4572000" cy="2062103"/>
          </a:xfrm>
          <a:prstGeom prst="rect">
            <a:avLst/>
          </a:prstGeom>
          <a:solidFill>
            <a:schemeClr val="bg2"/>
          </a:solidFill>
          <a:ln>
            <a:solidFill>
              <a:schemeClr val="tx1"/>
            </a:solidFill>
          </a:ln>
        </p:spPr>
        <p:txBody>
          <a:bodyPr>
            <a:spAutoFit/>
          </a:bodyPr>
          <a:lstStyle/>
          <a:p>
            <a:pPr algn="just"/>
            <a:r>
              <a:rPr lang="ru-RU" sz="1600" b="1" dirty="0" smtClean="0">
                <a:latin typeface="Times New Roman" pitchFamily="18" charset="0"/>
                <a:cs typeface="Times New Roman" pitchFamily="18" charset="0"/>
              </a:rPr>
              <a:t>Анимационные ролики</a:t>
            </a:r>
            <a:r>
              <a:rPr lang="ru-RU" sz="1600" dirty="0" smtClean="0">
                <a:latin typeface="Times New Roman" pitchFamily="18" charset="0"/>
                <a:cs typeface="Times New Roman" pitchFamily="18" charset="0"/>
              </a:rPr>
              <a:t>. Последовательная демонстрация графических изображений. Графическими инструментами можно создать вымышленных, фантастических персонажей, мультипликационных героев, показать реальные объекты снаружи и изнутри, отразить сложные технические и биологические процессы с помощью виртуальной камеры.</a:t>
            </a:r>
            <a:endParaRPr lang="ru-RU" sz="1600" dirty="0">
              <a:latin typeface="Times New Roman" pitchFamily="18" charset="0"/>
              <a:cs typeface="Times New Roman" pitchFamily="18" charset="0"/>
            </a:endParaRPr>
          </a:p>
        </p:txBody>
      </p:sp>
      <p:sp>
        <p:nvSpPr>
          <p:cNvPr id="7" name="Прямоугольник 6"/>
          <p:cNvSpPr/>
          <p:nvPr/>
        </p:nvSpPr>
        <p:spPr>
          <a:xfrm>
            <a:off x="71438" y="4429132"/>
            <a:ext cx="4572000" cy="2062103"/>
          </a:xfrm>
          <a:prstGeom prst="rect">
            <a:avLst/>
          </a:prstGeom>
          <a:solidFill>
            <a:schemeClr val="bg2"/>
          </a:solidFill>
          <a:ln>
            <a:solidFill>
              <a:schemeClr val="tx1"/>
            </a:solidFill>
          </a:ln>
        </p:spPr>
        <p:txBody>
          <a:bodyPr>
            <a:spAutoFit/>
          </a:bodyPr>
          <a:lstStyle/>
          <a:p>
            <a:pPr algn="just"/>
            <a:r>
              <a:rPr lang="ru-RU" sz="1600" b="1" dirty="0" err="1" smtClean="0">
                <a:latin typeface="Times New Roman" pitchFamily="18" charset="0"/>
                <a:cs typeface="Times New Roman" pitchFamily="18" charset="0"/>
              </a:rPr>
              <a:t>Имиджевое</a:t>
            </a:r>
            <a:r>
              <a:rPr lang="ru-RU" sz="1600" b="1" dirty="0" smtClean="0">
                <a:latin typeface="Times New Roman" pitchFamily="18" charset="0"/>
                <a:cs typeface="Times New Roman" pitchFamily="18" charset="0"/>
              </a:rPr>
              <a:t> видео</a:t>
            </a:r>
            <a:r>
              <a:rPr lang="ru-RU" sz="1600" dirty="0" smtClean="0">
                <a:latin typeface="Times New Roman" pitchFamily="18" charset="0"/>
                <a:cs typeface="Times New Roman" pitchFamily="18" charset="0"/>
              </a:rPr>
              <a:t>. Нацелено на предоставление той или иной информации, однако основной задачей роликов этого жанра является формирование репутации компании. Главной задачей такого видео является отражение наиболее выгодных, исключительных сторон компании, которые могут послужить повышению лояльности клиентов.</a:t>
            </a:r>
            <a:endParaRPr lang="ru-RU" sz="1600" dirty="0">
              <a:latin typeface="Times New Roman" pitchFamily="18" charset="0"/>
              <a:cs typeface="Times New Roman" pitchFamily="18" charset="0"/>
            </a:endParaRPr>
          </a:p>
        </p:txBody>
      </p:sp>
      <p:sp>
        <p:nvSpPr>
          <p:cNvPr id="8" name="Прямоугольник 7"/>
          <p:cNvSpPr/>
          <p:nvPr/>
        </p:nvSpPr>
        <p:spPr>
          <a:xfrm>
            <a:off x="4714908" y="4429132"/>
            <a:ext cx="4286248" cy="2062103"/>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Постановочные видео</a:t>
            </a:r>
            <a:r>
              <a:rPr lang="ru-RU" sz="1600" dirty="0" smtClean="0">
                <a:latin typeface="Times New Roman" pitchFamily="18" charset="0"/>
                <a:cs typeface="Times New Roman" pitchFamily="18" charset="0"/>
              </a:rPr>
              <a:t>. Оптимальный выбор для рекламы товаров и услуг, которые привлекают своим внешним образом, очевидной практической пользой. В постановочном видео актёры разыгрывают историю, близкую потенциальному клиенту в повседневной жизни, тем самым устанавливая с ним эмоциональную связь.</a:t>
            </a:r>
            <a:endParaRPr lang="ru-RU" sz="1600" dirty="0">
              <a:latin typeface="Times New Roman" pitchFamily="18" charset="0"/>
              <a:cs typeface="Times New Roman" pitchFamily="18" charset="0"/>
            </a:endParaRPr>
          </a:p>
        </p:txBody>
      </p:sp>
      <p:sp>
        <p:nvSpPr>
          <p:cNvPr id="9" name="Прямоугольник 8"/>
          <p:cNvSpPr/>
          <p:nvPr/>
        </p:nvSpPr>
        <p:spPr>
          <a:xfrm>
            <a:off x="4714876" y="2285992"/>
            <a:ext cx="4286280" cy="2031325"/>
          </a:xfrm>
          <a:prstGeom prst="rect">
            <a:avLst/>
          </a:prstGeom>
          <a:solidFill>
            <a:schemeClr val="bg2"/>
          </a:solidFill>
          <a:ln>
            <a:solidFill>
              <a:schemeClr val="tx1"/>
            </a:solidFill>
          </a:ln>
        </p:spPr>
        <p:txBody>
          <a:bodyPr wrap="square">
            <a:spAutoFit/>
          </a:bodyPr>
          <a:lstStyle/>
          <a:p>
            <a:pPr algn="just"/>
            <a:endParaRPr lang="en-US" b="1" dirty="0" smtClean="0">
              <a:latin typeface="Times New Roman" pitchFamily="18" charset="0"/>
              <a:cs typeface="Times New Roman" pitchFamily="18" charset="0"/>
            </a:endParaRPr>
          </a:p>
          <a:p>
            <a:pPr algn="just"/>
            <a:r>
              <a:rPr lang="ru-RU" b="1" dirty="0" smtClean="0">
                <a:latin typeface="Times New Roman" pitchFamily="18" charset="0"/>
                <a:cs typeface="Times New Roman" pitchFamily="18" charset="0"/>
              </a:rPr>
              <a:t>Эксплейнеры</a:t>
            </a:r>
            <a:r>
              <a:rPr lang="ru-RU" dirty="0" smtClean="0">
                <a:latin typeface="Times New Roman" pitchFamily="18" charset="0"/>
                <a:cs typeface="Times New Roman" pitchFamily="18" charset="0"/>
              </a:rPr>
              <a:t>. Короткое объясняющее видео о компании, продукции или принципе работы нового сервиса, приложения.</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Роль </a:t>
            </a:r>
            <a:r>
              <a:rPr lang="ru-RU" b="1" dirty="0" smtClean="0"/>
              <a:t>видеоматериалов</a:t>
            </a:r>
            <a:endParaRPr lang="ru-RU" b="1" dirty="0"/>
          </a:p>
        </p:txBody>
      </p:sp>
      <p:sp>
        <p:nvSpPr>
          <p:cNvPr id="5" name="Прямоугольник 4"/>
          <p:cNvSpPr/>
          <p:nvPr/>
        </p:nvSpPr>
        <p:spPr>
          <a:xfrm>
            <a:off x="0" y="857232"/>
            <a:ext cx="9144000" cy="5847755"/>
          </a:xfrm>
          <a:prstGeom prst="rect">
            <a:avLst/>
          </a:prstGeom>
        </p:spPr>
        <p:txBody>
          <a:bodyPr wrap="square">
            <a:spAutoFit/>
          </a:bodyPr>
          <a:lstStyle/>
          <a:p>
            <a:pPr algn="just"/>
            <a:r>
              <a:rPr lang="ru-RU" sz="2200" b="1" dirty="0" smtClean="0">
                <a:latin typeface="Times New Roman" pitchFamily="18" charset="0"/>
                <a:cs typeface="Times New Roman" pitchFamily="18" charset="0"/>
              </a:rPr>
              <a:t>Показать уникальность продукта</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создаёт позитивные, тёплые ассоциации и вызывает интерес к компании.</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Передать информацию</a:t>
            </a:r>
            <a:r>
              <a:rPr lang="ru-RU" sz="2200" dirty="0" smtClean="0">
                <a:latin typeface="Times New Roman" pitchFamily="18" charset="0"/>
                <a:cs typeface="Times New Roman" pitchFamily="18" charset="0"/>
              </a:rPr>
              <a:t> </a:t>
            </a:r>
            <a:r>
              <a:rPr lang="ru-RU" sz="2200" b="1" dirty="0" smtClean="0">
                <a:latin typeface="Times New Roman" pitchFamily="18" charset="0"/>
                <a:cs typeface="Times New Roman" pitchFamily="18" charset="0"/>
              </a:rPr>
              <a:t>о свойствах товара</a:t>
            </a:r>
            <a:r>
              <a:rPr lang="ru-RU" sz="2200" dirty="0" smtClean="0">
                <a:latin typeface="Times New Roman" pitchFamily="18" charset="0"/>
                <a:cs typeface="Times New Roman" pitchFamily="18" charset="0"/>
              </a:rPr>
              <a:t>. Видеоролик позволяет рассказать о свойствах товара, максимально приблизив их к реальным, показать продукты в различной обстановке, продемонстрировать, каким образом они производятся и функционируют в процессе использования.</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Сформировать положительный образ компании</a:t>
            </a:r>
            <a:r>
              <a:rPr lang="ru-RU" sz="2200" dirty="0" smtClean="0">
                <a:latin typeface="Times New Roman" pitchFamily="18" charset="0"/>
                <a:cs typeface="Times New Roman" pitchFamily="18" charset="0"/>
              </a:rPr>
              <a:t>. Благоприятный имидж способствует повышению лояльности клиентов, ускорению принятия решения о покупке в случае первого обращения и повышению вероятности повторного контакта пользователя с компанией.</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dirty="0" smtClean="0">
                <a:latin typeface="Times New Roman" pitchFamily="18" charset="0"/>
                <a:cs typeface="Times New Roman" pitchFamily="18" charset="0"/>
              </a:rPr>
              <a:t>Кроме того, </a:t>
            </a:r>
            <a:r>
              <a:rPr lang="ru-RU" sz="2200"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в интернете даёт возможность </a:t>
            </a:r>
            <a:r>
              <a:rPr lang="ru-RU" sz="2200" b="1" dirty="0" smtClean="0">
                <a:latin typeface="Times New Roman" pitchFamily="18" charset="0"/>
                <a:cs typeface="Times New Roman" pitchFamily="18" charset="0"/>
              </a:rPr>
              <a:t>точечного </a:t>
            </a:r>
            <a:r>
              <a:rPr lang="ru-RU" sz="2200" b="1" dirty="0" err="1" smtClean="0">
                <a:latin typeface="Times New Roman" pitchFamily="18" charset="0"/>
                <a:cs typeface="Times New Roman" pitchFamily="18" charset="0"/>
              </a:rPr>
              <a:t>таргетирования</a:t>
            </a:r>
            <a:r>
              <a:rPr lang="ru-RU" sz="2200" b="1" dirty="0" smtClean="0">
                <a:latin typeface="Times New Roman" pitchFamily="18" charset="0"/>
                <a:cs typeface="Times New Roman" pitchFamily="18" charset="0"/>
              </a:rPr>
              <a:t> на определённую аудиторию</a:t>
            </a:r>
            <a:r>
              <a:rPr lang="ru-RU" sz="2200" dirty="0" smtClean="0">
                <a:latin typeface="Times New Roman" pitchFamily="18" charset="0"/>
                <a:cs typeface="Times New Roman" pitchFamily="18" charset="0"/>
              </a:rPr>
              <a:t>. Рекламодатели могут настроить рекламу на определённый возраст, пол, местоположение, интересы и поведенческие факторы.</a:t>
            </a:r>
            <a:endParaRPr lang="ru-RU" sz="22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0" y="5072074"/>
            <a:ext cx="9144000" cy="1785926"/>
          </a:xfrm>
          <a:prstGeom prst="rect">
            <a:avLst/>
          </a:prstGeom>
          <a:solidFill>
            <a:srgbClr val="EFF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0" y="3500438"/>
            <a:ext cx="9144000" cy="1357322"/>
          </a:xfrm>
          <a:prstGeom prst="rect">
            <a:avLst/>
          </a:prstGeom>
          <a:solidFill>
            <a:srgbClr val="ECD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p:cNvSpPr/>
          <p:nvPr/>
        </p:nvSpPr>
        <p:spPr>
          <a:xfrm>
            <a:off x="0" y="1071546"/>
            <a:ext cx="9144000" cy="228601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a:xfrm>
            <a:off x="0" y="-142900"/>
            <a:ext cx="9229668" cy="1143000"/>
          </a:xfrm>
        </p:spPr>
        <p:txBody>
          <a:bodyPr>
            <a:noAutofit/>
          </a:bodyPr>
          <a:lstStyle/>
          <a:p>
            <a:r>
              <a:rPr lang="ru-RU" sz="3600" b="1" dirty="0" err="1" smtClean="0"/>
              <a:t>Интернет-технологии</a:t>
            </a:r>
            <a:r>
              <a:rPr lang="ru-RU" sz="3600" b="1" dirty="0" smtClean="0"/>
              <a:t> для создания </a:t>
            </a:r>
            <a:r>
              <a:rPr lang="ru-RU" sz="3600" b="1" dirty="0" smtClean="0"/>
              <a:t>видеоматериалов</a:t>
            </a:r>
            <a:endParaRPr lang="ru-RU" sz="3600" b="1" dirty="0"/>
          </a:p>
        </p:txBody>
      </p:sp>
      <p:sp>
        <p:nvSpPr>
          <p:cNvPr id="4" name="Прямоугольник 3"/>
          <p:cNvSpPr/>
          <p:nvPr/>
        </p:nvSpPr>
        <p:spPr>
          <a:xfrm>
            <a:off x="0" y="1081707"/>
            <a:ext cx="9144000" cy="5847755"/>
          </a:xfrm>
          <a:prstGeom prst="rect">
            <a:avLst/>
          </a:prstGeom>
        </p:spPr>
        <p:txBody>
          <a:bodyPr wrap="square">
            <a:spAutoFit/>
          </a:bodyPr>
          <a:lstStyle/>
          <a:p>
            <a:pPr algn="just"/>
            <a:r>
              <a:rPr lang="ru-RU" sz="2200" b="1" dirty="0" smtClean="0">
                <a:latin typeface="Times New Roman" pitchFamily="18" charset="0"/>
                <a:cs typeface="Times New Roman" pitchFamily="18" charset="0"/>
              </a:rPr>
              <a:t>Искусственный интеллект (AI)</a:t>
            </a:r>
            <a:r>
              <a:rPr lang="ru-RU" sz="2200" dirty="0" smtClean="0">
                <a:latin typeface="Times New Roman" pitchFamily="18" charset="0"/>
                <a:cs typeface="Times New Roman" pitchFamily="18" charset="0"/>
              </a:rPr>
              <a:t>. При помощи программ, работающих на основе искусственного интеллекта, </a:t>
            </a:r>
            <a:r>
              <a:rPr lang="ru-RU" sz="2200" dirty="0" err="1" smtClean="0">
                <a:latin typeface="Times New Roman" pitchFamily="18" charset="0"/>
                <a:cs typeface="Times New Roman" pitchFamily="18" charset="0"/>
              </a:rPr>
              <a:t>маркетологи</a:t>
            </a:r>
            <a:r>
              <a:rPr lang="ru-RU" sz="2200" dirty="0" smtClean="0">
                <a:latin typeface="Times New Roman" pitchFamily="18" charset="0"/>
                <a:cs typeface="Times New Roman" pitchFamily="18" charset="0"/>
              </a:rPr>
              <a:t> могут создавать персонализированные рекламные материалы с учётом истории активностей пользователя в Сети. Это касается не только содержания </a:t>
            </a:r>
            <a:r>
              <a:rPr lang="ru-RU" sz="2200" dirty="0" err="1" smtClean="0">
                <a:latin typeface="Times New Roman" pitchFamily="18" charset="0"/>
                <a:cs typeface="Times New Roman" pitchFamily="18" charset="0"/>
              </a:rPr>
              <a:t>контента</a:t>
            </a:r>
            <a:r>
              <a:rPr lang="ru-RU" sz="2200" dirty="0" smtClean="0">
                <a:latin typeface="Times New Roman" pitchFamily="18" charset="0"/>
                <a:cs typeface="Times New Roman" pitchFamily="18" charset="0"/>
              </a:rPr>
              <a:t>, но и оптимального времени для показа роликов, учёта локации клиента, в которой определённый товар может вызывать интерес, и др.</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err="1" smtClean="0">
                <a:latin typeface="Times New Roman" pitchFamily="18" charset="0"/>
                <a:cs typeface="Times New Roman" pitchFamily="18" charset="0"/>
              </a:rPr>
              <a:t>Онлайн-сервисы</a:t>
            </a:r>
            <a:r>
              <a:rPr lang="ru-RU" sz="2200" b="1" dirty="0" smtClean="0">
                <a:latin typeface="Times New Roman" pitchFamily="18" charset="0"/>
                <a:cs typeface="Times New Roman" pitchFamily="18" charset="0"/>
              </a:rPr>
              <a:t> для создания видео</a:t>
            </a:r>
            <a:r>
              <a:rPr lang="ru-RU" sz="2200" dirty="0" smtClean="0">
                <a:latin typeface="Times New Roman" pitchFamily="18" charset="0"/>
                <a:cs typeface="Times New Roman" pitchFamily="18" charset="0"/>
              </a:rPr>
              <a:t>. Например, </a:t>
            </a:r>
            <a:r>
              <a:rPr lang="ru-RU" sz="2200" b="1" dirty="0" err="1" smtClean="0">
                <a:latin typeface="Times New Roman" pitchFamily="18" charset="0"/>
                <a:cs typeface="Times New Roman" pitchFamily="18" charset="0"/>
              </a:rPr>
              <a:t>Canva</a:t>
            </a:r>
            <a:r>
              <a:rPr lang="ru-RU" sz="2200" dirty="0" smtClean="0">
                <a:latin typeface="Times New Roman" pitchFamily="18" charset="0"/>
                <a:cs typeface="Times New Roman" pitchFamily="18" charset="0"/>
              </a:rPr>
              <a:t>, </a:t>
            </a:r>
            <a:r>
              <a:rPr lang="ru-RU" sz="2200" b="1" dirty="0" smtClean="0">
                <a:latin typeface="Times New Roman" pitchFamily="18" charset="0"/>
                <a:cs typeface="Times New Roman" pitchFamily="18" charset="0"/>
              </a:rPr>
              <a:t>Lumen5</a:t>
            </a:r>
            <a:r>
              <a:rPr lang="ru-RU" sz="2200" dirty="0" smtClean="0">
                <a:latin typeface="Times New Roman" pitchFamily="18" charset="0"/>
                <a:cs typeface="Times New Roman" pitchFamily="18" charset="0"/>
              </a:rPr>
              <a:t>, </a:t>
            </a:r>
            <a:r>
              <a:rPr lang="ru-RU" sz="2200" b="1" dirty="0" err="1" smtClean="0">
                <a:latin typeface="Times New Roman" pitchFamily="18" charset="0"/>
                <a:cs typeface="Times New Roman" pitchFamily="18" charset="0"/>
              </a:rPr>
              <a:t>Flexclip</a:t>
            </a:r>
            <a:r>
              <a:rPr lang="ru-RU" sz="2200" dirty="0" smtClean="0">
                <a:latin typeface="Times New Roman" pitchFamily="18" charset="0"/>
                <a:cs typeface="Times New Roman" pitchFamily="18" charset="0"/>
              </a:rPr>
              <a:t> или </a:t>
            </a:r>
            <a:r>
              <a:rPr lang="ru-RU" sz="2200" b="1" dirty="0" err="1" smtClean="0">
                <a:latin typeface="Times New Roman" pitchFamily="18" charset="0"/>
                <a:cs typeface="Times New Roman" pitchFamily="18" charset="0"/>
              </a:rPr>
              <a:t>Clipchamp</a:t>
            </a:r>
            <a:r>
              <a:rPr lang="ru-RU" sz="2200" dirty="0" smtClean="0">
                <a:latin typeface="Times New Roman" pitchFamily="18" charset="0"/>
                <a:cs typeface="Times New Roman" pitchFamily="18" charset="0"/>
              </a:rPr>
              <a:t>. В них есть шаблоны для различных платформ, библиотека </a:t>
            </a:r>
            <a:r>
              <a:rPr lang="ru-RU" sz="2200" dirty="0" err="1" smtClean="0">
                <a:latin typeface="Times New Roman" pitchFamily="18" charset="0"/>
                <a:cs typeface="Times New Roman" pitchFamily="18" charset="0"/>
              </a:rPr>
              <a:t>медиафайлов</a:t>
            </a:r>
            <a:r>
              <a:rPr lang="ru-RU" sz="2200" dirty="0" smtClean="0">
                <a:latin typeface="Times New Roman" pitchFamily="18" charset="0"/>
                <a:cs typeface="Times New Roman" pitchFamily="18" charset="0"/>
              </a:rPr>
              <a:t>, инструменты для настройки текста, музыки, закадрового голоса и другие.</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err="1" smtClean="0">
                <a:latin typeface="Times New Roman" pitchFamily="18" charset="0"/>
                <a:cs typeface="Times New Roman" pitchFamily="18" charset="0"/>
              </a:rPr>
              <a:t>Видеоконструктор</a:t>
            </a:r>
            <a:r>
              <a:rPr lang="ru-RU" sz="2200" b="1" dirty="0" smtClean="0">
                <a:latin typeface="Times New Roman" pitchFamily="18" charset="0"/>
                <a:cs typeface="Times New Roman" pitchFamily="18" charset="0"/>
              </a:rPr>
              <a:t> в </a:t>
            </a:r>
            <a:r>
              <a:rPr lang="ru-RU" sz="2200" b="1" dirty="0" err="1" smtClean="0">
                <a:latin typeface="Times New Roman" pitchFamily="18" charset="0"/>
                <a:cs typeface="Times New Roman" pitchFamily="18" charset="0"/>
              </a:rPr>
              <a:t>Яндекс</a:t>
            </a:r>
            <a:r>
              <a:rPr lang="ru-RU" sz="2200" b="1" dirty="0" smtClean="0">
                <a:latin typeface="Times New Roman" pitchFamily="18" charset="0"/>
                <a:cs typeface="Times New Roman" pitchFamily="18" charset="0"/>
              </a:rPr>
              <a:t> </a:t>
            </a:r>
            <a:r>
              <a:rPr lang="ru-RU" sz="2200" b="1" dirty="0" err="1" smtClean="0">
                <a:latin typeface="Times New Roman" pitchFamily="18" charset="0"/>
                <a:cs typeface="Times New Roman" pitchFamily="18" charset="0"/>
              </a:rPr>
              <a:t>Директе</a:t>
            </a:r>
            <a:r>
              <a:rPr lang="ru-RU" sz="2200" dirty="0" smtClean="0">
                <a:latin typeface="Times New Roman" pitchFamily="18" charset="0"/>
                <a:cs typeface="Times New Roman" pitchFamily="18" charset="0"/>
              </a:rPr>
              <a:t>. С его помощью можно создавать короткие рекламные ролики в основных форматах. Доступна функция массового создания видеороликов из товарного </a:t>
            </a:r>
            <a:r>
              <a:rPr lang="ru-RU" sz="2200" dirty="0" err="1" smtClean="0">
                <a:latin typeface="Times New Roman" pitchFamily="18" charset="0"/>
                <a:cs typeface="Times New Roman" pitchFamily="18" charset="0"/>
              </a:rPr>
              <a:t>фида</a:t>
            </a:r>
            <a:r>
              <a:rPr lang="ru-RU" sz="2200" dirty="0" smtClean="0">
                <a:latin typeface="Times New Roman" pitchFamily="18" charset="0"/>
                <a:cs typeface="Times New Roman" pitchFamily="18" charset="0"/>
              </a:rPr>
              <a:t>: можно загрузить CSV-файл с информацией о товарах, и сервис создаст однотипные ролики для каждого товара.</a:t>
            </a:r>
            <a:endParaRPr lang="ru-RU" sz="22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3200" b="1" i="0" u="none" strike="noStrike" kern="1200" cap="none" spc="0" normalizeH="0" baseline="0" noProof="0" dirty="0" smtClean="0">
                <a:ln>
                  <a:noFill/>
                </a:ln>
                <a:solidFill>
                  <a:schemeClr val="tx1"/>
                </a:solidFill>
                <a:effectLst/>
                <a:uLnTx/>
                <a:uFillTx/>
                <a:latin typeface="Cambria" pitchFamily="18" charset="0"/>
                <a:ea typeface="+mj-ea"/>
                <a:cs typeface="+mj-cs"/>
              </a:rPr>
              <a:t>Дополнительные </a:t>
            </a:r>
            <a:r>
              <a:rPr kumimoji="0" lang="ru-RU" sz="3200" b="1" i="0" u="none" strike="noStrike" kern="1200" cap="none" spc="0" normalizeH="0" baseline="0" noProof="0" dirty="0" smtClean="0">
                <a:ln>
                  <a:noFill/>
                </a:ln>
                <a:solidFill>
                  <a:schemeClr val="tx1"/>
                </a:solidFill>
                <a:effectLst/>
                <a:uLnTx/>
                <a:uFillTx/>
                <a:latin typeface="Cambria" pitchFamily="18" charset="0"/>
                <a:ea typeface="+mj-ea"/>
                <a:cs typeface="+mj-cs"/>
              </a:rPr>
              <a:t>материалы</a:t>
            </a:r>
            <a:r>
              <a:rPr kumimoji="0" lang="en-US" sz="3200" b="1" i="0" u="none" strike="noStrike" kern="1200" cap="none" spc="0" normalizeH="0" baseline="0" noProof="0" dirty="0" smtClean="0">
                <a:ln>
                  <a:noFill/>
                </a:ln>
                <a:solidFill>
                  <a:schemeClr val="tx1"/>
                </a:solidFill>
                <a:effectLst/>
                <a:uLnTx/>
                <a:uFillTx/>
                <a:latin typeface="Cambria" pitchFamily="18" charset="0"/>
                <a:ea typeface="+mj-ea"/>
                <a:cs typeface="+mj-cs"/>
              </a:rPr>
              <a:t> </a:t>
            </a: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7" name="Прямоугольник 6"/>
          <p:cNvSpPr/>
          <p:nvPr/>
        </p:nvSpPr>
        <p:spPr>
          <a:xfrm>
            <a:off x="0" y="500042"/>
            <a:ext cx="9144000" cy="6555641"/>
          </a:xfrm>
          <a:prstGeom prst="rect">
            <a:avLst/>
          </a:prstGeom>
        </p:spPr>
        <p:txBody>
          <a:bodyPr wrap="square">
            <a:spAutoFit/>
          </a:bodyPr>
          <a:lstStyle/>
          <a:p>
            <a:r>
              <a:rPr lang="ru-RU" sz="2800" b="1" dirty="0" smtClean="0">
                <a:latin typeface="Times New Roman" pitchFamily="18" charset="0"/>
                <a:cs typeface="Times New Roman" pitchFamily="18" charset="0"/>
              </a:rPr>
              <a:t>Как пользоваться </a:t>
            </a:r>
            <a:r>
              <a:rPr lang="en-US" sz="2800" b="1" dirty="0" err="1" smtClean="0">
                <a:latin typeface="Times New Roman" pitchFamily="18" charset="0"/>
                <a:cs typeface="Times New Roman" pitchFamily="18" charset="0"/>
              </a:rPr>
              <a:t>Shotcut</a:t>
            </a:r>
            <a:endParaRPr lang="en-US" sz="2800" b="1"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hlinkClick r:id="rId2"/>
              </a:rPr>
              <a:t>https://losst.pro/kak-polzovatsya-shotcut</a:t>
            </a:r>
            <a:endParaRPr lang="ru-RU" sz="2800" dirty="0" smtClean="0">
              <a:latin typeface="Times New Roman" pitchFamily="18" charset="0"/>
              <a:cs typeface="Times New Roman" pitchFamily="18" charset="0"/>
            </a:endParaRPr>
          </a:p>
          <a:p>
            <a:endParaRPr lang="ru-RU" sz="2800" dirty="0" smtClean="0">
              <a:latin typeface="Times New Roman" pitchFamily="18" charset="0"/>
              <a:cs typeface="Times New Roman" pitchFamily="18" charset="0"/>
            </a:endParaRPr>
          </a:p>
          <a:p>
            <a:r>
              <a:rPr lang="ru-RU" sz="2800" b="1" dirty="0" err="1" smtClean="0">
                <a:latin typeface="Times New Roman" pitchFamily="18" charset="0"/>
                <a:cs typeface="Times New Roman" pitchFamily="18" charset="0"/>
              </a:rPr>
              <a:t>Shotcut</a:t>
            </a:r>
            <a:r>
              <a:rPr lang="ru-RU" sz="2800" b="1" dirty="0" smtClean="0">
                <a:latin typeface="Times New Roman" pitchFamily="18" charset="0"/>
                <a:cs typeface="Times New Roman" pitchFamily="18" charset="0"/>
              </a:rPr>
              <a:t> уроки на русском /1: как отредактировать видеоролик с помощью </a:t>
            </a:r>
            <a:r>
              <a:rPr lang="ru-RU" sz="2800" b="1" dirty="0" err="1" smtClean="0">
                <a:latin typeface="Times New Roman" pitchFamily="18" charset="0"/>
                <a:cs typeface="Times New Roman" pitchFamily="18" charset="0"/>
              </a:rPr>
              <a:t>Shotcut</a:t>
            </a:r>
            <a:endParaRPr lang="ru-RU" sz="2800" b="1"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hlinkClick r:id="rId3"/>
              </a:rPr>
              <a:t>https://rutube.ru/video/b8928a0adc19051ad1907a42cf0f2357/</a:t>
            </a:r>
            <a:endParaRPr lang="ru-RU" sz="2800" dirty="0" smtClean="0">
              <a:latin typeface="Times New Roman" pitchFamily="18" charset="0"/>
              <a:cs typeface="Times New Roman" pitchFamily="18" charset="0"/>
            </a:endParaRPr>
          </a:p>
          <a:p>
            <a:endParaRPr lang="ru-RU" sz="2800" dirty="0" smtClean="0">
              <a:latin typeface="Times New Roman" pitchFamily="18" charset="0"/>
              <a:cs typeface="Times New Roman" pitchFamily="18" charset="0"/>
            </a:endParaRPr>
          </a:p>
          <a:p>
            <a:r>
              <a:rPr lang="ru-RU" sz="2800" b="1" dirty="0" err="1" smtClean="0">
                <a:latin typeface="Times New Roman" pitchFamily="18" charset="0"/>
                <a:cs typeface="Times New Roman" pitchFamily="18" charset="0"/>
              </a:rPr>
              <a:t>Shotcut</a:t>
            </a:r>
            <a:r>
              <a:rPr lang="ru-RU" sz="2800" b="1" dirty="0" smtClean="0">
                <a:latin typeface="Times New Roman" pitchFamily="18" charset="0"/>
                <a:cs typeface="Times New Roman" pitchFamily="18" charset="0"/>
              </a:rPr>
              <a:t> уроки на русском /3: эффекты и ключевые кадры</a:t>
            </a:r>
          </a:p>
          <a:p>
            <a:r>
              <a:rPr lang="en-US" sz="2800" dirty="0" smtClean="0">
                <a:latin typeface="Times New Roman" pitchFamily="18" charset="0"/>
                <a:cs typeface="Times New Roman" pitchFamily="18" charset="0"/>
                <a:hlinkClick r:id="rId4"/>
              </a:rPr>
              <a:t>https://rutube.ru/video/91440706f90d07e6407b841db2c10a6a/</a:t>
            </a:r>
            <a:endParaRPr lang="ru-RU" sz="2800" dirty="0" smtClean="0">
              <a:latin typeface="Times New Roman" pitchFamily="18" charset="0"/>
              <a:cs typeface="Times New Roman" pitchFamily="18" charset="0"/>
            </a:endParaRPr>
          </a:p>
          <a:p>
            <a:endParaRPr lang="ru-RU" sz="2800" dirty="0" smtClean="0">
              <a:latin typeface="Times New Roman" pitchFamily="18" charset="0"/>
              <a:cs typeface="Times New Roman" pitchFamily="18" charset="0"/>
            </a:endParaRPr>
          </a:p>
          <a:p>
            <a:r>
              <a:rPr lang="ru-RU" sz="2800" b="1" dirty="0" err="1" smtClean="0">
                <a:latin typeface="Times New Roman" pitchFamily="18" charset="0"/>
                <a:cs typeface="Times New Roman" pitchFamily="18" charset="0"/>
              </a:rPr>
              <a:t>Shotcut</a:t>
            </a:r>
            <a:r>
              <a:rPr lang="ru-RU" sz="2800" b="1" dirty="0" smtClean="0">
                <a:latin typeface="Times New Roman" pitchFamily="18" charset="0"/>
                <a:cs typeface="Times New Roman" pitchFamily="18" charset="0"/>
              </a:rPr>
              <a:t> уроки /4: маски, динамические эффекты, работа с текстом</a:t>
            </a:r>
          </a:p>
          <a:p>
            <a:r>
              <a:rPr lang="en-US" sz="2800" dirty="0" smtClean="0">
                <a:latin typeface="Times New Roman" pitchFamily="18" charset="0"/>
                <a:cs typeface="Times New Roman" pitchFamily="18" charset="0"/>
                <a:hlinkClick r:id="rId5"/>
              </a:rPr>
              <a:t>https://rutube.ru/video/2f82c99d9a517033043b34419d89a259/</a:t>
            </a:r>
            <a:endParaRPr lang="ru-RU" sz="2800" dirty="0" smtClean="0">
              <a:latin typeface="Times New Roman" pitchFamily="18" charset="0"/>
              <a:cs typeface="Times New Roman" pitchFamily="18" charset="0"/>
            </a:endParaRPr>
          </a:p>
          <a:p>
            <a:endParaRPr lang="ru-RU" sz="2800" dirty="0" smtClean="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Прямоугольник 13"/>
          <p:cNvSpPr/>
          <p:nvPr/>
        </p:nvSpPr>
        <p:spPr>
          <a:xfrm>
            <a:off x="0" y="500042"/>
            <a:ext cx="9144000" cy="30003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13" name="Прямоугольник 12"/>
          <p:cNvSpPr/>
          <p:nvPr/>
        </p:nvSpPr>
        <p:spPr>
          <a:xfrm>
            <a:off x="0" y="500042"/>
            <a:ext cx="9144000" cy="3046988"/>
          </a:xfrm>
          <a:prstGeom prst="rect">
            <a:avLst/>
          </a:prstGeom>
        </p:spPr>
        <p:txBody>
          <a:bodyPr wrap="square">
            <a:spAutoFit/>
          </a:bodyPr>
          <a:lstStyle/>
          <a:p>
            <a:pPr algn="just"/>
            <a:r>
              <a:rPr lang="ru-RU" sz="2400" dirty="0" smtClean="0">
                <a:latin typeface="Times New Roman" pitchFamily="18" charset="0"/>
                <a:cs typeface="Times New Roman" pitchFamily="18" charset="0"/>
              </a:rPr>
              <a:t>Программа полностью на русском языке, опций и настроек не так много, интерфейс не особо загружен, поэтому разобраться тут просто. Но желательно потратить немного времени на освоение перед началом монтажа.</a:t>
            </a:r>
          </a:p>
          <a:p>
            <a:pPr algn="just"/>
            <a:r>
              <a:rPr lang="ru-RU" sz="2400" dirty="0" smtClean="0">
                <a:latin typeface="Times New Roman" pitchFamily="18" charset="0"/>
                <a:cs typeface="Times New Roman" pitchFamily="18" charset="0"/>
              </a:rPr>
              <a:t>Чтобы было нагляднее, для начала создадим новый проект. У тех, кто работает с программой не в первый раз, справа от окна «Новый проект» будет отображаться список недавних проектов, с которыми вы работали.</a:t>
            </a:r>
          </a:p>
        </p:txBody>
      </p:sp>
      <p:pic>
        <p:nvPicPr>
          <p:cNvPr id="7170" name="Picture 2" descr="Интерфейс видеоредактора Shotcut, изображение №1"/>
          <p:cNvPicPr>
            <a:picLocks noChangeAspect="1" noChangeArrowheads="1"/>
          </p:cNvPicPr>
          <p:nvPr/>
        </p:nvPicPr>
        <p:blipFill>
          <a:blip r:embed="rId2"/>
          <a:srcRect/>
          <a:stretch>
            <a:fillRect/>
          </a:stretch>
        </p:blipFill>
        <p:spPr bwMode="auto">
          <a:xfrm>
            <a:off x="1500166" y="3571876"/>
            <a:ext cx="6215046" cy="3093712"/>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Прямоугольник 13"/>
          <p:cNvSpPr/>
          <p:nvPr/>
        </p:nvSpPr>
        <p:spPr>
          <a:xfrm>
            <a:off x="0" y="500042"/>
            <a:ext cx="9144000" cy="8572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13" name="Прямоугольник 12"/>
          <p:cNvSpPr/>
          <p:nvPr/>
        </p:nvSpPr>
        <p:spPr>
          <a:xfrm>
            <a:off x="0" y="500042"/>
            <a:ext cx="9144000" cy="830997"/>
          </a:xfrm>
          <a:prstGeom prst="rect">
            <a:avLst/>
          </a:prstGeom>
          <a:solidFill>
            <a:schemeClr val="accent3">
              <a:lumMod val="20000"/>
              <a:lumOff val="80000"/>
            </a:schemeClr>
          </a:solidFill>
        </p:spPr>
        <p:txBody>
          <a:bodyPr wrap="square">
            <a:spAutoFit/>
          </a:bodyPr>
          <a:lstStyle/>
          <a:p>
            <a:pPr algn="just"/>
            <a:r>
              <a:rPr lang="ru-RU" sz="2400" dirty="0" smtClean="0">
                <a:latin typeface="Times New Roman" pitchFamily="18" charset="0"/>
                <a:cs typeface="Times New Roman" pitchFamily="18" charset="0"/>
              </a:rPr>
              <a:t>Теперь добавим файлы. Самый стандартный способ – кнопка «Открыть файл». Можно выделять и загружать сразу несколько.</a:t>
            </a:r>
          </a:p>
        </p:txBody>
      </p:sp>
      <p:pic>
        <p:nvPicPr>
          <p:cNvPr id="21506" name="Picture 2" descr="Интерфейс видеоредактора Shotcut, изображение №2"/>
          <p:cNvPicPr>
            <a:picLocks noChangeAspect="1" noChangeArrowheads="1"/>
          </p:cNvPicPr>
          <p:nvPr/>
        </p:nvPicPr>
        <p:blipFill>
          <a:blip r:embed="rId2"/>
          <a:srcRect/>
          <a:stretch>
            <a:fillRect/>
          </a:stretch>
        </p:blipFill>
        <p:spPr bwMode="auto">
          <a:xfrm>
            <a:off x="642910" y="1500174"/>
            <a:ext cx="7572375" cy="482917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6" name="Прямоугольник 5"/>
          <p:cNvSpPr/>
          <p:nvPr/>
        </p:nvSpPr>
        <p:spPr>
          <a:xfrm>
            <a:off x="0" y="571481"/>
            <a:ext cx="3214678" cy="3785652"/>
          </a:xfrm>
          <a:prstGeom prst="rect">
            <a:avLst/>
          </a:prstGeom>
          <a:solidFill>
            <a:srgbClr val="E2EEEE"/>
          </a:solidFill>
        </p:spPr>
        <p:txBody>
          <a:bodyPr wrap="square">
            <a:spAutoFit/>
          </a:bodyPr>
          <a:lstStyle/>
          <a:p>
            <a:pPr algn="just"/>
            <a:r>
              <a:rPr lang="ru-RU" sz="1600" dirty="0" smtClean="0">
                <a:latin typeface="Times New Roman" pitchFamily="18" charset="0"/>
                <a:cs typeface="Times New Roman" pitchFamily="18" charset="0"/>
              </a:rPr>
              <a:t>После этого файлы появятся в списке воспроизведения, а также отобразится плеер. Вот теперь давайте разбираться с интерфейсом.</a:t>
            </a:r>
          </a:p>
          <a:p>
            <a:pPr algn="just"/>
            <a:r>
              <a:rPr lang="ru-RU" sz="1600" dirty="0" smtClean="0">
                <a:latin typeface="Times New Roman" pitchFamily="18" charset="0"/>
                <a:cs typeface="Times New Roman" pitchFamily="18" charset="0"/>
              </a:rPr>
              <a:t>Интерфейс представлен в виде набора панелей, которые можно по желанию включать и выключать. Для этого в самом верху есть набор кнопок с иконками. Чтобы убрать панель, нужно нажать на крестик. Размер каждой панели регулируется перетаскиванием линии из пяти точек (как показано на </a:t>
            </a:r>
            <a:r>
              <a:rPr lang="ru-RU" sz="1600" dirty="0" err="1" smtClean="0">
                <a:latin typeface="Times New Roman" pitchFamily="18" charset="0"/>
                <a:cs typeface="Times New Roman" pitchFamily="18" charset="0"/>
              </a:rPr>
              <a:t>скрине</a:t>
            </a:r>
            <a:r>
              <a:rPr lang="ru-RU" sz="1600" dirty="0" smtClean="0">
                <a:latin typeface="Times New Roman" pitchFamily="18" charset="0"/>
                <a:cs typeface="Times New Roman" pitchFamily="18" charset="0"/>
              </a:rPr>
              <a:t>).</a:t>
            </a:r>
            <a:endParaRPr lang="ru-RU" sz="1600" dirty="0">
              <a:latin typeface="Times New Roman" pitchFamily="18" charset="0"/>
              <a:cs typeface="Times New Roman" pitchFamily="18" charset="0"/>
            </a:endParaRPr>
          </a:p>
        </p:txBody>
      </p:sp>
      <p:pic>
        <p:nvPicPr>
          <p:cNvPr id="22530" name="Picture 2" descr="Интерфейс видеоредактора Shotcut, изображение №3"/>
          <p:cNvPicPr>
            <a:picLocks noChangeAspect="1" noChangeArrowheads="1"/>
          </p:cNvPicPr>
          <p:nvPr/>
        </p:nvPicPr>
        <p:blipFill>
          <a:blip r:embed="rId2"/>
          <a:srcRect/>
          <a:stretch>
            <a:fillRect/>
          </a:stretch>
        </p:blipFill>
        <p:spPr bwMode="auto">
          <a:xfrm>
            <a:off x="3286116" y="785794"/>
            <a:ext cx="5857884" cy="3026574"/>
          </a:xfrm>
          <a:prstGeom prst="rect">
            <a:avLst/>
          </a:prstGeom>
          <a:noFill/>
        </p:spPr>
      </p:pic>
      <p:pic>
        <p:nvPicPr>
          <p:cNvPr id="8" name="Picture 2" descr="Интерфейс видеоредактора Shotcut, изображение №4"/>
          <p:cNvPicPr>
            <a:picLocks noChangeAspect="1" noChangeArrowheads="1"/>
          </p:cNvPicPr>
          <p:nvPr/>
        </p:nvPicPr>
        <p:blipFill>
          <a:blip r:embed="rId3"/>
          <a:srcRect/>
          <a:stretch>
            <a:fillRect/>
          </a:stretch>
        </p:blipFill>
        <p:spPr bwMode="auto">
          <a:xfrm>
            <a:off x="4357686" y="4810520"/>
            <a:ext cx="4786314" cy="2047479"/>
          </a:xfrm>
          <a:prstGeom prst="rect">
            <a:avLst/>
          </a:prstGeom>
          <a:noFill/>
        </p:spPr>
      </p:pic>
      <p:sp>
        <p:nvSpPr>
          <p:cNvPr id="9" name="Прямоугольник 8"/>
          <p:cNvSpPr/>
          <p:nvPr/>
        </p:nvSpPr>
        <p:spPr>
          <a:xfrm>
            <a:off x="0" y="5500702"/>
            <a:ext cx="4214842" cy="646331"/>
          </a:xfrm>
          <a:prstGeom prst="rect">
            <a:avLst/>
          </a:prstGeom>
          <a:solidFill>
            <a:schemeClr val="accent3">
              <a:lumMod val="20000"/>
              <a:lumOff val="80000"/>
            </a:schemeClr>
          </a:solidFill>
        </p:spPr>
        <p:txBody>
          <a:bodyPr wrap="square">
            <a:spAutoFit/>
          </a:bodyPr>
          <a:lstStyle/>
          <a:p>
            <a:pPr algn="just"/>
            <a:r>
              <a:rPr lang="ru-RU" dirty="0" smtClean="0">
                <a:latin typeface="Times New Roman" pitchFamily="18" charset="0"/>
                <a:cs typeface="Times New Roman" pitchFamily="18" charset="0"/>
              </a:rPr>
              <a:t>Некоторые панели группируются и их можно переключать с помощью вкладок.</a:t>
            </a:r>
            <a:endParaRPr lang="ru-RU"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7" name="Прямоугольник 6"/>
          <p:cNvSpPr/>
          <p:nvPr/>
        </p:nvSpPr>
        <p:spPr>
          <a:xfrm>
            <a:off x="0" y="500042"/>
            <a:ext cx="9144000" cy="2031325"/>
          </a:xfrm>
          <a:prstGeom prst="rect">
            <a:avLst/>
          </a:prstGeom>
          <a:solidFill>
            <a:schemeClr val="accent3">
              <a:lumMod val="20000"/>
              <a:lumOff val="80000"/>
            </a:schemeClr>
          </a:solidFill>
        </p:spPr>
        <p:txBody>
          <a:bodyPr wrap="square">
            <a:spAutoFit/>
          </a:bodyPr>
          <a:lstStyle/>
          <a:p>
            <a:pPr algn="just"/>
            <a:r>
              <a:rPr lang="ru-RU" dirty="0" smtClean="0">
                <a:latin typeface="Times New Roman" pitchFamily="18" charset="0"/>
                <a:cs typeface="Times New Roman" pitchFamily="18" charset="0"/>
              </a:rPr>
              <a:t>Давайте рассмотрим эти панели по отдельности. Начнем с самого простого – группы справа: «Недавние», «История» и «Задания». Самая полезная вкладка здесь – «История». Тут все как в «</a:t>
            </a:r>
            <a:r>
              <a:rPr lang="ru-RU" dirty="0" err="1" smtClean="0">
                <a:latin typeface="Times New Roman" pitchFamily="18" charset="0"/>
                <a:cs typeface="Times New Roman" pitchFamily="18" charset="0"/>
              </a:rPr>
              <a:t>Фотошопе</a:t>
            </a:r>
            <a:r>
              <a:rPr lang="ru-RU" dirty="0" smtClean="0">
                <a:latin typeface="Times New Roman" pitchFamily="18" charset="0"/>
                <a:cs typeface="Times New Roman" pitchFamily="18" charset="0"/>
              </a:rPr>
              <a:t>» – отображается каждое ваше действие, можно вернуться на несколько шагов назад или просто отменить последний шаг (проще это делать кнопкой «Отменить» или сочетанием клавиш </a:t>
            </a:r>
            <a:r>
              <a:rPr lang="ru-RU" dirty="0" err="1" smtClean="0">
                <a:latin typeface="Times New Roman" pitchFamily="18" charset="0"/>
                <a:cs typeface="Times New Roman" pitchFamily="18" charset="0"/>
              </a:rPr>
              <a:t>Ctrl+Z</a:t>
            </a:r>
            <a:r>
              <a:rPr lang="ru-RU" dirty="0" smtClean="0">
                <a:latin typeface="Times New Roman" pitchFamily="18" charset="0"/>
                <a:cs typeface="Times New Roman" pitchFamily="18" charset="0"/>
              </a:rPr>
              <a:t>). В «Недавних» перечислены все ранее открытые файлы. Во вкладке «Задания» можно посмотреть, как идет процесс </a:t>
            </a:r>
            <a:r>
              <a:rPr lang="ru-RU" dirty="0" err="1" smtClean="0">
                <a:latin typeface="Times New Roman" pitchFamily="18" charset="0"/>
                <a:cs typeface="Times New Roman" pitchFamily="18" charset="0"/>
              </a:rPr>
              <a:t>рендеринга</a:t>
            </a:r>
            <a:r>
              <a:rPr lang="ru-RU" dirty="0" smtClean="0">
                <a:latin typeface="Times New Roman" pitchFamily="18" charset="0"/>
                <a:cs typeface="Times New Roman" pitchFamily="18" charset="0"/>
              </a:rPr>
              <a:t> видео (то есть сохранения готового файла).</a:t>
            </a:r>
            <a:endParaRPr lang="ru-RU" dirty="0">
              <a:latin typeface="Times New Roman" pitchFamily="18" charset="0"/>
              <a:cs typeface="Times New Roman" pitchFamily="18" charset="0"/>
            </a:endParaRPr>
          </a:p>
        </p:txBody>
      </p:sp>
      <p:pic>
        <p:nvPicPr>
          <p:cNvPr id="23556" name="Picture 4" descr="Интерфейс видеоредактора Shotcut, изображение №5"/>
          <p:cNvPicPr>
            <a:picLocks noChangeAspect="1" noChangeArrowheads="1"/>
          </p:cNvPicPr>
          <p:nvPr/>
        </p:nvPicPr>
        <p:blipFill>
          <a:blip r:embed="rId2"/>
          <a:srcRect/>
          <a:stretch>
            <a:fillRect/>
          </a:stretch>
        </p:blipFill>
        <p:spPr bwMode="auto">
          <a:xfrm>
            <a:off x="285720" y="2714620"/>
            <a:ext cx="8572500" cy="34671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7" name="Прямоугольник 6"/>
          <p:cNvSpPr/>
          <p:nvPr/>
        </p:nvSpPr>
        <p:spPr>
          <a:xfrm>
            <a:off x="0" y="500042"/>
            <a:ext cx="9144000" cy="1200329"/>
          </a:xfrm>
          <a:prstGeom prst="rect">
            <a:avLst/>
          </a:prstGeom>
          <a:solidFill>
            <a:srgbClr val="E2EEEE"/>
          </a:solidFill>
        </p:spPr>
        <p:txBody>
          <a:bodyPr wrap="square">
            <a:spAutoFit/>
          </a:bodyPr>
          <a:lstStyle/>
          <a:p>
            <a:pPr algn="just"/>
            <a:r>
              <a:rPr lang="ru-RU" dirty="0" smtClean="0">
                <a:latin typeface="Times New Roman" pitchFamily="18" charset="0"/>
                <a:cs typeface="Times New Roman" pitchFamily="18" charset="0"/>
              </a:rPr>
              <a:t>Левее, в средней части интерфейса, находится окно </a:t>
            </a:r>
            <a:r>
              <a:rPr lang="ru-RU" dirty="0" err="1" smtClean="0">
                <a:latin typeface="Times New Roman" pitchFamily="18" charset="0"/>
                <a:cs typeface="Times New Roman" pitchFamily="18" charset="0"/>
              </a:rPr>
              <a:t>предпросмотра</a:t>
            </a:r>
            <a:r>
              <a:rPr lang="ru-RU" dirty="0" smtClean="0">
                <a:latin typeface="Times New Roman" pitchFamily="18" charset="0"/>
                <a:cs typeface="Times New Roman" pitchFamily="18" charset="0"/>
              </a:rPr>
              <a:t>. Тут можно посмотреть или послушать как файл-источник (вкладка «Исходный»), так и проект в процессе работы (вкладка «Проект»). Если активировать измеритель уровня, рядом с видеоплеером, можно будет увидеть, как в реальном времени меняется громкость звука.</a:t>
            </a:r>
            <a:endParaRPr lang="ru-RU" dirty="0">
              <a:latin typeface="Times New Roman" pitchFamily="18" charset="0"/>
              <a:cs typeface="Times New Roman" pitchFamily="18" charset="0"/>
            </a:endParaRPr>
          </a:p>
        </p:txBody>
      </p:sp>
      <p:pic>
        <p:nvPicPr>
          <p:cNvPr id="24578" name="Picture 2" descr="Интерфейс видеоредактора Shotcut, изображение №6"/>
          <p:cNvPicPr>
            <a:picLocks noChangeAspect="1" noChangeArrowheads="1"/>
          </p:cNvPicPr>
          <p:nvPr/>
        </p:nvPicPr>
        <p:blipFill>
          <a:blip r:embed="rId2"/>
          <a:srcRect/>
          <a:stretch>
            <a:fillRect/>
          </a:stretch>
        </p:blipFill>
        <p:spPr bwMode="auto">
          <a:xfrm>
            <a:off x="928662" y="1785926"/>
            <a:ext cx="7715244" cy="3857622"/>
          </a:xfrm>
          <a:prstGeom prst="rect">
            <a:avLst/>
          </a:prstGeom>
          <a:noFill/>
        </p:spPr>
      </p:pic>
      <p:sp>
        <p:nvSpPr>
          <p:cNvPr id="6" name="Прямоугольник 5"/>
          <p:cNvSpPr/>
          <p:nvPr/>
        </p:nvSpPr>
        <p:spPr>
          <a:xfrm>
            <a:off x="0" y="5934670"/>
            <a:ext cx="9144000" cy="923330"/>
          </a:xfrm>
          <a:prstGeom prst="rect">
            <a:avLst/>
          </a:prstGeom>
          <a:solidFill>
            <a:schemeClr val="bg2"/>
          </a:solidFill>
        </p:spPr>
        <p:txBody>
          <a:bodyPr wrap="square">
            <a:spAutoFit/>
          </a:bodyPr>
          <a:lstStyle/>
          <a:p>
            <a:pPr algn="just"/>
            <a:r>
              <a:rPr lang="ru-RU" dirty="0" smtClean="0">
                <a:latin typeface="Times New Roman" pitchFamily="18" charset="0"/>
                <a:cs typeface="Times New Roman" pitchFamily="18" charset="0"/>
              </a:rPr>
              <a:t>Прямо в плеере можно активировать сетку, выбрав для этого нужный размер. Она бывает полезна, когда, например, нужно наложить на видео текст или какой-то другой объект и выровнять его.</a:t>
            </a:r>
            <a:endParaRPr lang="ru-RU"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7" name="Прямоугольник 6"/>
          <p:cNvSpPr/>
          <p:nvPr/>
        </p:nvSpPr>
        <p:spPr>
          <a:xfrm>
            <a:off x="0" y="500042"/>
            <a:ext cx="9144000" cy="1754326"/>
          </a:xfrm>
          <a:prstGeom prst="rect">
            <a:avLst/>
          </a:prstGeom>
          <a:solidFill>
            <a:srgbClr val="E2EEEE"/>
          </a:solidFill>
        </p:spPr>
        <p:txBody>
          <a:bodyPr wrap="square">
            <a:spAutoFit/>
          </a:bodyPr>
          <a:lstStyle/>
          <a:p>
            <a:pPr algn="just"/>
            <a:r>
              <a:rPr lang="ru-RU" dirty="0" smtClean="0">
                <a:latin typeface="Times New Roman" pitchFamily="18" charset="0"/>
                <a:cs typeface="Times New Roman" pitchFamily="18" charset="0"/>
              </a:rPr>
              <a:t>Слева находятся сразу несколько панелей:</a:t>
            </a:r>
          </a:p>
          <a:p>
            <a:pPr algn="just"/>
            <a:r>
              <a:rPr lang="ru-RU" b="1" dirty="0" smtClean="0">
                <a:latin typeface="Times New Roman" pitchFamily="18" charset="0"/>
                <a:cs typeface="Times New Roman" pitchFamily="18" charset="0"/>
              </a:rPr>
              <a:t>Экспорт</a:t>
            </a:r>
            <a:r>
              <a:rPr lang="ru-RU" dirty="0" smtClean="0">
                <a:latin typeface="Times New Roman" pitchFamily="18" charset="0"/>
                <a:cs typeface="Times New Roman" pitchFamily="18" charset="0"/>
              </a:rPr>
              <a:t>. Выбор формата, параметров и сохранение готового видеоролика.</a:t>
            </a:r>
          </a:p>
          <a:p>
            <a:pPr algn="just"/>
            <a:r>
              <a:rPr lang="ru-RU" b="1" dirty="0" smtClean="0">
                <a:latin typeface="Times New Roman" pitchFamily="18" charset="0"/>
                <a:cs typeface="Times New Roman" pitchFamily="18" charset="0"/>
              </a:rPr>
              <a:t>Свойства</a:t>
            </a:r>
            <a:r>
              <a:rPr lang="ru-RU" dirty="0" smtClean="0">
                <a:latin typeface="Times New Roman" pitchFamily="18" charset="0"/>
                <a:cs typeface="Times New Roman" pitchFamily="18" charset="0"/>
              </a:rPr>
              <a:t>. Здесь отображаются параметры выбранного файла (того, который показывается в </a:t>
            </a:r>
            <a:r>
              <a:rPr lang="ru-RU" dirty="0" err="1" smtClean="0">
                <a:latin typeface="Times New Roman" pitchFamily="18" charset="0"/>
                <a:cs typeface="Times New Roman" pitchFamily="18" charset="0"/>
              </a:rPr>
              <a:t>превью</a:t>
            </a:r>
            <a:r>
              <a:rPr lang="ru-RU" dirty="0" smtClean="0">
                <a:latin typeface="Times New Roman" pitchFamily="18" charset="0"/>
                <a:cs typeface="Times New Roman" pitchFamily="18" charset="0"/>
              </a:rPr>
              <a:t>), фрагмента, перехода или фильтра.</a:t>
            </a:r>
          </a:p>
          <a:p>
            <a:pPr algn="just"/>
            <a:r>
              <a:rPr lang="ru-RU" b="1" dirty="0" smtClean="0">
                <a:latin typeface="Times New Roman" pitchFamily="18" charset="0"/>
                <a:cs typeface="Times New Roman" pitchFamily="18" charset="0"/>
              </a:rPr>
              <a:t>Список воспроизведения</a:t>
            </a:r>
            <a:r>
              <a:rPr lang="ru-RU" dirty="0" smtClean="0">
                <a:latin typeface="Times New Roman" pitchFamily="18" charset="0"/>
                <a:cs typeface="Times New Roman" pitchFamily="18" charset="0"/>
              </a:rPr>
              <a:t>. Сюда загружаются файлы для монтажа.</a:t>
            </a:r>
          </a:p>
          <a:p>
            <a:pPr algn="just"/>
            <a:r>
              <a:rPr lang="ru-RU" b="1" dirty="0" smtClean="0">
                <a:latin typeface="Times New Roman" pitchFamily="18" charset="0"/>
                <a:cs typeface="Times New Roman" pitchFamily="18" charset="0"/>
              </a:rPr>
              <a:t>Фильтры</a:t>
            </a:r>
            <a:r>
              <a:rPr lang="ru-RU" dirty="0" smtClean="0">
                <a:latin typeface="Times New Roman" pitchFamily="18" charset="0"/>
                <a:cs typeface="Times New Roman" pitchFamily="18" charset="0"/>
              </a:rPr>
              <a:t>. Эффекты, анимация, </a:t>
            </a:r>
            <a:r>
              <a:rPr lang="ru-RU" dirty="0" err="1" smtClean="0">
                <a:latin typeface="Times New Roman" pitchFamily="18" charset="0"/>
                <a:cs typeface="Times New Roman" pitchFamily="18" charset="0"/>
              </a:rPr>
              <a:t>цветокоррекция</a:t>
            </a:r>
            <a:r>
              <a:rPr lang="ru-RU" dirty="0" smtClean="0">
                <a:latin typeface="Times New Roman" pitchFamily="18" charset="0"/>
                <a:cs typeface="Times New Roman" pitchFamily="18" charset="0"/>
              </a:rPr>
              <a:t>, усиление звука и прочие </a:t>
            </a:r>
            <a:r>
              <a:rPr lang="ru-RU" dirty="0" err="1" smtClean="0">
                <a:latin typeface="Times New Roman" pitchFamily="18" charset="0"/>
                <a:cs typeface="Times New Roman" pitchFamily="18" charset="0"/>
              </a:rPr>
              <a:t>навороты</a:t>
            </a:r>
            <a:r>
              <a:rPr lang="ru-RU" dirty="0" smtClean="0">
                <a:latin typeface="Times New Roman" pitchFamily="18" charset="0"/>
                <a:cs typeface="Times New Roman" pitchFamily="18" charset="0"/>
              </a:rPr>
              <a:t>.</a:t>
            </a:r>
          </a:p>
        </p:txBody>
      </p:sp>
      <p:pic>
        <p:nvPicPr>
          <p:cNvPr id="25602" name="Picture 2" descr="Интерфейс видеоредактора Shotcut, изображение №7"/>
          <p:cNvPicPr>
            <a:picLocks noChangeAspect="1" noChangeArrowheads="1"/>
          </p:cNvPicPr>
          <p:nvPr/>
        </p:nvPicPr>
        <p:blipFill>
          <a:blip r:embed="rId2"/>
          <a:srcRect/>
          <a:stretch>
            <a:fillRect/>
          </a:stretch>
        </p:blipFill>
        <p:spPr bwMode="auto">
          <a:xfrm>
            <a:off x="285720" y="2357430"/>
            <a:ext cx="8572500" cy="399097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7" name="Прямоугольник 6"/>
          <p:cNvSpPr/>
          <p:nvPr/>
        </p:nvSpPr>
        <p:spPr>
          <a:xfrm>
            <a:off x="0" y="571480"/>
            <a:ext cx="9144000" cy="2585323"/>
          </a:xfrm>
          <a:prstGeom prst="rect">
            <a:avLst/>
          </a:prstGeom>
          <a:solidFill>
            <a:schemeClr val="accent3">
              <a:lumMod val="20000"/>
              <a:lumOff val="80000"/>
            </a:schemeClr>
          </a:solidFill>
        </p:spPr>
        <p:txBody>
          <a:bodyPr wrap="square">
            <a:spAutoFit/>
          </a:bodyPr>
          <a:lstStyle/>
          <a:p>
            <a:pPr algn="just"/>
            <a:r>
              <a:rPr lang="ru-RU" dirty="0" smtClean="0">
                <a:latin typeface="Times New Roman" pitchFamily="18" charset="0"/>
                <a:cs typeface="Times New Roman" pitchFamily="18" charset="0"/>
              </a:rPr>
              <a:t>Вся основная работа по видеомонтажу происходит на панели, которая называется «Линия времени» и расположена ниже.</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Линия времени — она же </a:t>
            </a:r>
            <a:r>
              <a:rPr lang="ru-RU" dirty="0" err="1" smtClean="0">
                <a:latin typeface="Times New Roman" pitchFamily="18" charset="0"/>
                <a:cs typeface="Times New Roman" pitchFamily="18" charset="0"/>
              </a:rPr>
              <a:t>Timeline</a:t>
            </a:r>
            <a:r>
              <a:rPr lang="ru-RU" dirty="0" smtClean="0">
                <a:latin typeface="Times New Roman" pitchFamily="18" charset="0"/>
                <a:cs typeface="Times New Roman" pitchFamily="18" charset="0"/>
              </a:rPr>
              <a:t> или, проще говоря, монтажный стол — это то место, где и происходит нарезка роликов на фрагменты и их "склеивание". Чтобы начать работу над проектом, следует переместить хотя бы одно видео из Списка воспроизведения на Линию времени. Чтобы появилась линия времени в </a:t>
            </a:r>
            <a:r>
              <a:rPr lang="ru-RU" dirty="0" err="1" smtClean="0">
                <a:latin typeface="Times New Roman" pitchFamily="18" charset="0"/>
                <a:cs typeface="Times New Roman" pitchFamily="18" charset="0"/>
              </a:rPr>
              <a:t>Shotcut</a:t>
            </a:r>
            <a:r>
              <a:rPr lang="ru-RU" dirty="0" smtClean="0">
                <a:latin typeface="Times New Roman" pitchFamily="18" charset="0"/>
                <a:cs typeface="Times New Roman" pitchFamily="18" charset="0"/>
              </a:rPr>
              <a:t> — нужно всего лишь захватить строку с роликом мышкой и перетащить ее в низ окна. Программа автоматически создаст видеодорожку, на которой и появится видео. При необходимости можно создать еще несколько видеодорожек, нажав на "гамбургер" справа, сразу под надписью Линия времени, и выбрав в меню пункт Добавить видеодорожку.</a:t>
            </a:r>
            <a:endParaRPr lang="en-US" dirty="0" smtClean="0">
              <a:latin typeface="Times New Roman" pitchFamily="18" charset="0"/>
              <a:cs typeface="Times New Roman" pitchFamily="18" charset="0"/>
            </a:endParaRPr>
          </a:p>
        </p:txBody>
      </p:sp>
      <p:pic>
        <p:nvPicPr>
          <p:cNvPr id="26626" name="Picture 2"/>
          <p:cNvPicPr>
            <a:picLocks noChangeAspect="1" noChangeArrowheads="1"/>
          </p:cNvPicPr>
          <p:nvPr/>
        </p:nvPicPr>
        <p:blipFill>
          <a:blip r:embed="rId2"/>
          <a:srcRect/>
          <a:stretch>
            <a:fillRect/>
          </a:stretch>
        </p:blipFill>
        <p:spPr bwMode="auto">
          <a:xfrm>
            <a:off x="0" y="5541617"/>
            <a:ext cx="9144000" cy="1316383"/>
          </a:xfrm>
          <a:prstGeom prst="rect">
            <a:avLst/>
          </a:prstGeom>
          <a:noFill/>
          <a:ln w="9525">
            <a:noFill/>
            <a:miter lim="800000"/>
            <a:headEnd/>
            <a:tailEnd/>
          </a:ln>
          <a:effectLst/>
        </p:spPr>
      </p:pic>
      <p:sp>
        <p:nvSpPr>
          <p:cNvPr id="6" name="Прямоугольник 5"/>
          <p:cNvSpPr/>
          <p:nvPr/>
        </p:nvSpPr>
        <p:spPr>
          <a:xfrm>
            <a:off x="0" y="3326501"/>
            <a:ext cx="9144000" cy="2031325"/>
          </a:xfrm>
          <a:prstGeom prst="rect">
            <a:avLst/>
          </a:prstGeom>
          <a:solidFill>
            <a:srgbClr val="E2EEEE"/>
          </a:solidFill>
        </p:spPr>
        <p:txBody>
          <a:bodyPr wrap="square">
            <a:spAutoFit/>
          </a:bodyPr>
          <a:lstStyle/>
          <a:p>
            <a:pPr algn="just"/>
            <a:r>
              <a:rPr lang="ru-RU" dirty="0" smtClean="0">
                <a:latin typeface="Times New Roman" pitchFamily="18" charset="0"/>
                <a:cs typeface="Times New Roman" pitchFamily="18" charset="0"/>
              </a:rPr>
              <a:t>Перетащив видео на Линию времени, вы добавляете его в проект полностью. Но ведь зачастую нужно вставить в новый ролик лишь небольшую часть старого. Чтобы обрезать всё лишнее, наведите курсор на одну из границ видео — он примет форму двунаправленной стрелки. После этого потяните левую границу вправо, чтобы "отрезать" лишние кадры в начале видео либо потяните правую границу влево, чтобы "отрезать" лишние кадры в конце видео. Если в каком-то месте отрезали больше, чем хотелось, наведите туда курсор и перетащите границу в обратном направлении.</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Заголовок 1"/>
          <p:cNvSpPr txBox="1">
            <a:spLocks/>
          </p:cNvSpPr>
          <p:nvPr/>
        </p:nvSpPr>
        <p:spPr>
          <a:xfrm>
            <a:off x="428596" y="0"/>
            <a:ext cx="8229600" cy="1143000"/>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smtClean="0">
                <a:ln>
                  <a:noFill/>
                </a:ln>
                <a:solidFill>
                  <a:schemeClr val="tx1"/>
                </a:solidFill>
                <a:effectLst/>
                <a:uLnTx/>
                <a:uFillTx/>
                <a:latin typeface="Cambria" pitchFamily="18" charset="0"/>
                <a:ea typeface="+mj-ea"/>
                <a:cs typeface="+mj-cs"/>
              </a:rPr>
              <a:t>ShotCut</a:t>
            </a:r>
            <a:r>
              <a:rPr kumimoji="0" lang="ru-RU" sz="3200" b="1" i="0" u="none" strike="noStrike" kern="1200" cap="none" spc="0" normalizeH="0" baseline="0" noProof="0" dirty="0" smtClean="0">
                <a:ln>
                  <a:noFill/>
                </a:ln>
                <a:solidFill>
                  <a:schemeClr val="tx1"/>
                </a:solidFill>
                <a:effectLst/>
                <a:uLnTx/>
                <a:uFillTx/>
                <a:latin typeface="Cambria" pitchFamily="18" charset="0"/>
                <a:ea typeface="+mj-ea"/>
                <a:cs typeface="+mj-cs"/>
              </a:rPr>
              <a:t>: полезные советы</a:t>
            </a:r>
            <a:endParaRPr kumimoji="0" lang="ru-RU" sz="32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8" name="Прямоугольник 7"/>
          <p:cNvSpPr/>
          <p:nvPr/>
        </p:nvSpPr>
        <p:spPr>
          <a:xfrm>
            <a:off x="0" y="500042"/>
            <a:ext cx="9144000" cy="1477328"/>
          </a:xfrm>
          <a:prstGeom prst="rect">
            <a:avLst/>
          </a:prstGeom>
          <a:solidFill>
            <a:srgbClr val="E2EEEE"/>
          </a:solidFill>
        </p:spPr>
        <p:txBody>
          <a:bodyPr wrap="square">
            <a:spAutoFit/>
          </a:bodyPr>
          <a:lstStyle/>
          <a:p>
            <a:pPr algn="just"/>
            <a:r>
              <a:rPr lang="ru-RU" b="1" dirty="0" smtClean="0">
                <a:latin typeface="Times New Roman" pitchFamily="18" charset="0"/>
                <a:cs typeface="Times New Roman" pitchFamily="18" charset="0"/>
              </a:rPr>
              <a:t>Ключевые кадры</a:t>
            </a:r>
            <a:r>
              <a:rPr lang="ru-RU" dirty="0" smtClean="0">
                <a:latin typeface="Times New Roman" pitchFamily="18" charset="0"/>
                <a:cs typeface="Times New Roman" pitchFamily="18" charset="0"/>
              </a:rPr>
              <a:t> — это кадры, на которых заданы начало или конец параметрических изменений. Например, если установить параметры фильтра, они будут сохраняться на всём клипе. Если у фильтра есть опция ключевых кадров, можно установить параметры фильтра в начале и в конце клипа, а промежуточные кадры будут вычислять свои параметры между этими значениями. Их можно найти и поставить на нижней панели.</a:t>
            </a:r>
            <a:endParaRPr lang="ru-RU" dirty="0">
              <a:latin typeface="Times New Roman" pitchFamily="18" charset="0"/>
              <a:cs typeface="Times New Roman" pitchFamily="18" charset="0"/>
            </a:endParaRPr>
          </a:p>
        </p:txBody>
      </p:sp>
      <p:pic>
        <p:nvPicPr>
          <p:cNvPr id="27650" name="Picture 2"/>
          <p:cNvPicPr>
            <a:picLocks noChangeAspect="1" noChangeArrowheads="1"/>
          </p:cNvPicPr>
          <p:nvPr/>
        </p:nvPicPr>
        <p:blipFill>
          <a:blip r:embed="rId2"/>
          <a:srcRect/>
          <a:stretch>
            <a:fillRect/>
          </a:stretch>
        </p:blipFill>
        <p:spPr bwMode="auto">
          <a:xfrm>
            <a:off x="1214414" y="5357826"/>
            <a:ext cx="3143250" cy="1190625"/>
          </a:xfrm>
          <a:prstGeom prst="rect">
            <a:avLst/>
          </a:prstGeom>
          <a:noFill/>
          <a:ln w="9525">
            <a:noFill/>
            <a:miter lim="800000"/>
            <a:headEnd/>
            <a:tailEnd/>
          </a:ln>
          <a:effectLst/>
        </p:spPr>
      </p:pic>
      <p:pic>
        <p:nvPicPr>
          <p:cNvPr id="27651" name="Picture 3"/>
          <p:cNvPicPr>
            <a:picLocks noChangeAspect="1" noChangeArrowheads="1"/>
          </p:cNvPicPr>
          <p:nvPr/>
        </p:nvPicPr>
        <p:blipFill>
          <a:blip r:embed="rId3"/>
          <a:srcRect/>
          <a:stretch>
            <a:fillRect/>
          </a:stretch>
        </p:blipFill>
        <p:spPr bwMode="auto">
          <a:xfrm>
            <a:off x="4500562" y="4618018"/>
            <a:ext cx="3073463" cy="2239981"/>
          </a:xfrm>
          <a:prstGeom prst="rect">
            <a:avLst/>
          </a:prstGeom>
          <a:noFill/>
          <a:ln w="9525">
            <a:noFill/>
            <a:miter lim="800000"/>
            <a:headEnd/>
            <a:tailEnd/>
          </a:ln>
          <a:effectLst/>
        </p:spPr>
      </p:pic>
      <p:sp>
        <p:nvSpPr>
          <p:cNvPr id="9" name="Прямоугольник 8"/>
          <p:cNvSpPr/>
          <p:nvPr/>
        </p:nvSpPr>
        <p:spPr>
          <a:xfrm>
            <a:off x="0" y="3357562"/>
            <a:ext cx="9144000" cy="1200329"/>
          </a:xfrm>
          <a:prstGeom prst="rect">
            <a:avLst/>
          </a:prstGeom>
          <a:solidFill>
            <a:schemeClr val="accent3">
              <a:lumMod val="20000"/>
              <a:lumOff val="80000"/>
            </a:schemeClr>
          </a:solidFill>
        </p:spPr>
        <p:txBody>
          <a:bodyPr wrap="square">
            <a:spAutoFit/>
          </a:bodyPr>
          <a:lstStyle/>
          <a:p>
            <a:pPr algn="just"/>
            <a:r>
              <a:rPr lang="ru-RU" dirty="0" smtClean="0">
                <a:latin typeface="Times New Roman" pitchFamily="18" charset="0"/>
                <a:cs typeface="Times New Roman" pitchFamily="18" charset="0"/>
              </a:rPr>
              <a:t>Добавление отдельного цвета или текста можно найти на вкладке </a:t>
            </a:r>
            <a:r>
              <a:rPr lang="ru-RU" dirty="0" err="1" smtClean="0">
                <a:latin typeface="Times New Roman" pitchFamily="18" charset="0"/>
                <a:cs typeface="Times New Roman" pitchFamily="18" charset="0"/>
              </a:rPr>
              <a:t>Файл-Открыть</a:t>
            </a:r>
            <a:r>
              <a:rPr lang="ru-RU" dirty="0" smtClean="0">
                <a:latin typeface="Times New Roman" pitchFamily="18" charset="0"/>
                <a:cs typeface="Times New Roman" pitchFamily="18" charset="0"/>
              </a:rPr>
              <a:t> прочее…</a:t>
            </a:r>
          </a:p>
          <a:p>
            <a:pPr algn="just"/>
            <a:r>
              <a:rPr lang="ru-RU" dirty="0" smtClean="0">
                <a:latin typeface="Times New Roman" pitchFamily="18" charset="0"/>
                <a:cs typeface="Times New Roman" pitchFamily="18" charset="0"/>
              </a:rPr>
              <a:t>Добавленные элементы появятся в окне </a:t>
            </a:r>
            <a:r>
              <a:rPr lang="ru-RU" dirty="0" err="1" smtClean="0">
                <a:latin typeface="Times New Roman" pitchFamily="18" charset="0"/>
                <a:cs typeface="Times New Roman" pitchFamily="18" charset="0"/>
              </a:rPr>
              <a:t>предпросмотра</a:t>
            </a:r>
            <a:r>
              <a:rPr lang="ru-RU" dirty="0" smtClean="0">
                <a:latin typeface="Times New Roman" pitchFamily="18" charset="0"/>
                <a:cs typeface="Times New Roman" pitchFamily="18" charset="0"/>
              </a:rPr>
              <a:t>, откуда их можно перетащить левой кнопкой мыши на </a:t>
            </a:r>
            <a:r>
              <a:rPr lang="ru-RU" dirty="0" err="1" smtClean="0">
                <a:latin typeface="Times New Roman" pitchFamily="18" charset="0"/>
                <a:cs typeface="Times New Roman" pitchFamily="18" charset="0"/>
              </a:rPr>
              <a:t>таймлайн</a:t>
            </a:r>
            <a:r>
              <a:rPr lang="ru-RU" dirty="0" smtClean="0">
                <a:latin typeface="Times New Roman" pitchFamily="18" charset="0"/>
                <a:cs typeface="Times New Roman" pitchFamily="18" charset="0"/>
              </a:rPr>
              <a:t> и список воспроизведения.(конкретно текст можно наложить и фильтром на видео, но тогда с ним нельзя будет работать отдельно)</a:t>
            </a:r>
            <a:endParaRPr lang="en-US" dirty="0" smtClean="0">
              <a:latin typeface="Times New Roman" pitchFamily="18" charset="0"/>
              <a:cs typeface="Times New Roman" pitchFamily="18" charset="0"/>
            </a:endParaRPr>
          </a:p>
        </p:txBody>
      </p:sp>
      <p:sp>
        <p:nvSpPr>
          <p:cNvPr id="10" name="Прямоугольник 9"/>
          <p:cNvSpPr/>
          <p:nvPr/>
        </p:nvSpPr>
        <p:spPr>
          <a:xfrm>
            <a:off x="0" y="2071678"/>
            <a:ext cx="7000892" cy="1077218"/>
          </a:xfrm>
          <a:prstGeom prst="rect">
            <a:avLst/>
          </a:prstGeom>
          <a:solidFill>
            <a:schemeClr val="bg2"/>
          </a:solidFill>
        </p:spPr>
        <p:txBody>
          <a:bodyPr wrap="square">
            <a:spAutoFit/>
          </a:bodyPr>
          <a:lstStyle/>
          <a:p>
            <a:pPr algn="just"/>
            <a:r>
              <a:rPr lang="ru-RU" sz="1600" dirty="0" smtClean="0">
                <a:latin typeface="Times New Roman" pitchFamily="18" charset="0"/>
                <a:cs typeface="Times New Roman" pitchFamily="18" charset="0"/>
              </a:rPr>
              <a:t>В программе </a:t>
            </a:r>
            <a:r>
              <a:rPr lang="ru-RU" sz="1600" dirty="0" err="1" smtClean="0">
                <a:latin typeface="Times New Roman" pitchFamily="18" charset="0"/>
                <a:cs typeface="Times New Roman" pitchFamily="18" charset="0"/>
              </a:rPr>
              <a:t>Shotcut</a:t>
            </a:r>
            <a:r>
              <a:rPr lang="ru-RU" sz="1600" dirty="0" smtClean="0">
                <a:latin typeface="Times New Roman" pitchFamily="18" charset="0"/>
                <a:cs typeface="Times New Roman" pitchFamily="18" charset="0"/>
              </a:rPr>
              <a:t> доступны фильтры, создающие эффекты затухания и нарастания (и видео, и звука). Активировать их можно через фильтры или на </a:t>
            </a:r>
            <a:r>
              <a:rPr lang="ru-RU" sz="1600" dirty="0" err="1" smtClean="0">
                <a:latin typeface="Times New Roman" pitchFamily="18" charset="0"/>
                <a:cs typeface="Times New Roman" pitchFamily="18" charset="0"/>
              </a:rPr>
              <a:t>таймлайне</a:t>
            </a:r>
            <a:r>
              <a:rPr lang="ru-RU" sz="1600" dirty="0" smtClean="0">
                <a:latin typeface="Times New Roman" pitchFamily="18" charset="0"/>
                <a:cs typeface="Times New Roman" pitchFamily="18" charset="0"/>
              </a:rPr>
              <a:t> (для этого на фрагменте видео нужно навестись на уголок, пока не появится характерная точка)</a:t>
            </a:r>
            <a:endParaRPr lang="ru-RU" sz="1600" dirty="0">
              <a:latin typeface="Times New Roman" pitchFamily="18" charset="0"/>
              <a:cs typeface="Times New Roman" pitchFamily="18" charset="0"/>
            </a:endParaRPr>
          </a:p>
        </p:txBody>
      </p:sp>
      <p:pic>
        <p:nvPicPr>
          <p:cNvPr id="27652" name="Picture 4"/>
          <p:cNvPicPr>
            <a:picLocks noChangeAspect="1" noChangeArrowheads="1"/>
          </p:cNvPicPr>
          <p:nvPr/>
        </p:nvPicPr>
        <p:blipFill>
          <a:blip r:embed="rId4"/>
          <a:srcRect/>
          <a:stretch>
            <a:fillRect/>
          </a:stretch>
        </p:blipFill>
        <p:spPr bwMode="auto">
          <a:xfrm>
            <a:off x="7358082" y="2000240"/>
            <a:ext cx="1562100" cy="1304925"/>
          </a:xfrm>
          <a:prstGeom prst="rect">
            <a:avLst/>
          </a:prstGeom>
          <a:noFill/>
          <a:ln w="9525">
            <a:noFill/>
            <a:miter lim="800000"/>
            <a:headEnd/>
            <a:tailEnd/>
          </a:ln>
          <a:effectLst/>
        </p:spPr>
      </p:pic>
      <p:cxnSp>
        <p:nvCxnSpPr>
          <p:cNvPr id="13" name="Прямая со стрелкой 12"/>
          <p:cNvCxnSpPr>
            <a:stCxn id="10" idx="3"/>
          </p:cNvCxnSpPr>
          <p:nvPr/>
        </p:nvCxnSpPr>
        <p:spPr>
          <a:xfrm flipV="1">
            <a:off x="7000892" y="2428868"/>
            <a:ext cx="1357322" cy="18141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466</TotalTime>
  <Words>1026</Words>
  <Application>Microsoft Office PowerPoint</Application>
  <PresentationFormat>Экран (4:3)</PresentationFormat>
  <Paragraphs>73</Paragraphs>
  <Slides>14</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14</vt:i4>
      </vt:variant>
    </vt:vector>
  </HeadingPairs>
  <TitlesOfParts>
    <vt:vector size="15" baseType="lpstr">
      <vt:lpstr>Тема Office</vt:lpstr>
      <vt:lpstr>Роль видеоматериалов в рекламе</vt:lpstr>
      <vt:lpstr>Дополнительные материалы</vt:lpstr>
      <vt:lpstr>Видеореклама</vt:lpstr>
      <vt:lpstr>Роль видеоматериалов</vt:lpstr>
      <vt:lpstr>Интернет-технологии для создания видеоматериалов</vt:lpstr>
      <vt:lpstr>Слайд 6</vt:lpstr>
      <vt:lpstr>Слайд 7</vt:lpstr>
      <vt:lpstr>Слайд 8</vt:lpstr>
      <vt:lpstr>Слайд 9</vt:lpstr>
      <vt:lpstr>Слайд 10</vt:lpstr>
      <vt:lpstr>Слайд 11</vt:lpstr>
      <vt:lpstr>Слайд 12</vt:lpstr>
      <vt:lpstr>Слайд 13</vt:lpstr>
      <vt:lpstr>Слайд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Роль видеоматериалов в рекламе</dc:title>
  <dc:creator>user</dc:creator>
  <cp:lastModifiedBy>user</cp:lastModifiedBy>
  <cp:revision>68</cp:revision>
  <dcterms:created xsi:type="dcterms:W3CDTF">2024-02-01T09:49:19Z</dcterms:created>
  <dcterms:modified xsi:type="dcterms:W3CDTF">2025-11-19T13:31:10Z</dcterms:modified>
</cp:coreProperties>
</file>