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57" r:id="rId4"/>
    <p:sldId id="268" r:id="rId5"/>
    <p:sldId id="270" r:id="rId6"/>
    <p:sldId id="271" r:id="rId7"/>
    <p:sldId id="266" r:id="rId8"/>
    <p:sldId id="269" r:id="rId9"/>
    <p:sldId id="267" r:id="rId10"/>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100" d="100"/>
          <a:sy n="100" d="100"/>
        </p:scale>
        <p:origin x="-1944" y="-33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16.07.2025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16.07.2025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0FF7147C-2AAC-473E-AD87-1A0FFEE67DAA}" type="datetimeFigureOut">
              <a:rPr lang="ru-RU" smtClean="0"/>
              <a:pPr/>
              <a:t>16.07.2025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0FF7147C-2AAC-473E-AD87-1A0FFEE67DAA}" type="datetimeFigureOut">
              <a:rPr lang="ru-RU" smtClean="0"/>
              <a:pPr/>
              <a:t>16.07.2025</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0FF7147C-2AAC-473E-AD87-1A0FFEE67DAA}" type="datetimeFigureOut">
              <a:rPr lang="ru-RU" smtClean="0"/>
              <a:pPr/>
              <a:t>16.07.2025</a:t>
            </a:fld>
            <a:endParaRPr lang="ru-RU" dirty="0"/>
          </a:p>
        </p:txBody>
      </p:sp>
      <p:sp>
        <p:nvSpPr>
          <p:cNvPr id="8" name="Нижний колонтитул 7"/>
          <p:cNvSpPr>
            <a:spLocks noGrp="1"/>
          </p:cNvSpPr>
          <p:nvPr>
            <p:ph type="ftr" sz="quarter" idx="11"/>
          </p:nvPr>
        </p:nvSpPr>
        <p:spPr/>
        <p:txBody>
          <a:bodyPr/>
          <a:lstStyle/>
          <a:p>
            <a:endParaRPr lang="ru-RU" dirty="0"/>
          </a:p>
        </p:txBody>
      </p:sp>
      <p:sp>
        <p:nvSpPr>
          <p:cNvPr id="9" name="Номер слайда 8"/>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0FF7147C-2AAC-473E-AD87-1A0FFEE67DAA}" type="datetimeFigureOut">
              <a:rPr lang="ru-RU" smtClean="0"/>
              <a:pPr/>
              <a:t>16.07.2025</a:t>
            </a:fld>
            <a:endParaRPr lang="ru-RU" dirty="0"/>
          </a:p>
        </p:txBody>
      </p:sp>
      <p:sp>
        <p:nvSpPr>
          <p:cNvPr id="4" name="Нижний колонтитул 3"/>
          <p:cNvSpPr>
            <a:spLocks noGrp="1"/>
          </p:cNvSpPr>
          <p:nvPr>
            <p:ph type="ftr" sz="quarter" idx="11"/>
          </p:nvPr>
        </p:nvSpPr>
        <p:spPr/>
        <p:txBody>
          <a:bodyPr/>
          <a:lstStyle/>
          <a:p>
            <a:endParaRPr lang="ru-RU" dirty="0"/>
          </a:p>
        </p:txBody>
      </p:sp>
      <p:sp>
        <p:nvSpPr>
          <p:cNvPr id="5" name="Номер слайда 4"/>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FF7147C-2AAC-473E-AD87-1A0FFEE67DAA}" type="datetimeFigureOut">
              <a:rPr lang="ru-RU" smtClean="0"/>
              <a:pPr/>
              <a:t>16.07.2025</a:t>
            </a:fld>
            <a:endParaRPr lang="ru-RU" dirty="0"/>
          </a:p>
        </p:txBody>
      </p:sp>
      <p:sp>
        <p:nvSpPr>
          <p:cNvPr id="3" name="Нижний колонтитул 2"/>
          <p:cNvSpPr>
            <a:spLocks noGrp="1"/>
          </p:cNvSpPr>
          <p:nvPr>
            <p:ph type="ftr" sz="quarter" idx="11"/>
          </p:nvPr>
        </p:nvSpPr>
        <p:spPr/>
        <p:txBody>
          <a:bodyPr/>
          <a:lstStyle/>
          <a:p>
            <a:endParaRPr lang="ru-RU" dirty="0"/>
          </a:p>
        </p:txBody>
      </p:sp>
      <p:sp>
        <p:nvSpPr>
          <p:cNvPr id="4" name="Номер слайда 3"/>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FF7147C-2AAC-473E-AD87-1A0FFEE67DAA}" type="datetimeFigureOut">
              <a:rPr lang="ru-RU" smtClean="0"/>
              <a:pPr/>
              <a:t>16.07.2025</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dirty="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FF7147C-2AAC-473E-AD87-1A0FFEE67DAA}" type="datetimeFigureOut">
              <a:rPr lang="ru-RU" smtClean="0"/>
              <a:pPr/>
              <a:t>16.07.2025</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16.07.2025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FF7147C-2AAC-473E-AD87-1A0FFEE67DAA}" type="datetimeFigureOut">
              <a:rPr lang="ru-RU" smtClean="0"/>
              <a:pPr/>
              <a:t>16.07.2025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58A7951B-177F-4FB1-B83B-CDA154B005A9}" type="slidenum">
              <a:rPr lang="ru-RU" smtClean="0"/>
              <a:pPr/>
              <a:t>‹#›</a:t>
            </a:fld>
            <a:endParaRPr lang="ru-R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F7147C-2AAC-473E-AD87-1A0FFEE67DAA}" type="datetimeFigureOut">
              <a:rPr lang="ru-RU" smtClean="0"/>
              <a:pPr/>
              <a:t>16.07.2025</a:t>
            </a:fld>
            <a:endParaRPr lang="ru-RU" dirty="0"/>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dirty="0"/>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A7951B-177F-4FB1-B83B-CDA154B005A9}" type="slidenum">
              <a:rPr lang="ru-RU" smtClean="0"/>
              <a:pPr/>
              <a:t>‹#›</a:t>
            </a:fld>
            <a:endParaRPr lang="ru-RU"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tilda.education/articles-semantika-for-ad" TargetMode="External"/><Relationship Id="rId2" Type="http://schemas.openxmlformats.org/officeDocument/2006/relationships/hyperlink" Target="https://www.insales.ru/blogs/university/offer-deadline-call-to-action?ysclid=m0jydf3g5x978726361" TargetMode="External"/><Relationship Id="rId1" Type="http://schemas.openxmlformats.org/officeDocument/2006/relationships/slideLayout" Target="../slideLayouts/slideLayout6.xml"/><Relationship Id="rId5" Type="http://schemas.openxmlformats.org/officeDocument/2006/relationships/hyperlink" Target="https://skillbox.ru/media/marketing/gayd-po-yandeksvordstatu-kak-podbirat-klyuchevye-slova-dlya-reklamy-seo-i-kontenta/?ysclid=m0jyagpxy9454201075" TargetMode="External"/><Relationship Id="rId4" Type="http://schemas.openxmlformats.org/officeDocument/2006/relationships/hyperlink" Target="https://habr.com/ru/companies/click/articles/50400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a:bodyPr>
          <a:lstStyle/>
          <a:p>
            <a:r>
              <a:rPr lang="ru-RU" b="1" dirty="0" smtClean="0"/>
              <a:t>Сервис </a:t>
            </a:r>
            <a:r>
              <a:rPr lang="en-US" b="1" dirty="0" err="1" smtClean="0"/>
              <a:t>Wordstat</a:t>
            </a:r>
            <a:r>
              <a:rPr lang="ru-RU" dirty="0"/>
              <a:t/>
            </a:r>
            <a:br>
              <a:rPr lang="ru-RU" dirty="0"/>
            </a:br>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lstStyle/>
          <a:p>
            <a:r>
              <a:rPr lang="ru-RU" b="1" dirty="0" smtClean="0"/>
              <a:t>Дополнительные материалы</a:t>
            </a:r>
            <a:endParaRPr lang="ru-RU" b="1" dirty="0"/>
          </a:p>
        </p:txBody>
      </p:sp>
      <p:sp>
        <p:nvSpPr>
          <p:cNvPr id="4" name="Прямоугольник 3"/>
          <p:cNvSpPr/>
          <p:nvPr/>
        </p:nvSpPr>
        <p:spPr>
          <a:xfrm>
            <a:off x="0" y="857232"/>
            <a:ext cx="9144000" cy="6370975"/>
          </a:xfrm>
          <a:prstGeom prst="rect">
            <a:avLst/>
          </a:prstGeom>
          <a:ln>
            <a:noFill/>
          </a:ln>
        </p:spPr>
        <p:txBody>
          <a:bodyPr wrap="square">
            <a:spAutoFit/>
          </a:bodyPr>
          <a:lstStyle/>
          <a:p>
            <a:pPr algn="just"/>
            <a:r>
              <a:rPr lang="ru-RU" sz="2400" i="1" dirty="0" smtClean="0">
                <a:latin typeface="Cambria" pitchFamily="18" charset="0"/>
              </a:rPr>
              <a:t>Как написать продающее объявление: </a:t>
            </a:r>
            <a:r>
              <a:rPr lang="ru-RU" sz="2400" b="1" i="1" dirty="0" err="1" smtClean="0">
                <a:latin typeface="Cambria" pitchFamily="18" charset="0"/>
              </a:rPr>
              <a:t>Offer</a:t>
            </a:r>
            <a:r>
              <a:rPr lang="ru-RU" sz="2400" b="1" i="1" dirty="0" smtClean="0">
                <a:latin typeface="Cambria" pitchFamily="18" charset="0"/>
              </a:rPr>
              <a:t> </a:t>
            </a:r>
            <a:r>
              <a:rPr lang="ru-RU" sz="2400" b="1" i="1" dirty="0" err="1" smtClean="0">
                <a:latin typeface="Cambria" pitchFamily="18" charset="0"/>
              </a:rPr>
              <a:t>Deadline</a:t>
            </a:r>
            <a:r>
              <a:rPr lang="ru-RU" sz="2400" b="1" i="1" dirty="0" smtClean="0">
                <a:latin typeface="Cambria" pitchFamily="18" charset="0"/>
              </a:rPr>
              <a:t> </a:t>
            </a:r>
            <a:r>
              <a:rPr lang="ru-RU" sz="2400" b="1" i="1" dirty="0" err="1" smtClean="0">
                <a:latin typeface="Cambria" pitchFamily="18" charset="0"/>
              </a:rPr>
              <a:t>Call</a:t>
            </a:r>
            <a:r>
              <a:rPr lang="ru-RU" sz="2400" b="1" i="1" dirty="0" smtClean="0">
                <a:latin typeface="Cambria" pitchFamily="18" charset="0"/>
              </a:rPr>
              <a:t> </a:t>
            </a:r>
            <a:r>
              <a:rPr lang="ru-RU" sz="2400" b="1" i="1" dirty="0" err="1" smtClean="0">
                <a:latin typeface="Cambria" pitchFamily="18" charset="0"/>
              </a:rPr>
              <a:t>to</a:t>
            </a:r>
            <a:r>
              <a:rPr lang="ru-RU" sz="2400" b="1" i="1" dirty="0" smtClean="0">
                <a:latin typeface="Cambria" pitchFamily="18" charset="0"/>
              </a:rPr>
              <a:t> </a:t>
            </a:r>
            <a:r>
              <a:rPr lang="ru-RU" sz="2400" b="1" i="1" dirty="0" err="1" smtClean="0">
                <a:latin typeface="Cambria" pitchFamily="18" charset="0"/>
              </a:rPr>
              <a:t>action</a:t>
            </a:r>
            <a:r>
              <a:rPr lang="ru-RU" sz="2400" i="1" dirty="0" smtClean="0">
                <a:latin typeface="Cambria" pitchFamily="18" charset="0"/>
              </a:rPr>
              <a:t> - главный закон рекламы</a:t>
            </a:r>
          </a:p>
          <a:p>
            <a:pPr algn="just"/>
            <a:r>
              <a:rPr lang="en-US" sz="2400" b="1" dirty="0" smtClean="0">
                <a:latin typeface="Cambria" pitchFamily="18" charset="0"/>
                <a:hlinkClick r:id="rId2"/>
              </a:rPr>
              <a:t>https://www.insales.ru/blogs/university/offer-deadline-call-to-action?ysclid=m0jydf3g5x978726361</a:t>
            </a:r>
            <a:endParaRPr lang="ru-RU" sz="2400" b="1" dirty="0" smtClean="0">
              <a:latin typeface="Cambria" pitchFamily="18" charset="0"/>
              <a:hlinkClick r:id="rId3"/>
            </a:endParaRPr>
          </a:p>
          <a:p>
            <a:pPr algn="just"/>
            <a:endParaRPr lang="ru-RU" sz="2400" i="1" dirty="0" smtClean="0">
              <a:latin typeface="Cambria" pitchFamily="18" charset="0"/>
            </a:endParaRPr>
          </a:p>
          <a:p>
            <a:pPr algn="just"/>
            <a:r>
              <a:rPr lang="ru-RU" sz="2400" i="1" dirty="0" smtClean="0">
                <a:latin typeface="Cambria" pitchFamily="18" charset="0"/>
              </a:rPr>
              <a:t>Как собрать список ключевых фраз для поисковой рекламы</a:t>
            </a:r>
            <a:endParaRPr lang="en-US" sz="2400" i="1" dirty="0" smtClean="0">
              <a:latin typeface="Cambria" pitchFamily="18" charset="0"/>
            </a:endParaRPr>
          </a:p>
          <a:p>
            <a:pPr algn="just"/>
            <a:r>
              <a:rPr lang="en-US" sz="2400" b="1" dirty="0" smtClean="0">
                <a:latin typeface="Cambria" pitchFamily="18" charset="0"/>
                <a:hlinkClick r:id="rId3"/>
              </a:rPr>
              <a:t>https://tilda.education/articles-semantika-for-ad</a:t>
            </a:r>
            <a:endParaRPr lang="ru-RU" sz="2400" b="1" dirty="0" smtClean="0">
              <a:latin typeface="Cambria" pitchFamily="18" charset="0"/>
            </a:endParaRPr>
          </a:p>
          <a:p>
            <a:pPr algn="just"/>
            <a:endParaRPr lang="ru-RU" sz="2400" b="1" dirty="0" smtClean="0">
              <a:latin typeface="Cambria" pitchFamily="18" charset="0"/>
            </a:endParaRPr>
          </a:p>
          <a:p>
            <a:pPr algn="just"/>
            <a:r>
              <a:rPr lang="ru-RU" sz="2400" i="1" dirty="0" smtClean="0">
                <a:latin typeface="Cambria" pitchFamily="18" charset="0"/>
              </a:rPr>
              <a:t>Как использовать </a:t>
            </a:r>
            <a:r>
              <a:rPr lang="ru-RU" sz="2400" i="1" dirty="0" err="1" smtClean="0">
                <a:latin typeface="Cambria" pitchFamily="18" charset="0"/>
              </a:rPr>
              <a:t>Яндекс.Вордстат</a:t>
            </a:r>
            <a:r>
              <a:rPr lang="ru-RU" sz="2400" i="1" dirty="0" smtClean="0">
                <a:latin typeface="Cambria" pitchFamily="18" charset="0"/>
              </a:rPr>
              <a:t> для контекстной рекламы</a:t>
            </a:r>
          </a:p>
          <a:p>
            <a:pPr algn="just"/>
            <a:r>
              <a:rPr lang="en-US" sz="2400" b="1" dirty="0" smtClean="0">
                <a:latin typeface="Cambria" pitchFamily="18" charset="0"/>
                <a:hlinkClick r:id="rId4"/>
              </a:rPr>
              <a:t>https://habr.com/ru/companies/click/articles/504002/</a:t>
            </a:r>
            <a:endParaRPr lang="ru-RU" sz="2400" b="1" dirty="0" smtClean="0">
              <a:latin typeface="Cambria" pitchFamily="18" charset="0"/>
            </a:endParaRPr>
          </a:p>
          <a:p>
            <a:pPr algn="just"/>
            <a:endParaRPr lang="ru-RU" sz="2400" b="1" dirty="0" smtClean="0">
              <a:latin typeface="Cambria" pitchFamily="18" charset="0"/>
            </a:endParaRPr>
          </a:p>
          <a:p>
            <a:pPr algn="just"/>
            <a:r>
              <a:rPr lang="ru-RU" sz="2400" i="1" dirty="0" err="1" smtClean="0">
                <a:latin typeface="Cambria" pitchFamily="18" charset="0"/>
              </a:rPr>
              <a:t>Гайд</a:t>
            </a:r>
            <a:r>
              <a:rPr lang="ru-RU" sz="2400" i="1" dirty="0" smtClean="0">
                <a:latin typeface="Cambria" pitchFamily="18" charset="0"/>
              </a:rPr>
              <a:t> по «Яндекс </a:t>
            </a:r>
            <a:r>
              <a:rPr lang="ru-RU" sz="2400" i="1" dirty="0" err="1" smtClean="0">
                <a:latin typeface="Cambria" pitchFamily="18" charset="0"/>
              </a:rPr>
              <a:t>Вордстату</a:t>
            </a:r>
            <a:r>
              <a:rPr lang="ru-RU" sz="2400" i="1" dirty="0" smtClean="0">
                <a:latin typeface="Cambria" pitchFamily="18" charset="0"/>
              </a:rPr>
              <a:t>». Как подбирать ключевые слова для рекламы, SEO и </a:t>
            </a:r>
            <a:r>
              <a:rPr lang="ru-RU" sz="2400" i="1" dirty="0" err="1" smtClean="0">
                <a:latin typeface="Cambria" pitchFamily="18" charset="0"/>
              </a:rPr>
              <a:t>контента</a:t>
            </a:r>
            <a:endParaRPr lang="ru-RU" sz="2400" i="1" dirty="0" smtClean="0">
              <a:latin typeface="Cambria" pitchFamily="18" charset="0"/>
            </a:endParaRPr>
          </a:p>
          <a:p>
            <a:pPr algn="just"/>
            <a:r>
              <a:rPr lang="en-US" sz="2400" b="1" dirty="0" smtClean="0">
                <a:latin typeface="Cambria" pitchFamily="18" charset="0"/>
                <a:hlinkClick r:id="rId5"/>
              </a:rPr>
              <a:t>https://skillbox.ru/media/marketing/gayd-po-yandeksvordstatu-kak-podbirat-klyuchevye-slova-dlya-reklamy-seo-i-kontenta/?ysclid=m0jyagpxy9454201075</a:t>
            </a:r>
            <a:endParaRPr lang="en-US" sz="2400" b="1" dirty="0" smtClean="0">
              <a:latin typeface="Cambria" pitchFamily="18" charset="0"/>
            </a:endParaRPr>
          </a:p>
          <a:p>
            <a:pPr algn="just"/>
            <a:endParaRPr lang="en-US" sz="2400" dirty="0" smtClean="0">
              <a:latin typeface="Cambria"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0" y="2928934"/>
            <a:ext cx="9144000" cy="13573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p:cNvSpPr>
            <a:spLocks noGrp="1"/>
          </p:cNvSpPr>
          <p:nvPr>
            <p:ph type="title"/>
          </p:nvPr>
        </p:nvSpPr>
        <p:spPr/>
        <p:txBody>
          <a:bodyPr>
            <a:normAutofit/>
          </a:bodyPr>
          <a:lstStyle/>
          <a:p>
            <a:r>
              <a:rPr lang="ru-RU" sz="3200" b="1" dirty="0" smtClean="0">
                <a:latin typeface="Cambria" pitchFamily="18" charset="0"/>
              </a:rPr>
              <a:t>Яндекс </a:t>
            </a:r>
            <a:r>
              <a:rPr lang="ru-RU" sz="3200" b="1" dirty="0" err="1" smtClean="0">
                <a:latin typeface="Cambria" pitchFamily="18" charset="0"/>
              </a:rPr>
              <a:t>Вордстат</a:t>
            </a:r>
            <a:endParaRPr lang="ru-RU" sz="3200" b="1" dirty="0">
              <a:latin typeface="Cambria" pitchFamily="18" charset="0"/>
            </a:endParaRPr>
          </a:p>
        </p:txBody>
      </p:sp>
      <p:sp>
        <p:nvSpPr>
          <p:cNvPr id="4" name="Прямоугольник 3"/>
          <p:cNvSpPr/>
          <p:nvPr/>
        </p:nvSpPr>
        <p:spPr>
          <a:xfrm>
            <a:off x="0" y="1500174"/>
            <a:ext cx="9144000" cy="4493538"/>
          </a:xfrm>
          <a:prstGeom prst="rect">
            <a:avLst/>
          </a:prstGeom>
        </p:spPr>
        <p:txBody>
          <a:bodyPr wrap="square">
            <a:spAutoFit/>
          </a:bodyPr>
          <a:lstStyle/>
          <a:p>
            <a:pPr algn="just" fontAlgn="base"/>
            <a:r>
              <a:rPr lang="ru-RU" sz="2200" b="1" dirty="0" smtClean="0">
                <a:latin typeface="Times New Roman" pitchFamily="18" charset="0"/>
                <a:cs typeface="Times New Roman" pitchFamily="18" charset="0"/>
              </a:rPr>
              <a:t>«Яндекс </a:t>
            </a:r>
            <a:r>
              <a:rPr lang="ru-RU" sz="2200" b="1" dirty="0" err="1" smtClean="0">
                <a:latin typeface="Times New Roman" pitchFamily="18" charset="0"/>
                <a:cs typeface="Times New Roman" pitchFamily="18" charset="0"/>
              </a:rPr>
              <a:t>Вордстат</a:t>
            </a:r>
            <a:r>
              <a:rPr lang="ru-RU" sz="2200" b="1" dirty="0" smtClean="0">
                <a:latin typeface="Times New Roman" pitchFamily="18" charset="0"/>
                <a:cs typeface="Times New Roman" pitchFamily="18" charset="0"/>
              </a:rPr>
              <a:t>»</a:t>
            </a:r>
            <a:r>
              <a:rPr lang="ru-RU" sz="2200" dirty="0" smtClean="0">
                <a:latin typeface="Times New Roman" pitchFamily="18" charset="0"/>
                <a:cs typeface="Times New Roman" pitchFamily="18" charset="0"/>
              </a:rPr>
              <a:t> — бесплатный сервис для подбора ключевых слов, который помогает оценить интерес пользователей к теме. С помощью него можно:</a:t>
            </a:r>
            <a:endParaRPr lang="en-US" sz="2200" dirty="0" smtClean="0">
              <a:latin typeface="Times New Roman" pitchFamily="18" charset="0"/>
              <a:cs typeface="Times New Roman" pitchFamily="18" charset="0"/>
            </a:endParaRPr>
          </a:p>
          <a:p>
            <a:pPr algn="just" fontAlgn="base"/>
            <a:endParaRPr lang="ru-RU" sz="2200" dirty="0" smtClean="0">
              <a:latin typeface="Times New Roman" pitchFamily="18" charset="0"/>
              <a:cs typeface="Times New Roman" pitchFamily="18" charset="0"/>
            </a:endParaRPr>
          </a:p>
          <a:p>
            <a:pPr algn="just" fontAlgn="base">
              <a:buFont typeface="Arial" pitchFamily="34" charset="0"/>
              <a:buChar char="•"/>
            </a:pPr>
            <a:r>
              <a:rPr lang="ru-RU" sz="2200" dirty="0" smtClean="0">
                <a:latin typeface="Times New Roman" pitchFamily="18" charset="0"/>
                <a:cs typeface="Times New Roman" pitchFamily="18" charset="0"/>
              </a:rPr>
              <a:t>собрать ключевые слова для рекламы и продвижения бизнеса;</a:t>
            </a:r>
          </a:p>
          <a:p>
            <a:pPr algn="just" fontAlgn="base">
              <a:buFont typeface="Arial" pitchFamily="34" charset="0"/>
              <a:buChar char="•"/>
            </a:pPr>
            <a:r>
              <a:rPr lang="ru-RU" sz="2200" dirty="0" smtClean="0">
                <a:latin typeface="Times New Roman" pitchFamily="18" charset="0"/>
                <a:cs typeface="Times New Roman" pitchFamily="18" charset="0"/>
              </a:rPr>
              <a:t>понять, в какие месяцы и в каких регионах больше и меньше интересуются темой;</a:t>
            </a:r>
          </a:p>
          <a:p>
            <a:pPr algn="just" fontAlgn="base">
              <a:buFont typeface="Arial" pitchFamily="34" charset="0"/>
              <a:buChar char="•"/>
            </a:pPr>
            <a:r>
              <a:rPr lang="ru-RU" sz="2200" dirty="0" smtClean="0">
                <a:latin typeface="Times New Roman" pitchFamily="18" charset="0"/>
                <a:cs typeface="Times New Roman" pitchFamily="18" charset="0"/>
              </a:rPr>
              <a:t>разобраться, по каким ещё запросам ищут продукт или услугу.</a:t>
            </a:r>
          </a:p>
          <a:p>
            <a:pPr algn="just" fontAlgn="base"/>
            <a:endParaRPr lang="en-US" sz="2200" dirty="0" smtClean="0">
              <a:latin typeface="Times New Roman" pitchFamily="18" charset="0"/>
              <a:cs typeface="Times New Roman" pitchFamily="18" charset="0"/>
            </a:endParaRPr>
          </a:p>
          <a:p>
            <a:pPr algn="just" fontAlgn="base"/>
            <a:r>
              <a:rPr lang="ru-RU" sz="2200" dirty="0" smtClean="0">
                <a:latin typeface="Times New Roman" pitchFamily="18" charset="0"/>
                <a:cs typeface="Times New Roman" pitchFamily="18" charset="0"/>
              </a:rPr>
              <a:t>Инструмент полезен для бизнеса и </a:t>
            </a:r>
            <a:r>
              <a:rPr lang="ru-RU" sz="2200" dirty="0" err="1" smtClean="0">
                <a:latin typeface="Times New Roman" pitchFamily="18" charset="0"/>
                <a:cs typeface="Times New Roman" pitchFamily="18" charset="0"/>
              </a:rPr>
              <a:t>маркетологов</a:t>
            </a:r>
            <a:r>
              <a:rPr lang="ru-RU" sz="2200" dirty="0" smtClean="0">
                <a:latin typeface="Times New Roman" pitchFamily="18" charset="0"/>
                <a:cs typeface="Times New Roman" pitchFamily="18" charset="0"/>
              </a:rPr>
              <a:t>. Найдя все релевантные запросы, можно обойти конкурентов в поиске. Зная, в какой сезон пользователи больше интересуются продуктом, можно распределить бюджет на рекламу.</a:t>
            </a:r>
            <a:endParaRPr lang="ru-RU" sz="22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b="1" dirty="0" smtClean="0">
                <a:latin typeface="Cambria" pitchFamily="18" charset="0"/>
              </a:rPr>
              <a:t>Яндекс </a:t>
            </a:r>
            <a:r>
              <a:rPr lang="ru-RU" sz="3200" b="1" dirty="0" err="1" smtClean="0">
                <a:latin typeface="Cambria" pitchFamily="18" charset="0"/>
              </a:rPr>
              <a:t>Вордстат</a:t>
            </a:r>
            <a:endParaRPr lang="ru-RU" sz="3200" b="1" dirty="0">
              <a:latin typeface="Cambria" pitchFamily="18" charset="0"/>
            </a:endParaRPr>
          </a:p>
        </p:txBody>
      </p:sp>
      <p:pic>
        <p:nvPicPr>
          <p:cNvPr id="18434" name="Picture 2" descr="https://skilma.ru/wp-content/uploads/2023/11/17f42d8bd2c714e1cfd62d358a022923.jpg"/>
          <p:cNvPicPr>
            <a:picLocks noChangeAspect="1" noChangeArrowheads="1"/>
          </p:cNvPicPr>
          <p:nvPr/>
        </p:nvPicPr>
        <p:blipFill>
          <a:blip r:embed="rId2"/>
          <a:srcRect/>
          <a:stretch>
            <a:fillRect/>
          </a:stretch>
        </p:blipFill>
        <p:spPr bwMode="auto">
          <a:xfrm>
            <a:off x="0" y="1500174"/>
            <a:ext cx="9144000" cy="4714631"/>
          </a:xfrm>
          <a:prstGeom prst="rect">
            <a:avLst/>
          </a:prstGeom>
          <a:noFill/>
        </p:spPr>
      </p:pic>
      <p:sp>
        <p:nvSpPr>
          <p:cNvPr id="5" name="TextBox 4"/>
          <p:cNvSpPr txBox="1"/>
          <p:nvPr/>
        </p:nvSpPr>
        <p:spPr>
          <a:xfrm>
            <a:off x="117150" y="4000504"/>
            <a:ext cx="1311578" cy="369332"/>
          </a:xfrm>
          <a:prstGeom prst="rect">
            <a:avLst/>
          </a:prstGeom>
          <a:noFill/>
        </p:spPr>
        <p:txBody>
          <a:bodyPr wrap="none" rtlCol="0">
            <a:spAutoFit/>
          </a:bodyPr>
          <a:lstStyle/>
          <a:p>
            <a:r>
              <a:rPr lang="ru-RU" dirty="0" smtClean="0">
                <a:solidFill>
                  <a:srgbClr val="C00000"/>
                </a:solidFill>
              </a:rPr>
              <a:t>Ваш запрос</a:t>
            </a:r>
            <a:endParaRPr lang="ru-RU" dirty="0">
              <a:solidFill>
                <a:srgbClr val="C00000"/>
              </a:solidFill>
            </a:endParaRPr>
          </a:p>
        </p:txBody>
      </p:sp>
      <p:sp>
        <p:nvSpPr>
          <p:cNvPr id="6" name="TextBox 5"/>
          <p:cNvSpPr txBox="1"/>
          <p:nvPr/>
        </p:nvSpPr>
        <p:spPr>
          <a:xfrm>
            <a:off x="7475264" y="3854239"/>
            <a:ext cx="1740206" cy="646331"/>
          </a:xfrm>
          <a:prstGeom prst="rect">
            <a:avLst/>
          </a:prstGeom>
          <a:noFill/>
        </p:spPr>
        <p:txBody>
          <a:bodyPr wrap="square" rtlCol="0">
            <a:spAutoFit/>
          </a:bodyPr>
          <a:lstStyle/>
          <a:p>
            <a:pPr algn="ctr"/>
            <a:r>
              <a:rPr lang="ru-RU" dirty="0" smtClean="0">
                <a:solidFill>
                  <a:srgbClr val="C00000"/>
                </a:solidFill>
              </a:rPr>
              <a:t>Ищут вместе с этим</a:t>
            </a:r>
            <a:endParaRPr lang="ru-RU" dirty="0">
              <a:solidFill>
                <a:srgbClr val="C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285984" y="3344084"/>
            <a:ext cx="4429156" cy="3513916"/>
          </a:xfrm>
          <a:prstGeom prst="rect">
            <a:avLst/>
          </a:prstGeom>
          <a:noFill/>
          <a:ln w="9525">
            <a:noFill/>
            <a:miter lim="800000"/>
            <a:headEnd/>
            <a:tailEnd/>
          </a:ln>
          <a:effectLst/>
        </p:spPr>
      </p:pic>
      <p:sp>
        <p:nvSpPr>
          <p:cNvPr id="2" name="Заголовок 1"/>
          <p:cNvSpPr>
            <a:spLocks noGrp="1"/>
          </p:cNvSpPr>
          <p:nvPr>
            <p:ph type="title"/>
          </p:nvPr>
        </p:nvSpPr>
        <p:spPr>
          <a:xfrm>
            <a:off x="500034" y="0"/>
            <a:ext cx="8229600" cy="1143000"/>
          </a:xfrm>
        </p:spPr>
        <p:txBody>
          <a:bodyPr>
            <a:normAutofit/>
          </a:bodyPr>
          <a:lstStyle/>
          <a:p>
            <a:r>
              <a:rPr lang="ru-RU" sz="3200" b="1" dirty="0" err="1" smtClean="0">
                <a:latin typeface="Cambria" pitchFamily="18" charset="0"/>
              </a:rPr>
              <a:t>Яндекс</a:t>
            </a:r>
            <a:r>
              <a:rPr lang="ru-RU" sz="3200" b="1" dirty="0" smtClean="0">
                <a:latin typeface="Cambria" pitchFamily="18" charset="0"/>
              </a:rPr>
              <a:t> </a:t>
            </a:r>
            <a:r>
              <a:rPr lang="ru-RU" sz="3200" b="1" dirty="0" err="1" smtClean="0">
                <a:latin typeface="Cambria" pitchFamily="18" charset="0"/>
              </a:rPr>
              <a:t>Вордстат</a:t>
            </a:r>
            <a:r>
              <a:rPr lang="en-US" sz="3200" b="1" dirty="0" smtClean="0">
                <a:latin typeface="Cambria" pitchFamily="18" charset="0"/>
              </a:rPr>
              <a:t>: </a:t>
            </a:r>
            <a:r>
              <a:rPr lang="ru-RU" sz="3200" b="1" dirty="0" smtClean="0">
                <a:latin typeface="Cambria" pitchFamily="18" charset="0"/>
              </a:rPr>
              <a:t>Операторы поиска</a:t>
            </a:r>
            <a:endParaRPr lang="ru-RU" sz="3200" b="1" dirty="0">
              <a:latin typeface="Cambria" pitchFamily="18" charset="0"/>
            </a:endParaRPr>
          </a:p>
        </p:txBody>
      </p:sp>
      <p:sp>
        <p:nvSpPr>
          <p:cNvPr id="8" name="Прямоугольник 7"/>
          <p:cNvSpPr/>
          <p:nvPr/>
        </p:nvSpPr>
        <p:spPr>
          <a:xfrm>
            <a:off x="0" y="785794"/>
            <a:ext cx="9144000" cy="923330"/>
          </a:xfrm>
          <a:prstGeom prst="rect">
            <a:avLst/>
          </a:prstGeom>
        </p:spPr>
        <p:txBody>
          <a:bodyPr wrap="square">
            <a:spAutoFit/>
          </a:bodyPr>
          <a:lstStyle/>
          <a:p>
            <a:pPr algn="just"/>
            <a:r>
              <a:rPr lang="ru-RU" dirty="0" smtClean="0">
                <a:latin typeface="Times New Roman" pitchFamily="18" charset="0"/>
                <a:cs typeface="Times New Roman" pitchFamily="18" charset="0"/>
              </a:rPr>
              <a:t>С помощью операторов поиска можно уточнить запрос и посмотреть точную статистику показов по фразе в нужной форме или с определенным порядком слов. Использование операторов доступно в разделах «По словам» и «По регионам».</a:t>
            </a:r>
            <a:endParaRPr lang="ru-RU" dirty="0">
              <a:latin typeface="Times New Roman" pitchFamily="18" charset="0"/>
              <a:cs typeface="Times New Roman" pitchFamily="18" charset="0"/>
            </a:endParaRPr>
          </a:p>
        </p:txBody>
      </p:sp>
      <p:pic>
        <p:nvPicPr>
          <p:cNvPr id="1028" name="Picture 4"/>
          <p:cNvPicPr>
            <a:picLocks noChangeAspect="1" noChangeArrowheads="1"/>
          </p:cNvPicPr>
          <p:nvPr/>
        </p:nvPicPr>
        <p:blipFill>
          <a:blip r:embed="rId3"/>
          <a:srcRect/>
          <a:stretch>
            <a:fillRect/>
          </a:stretch>
        </p:blipFill>
        <p:spPr bwMode="auto">
          <a:xfrm>
            <a:off x="1857356" y="1785926"/>
            <a:ext cx="2403907" cy="1500198"/>
          </a:xfrm>
          <a:prstGeom prst="rect">
            <a:avLst/>
          </a:prstGeom>
          <a:noFill/>
          <a:ln w="9525">
            <a:noFill/>
            <a:miter lim="800000"/>
            <a:headEnd/>
            <a:tailEnd/>
          </a:ln>
          <a:effectLst/>
        </p:spPr>
      </p:pic>
      <p:pic>
        <p:nvPicPr>
          <p:cNvPr id="12" name="Picture 5"/>
          <p:cNvPicPr>
            <a:picLocks noChangeAspect="1" noChangeArrowheads="1"/>
          </p:cNvPicPr>
          <p:nvPr/>
        </p:nvPicPr>
        <p:blipFill>
          <a:blip r:embed="rId4"/>
          <a:srcRect/>
          <a:stretch>
            <a:fillRect/>
          </a:stretch>
        </p:blipFill>
        <p:spPr bwMode="auto">
          <a:xfrm>
            <a:off x="4286248" y="1785926"/>
            <a:ext cx="2428892" cy="150625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sz="3200" b="1" dirty="0" err="1" smtClean="0">
                <a:latin typeface="Cambria" pitchFamily="18" charset="0"/>
              </a:rPr>
              <a:t>Яндекс</a:t>
            </a:r>
            <a:r>
              <a:rPr lang="ru-RU" sz="3200" b="1" dirty="0" smtClean="0">
                <a:latin typeface="Cambria" pitchFamily="18" charset="0"/>
              </a:rPr>
              <a:t> </a:t>
            </a:r>
            <a:r>
              <a:rPr lang="ru-RU" sz="3200" b="1" dirty="0" err="1" smtClean="0">
                <a:latin typeface="Cambria" pitchFamily="18" charset="0"/>
              </a:rPr>
              <a:t>Вордстат</a:t>
            </a:r>
            <a:r>
              <a:rPr lang="en-US" sz="3200" b="1" dirty="0" smtClean="0">
                <a:latin typeface="Cambria" pitchFamily="18" charset="0"/>
              </a:rPr>
              <a:t>: </a:t>
            </a:r>
            <a:r>
              <a:rPr lang="ru-RU" sz="3200" b="1" dirty="0" smtClean="0">
                <a:latin typeface="Cambria" pitchFamily="18" charset="0"/>
              </a:rPr>
              <a:t>Операторы поиска</a:t>
            </a:r>
            <a:endParaRPr lang="ru-RU" sz="3200" b="1" dirty="0">
              <a:latin typeface="Cambria" pitchFamily="18" charset="0"/>
            </a:endParaRPr>
          </a:p>
        </p:txBody>
      </p:sp>
      <p:pic>
        <p:nvPicPr>
          <p:cNvPr id="1027" name="Picture 3"/>
          <p:cNvPicPr>
            <a:picLocks noChangeAspect="1" noChangeArrowheads="1"/>
          </p:cNvPicPr>
          <p:nvPr/>
        </p:nvPicPr>
        <p:blipFill>
          <a:blip r:embed="rId2"/>
          <a:srcRect/>
          <a:stretch>
            <a:fillRect/>
          </a:stretch>
        </p:blipFill>
        <p:spPr bwMode="auto">
          <a:xfrm>
            <a:off x="2093629" y="2357430"/>
            <a:ext cx="4478635" cy="3752848"/>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6701328" y="4143380"/>
            <a:ext cx="2442672" cy="2143140"/>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0" y="4500570"/>
            <a:ext cx="2166894" cy="1564814"/>
          </a:xfrm>
          <a:prstGeom prst="rect">
            <a:avLst/>
          </a:prstGeom>
          <a:noFill/>
          <a:ln w="9525">
            <a:noFill/>
            <a:miter lim="800000"/>
            <a:headEnd/>
            <a:tailEnd/>
          </a:ln>
          <a:effectLst/>
        </p:spPr>
      </p:pic>
      <p:pic>
        <p:nvPicPr>
          <p:cNvPr id="2053" name="Picture 5"/>
          <p:cNvPicPr>
            <a:picLocks noChangeAspect="1" noChangeArrowheads="1"/>
          </p:cNvPicPr>
          <p:nvPr/>
        </p:nvPicPr>
        <p:blipFill>
          <a:blip r:embed="rId5"/>
          <a:srcRect/>
          <a:stretch>
            <a:fillRect/>
          </a:stretch>
        </p:blipFill>
        <p:spPr bwMode="auto">
          <a:xfrm>
            <a:off x="3214678" y="928670"/>
            <a:ext cx="2434496" cy="157163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sz="3200" b="1" dirty="0" smtClean="0">
                <a:latin typeface="Cambria" pitchFamily="18" charset="0"/>
              </a:rPr>
              <a:t>Поисковая реклама</a:t>
            </a:r>
            <a:endParaRPr lang="ru-RU" sz="3200" b="1" dirty="0">
              <a:latin typeface="Cambria" pitchFamily="18" charset="0"/>
            </a:endParaRPr>
          </a:p>
        </p:txBody>
      </p:sp>
      <p:sp>
        <p:nvSpPr>
          <p:cNvPr id="4" name="Прямоугольник 3"/>
          <p:cNvSpPr/>
          <p:nvPr/>
        </p:nvSpPr>
        <p:spPr>
          <a:xfrm>
            <a:off x="0" y="1071546"/>
            <a:ext cx="9144000" cy="1446550"/>
          </a:xfrm>
          <a:prstGeom prst="rect">
            <a:avLst/>
          </a:prstGeom>
        </p:spPr>
        <p:txBody>
          <a:bodyPr wrap="square">
            <a:spAutoFit/>
          </a:bodyPr>
          <a:lstStyle/>
          <a:p>
            <a:pPr algn="just" fontAlgn="base"/>
            <a:r>
              <a:rPr lang="ru-RU" sz="2200" b="1" dirty="0" smtClean="0">
                <a:latin typeface="Times New Roman" pitchFamily="18" charset="0"/>
                <a:cs typeface="Times New Roman" pitchFamily="18" charset="0"/>
              </a:rPr>
              <a:t>Поисковая реклама </a:t>
            </a:r>
            <a:r>
              <a:rPr lang="ru-RU" sz="2200" dirty="0" smtClean="0">
                <a:latin typeface="Times New Roman" pitchFamily="18" charset="0"/>
                <a:cs typeface="Times New Roman" pitchFamily="18" charset="0"/>
              </a:rPr>
              <a:t>— это объявления, которые пользователь видит, когда ищет что-то в </a:t>
            </a:r>
            <a:r>
              <a:rPr lang="ru-RU" sz="2200" dirty="0" err="1" smtClean="0">
                <a:latin typeface="Times New Roman" pitchFamily="18" charset="0"/>
                <a:cs typeface="Times New Roman" pitchFamily="18" charset="0"/>
              </a:rPr>
              <a:t>Яндексе</a:t>
            </a:r>
            <a:r>
              <a:rPr lang="ru-RU" sz="2200" dirty="0" smtClean="0">
                <a:latin typeface="Times New Roman" pitchFamily="18" charset="0"/>
                <a:cs typeface="Times New Roman" pitchFamily="18" charset="0"/>
              </a:rPr>
              <a:t>, </a:t>
            </a:r>
            <a:r>
              <a:rPr lang="ru-RU" sz="2200" dirty="0" err="1" smtClean="0">
                <a:latin typeface="Times New Roman" pitchFamily="18" charset="0"/>
                <a:cs typeface="Times New Roman" pitchFamily="18" charset="0"/>
              </a:rPr>
              <a:t>Гугле</a:t>
            </a:r>
            <a:r>
              <a:rPr lang="en-US" sz="2200"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или любой другой поисковой системе. Обычно она выглядит как результаты запросов и размещается в верхней и нижней частях выдачи</a:t>
            </a:r>
            <a:r>
              <a:rPr lang="en-US" sz="2200" dirty="0" smtClean="0">
                <a:latin typeface="Times New Roman" pitchFamily="18" charset="0"/>
                <a:cs typeface="Times New Roman" pitchFamily="18" charset="0"/>
              </a:rPr>
              <a:t>.</a:t>
            </a:r>
          </a:p>
        </p:txBody>
      </p:sp>
      <p:pic>
        <p:nvPicPr>
          <p:cNvPr id="1026" name="Picture 2" descr="https://static.tildacdn.com/tild6334-6661-4636-b066-393262346163/Screen_Shot_2021-02-.png"/>
          <p:cNvPicPr>
            <a:picLocks noChangeAspect="1" noChangeArrowheads="1"/>
          </p:cNvPicPr>
          <p:nvPr/>
        </p:nvPicPr>
        <p:blipFill>
          <a:blip r:embed="rId2" cstate="print"/>
          <a:srcRect/>
          <a:stretch>
            <a:fillRect/>
          </a:stretch>
        </p:blipFill>
        <p:spPr bwMode="auto">
          <a:xfrm>
            <a:off x="3500430" y="2571744"/>
            <a:ext cx="5826011" cy="3571900"/>
          </a:xfrm>
          <a:prstGeom prst="rect">
            <a:avLst/>
          </a:prstGeom>
          <a:noFill/>
        </p:spPr>
      </p:pic>
      <p:sp>
        <p:nvSpPr>
          <p:cNvPr id="5" name="Прямоугольник 4"/>
          <p:cNvSpPr/>
          <p:nvPr/>
        </p:nvSpPr>
        <p:spPr>
          <a:xfrm>
            <a:off x="0" y="2571745"/>
            <a:ext cx="3714744" cy="3816429"/>
          </a:xfrm>
          <a:prstGeom prst="rect">
            <a:avLst/>
          </a:prstGeom>
        </p:spPr>
        <p:txBody>
          <a:bodyPr wrap="square">
            <a:spAutoFit/>
          </a:bodyPr>
          <a:lstStyle/>
          <a:p>
            <a:pPr algn="just" fontAlgn="base"/>
            <a:r>
              <a:rPr lang="ru-RU" sz="2200" b="1" dirty="0" smtClean="0">
                <a:latin typeface="Times New Roman" pitchFamily="18" charset="0"/>
                <a:cs typeface="Times New Roman" pitchFamily="18" charset="0"/>
              </a:rPr>
              <a:t>Она работает так:</a:t>
            </a:r>
          </a:p>
          <a:p>
            <a:pPr algn="just" fontAlgn="base"/>
            <a:r>
              <a:rPr lang="ru-RU" sz="2200" dirty="0" smtClean="0">
                <a:latin typeface="Times New Roman" pitchFamily="18" charset="0"/>
                <a:cs typeface="Times New Roman" pitchFamily="18" charset="0"/>
              </a:rPr>
              <a:t>1</a:t>
            </a:r>
            <a:r>
              <a:rPr lang="en-US" sz="2200"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Рекламодатель собирает список запросов, по которым хочет показать свои рекламные объявления.</a:t>
            </a:r>
          </a:p>
          <a:p>
            <a:pPr algn="just" fontAlgn="base"/>
            <a:r>
              <a:rPr lang="ru-RU" sz="2200" dirty="0" smtClean="0">
                <a:latin typeface="Times New Roman" pitchFamily="18" charset="0"/>
                <a:cs typeface="Times New Roman" pitchFamily="18" charset="0"/>
              </a:rPr>
              <a:t>2</a:t>
            </a:r>
            <a:r>
              <a:rPr lang="en-US" sz="2200"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Под запросы он создаёт объявления, описывает товар или услугу.</a:t>
            </a:r>
          </a:p>
          <a:p>
            <a:pPr algn="just" fontAlgn="base"/>
            <a:r>
              <a:rPr lang="ru-RU" sz="2200" dirty="0" smtClean="0">
                <a:latin typeface="Times New Roman" pitchFamily="18" charset="0"/>
                <a:cs typeface="Times New Roman" pitchFamily="18" charset="0"/>
              </a:rPr>
              <a:t>3</a:t>
            </a:r>
            <a:r>
              <a:rPr lang="en-US" sz="2200" dirty="0" smtClean="0">
                <a:latin typeface="Times New Roman" pitchFamily="18" charset="0"/>
                <a:cs typeface="Times New Roman" pitchFamily="18" charset="0"/>
              </a:rPr>
              <a:t>) </a:t>
            </a:r>
            <a:r>
              <a:rPr lang="ru-RU" sz="2200" dirty="0" smtClean="0">
                <a:latin typeface="Times New Roman" pitchFamily="18" charset="0"/>
                <a:cs typeface="Times New Roman" pitchFamily="18" charset="0"/>
              </a:rPr>
              <a:t>Когда пользователь вводит запрос, он видит объявления, которые под него подходят.</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0034" y="0"/>
            <a:ext cx="8229600" cy="1143000"/>
          </a:xfrm>
        </p:spPr>
        <p:txBody>
          <a:bodyPr>
            <a:normAutofit/>
          </a:bodyPr>
          <a:lstStyle/>
          <a:p>
            <a:r>
              <a:rPr lang="ru-RU" sz="3200" b="1" dirty="0" err="1" smtClean="0">
                <a:latin typeface="Cambria" pitchFamily="18" charset="0"/>
              </a:rPr>
              <a:t>Offer</a:t>
            </a:r>
            <a:r>
              <a:rPr lang="ru-RU" sz="3200" b="1" dirty="0" smtClean="0">
                <a:latin typeface="Cambria" pitchFamily="18" charset="0"/>
              </a:rPr>
              <a:t> </a:t>
            </a:r>
            <a:r>
              <a:rPr lang="ru-RU" sz="3200" b="1" dirty="0" err="1" smtClean="0">
                <a:latin typeface="Cambria" pitchFamily="18" charset="0"/>
              </a:rPr>
              <a:t>Deadline</a:t>
            </a:r>
            <a:r>
              <a:rPr lang="ru-RU" sz="3200" b="1" dirty="0" smtClean="0">
                <a:latin typeface="Cambria" pitchFamily="18" charset="0"/>
              </a:rPr>
              <a:t> </a:t>
            </a:r>
            <a:r>
              <a:rPr lang="ru-RU" sz="3200" b="1" dirty="0" err="1" smtClean="0">
                <a:latin typeface="Cambria" pitchFamily="18" charset="0"/>
              </a:rPr>
              <a:t>Call</a:t>
            </a:r>
            <a:r>
              <a:rPr lang="ru-RU" sz="3200" b="1" dirty="0" smtClean="0">
                <a:latin typeface="Cambria" pitchFamily="18" charset="0"/>
              </a:rPr>
              <a:t> </a:t>
            </a:r>
            <a:r>
              <a:rPr lang="ru-RU" sz="3200" b="1" dirty="0" err="1" smtClean="0">
                <a:latin typeface="Cambria" pitchFamily="18" charset="0"/>
              </a:rPr>
              <a:t>to</a:t>
            </a:r>
            <a:r>
              <a:rPr lang="ru-RU" sz="3200" b="1" dirty="0" smtClean="0">
                <a:latin typeface="Cambria" pitchFamily="18" charset="0"/>
              </a:rPr>
              <a:t> </a:t>
            </a:r>
            <a:r>
              <a:rPr lang="ru-RU" sz="3200" b="1" dirty="0" err="1" smtClean="0">
                <a:latin typeface="Cambria" pitchFamily="18" charset="0"/>
              </a:rPr>
              <a:t>action</a:t>
            </a:r>
            <a:endParaRPr lang="ru-RU" sz="3200" b="1" dirty="0"/>
          </a:p>
        </p:txBody>
      </p:sp>
      <p:sp>
        <p:nvSpPr>
          <p:cNvPr id="12" name="Прямоугольник 11"/>
          <p:cNvSpPr/>
          <p:nvPr/>
        </p:nvSpPr>
        <p:spPr>
          <a:xfrm>
            <a:off x="0" y="2214554"/>
            <a:ext cx="9144000" cy="1631216"/>
          </a:xfrm>
          <a:prstGeom prst="rect">
            <a:avLst/>
          </a:prstGeom>
          <a:solidFill>
            <a:schemeClr val="bg2"/>
          </a:solidFill>
          <a:ln>
            <a:solidFill>
              <a:schemeClr val="tx1"/>
            </a:solidFill>
          </a:ln>
        </p:spPr>
        <p:txBody>
          <a:bodyPr wrap="square">
            <a:spAutoFit/>
          </a:bodyPr>
          <a:lstStyle/>
          <a:p>
            <a:pPr algn="just"/>
            <a:r>
              <a:rPr lang="ru-RU" sz="2000" b="1" dirty="0" err="1" smtClean="0">
                <a:latin typeface="Times New Roman" pitchFamily="18" charset="0"/>
                <a:cs typeface="Times New Roman" pitchFamily="18" charset="0"/>
              </a:rPr>
              <a:t>Offer</a:t>
            </a:r>
            <a:r>
              <a:rPr lang="ru-RU" sz="2000" dirty="0" smtClean="0">
                <a:latin typeface="Times New Roman" pitchFamily="18" charset="0"/>
                <a:cs typeface="Times New Roman" pitchFamily="18" charset="0"/>
              </a:rPr>
              <a:t> – это ваше «вкусное» предложение. И это далеко не банальные скидки, которые работают все хуже. Предложение может быть материальным (</a:t>
            </a:r>
            <a:r>
              <a:rPr lang="ru-RU" sz="2000" dirty="0" err="1" smtClean="0">
                <a:latin typeface="Times New Roman" pitchFamily="18" charset="0"/>
                <a:cs typeface="Times New Roman" pitchFamily="18" charset="0"/>
              </a:rPr>
              <a:t>флешка</a:t>
            </a:r>
            <a:r>
              <a:rPr lang="ru-RU" sz="2000" dirty="0" smtClean="0">
                <a:latin typeface="Times New Roman" pitchFamily="18" charset="0"/>
                <a:cs typeface="Times New Roman" pitchFamily="18" charset="0"/>
              </a:rPr>
              <a:t> в подарок) или нематериальным (бесплатная доставка) стимулом к покупке. Или в виде предоставления скидки после выполнения условий («купи три – четвертый в подарок»). Фактически это причина купить именно у вас. </a:t>
            </a:r>
          </a:p>
        </p:txBody>
      </p:sp>
      <p:sp>
        <p:nvSpPr>
          <p:cNvPr id="14" name="Прямоугольник 13"/>
          <p:cNvSpPr/>
          <p:nvPr/>
        </p:nvSpPr>
        <p:spPr>
          <a:xfrm>
            <a:off x="0" y="4000504"/>
            <a:ext cx="9144000" cy="1631216"/>
          </a:xfrm>
          <a:prstGeom prst="rect">
            <a:avLst/>
          </a:prstGeom>
          <a:solidFill>
            <a:schemeClr val="bg2"/>
          </a:solidFill>
          <a:ln>
            <a:solidFill>
              <a:schemeClr val="tx1"/>
            </a:solidFill>
          </a:ln>
        </p:spPr>
        <p:txBody>
          <a:bodyPr wrap="square">
            <a:spAutoFit/>
          </a:bodyPr>
          <a:lstStyle/>
          <a:p>
            <a:pPr algn="just"/>
            <a:r>
              <a:rPr lang="ru-RU" sz="2000" b="1" dirty="0" err="1" smtClean="0">
                <a:latin typeface="Times New Roman" pitchFamily="18" charset="0"/>
                <a:cs typeface="Times New Roman" pitchFamily="18" charset="0"/>
              </a:rPr>
              <a:t>Deadline</a:t>
            </a:r>
            <a:r>
              <a:rPr lang="ru-RU" sz="2000" b="1" dirty="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a:t>
            </a:r>
            <a:r>
              <a:rPr lang="ru-RU" sz="2000" b="1" dirty="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это ограничитель. Давно замечено, что без ограничителя реклама не так эффективная. Ограничивать можно по времени («до завтрашнего утра»), по количеству («только первые пять заказов») или комбинированным способом («первые пять заказов до завтрашнего утра»). Это веская причина купить у вас прямо сейчас. </a:t>
            </a:r>
          </a:p>
        </p:txBody>
      </p:sp>
      <p:sp>
        <p:nvSpPr>
          <p:cNvPr id="16" name="Прямоугольник 15"/>
          <p:cNvSpPr/>
          <p:nvPr/>
        </p:nvSpPr>
        <p:spPr>
          <a:xfrm>
            <a:off x="0" y="5786454"/>
            <a:ext cx="9144000" cy="707886"/>
          </a:xfrm>
          <a:prstGeom prst="rect">
            <a:avLst/>
          </a:prstGeom>
          <a:solidFill>
            <a:schemeClr val="bg2"/>
          </a:solidFill>
          <a:ln>
            <a:solidFill>
              <a:schemeClr val="tx1"/>
            </a:solidFill>
          </a:ln>
        </p:spPr>
        <p:txBody>
          <a:bodyPr wrap="square">
            <a:spAutoFit/>
          </a:bodyPr>
          <a:lstStyle/>
          <a:p>
            <a:pPr algn="just"/>
            <a:r>
              <a:rPr lang="ru-RU" sz="2000" b="1" dirty="0" err="1" smtClean="0">
                <a:latin typeface="Times New Roman" pitchFamily="18" charset="0"/>
                <a:cs typeface="Times New Roman" pitchFamily="18" charset="0"/>
              </a:rPr>
              <a:t>Call-to-action</a:t>
            </a:r>
            <a:r>
              <a:rPr lang="ru-RU" sz="2000" b="1" dirty="0" smtClean="0">
                <a:latin typeface="Times New Roman" pitchFamily="18" charset="0"/>
                <a:cs typeface="Times New Roman" pitchFamily="18" charset="0"/>
              </a:rPr>
              <a:t> </a:t>
            </a:r>
            <a:r>
              <a:rPr lang="ru-RU" sz="2000" dirty="0" smtClean="0">
                <a:latin typeface="Times New Roman" pitchFamily="18" charset="0"/>
                <a:cs typeface="Times New Roman" pitchFamily="18" charset="0"/>
              </a:rPr>
              <a:t>– дословно это призыв к действию: «купи!», «зайди!». Все это, как ни странно, работает и существенно повышает отклик на рекламу.</a:t>
            </a:r>
          </a:p>
        </p:txBody>
      </p:sp>
      <p:sp>
        <p:nvSpPr>
          <p:cNvPr id="17" name="Прямоугольник 16"/>
          <p:cNvSpPr/>
          <p:nvPr/>
        </p:nvSpPr>
        <p:spPr>
          <a:xfrm>
            <a:off x="0" y="928670"/>
            <a:ext cx="9144000" cy="1015663"/>
          </a:xfrm>
          <a:prstGeom prst="rect">
            <a:avLst/>
          </a:prstGeom>
          <a:solidFill>
            <a:schemeClr val="tx2">
              <a:lumMod val="20000"/>
              <a:lumOff val="80000"/>
            </a:schemeClr>
          </a:solidFill>
          <a:ln>
            <a:solidFill>
              <a:schemeClr val="tx1"/>
            </a:solidFill>
          </a:ln>
        </p:spPr>
        <p:txBody>
          <a:bodyPr wrap="square">
            <a:spAutoFit/>
          </a:bodyPr>
          <a:lstStyle/>
          <a:p>
            <a:pPr algn="just" fontAlgn="base"/>
            <a:r>
              <a:rPr lang="ru-RU" sz="2000" b="1" dirty="0" smtClean="0">
                <a:latin typeface="Times New Roman" pitchFamily="18" charset="0"/>
                <a:cs typeface="Times New Roman" pitchFamily="18" charset="0"/>
              </a:rPr>
              <a:t>Принцип ODC (</a:t>
            </a:r>
            <a:r>
              <a:rPr lang="ru-RU" sz="2000" b="1" dirty="0" err="1" smtClean="0">
                <a:latin typeface="Times New Roman" pitchFamily="18" charset="0"/>
                <a:cs typeface="Times New Roman" pitchFamily="18" charset="0"/>
              </a:rPr>
              <a:t>Offer</a:t>
            </a:r>
            <a:r>
              <a:rPr lang="ru-RU" sz="2000" b="1" dirty="0" smtClean="0">
                <a:latin typeface="Times New Roman" pitchFamily="18" charset="0"/>
                <a:cs typeface="Times New Roman" pitchFamily="18" charset="0"/>
              </a:rPr>
              <a:t>, </a:t>
            </a:r>
            <a:r>
              <a:rPr lang="ru-RU" sz="2000" b="1" dirty="0" err="1" smtClean="0">
                <a:latin typeface="Times New Roman" pitchFamily="18" charset="0"/>
                <a:cs typeface="Times New Roman" pitchFamily="18" charset="0"/>
              </a:rPr>
              <a:t>Deadline</a:t>
            </a:r>
            <a:r>
              <a:rPr lang="ru-RU" sz="2000" b="1" dirty="0" smtClean="0">
                <a:latin typeface="Times New Roman" pitchFamily="18" charset="0"/>
                <a:cs typeface="Times New Roman" pitchFamily="18" charset="0"/>
              </a:rPr>
              <a:t>, </a:t>
            </a:r>
            <a:r>
              <a:rPr lang="ru-RU" sz="2000" b="1" dirty="0" err="1" smtClean="0">
                <a:latin typeface="Times New Roman" pitchFamily="18" charset="0"/>
                <a:cs typeface="Times New Roman" pitchFamily="18" charset="0"/>
              </a:rPr>
              <a:t>Call</a:t>
            </a:r>
            <a:r>
              <a:rPr lang="ru-RU" sz="2000" b="1" dirty="0" smtClean="0">
                <a:latin typeface="Times New Roman" pitchFamily="18" charset="0"/>
                <a:cs typeface="Times New Roman" pitchFamily="18" charset="0"/>
              </a:rPr>
              <a:t> </a:t>
            </a:r>
            <a:r>
              <a:rPr lang="ru-RU" sz="2000" b="1" dirty="0" err="1" smtClean="0">
                <a:latin typeface="Times New Roman" pitchFamily="18" charset="0"/>
                <a:cs typeface="Times New Roman" pitchFamily="18" charset="0"/>
              </a:rPr>
              <a:t>to</a:t>
            </a:r>
            <a:r>
              <a:rPr lang="ru-RU" sz="2000" b="1" dirty="0" smtClean="0">
                <a:latin typeface="Times New Roman" pitchFamily="18" charset="0"/>
                <a:cs typeface="Times New Roman" pitchFamily="18" charset="0"/>
              </a:rPr>
              <a:t> </a:t>
            </a:r>
            <a:r>
              <a:rPr lang="ru-RU" sz="2000" b="1" dirty="0" err="1" smtClean="0">
                <a:latin typeface="Times New Roman" pitchFamily="18" charset="0"/>
                <a:cs typeface="Times New Roman" pitchFamily="18" charset="0"/>
              </a:rPr>
              <a:t>Action</a:t>
            </a:r>
            <a:r>
              <a:rPr lang="ru-RU" sz="2000" b="1" dirty="0" smtClean="0">
                <a:latin typeface="Times New Roman" pitchFamily="18" charset="0"/>
                <a:cs typeface="Times New Roman" pitchFamily="18" charset="0"/>
              </a:rPr>
              <a:t>) - </a:t>
            </a:r>
            <a:r>
              <a:rPr lang="ru-RU" sz="2000" dirty="0" smtClean="0">
                <a:latin typeface="Times New Roman" pitchFamily="18" charset="0"/>
                <a:cs typeface="Times New Roman" pitchFamily="18" charset="0"/>
              </a:rPr>
              <a:t>это метод создания рекламных объявлений, который включает в себя предложение (</a:t>
            </a:r>
            <a:r>
              <a:rPr lang="ru-RU" sz="2000" dirty="0" err="1" smtClean="0">
                <a:latin typeface="Times New Roman" pitchFamily="18" charset="0"/>
                <a:cs typeface="Times New Roman" pitchFamily="18" charset="0"/>
              </a:rPr>
              <a:t>offer</a:t>
            </a:r>
            <a:r>
              <a:rPr lang="ru-RU" sz="2000" dirty="0" smtClean="0">
                <a:latin typeface="Times New Roman" pitchFamily="18" charset="0"/>
                <a:cs typeface="Times New Roman" pitchFamily="18" charset="0"/>
              </a:rPr>
              <a:t>), ограничение по времени (</a:t>
            </a:r>
            <a:r>
              <a:rPr lang="ru-RU" sz="2000" dirty="0" err="1" smtClean="0">
                <a:latin typeface="Times New Roman" pitchFamily="18" charset="0"/>
                <a:cs typeface="Times New Roman" pitchFamily="18" charset="0"/>
              </a:rPr>
              <a:t>deadline</a:t>
            </a:r>
            <a:r>
              <a:rPr lang="ru-RU" sz="2000" dirty="0" smtClean="0">
                <a:latin typeface="Times New Roman" pitchFamily="18" charset="0"/>
                <a:cs typeface="Times New Roman" pitchFamily="18" charset="0"/>
              </a:rPr>
              <a:t>) и призыв к действию (</a:t>
            </a:r>
            <a:r>
              <a:rPr lang="ru-RU" sz="2000" dirty="0" err="1" smtClean="0">
                <a:latin typeface="Times New Roman" pitchFamily="18" charset="0"/>
                <a:cs typeface="Times New Roman" pitchFamily="18" charset="0"/>
              </a:rPr>
              <a:t>call</a:t>
            </a:r>
            <a:r>
              <a:rPr lang="ru-RU" sz="2000" dirty="0" smtClean="0">
                <a:latin typeface="Times New Roman" pitchFamily="18" charset="0"/>
                <a:cs typeface="Times New Roman" pitchFamily="18" charset="0"/>
              </a:rPr>
              <a:t> </a:t>
            </a:r>
            <a:r>
              <a:rPr lang="ru-RU" sz="2000" dirty="0" err="1" smtClean="0">
                <a:latin typeface="Times New Roman" pitchFamily="18" charset="0"/>
                <a:cs typeface="Times New Roman" pitchFamily="18" charset="0"/>
              </a:rPr>
              <a:t>to</a:t>
            </a:r>
            <a:r>
              <a:rPr lang="ru-RU" sz="2000" dirty="0" smtClean="0">
                <a:latin typeface="Times New Roman" pitchFamily="18" charset="0"/>
                <a:cs typeface="Times New Roman" pitchFamily="18" charset="0"/>
              </a:rPr>
              <a:t> </a:t>
            </a:r>
            <a:r>
              <a:rPr lang="ru-RU" sz="2000" dirty="0" err="1" smtClean="0">
                <a:latin typeface="Times New Roman" pitchFamily="18" charset="0"/>
                <a:cs typeface="Times New Roman" pitchFamily="18" charset="0"/>
              </a:rPr>
              <a:t>action</a:t>
            </a:r>
            <a:r>
              <a:rPr lang="ru-RU" sz="2000"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b="1" dirty="0" err="1" smtClean="0">
                <a:latin typeface="Cambria" pitchFamily="18" charset="0"/>
              </a:rPr>
              <a:t>Offer</a:t>
            </a:r>
            <a:r>
              <a:rPr lang="ru-RU" sz="3200" b="1" dirty="0" smtClean="0">
                <a:latin typeface="Cambria" pitchFamily="18" charset="0"/>
              </a:rPr>
              <a:t> </a:t>
            </a:r>
            <a:r>
              <a:rPr lang="ru-RU" sz="3200" b="1" dirty="0" err="1" smtClean="0">
                <a:latin typeface="Cambria" pitchFamily="18" charset="0"/>
              </a:rPr>
              <a:t>Deadline</a:t>
            </a:r>
            <a:r>
              <a:rPr lang="ru-RU" sz="3200" b="1" dirty="0" smtClean="0">
                <a:latin typeface="Cambria" pitchFamily="18" charset="0"/>
              </a:rPr>
              <a:t> </a:t>
            </a:r>
            <a:r>
              <a:rPr lang="ru-RU" sz="3200" b="1" dirty="0" err="1" smtClean="0">
                <a:latin typeface="Cambria" pitchFamily="18" charset="0"/>
              </a:rPr>
              <a:t>Call</a:t>
            </a:r>
            <a:r>
              <a:rPr lang="ru-RU" sz="3200" b="1" dirty="0" smtClean="0">
                <a:latin typeface="Cambria" pitchFamily="18" charset="0"/>
              </a:rPr>
              <a:t> </a:t>
            </a:r>
            <a:r>
              <a:rPr lang="ru-RU" sz="3200" b="1" dirty="0" err="1" smtClean="0">
                <a:latin typeface="Cambria" pitchFamily="18" charset="0"/>
              </a:rPr>
              <a:t>to</a:t>
            </a:r>
            <a:r>
              <a:rPr lang="ru-RU" sz="3200" b="1" dirty="0" smtClean="0">
                <a:latin typeface="Cambria" pitchFamily="18" charset="0"/>
              </a:rPr>
              <a:t> </a:t>
            </a:r>
            <a:r>
              <a:rPr lang="ru-RU" sz="3200" b="1" dirty="0" err="1" smtClean="0">
                <a:latin typeface="Cambria" pitchFamily="18" charset="0"/>
              </a:rPr>
              <a:t>action</a:t>
            </a:r>
            <a:endParaRPr lang="ru-RU" sz="3200" b="1" dirty="0"/>
          </a:p>
        </p:txBody>
      </p:sp>
      <p:sp>
        <p:nvSpPr>
          <p:cNvPr id="4" name="Прямоугольник 3"/>
          <p:cNvSpPr/>
          <p:nvPr/>
        </p:nvSpPr>
        <p:spPr>
          <a:xfrm>
            <a:off x="0" y="1500174"/>
            <a:ext cx="9144000" cy="2369880"/>
          </a:xfrm>
          <a:prstGeom prst="rect">
            <a:avLst/>
          </a:prstGeom>
        </p:spPr>
        <p:txBody>
          <a:bodyPr wrap="square">
            <a:spAutoFit/>
          </a:bodyPr>
          <a:lstStyle/>
          <a:p>
            <a:pPr algn="just" fontAlgn="base"/>
            <a:r>
              <a:rPr lang="ru-RU" sz="2200" dirty="0" smtClean="0">
                <a:latin typeface="Times New Roman" pitchFamily="18" charset="0"/>
                <a:cs typeface="Times New Roman" pitchFamily="18" charset="0"/>
              </a:rPr>
              <a:t>Пример объявления, использующего принцип ODC:  </a:t>
            </a:r>
            <a:endParaRPr lang="en-US" sz="2200" dirty="0" smtClean="0">
              <a:latin typeface="Times New Roman" pitchFamily="18" charset="0"/>
              <a:cs typeface="Times New Roman" pitchFamily="18" charset="0"/>
            </a:endParaRPr>
          </a:p>
          <a:p>
            <a:pPr algn="just" fontAlgn="base"/>
            <a:endParaRPr lang="ru-RU" sz="1900" b="1" dirty="0" smtClean="0">
              <a:latin typeface="Times New Roman" pitchFamily="18" charset="0"/>
              <a:cs typeface="Times New Roman" pitchFamily="18" charset="0"/>
            </a:endParaRPr>
          </a:p>
          <a:p>
            <a:pPr algn="ctr" fontAlgn="base"/>
            <a:r>
              <a:rPr lang="ru-RU" sz="1900" b="1" dirty="0" smtClean="0">
                <a:latin typeface="Times New Roman" pitchFamily="18" charset="0"/>
                <a:cs typeface="Times New Roman" pitchFamily="18" charset="0"/>
              </a:rPr>
              <a:t>Ночью </a:t>
            </a:r>
            <a:r>
              <a:rPr lang="ru-RU" sz="1900" b="1" dirty="0" err="1" smtClean="0">
                <a:latin typeface="Times New Roman" pitchFamily="18" charset="0"/>
                <a:cs typeface="Times New Roman" pitchFamily="18" charset="0"/>
              </a:rPr>
              <a:t>iPhone</a:t>
            </a:r>
            <a:r>
              <a:rPr lang="ru-RU" sz="1900" b="1" dirty="0" smtClean="0">
                <a:latin typeface="Times New Roman" pitchFamily="18" charset="0"/>
                <a:cs typeface="Times New Roman" pitchFamily="18" charset="0"/>
              </a:rPr>
              <a:t> 5 дешевле! При заказе сейчас бесплатная доставка утром. Оцени!</a:t>
            </a:r>
          </a:p>
          <a:p>
            <a:pPr algn="just" fontAlgn="base"/>
            <a:endParaRPr lang="en-US" sz="2200" dirty="0" smtClean="0">
              <a:latin typeface="Times New Roman" pitchFamily="18" charset="0"/>
              <a:cs typeface="Times New Roman" pitchFamily="18" charset="0"/>
            </a:endParaRPr>
          </a:p>
          <a:p>
            <a:pPr algn="just" fontAlgn="base"/>
            <a:endParaRPr lang="en-US" sz="2200" dirty="0" smtClean="0">
              <a:latin typeface="Times New Roman" pitchFamily="18" charset="0"/>
              <a:cs typeface="Times New Roman" pitchFamily="18" charset="0"/>
            </a:endParaRPr>
          </a:p>
          <a:p>
            <a:pPr algn="just" fontAlgn="base"/>
            <a:endParaRPr lang="en-US" sz="2200" dirty="0" smtClean="0">
              <a:latin typeface="Times New Roman" pitchFamily="18" charset="0"/>
              <a:cs typeface="Times New Roman" pitchFamily="18" charset="0"/>
            </a:endParaRPr>
          </a:p>
          <a:p>
            <a:pPr algn="just" fontAlgn="base"/>
            <a:endParaRPr lang="ru-RU" sz="2200" dirty="0">
              <a:latin typeface="Times New Roman" pitchFamily="18" charset="0"/>
              <a:cs typeface="Times New Roman" pitchFamily="18" charset="0"/>
            </a:endParaRPr>
          </a:p>
        </p:txBody>
      </p:sp>
      <p:sp>
        <p:nvSpPr>
          <p:cNvPr id="5" name="Скругленный прямоугольник 4"/>
          <p:cNvSpPr/>
          <p:nvPr/>
        </p:nvSpPr>
        <p:spPr>
          <a:xfrm>
            <a:off x="857224" y="3714752"/>
            <a:ext cx="2000264" cy="12858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Offer (</a:t>
            </a:r>
            <a:r>
              <a:rPr lang="ru-RU" dirty="0" smtClean="0"/>
              <a:t>Предложение</a:t>
            </a:r>
            <a:r>
              <a:rPr lang="en-US" dirty="0" smtClean="0"/>
              <a:t>)</a:t>
            </a:r>
            <a:endParaRPr lang="ru-RU" dirty="0"/>
          </a:p>
        </p:txBody>
      </p:sp>
      <p:sp>
        <p:nvSpPr>
          <p:cNvPr id="6" name="Скругленный прямоугольник 5"/>
          <p:cNvSpPr/>
          <p:nvPr/>
        </p:nvSpPr>
        <p:spPr>
          <a:xfrm>
            <a:off x="3571868" y="3714752"/>
            <a:ext cx="2000264" cy="12858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Deadline</a:t>
            </a:r>
            <a:r>
              <a:rPr lang="ru-RU" dirty="0" smtClean="0"/>
              <a:t> </a:t>
            </a:r>
            <a:r>
              <a:rPr lang="en-US" dirty="0" smtClean="0"/>
              <a:t>(</a:t>
            </a:r>
            <a:r>
              <a:rPr lang="ru-RU" dirty="0" smtClean="0"/>
              <a:t>ограничение</a:t>
            </a:r>
            <a:r>
              <a:rPr lang="en-US" dirty="0" smtClean="0"/>
              <a:t>)</a:t>
            </a:r>
            <a:endParaRPr lang="ru-RU" dirty="0"/>
          </a:p>
        </p:txBody>
      </p:sp>
      <p:sp>
        <p:nvSpPr>
          <p:cNvPr id="7" name="Скругленный прямоугольник 6"/>
          <p:cNvSpPr/>
          <p:nvPr/>
        </p:nvSpPr>
        <p:spPr>
          <a:xfrm>
            <a:off x="6215074" y="3714752"/>
            <a:ext cx="2000264" cy="12858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err="1" smtClean="0">
                <a:latin typeface="Times New Roman" pitchFamily="18" charset="0"/>
                <a:cs typeface="Times New Roman" pitchFamily="18" charset="0"/>
              </a:rPr>
              <a:t>Call-to-action</a:t>
            </a:r>
            <a:endParaRPr lang="ru-RU" dirty="0" smtClean="0">
              <a:latin typeface="Times New Roman" pitchFamily="18" charset="0"/>
              <a:cs typeface="Times New Roman" pitchFamily="18" charset="0"/>
            </a:endParaRPr>
          </a:p>
          <a:p>
            <a:pPr algn="ctr"/>
            <a:r>
              <a:rPr lang="en-US" dirty="0" smtClean="0"/>
              <a:t>(</a:t>
            </a:r>
            <a:r>
              <a:rPr lang="ru-RU" dirty="0" smtClean="0"/>
              <a:t>призыв к действию</a:t>
            </a:r>
            <a:r>
              <a:rPr lang="en-US" dirty="0" smtClean="0"/>
              <a:t>)</a:t>
            </a:r>
            <a:endParaRPr lang="ru-RU" dirty="0"/>
          </a:p>
        </p:txBody>
      </p:sp>
      <p:cxnSp>
        <p:nvCxnSpPr>
          <p:cNvPr id="9" name="Прямая со стрелкой 8"/>
          <p:cNvCxnSpPr>
            <a:endCxn id="5" idx="0"/>
          </p:cNvCxnSpPr>
          <p:nvPr/>
        </p:nvCxnSpPr>
        <p:spPr>
          <a:xfrm rot="16200000" flipH="1">
            <a:off x="1142976" y="3000372"/>
            <a:ext cx="1214446" cy="21431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p:cNvCxnSpPr>
            <a:endCxn id="6" idx="0"/>
          </p:cNvCxnSpPr>
          <p:nvPr/>
        </p:nvCxnSpPr>
        <p:spPr>
          <a:xfrm rot="5400000">
            <a:off x="4000496" y="3071810"/>
            <a:ext cx="1214446" cy="714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Прямая со стрелкой 12"/>
          <p:cNvCxnSpPr>
            <a:endCxn id="7" idx="0"/>
          </p:cNvCxnSpPr>
          <p:nvPr/>
        </p:nvCxnSpPr>
        <p:spPr>
          <a:xfrm rot="5400000">
            <a:off x="7215206" y="2500306"/>
            <a:ext cx="1214446" cy="121444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399</TotalTime>
  <Words>358</Words>
  <Application>Microsoft Office PowerPoint</Application>
  <PresentationFormat>Экран (4:3)</PresentationFormat>
  <Paragraphs>48</Paragraphs>
  <Slides>9</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9</vt:i4>
      </vt:variant>
    </vt:vector>
  </HeadingPairs>
  <TitlesOfParts>
    <vt:vector size="10" baseType="lpstr">
      <vt:lpstr>Тема Office</vt:lpstr>
      <vt:lpstr>Сервис Wordstat </vt:lpstr>
      <vt:lpstr>Дополнительные материалы</vt:lpstr>
      <vt:lpstr>Яндекс Вордстат</vt:lpstr>
      <vt:lpstr>Яндекс Вордстат</vt:lpstr>
      <vt:lpstr>Яндекс Вордстат: Операторы поиска</vt:lpstr>
      <vt:lpstr>Яндекс Вордстат: Операторы поиска</vt:lpstr>
      <vt:lpstr>Поисковая реклама</vt:lpstr>
      <vt:lpstr>Offer Deadline Call to action</vt:lpstr>
      <vt:lpstr>Offer Deadline Call to action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 Сервис Wordstat</dc:title>
  <dc:creator>user</dc:creator>
  <cp:lastModifiedBy>user</cp:lastModifiedBy>
  <cp:revision>55</cp:revision>
  <dcterms:created xsi:type="dcterms:W3CDTF">2024-02-01T09:49:19Z</dcterms:created>
  <dcterms:modified xsi:type="dcterms:W3CDTF">2025-07-16T11:01:17Z</dcterms:modified>
</cp:coreProperties>
</file>