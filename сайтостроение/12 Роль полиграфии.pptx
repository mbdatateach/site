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6" r:id="rId4"/>
    <p:sldId id="268" r:id="rId5"/>
    <p:sldId id="269" r:id="rId6"/>
    <p:sldId id="270" r:id="rId7"/>
    <p:sldId id="271" r:id="rId8"/>
    <p:sldId id="272" r:id="rId9"/>
    <p:sldId id="273" r:id="rId10"/>
    <p:sldId id="274" r:id="rId11"/>
    <p:sldId id="275" r:id="rId12"/>
    <p:sldId id="276" r:id="rId13"/>
    <p:sldId id="277" r:id="rId14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1E8CF"/>
    <a:srgbClr val="EBDECF"/>
    <a:srgbClr val="EFE4CC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111" d="100"/>
          <a:sy n="111" d="100"/>
        </p:scale>
        <p:origin x="-161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04.12.2025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04.12.2025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04.12.2025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04.12.2025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04.12.2025</a:t>
            </a:fld>
            <a:endParaRPr lang="ru-RU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04.12.2025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04.12.2025</a:t>
            </a:fld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04.12.2025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04.12.2025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04.12.2025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04.12.2025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F7147C-2AAC-473E-AD87-1A0FFEE67DAA}" type="datetimeFigureOut">
              <a:rPr lang="ru-RU" smtClean="0"/>
              <a:pPr/>
              <a:t>04.12.2025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vc.ru/services/264162-kakoi-konstruktor-vizitok-vybrat-moi-reiting-prilozhenii-i-onlain-servisov-dlya-sozdaniya-bumazhnyh-i-elektronnyh-vizitok" TargetMode="External"/><Relationship Id="rId2" Type="http://schemas.openxmlformats.org/officeDocument/2006/relationships/hyperlink" Target="https://pechatnik.moscow/klientam/vizitki-listovki-i-buklety-zachem-nuzhny-i-dlya-kakih-czelej-luchshe-ispolzovat/?ysclid=m0zfrjfbjq23657322" TargetMode="Externa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ppt-online.org/262620?ysclid=m8d4eavrv2603088131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Роль полиграфии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ru-RU" b="1" dirty="0" smtClean="0"/>
              <a:t>Дополнительные материалы</a:t>
            </a:r>
            <a:endParaRPr lang="ru-RU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1059966"/>
            <a:ext cx="9144000" cy="4154984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ru-RU" sz="2400" i="1" dirty="0" smtClean="0">
                <a:latin typeface="Cambria" pitchFamily="18" charset="0"/>
              </a:rPr>
              <a:t>Визитки, листовки и буклеты – зачем нужны и для каких целей лучше использовать</a:t>
            </a:r>
            <a:endParaRPr lang="en-US" sz="2400" i="1" dirty="0" smtClean="0">
              <a:latin typeface="Cambria" pitchFamily="18" charset="0"/>
            </a:endParaRPr>
          </a:p>
          <a:p>
            <a:pPr algn="just"/>
            <a:r>
              <a:rPr lang="en-US" sz="2400" b="1" dirty="0" smtClean="0">
                <a:latin typeface="Cambria" pitchFamily="18" charset="0"/>
                <a:hlinkClick r:id="rId2"/>
              </a:rPr>
              <a:t>https://pechatnik.moscow/klientam/vizitki-listovki-i-buklety-zachem-nuzhny-i-dlya-kakih-czelej-luchshe-ispolzovat/?ysclid=m0zfrjfbjq23657322</a:t>
            </a:r>
          </a:p>
          <a:p>
            <a:pPr algn="just"/>
            <a:endParaRPr lang="en-US" sz="2400" b="1" dirty="0" smtClean="0">
              <a:latin typeface="Cambria" pitchFamily="18" charset="0"/>
              <a:hlinkClick r:id="rId2"/>
            </a:endParaRPr>
          </a:p>
          <a:p>
            <a:pPr algn="just"/>
            <a:r>
              <a:rPr lang="ru-RU" sz="2400" i="1" dirty="0" smtClean="0">
                <a:latin typeface="Cambria" pitchFamily="18" charset="0"/>
              </a:rPr>
              <a:t>Какой конструктор визиток выбрать?</a:t>
            </a:r>
          </a:p>
          <a:p>
            <a:pPr algn="just"/>
            <a:r>
              <a:rPr lang="en-US" sz="2400" b="1" dirty="0" smtClean="0">
                <a:latin typeface="Cambria" pitchFamily="18" charset="0"/>
                <a:hlinkClick r:id="rId3"/>
              </a:rPr>
              <a:t>https://vc.ru/services/264162-kakoi-konstruktor-vizitok-vybrat-moi-reiting-prilozhenii-i-onlain-servisov-dlya-sozdaniya-bumazhnyh-i-elektronnyh-vizitok</a:t>
            </a:r>
            <a:endParaRPr lang="en-US" sz="2400" b="1" dirty="0" smtClean="0">
              <a:latin typeface="Cambria" pitchFamily="18" charset="0"/>
            </a:endParaRPr>
          </a:p>
          <a:p>
            <a:pPr algn="just"/>
            <a:endParaRPr lang="en-US" sz="2400" b="1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Дизайн полиграфической продукции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1785926"/>
            <a:ext cx="9144000" cy="40918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90000"/>
              </a:lnSpc>
            </a:pPr>
            <a:r>
              <a:rPr lang="ru-RU" sz="2300" b="1" dirty="0" smtClean="0">
                <a:latin typeface="Times New Roman" pitchFamily="18" charset="0"/>
                <a:cs typeface="Times New Roman" pitchFamily="18" charset="0"/>
              </a:rPr>
              <a:t>Дизайн полиграфической продукции</a:t>
            </a:r>
            <a:r>
              <a:rPr lang="ru-RU" sz="2300" dirty="0" smtClean="0">
                <a:latin typeface="Times New Roman" pitchFamily="18" charset="0"/>
                <a:cs typeface="Times New Roman" pitchFamily="18" charset="0"/>
              </a:rPr>
              <a:t> —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300" dirty="0" smtClean="0">
                <a:latin typeface="Times New Roman" pitchFamily="18" charset="0"/>
                <a:cs typeface="Times New Roman" pitchFamily="18" charset="0"/>
              </a:rPr>
              <a:t>разновидность графического дизайна, в задачи которого входит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300" dirty="0" smtClean="0">
                <a:latin typeface="Times New Roman" pitchFamily="18" charset="0"/>
                <a:cs typeface="Times New Roman" pitchFamily="18" charset="0"/>
              </a:rPr>
              <a:t>разработка материалов под печатную продукцию. Чаще всего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300" dirty="0" smtClean="0">
                <a:latin typeface="Times New Roman" pitchFamily="18" charset="0"/>
                <a:cs typeface="Times New Roman" pitchFamily="18" charset="0"/>
              </a:rPr>
              <a:t>готовым продуктом является бумажный носитель. Под разработкой дизайна в полиграфии понимается графическое оформление макета согласно пожеланиям заказчика и в соответствии техническим требованиям для реализации данной продукции. </a:t>
            </a:r>
          </a:p>
          <a:p>
            <a:pPr algn="just"/>
            <a:r>
              <a:rPr lang="ru-RU" sz="23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230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23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230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2300" dirty="0" smtClean="0">
                <a:latin typeface="Times New Roman" pitchFamily="18" charset="0"/>
                <a:cs typeface="Times New Roman" pitchFamily="18" charset="0"/>
              </a:rPr>
              <a:t>Бурное развитие цифровых технологий в настоящее время привело к тому, что верстальщики для работы стали использовать компьютеры и работать в специальных верстальных программах.</a:t>
            </a:r>
            <a:endParaRPr lang="ru-RU" sz="23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42844" y="4684675"/>
            <a:ext cx="4857784" cy="1643527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>
              <a:lnSpc>
                <a:spcPct val="90000"/>
              </a:lnSpc>
            </a:pPr>
            <a:r>
              <a:rPr lang="ru-RU" sz="2800" b="1" dirty="0" err="1" smtClean="0">
                <a:latin typeface="Times New Roman" pitchFamily="18" charset="0"/>
                <a:cs typeface="Times New Roman" pitchFamily="18" charset="0"/>
              </a:rPr>
              <a:t>Листо́вка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 — вид печатной полиграфической продукции, одностраничный лист бумаги с текстом и иллюстрациями. </a:t>
            </a:r>
            <a:endParaRPr lang="ru-RU" sz="2800" dirty="0" err="1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14282" y="612709"/>
            <a:ext cx="4572000" cy="181588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 algn="just"/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Буклет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– это двухсторонняя листовка, сложенная для удобства в 2-3 раза ( 2-3 фальца).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4429124" y="2898725"/>
            <a:ext cx="4572000" cy="954107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 algn="just"/>
            <a:r>
              <a:rPr lang="ru-RU" sz="2800" b="1" dirty="0" err="1" smtClean="0">
                <a:latin typeface="Times New Roman" pitchFamily="18" charset="0"/>
                <a:cs typeface="Times New Roman" pitchFamily="18" charset="0"/>
              </a:rPr>
              <a:t>Флаер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- маленькая листовка формата А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7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или А6.</a:t>
            </a:r>
          </a:p>
        </p:txBody>
      </p:sp>
      <p:pic>
        <p:nvPicPr>
          <p:cNvPr id="5" name="Picture 5" descr="37179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628" y="500042"/>
            <a:ext cx="2714644" cy="2057056"/>
          </a:xfrm>
          <a:prstGeom prst="rect">
            <a:avLst/>
          </a:prstGeom>
          <a:noFill/>
        </p:spPr>
      </p:pic>
      <p:sp>
        <p:nvSpPr>
          <p:cNvPr id="8" name="Прямоугольник 7"/>
          <p:cNvSpPr/>
          <p:nvPr/>
        </p:nvSpPr>
        <p:spPr>
          <a:xfrm>
            <a:off x="2285984" y="0"/>
            <a:ext cx="426033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ru-RU" sz="3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К полиграфии относят:</a:t>
            </a:r>
            <a:endParaRPr lang="ru-RU" sz="3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72066" y="4068621"/>
            <a:ext cx="3929058" cy="27893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 descr="Picture background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785918" y="2714620"/>
            <a:ext cx="2362734" cy="177205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-71462"/>
            <a:ext cx="9144000" cy="38779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Tx/>
              <a:buNone/>
            </a:pPr>
            <a:r>
              <a:rPr lang="ru-RU" sz="3000" b="1" dirty="0" smtClean="0">
                <a:latin typeface="Times New Roman" pitchFamily="18" charset="0"/>
                <a:cs typeface="Times New Roman" pitchFamily="18" charset="0"/>
              </a:rPr>
              <a:t>Для удобства прочтения полиграфии</a:t>
            </a:r>
            <a:r>
              <a:rPr lang="en-US" sz="3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3000" b="1" dirty="0" smtClean="0">
                <a:latin typeface="Times New Roman" pitchFamily="18" charset="0"/>
                <a:cs typeface="Times New Roman" pitchFamily="18" charset="0"/>
              </a:rPr>
              <a:t>необходимо:</a:t>
            </a:r>
            <a:endParaRPr lang="en-US" sz="3000" b="1" dirty="0" smtClean="0">
              <a:latin typeface="Times New Roman" pitchFamily="18" charset="0"/>
              <a:cs typeface="Times New Roman" pitchFamily="18" charset="0"/>
            </a:endParaRPr>
          </a:p>
          <a:p>
            <a:pPr marL="609600" indent="-609600" algn="just">
              <a:lnSpc>
                <a:spcPct val="90000"/>
              </a:lnSpc>
              <a:buFontTx/>
              <a:buNone/>
            </a:pPr>
            <a:endParaRPr lang="ru-RU" sz="3000" b="1" dirty="0" smtClean="0">
              <a:latin typeface="Times New Roman" pitchFamily="18" charset="0"/>
              <a:cs typeface="Times New Roman" pitchFamily="18" charset="0"/>
            </a:endParaRPr>
          </a:p>
          <a:p>
            <a:pPr marL="609600" indent="-609600" algn="just">
              <a:lnSpc>
                <a:spcPct val="90000"/>
              </a:lnSpc>
              <a:buFontTx/>
              <a:buAutoNum type="arabicPeriod"/>
            </a:pPr>
            <a:r>
              <a:rPr lang="ru-RU" sz="3000" dirty="0" smtClean="0">
                <a:latin typeface="Times New Roman" pitchFamily="18" charset="0"/>
                <a:cs typeface="Times New Roman" pitchFamily="18" charset="0"/>
              </a:rPr>
              <a:t>Выделение главной рекламной цели (или задачи)</a:t>
            </a:r>
          </a:p>
          <a:p>
            <a:pPr marL="609600" indent="-609600" algn="just">
              <a:lnSpc>
                <a:spcPct val="90000"/>
              </a:lnSpc>
              <a:buFontTx/>
              <a:buAutoNum type="arabicPeriod"/>
            </a:pPr>
            <a:r>
              <a:rPr lang="ru-RU" sz="3000" dirty="0" smtClean="0">
                <a:latin typeface="Times New Roman" pitchFamily="18" charset="0"/>
                <a:cs typeface="Times New Roman" pitchFamily="18" charset="0"/>
              </a:rPr>
              <a:t>Ранжирование информации</a:t>
            </a:r>
          </a:p>
          <a:p>
            <a:pPr marL="609600" indent="-609600" algn="just">
              <a:lnSpc>
                <a:spcPct val="90000"/>
              </a:lnSpc>
              <a:buFontTx/>
              <a:buAutoNum type="arabicPeriod"/>
            </a:pPr>
            <a:r>
              <a:rPr lang="ru-RU" sz="3000" dirty="0" smtClean="0">
                <a:latin typeface="Times New Roman" pitchFamily="18" charset="0"/>
                <a:cs typeface="Times New Roman" pitchFamily="18" charset="0"/>
              </a:rPr>
              <a:t>Разработка и вычленение заголовка, подзаголовка и основного текста</a:t>
            </a:r>
          </a:p>
          <a:p>
            <a:pPr marL="609600" indent="-609600" algn="just">
              <a:lnSpc>
                <a:spcPct val="90000"/>
              </a:lnSpc>
              <a:buFontTx/>
              <a:buAutoNum type="arabicPeriod"/>
            </a:pPr>
            <a:r>
              <a:rPr lang="ru-RU" sz="3000" dirty="0" smtClean="0">
                <a:latin typeface="Times New Roman" pitchFamily="18" charset="0"/>
                <a:cs typeface="Times New Roman" pitchFamily="18" charset="0"/>
              </a:rPr>
              <a:t>Разработка </a:t>
            </a:r>
            <a:r>
              <a:rPr lang="ru-RU" sz="3000" dirty="0" err="1" smtClean="0">
                <a:latin typeface="Times New Roman" pitchFamily="18" charset="0"/>
                <a:cs typeface="Times New Roman" pitchFamily="18" charset="0"/>
              </a:rPr>
              <a:t>слогана</a:t>
            </a:r>
            <a:endParaRPr lang="ru-RU" sz="3000" dirty="0" smtClean="0">
              <a:latin typeface="Times New Roman" pitchFamily="18" charset="0"/>
              <a:cs typeface="Times New Roman" pitchFamily="18" charset="0"/>
            </a:endParaRPr>
          </a:p>
          <a:p>
            <a:pPr marL="609600" indent="-609600" algn="just">
              <a:lnSpc>
                <a:spcPct val="90000"/>
              </a:lnSpc>
              <a:buFontTx/>
              <a:buAutoNum type="arabicPeriod"/>
            </a:pPr>
            <a:r>
              <a:rPr lang="ru-RU" sz="3000" dirty="0" smtClean="0">
                <a:latin typeface="Times New Roman" pitchFamily="18" charset="0"/>
                <a:cs typeface="Times New Roman" pitchFamily="18" charset="0"/>
              </a:rPr>
              <a:t>Выбор и композиционно верное расположение иллюстрации</a:t>
            </a:r>
            <a:endParaRPr lang="ru-RU" sz="3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Picture 2" descr="http://www.azconsult.ru/wp-content/uploads/2014/04/%D0%A1%D0%BD%D0%B8%D0%BC%D0%BE%D0%BA-%D1%8D%D0%BA%D1%80%D0%B0%D0%BD%D0%B0-2014-04-29-%D0%B2-11.16.41.png"/>
          <p:cNvPicPr>
            <a:picLocks noChangeAspect="1" noChangeArrowheads="1"/>
          </p:cNvPicPr>
          <p:nvPr/>
        </p:nvPicPr>
        <p:blipFill>
          <a:blip r:embed="rId2"/>
          <a:srcRect t="3391" b="3391"/>
          <a:stretch>
            <a:fillRect/>
          </a:stretch>
        </p:blipFill>
        <p:spPr bwMode="auto">
          <a:xfrm>
            <a:off x="1850904" y="4143380"/>
            <a:ext cx="5184877" cy="26431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4" name="Прямоугольник 3"/>
          <p:cNvSpPr/>
          <p:nvPr/>
        </p:nvSpPr>
        <p:spPr>
          <a:xfrm>
            <a:off x="5357818" y="4143380"/>
            <a:ext cx="1643074" cy="1428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>
            <a:off x="0" y="1500174"/>
            <a:ext cx="9144000" cy="1714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0" y="3357562"/>
            <a:ext cx="9144000" cy="1714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0" y="5214950"/>
            <a:ext cx="9144000" cy="142873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0" y="0"/>
            <a:ext cx="9144000" cy="68634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Интернет-технологии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для создания рекламной полиграфии включают использование программ и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онлайн-сервисов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для создания и редактирования макетов буклетов, листовок, визиток и другой рекламной продукции. Вот некоторые из них: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Wilda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—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онлайн-сервис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для создания полиграфической продукции с возможностью использования собственных изображений и текста.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 помощью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Wilda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можно создавать различные документы, такие как коммерческие предложения, буклеты, визитки, презентации, баннеры и другие, используя готовые тематические образцы и шаблоны.</a:t>
            </a:r>
          </a:p>
          <a:p>
            <a:pPr algn="just"/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Printomat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—  это современный высококлассный сервис по изготовлению и печати визиток, листовок, созданных через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онлайн-конструктор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Он использует библиотеку шаблонов, меняет их дизайн, содержание, размер и расположение элементов. Также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Printomat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позволяет создавать дизайн для бланков,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флаеров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пригласительных,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постеров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календарей и этикеток.</a:t>
            </a:r>
          </a:p>
          <a:p>
            <a:pPr algn="just"/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Fotor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— это конструктор визиток, который предлагает готовые шаблоны и дружелюбный редактор для изменения базового дизайна или создания нового. В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Fotor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можно управлять шрифтами, добавлять фирменные элементы, настраивать текст и фон.</a:t>
            </a:r>
          </a:p>
          <a:p>
            <a:pPr algn="just"/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dirty="0" err="1" smtClean="0"/>
              <a:t>Интернет-технологии</a:t>
            </a:r>
            <a:r>
              <a:rPr lang="ru-RU" dirty="0" smtClean="0"/>
              <a:t> для создания рекламной полиграфии</a:t>
            </a:r>
            <a:endParaRPr lang="ru-RU" dirty="0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062489"/>
            <a:ext cx="4552953" cy="436690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85984" y="1214422"/>
            <a:ext cx="6353191" cy="28439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8436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435024" y="3071810"/>
            <a:ext cx="3566132" cy="33575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Программные решения для работы</a:t>
            </a:r>
            <a:r>
              <a:rPr kumimoji="0" lang="ru-RU" sz="3200" b="1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 с документами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0" y="1142984"/>
            <a:ext cx="91440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Для автоматизации работы с документами в приложениях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Microsoft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Office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 используются разные языки программирования, включая VBA (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Visual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Basic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for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Applications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), 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, C#. Выбор языка зависит от задачи: VBA предназначен для автоматизации задач в приложениях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Office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а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 — для работы с документами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ru-RU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Библиотека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python-docx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позволяет автоматизировать работу с документами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Microsoft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Word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в формате .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docx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в языке программирования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 Она позволяет программно создавать, редактировать, читать и форматировать Word-документы без необходимости установки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Microsoft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Office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/>
          <p:cNvSpPr/>
          <p:nvPr/>
        </p:nvSpPr>
        <p:spPr>
          <a:xfrm>
            <a:off x="-32" y="4071942"/>
            <a:ext cx="9144000" cy="1500198"/>
          </a:xfrm>
          <a:prstGeom prst="rect">
            <a:avLst/>
          </a:prstGeom>
          <a:solidFill>
            <a:srgbClr val="E2E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/>
        </p:nvSpPr>
        <p:spPr>
          <a:xfrm>
            <a:off x="0" y="785794"/>
            <a:ext cx="9144000" cy="321471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Слияние данных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0" y="785794"/>
            <a:ext cx="91440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Слияние документов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- это объединение основного документа, содержащего постоянную часть информации, и источника данных, содержащих переменную часть. Примером слияния документов может быть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персонализация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писем. Это полезно для создания документов рассылки (письма, конверты, электронные сообщения) или однотипных документов (наклейки, каталоги), в которых различаются только отдельные данные (например, адрес, обращение, фамилия, имя, отчество).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 процессе слияния участвуют два файла:</a:t>
            </a:r>
          </a:p>
          <a:p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Основной документ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—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документ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, содержание которого одинаково для всех получателей, кроме отдельных полей (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полей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слияния).</a:t>
            </a:r>
          </a:p>
          <a:p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Источник данных (список)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— таблица с данными для слияния.</a:t>
            </a:r>
          </a:p>
          <a:p>
            <a:pPr algn="just"/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9"/>
          <p:cNvGrpSpPr/>
          <p:nvPr/>
        </p:nvGrpSpPr>
        <p:grpSpPr>
          <a:xfrm>
            <a:off x="0" y="4000504"/>
            <a:ext cx="8010525" cy="2647950"/>
            <a:chOff x="571472" y="4000504"/>
            <a:chExt cx="8010525" cy="2647950"/>
          </a:xfrm>
        </p:grpSpPr>
        <p:grpSp>
          <p:nvGrpSpPr>
            <p:cNvPr id="3" name="Группа 15"/>
            <p:cNvGrpSpPr/>
            <p:nvPr/>
          </p:nvGrpSpPr>
          <p:grpSpPr>
            <a:xfrm>
              <a:off x="571472" y="4000504"/>
              <a:ext cx="8010525" cy="2647950"/>
              <a:chOff x="1133475" y="3929066"/>
              <a:chExt cx="8010525" cy="2647950"/>
            </a:xfrm>
          </p:grpSpPr>
          <p:pic>
            <p:nvPicPr>
              <p:cNvPr id="1027" name="Picture 3"/>
              <p:cNvPicPr>
                <a:picLocks noChangeAspect="1" noChangeArrowheads="1"/>
              </p:cNvPicPr>
              <p:nvPr/>
            </p:nvPicPr>
            <p:blipFill>
              <a:blip r:embed="rId2"/>
              <a:srcRect/>
              <a:stretch>
                <a:fillRect/>
              </a:stretch>
            </p:blipFill>
            <p:spPr bwMode="auto">
              <a:xfrm>
                <a:off x="1133475" y="3929066"/>
                <a:ext cx="8010525" cy="26479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sp>
            <p:nvSpPr>
              <p:cNvPr id="15" name="Прямоугольник 14"/>
              <p:cNvSpPr/>
              <p:nvPr/>
            </p:nvSpPr>
            <p:spPr>
              <a:xfrm>
                <a:off x="2000232" y="4357694"/>
                <a:ext cx="4857784" cy="14287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sp>
          <p:nvSpPr>
            <p:cNvPr id="19" name="Прямоугольник 18"/>
            <p:cNvSpPr/>
            <p:nvPr/>
          </p:nvSpPr>
          <p:spPr>
            <a:xfrm>
              <a:off x="2214546" y="5214950"/>
              <a:ext cx="4143404" cy="2143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Слияние данных</a:t>
            </a:r>
            <a:r>
              <a:rPr lang="en-US" sz="3200" b="1" dirty="0" smtClean="0">
                <a:latin typeface="Cambria" pitchFamily="18" charset="0"/>
                <a:ea typeface="+mj-ea"/>
                <a:cs typeface="+mj-cs"/>
              </a:rPr>
              <a:t>: </a:t>
            </a:r>
            <a:r>
              <a:rPr lang="ru-RU" sz="3200" b="1" dirty="0" smtClean="0">
                <a:latin typeface="Cambria" pitchFamily="18" charset="0"/>
                <a:ea typeface="+mj-ea"/>
                <a:cs typeface="+mj-cs"/>
              </a:rPr>
              <a:t>алгоритм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1142984"/>
            <a:ext cx="3942803" cy="24336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8" name="Прямая со стрелкой 7"/>
          <p:cNvCxnSpPr/>
          <p:nvPr/>
        </p:nvCxnSpPr>
        <p:spPr>
          <a:xfrm>
            <a:off x="6367451" y="5572140"/>
            <a:ext cx="714380" cy="28575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/>
          <p:nvPr/>
        </p:nvCxnSpPr>
        <p:spPr>
          <a:xfrm rot="10800000">
            <a:off x="3581370" y="5572140"/>
            <a:ext cx="2776581" cy="158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Прямоугольник 20"/>
          <p:cNvSpPr/>
          <p:nvPr/>
        </p:nvSpPr>
        <p:spPr>
          <a:xfrm>
            <a:off x="0" y="500042"/>
            <a:ext cx="9144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  <a:hlinkClick r:id="rId4"/>
              </a:rPr>
              <a:t>https://ppt-online.org/262620?ysclid=m8d4eavrv2603088131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3929058" y="785794"/>
            <a:ext cx="5214942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Процедура слияния включает несколько этапов: </a:t>
            </a:r>
          </a:p>
          <a:p>
            <a:pPr algn="just"/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Создание основного документа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—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документа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, который содержит текст и рисунки.</a:t>
            </a:r>
          </a:p>
          <a:p>
            <a:pPr algn="just"/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Создание или выбор существующего источника данных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— файла, содержащего данные, различающиеся в каждой копии составного документа. Источником данных может быть, например, файл с таблицей.</a:t>
            </a:r>
          </a:p>
          <a:p>
            <a:pPr algn="just"/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Вставка полей слияния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— полей, в которые переносится переменная информация из источника данных в основной документ перед выводом готового документа на печать.</a:t>
            </a:r>
          </a:p>
          <a:p>
            <a:pPr algn="just"/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Вывод стандартного документа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— каждая строка (или запись) источника данных порождает отдельный документ. При этом составные документы могут быть объединены в новом документе для последующего просмотра и печати.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3357554" y="5214950"/>
            <a:ext cx="23744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Любой документ-источник</a:t>
            </a:r>
            <a:endParaRPr lang="ru-RU" sz="1400" b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0" y="0"/>
            <a:ext cx="91440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Слияние данных</a:t>
            </a:r>
            <a:r>
              <a:rPr lang="en-US" sz="3200" b="1" dirty="0" smtClean="0">
                <a:latin typeface="Cambria" pitchFamily="18" charset="0"/>
              </a:rPr>
              <a:t> : </a:t>
            </a:r>
            <a:r>
              <a:rPr lang="ru-RU" sz="3200" b="1" dirty="0" smtClean="0">
                <a:latin typeface="Cambria" pitchFamily="18" charset="0"/>
              </a:rPr>
              <a:t>вставка полей слияния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18434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571480"/>
            <a:ext cx="9086850" cy="6477000"/>
          </a:xfrm>
          <a:prstGeom prst="rect">
            <a:avLst/>
          </a:prstGeom>
          <a:noFill/>
        </p:spPr>
      </p:pic>
      <p:sp>
        <p:nvSpPr>
          <p:cNvPr id="10" name="Прямоугольник 9"/>
          <p:cNvSpPr/>
          <p:nvPr/>
        </p:nvSpPr>
        <p:spPr>
          <a:xfrm>
            <a:off x="7286644" y="4214818"/>
            <a:ext cx="1214446" cy="2857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Создание правил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928670"/>
            <a:ext cx="3143250" cy="246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Рисунок 5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714612" y="3535414"/>
            <a:ext cx="6429388" cy="31036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097" name="Rectangle 1"/>
          <p:cNvSpPr>
            <a:spLocks noChangeArrowheads="1"/>
          </p:cNvSpPr>
          <p:nvPr/>
        </p:nvSpPr>
        <p:spPr bwMode="auto">
          <a:xfrm>
            <a:off x="3214678" y="928670"/>
            <a:ext cx="5929322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Конструктор </a:t>
            </a:r>
            <a:r>
              <a:rPr kumimoji="0" lang="ru-RU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if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..</a:t>
            </a:r>
            <a:r>
              <a:rPr kumimoji="0" lang="ru-RU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then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..</a:t>
            </a:r>
            <a:r>
              <a:rPr kumimoji="0" lang="ru-RU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else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представляет собой логический оператор, позволяющий задать алгоритм выбора дальнейших действий в зависимости от заданных условий.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Итоговый документ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3" name="Рисунок 2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785794"/>
            <a:ext cx="3935351" cy="1357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8628" y="3429000"/>
            <a:ext cx="2986897" cy="32147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785818" y="6286520"/>
            <a:ext cx="2038251" cy="2681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1143008" y="2285992"/>
            <a:ext cx="152477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ИЛИ</a:t>
            </a:r>
            <a:endParaRPr lang="ru-RU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4071934" y="857232"/>
            <a:ext cx="5072066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Для эффективного формирования итогового документа следуйте простым рекомендациям: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Tx/>
              <a:buChar char="-"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Убедитесь, что форматирование документов совпадает (шрифты, интервалы, поля страницы).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- Приведите в соответствие номера страниц и автоматически создаваемые элементы (оглавление, список рисунков и таблиц).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- Удалите лишние пробелы и пустые строки.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- По завершении обязательно просмотрите весь документ, чтобы выявить любые возможные ошибки.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385</TotalTime>
  <Words>488</Words>
  <Application>Microsoft Office PowerPoint</Application>
  <PresentationFormat>Экран (4:3)</PresentationFormat>
  <Paragraphs>57</Paragraphs>
  <Slides>13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4" baseType="lpstr">
      <vt:lpstr>Тема Office</vt:lpstr>
      <vt:lpstr>Роль полиграфии </vt:lpstr>
      <vt:lpstr>Дополнительные материалы</vt:lpstr>
      <vt:lpstr>Дизайн полиграфической продукции</vt:lpstr>
      <vt:lpstr>Слайд 4</vt:lpstr>
      <vt:lpstr>Слайд 5</vt:lpstr>
      <vt:lpstr>Слайд 6</vt:lpstr>
      <vt:lpstr>Интернет-технологии для создания рекламной полиграфии</vt:lpstr>
      <vt:lpstr>Слайд 8</vt:lpstr>
      <vt:lpstr>Слайд 9</vt:lpstr>
      <vt:lpstr>Слайд 10</vt:lpstr>
      <vt:lpstr>Слайд 11</vt:lpstr>
      <vt:lpstr>Слайд 12</vt:lpstr>
      <vt:lpstr>Слайд 13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Роль полиграфии в государственном управлении</dc:title>
  <dc:creator>user</dc:creator>
  <cp:lastModifiedBy>user</cp:lastModifiedBy>
  <cp:revision>55</cp:revision>
  <dcterms:created xsi:type="dcterms:W3CDTF">2024-02-01T09:49:19Z</dcterms:created>
  <dcterms:modified xsi:type="dcterms:W3CDTF">2025-12-04T19:43:09Z</dcterms:modified>
</cp:coreProperties>
</file>